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85" r:id="rId5"/>
    <p:sldId id="286" r:id="rId6"/>
    <p:sldId id="287" r:id="rId7"/>
    <p:sldId id="288" r:id="rId8"/>
    <p:sldId id="289" r:id="rId9"/>
    <p:sldId id="290" r:id="rId10"/>
    <p:sldId id="291" r:id="rId11"/>
    <p:sldId id="292" r:id="rId12"/>
    <p:sldId id="293" r:id="rId13"/>
    <p:sldId id="295" r:id="rId14"/>
    <p:sldId id="296" r:id="rId15"/>
    <p:sldId id="297"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 id="310" r:id="rId29"/>
    <p:sldId id="311" r:id="rId30"/>
    <p:sldId id="312" r:id="rId31"/>
    <p:sldId id="313" r:id="rId32"/>
    <p:sldId id="314" r:id="rId33"/>
    <p:sldId id="315" r:id="rId34"/>
    <p:sldId id="316" r:id="rId35"/>
    <p:sldId id="317" r:id="rId36"/>
    <p:sldId id="318" r:id="rId37"/>
    <p:sldId id="319" r:id="rId38"/>
    <p:sldId id="320" r:id="rId39"/>
    <p:sldId id="321" r:id="rId40"/>
    <p:sldId id="322" r:id="rId41"/>
    <p:sldId id="323" r:id="rId42"/>
    <p:sldId id="324" r:id="rId43"/>
    <p:sldId id="325" r:id="rId44"/>
    <p:sldId id="326" r:id="rId45"/>
    <p:sldId id="327" r:id="rId46"/>
    <p:sldId id="328" r:id="rId47"/>
    <p:sldId id="329" r:id="rId48"/>
    <p:sldId id="330" r:id="rId49"/>
    <p:sldId id="331" r:id="rId50"/>
    <p:sldId id="332" r:id="rId51"/>
    <p:sldId id="333" r:id="rId52"/>
    <p:sldId id="334" r:id="rId53"/>
    <p:sldId id="335" r:id="rId54"/>
    <p:sldId id="336" r:id="rId55"/>
    <p:sldId id="337" r:id="rId56"/>
    <p:sldId id="338" r:id="rId57"/>
    <p:sldId id="339" r:id="rId58"/>
    <p:sldId id="340" r:id="rId59"/>
    <p:sldId id="341" r:id="rId60"/>
    <p:sldId id="342" r:id="rId61"/>
    <p:sldId id="343" r:id="rId62"/>
    <p:sldId id="344" r:id="rId63"/>
    <p:sldId id="345" r:id="rId64"/>
    <p:sldId id="346" r:id="rId65"/>
    <p:sldId id="347" r:id="rId66"/>
    <p:sldId id="348" r:id="rId67"/>
    <p:sldId id="349" r:id="rId68"/>
    <p:sldId id="350" r:id="rId69"/>
    <p:sldId id="351" r:id="rId70"/>
    <p:sldId id="352" r:id="rId71"/>
    <p:sldId id="353" r:id="rId72"/>
    <p:sldId id="354" r:id="rId73"/>
    <p:sldId id="355" r:id="rId74"/>
    <p:sldId id="356" r:id="rId75"/>
    <p:sldId id="357" r:id="rId76"/>
    <p:sldId id="358" r:id="rId77"/>
    <p:sldId id="359" r:id="rId78"/>
    <p:sldId id="360" r:id="rId79"/>
    <p:sldId id="361" r:id="rId80"/>
    <p:sldId id="362" r:id="rId81"/>
    <p:sldId id="364" r:id="rId82"/>
    <p:sldId id="365" r:id="rId83"/>
    <p:sldId id="366" r:id="rId84"/>
    <p:sldId id="367" r:id="rId85"/>
    <p:sldId id="368" r:id="rId86"/>
    <p:sldId id="369" r:id="rId87"/>
    <p:sldId id="370" r:id="rId88"/>
    <p:sldId id="371" r:id="rId89"/>
    <p:sldId id="372" r:id="rId90"/>
    <p:sldId id="373" r:id="rId91"/>
    <p:sldId id="374" r:id="rId92"/>
    <p:sldId id="375" r:id="rId93"/>
    <p:sldId id="376" r:id="rId94"/>
    <p:sldId id="377" r:id="rId95"/>
    <p:sldId id="378" r:id="rId96"/>
    <p:sldId id="379" r:id="rId97"/>
    <p:sldId id="380" r:id="rId98"/>
    <p:sldId id="381" r:id="rId99"/>
    <p:sldId id="382" r:id="rId100"/>
    <p:sldId id="383" r:id="rId101"/>
    <p:sldId id="384" r:id="rId102"/>
    <p:sldId id="385" r:id="rId103"/>
    <p:sldId id="386" r:id="rId104"/>
    <p:sldId id="387" r:id="rId105"/>
    <p:sldId id="388" r:id="rId106"/>
    <p:sldId id="389" r:id="rId107"/>
    <p:sldId id="390" r:id="rId108"/>
    <p:sldId id="391" r:id="rId109"/>
    <p:sldId id="392" r:id="rId110"/>
    <p:sldId id="393" r:id="rId111"/>
    <p:sldId id="394" r:id="rId112"/>
    <p:sldId id="395" r:id="rId113"/>
    <p:sldId id="396" r:id="rId114"/>
    <p:sldId id="397" r:id="rId115"/>
    <p:sldId id="398" r:id="rId116"/>
    <p:sldId id="399" r:id="rId117"/>
    <p:sldId id="400" r:id="rId118"/>
    <p:sldId id="401" r:id="rId119"/>
    <p:sldId id="402" r:id="rId120"/>
    <p:sldId id="403" r:id="rId121"/>
    <p:sldId id="404" r:id="rId122"/>
    <p:sldId id="405" r:id="rId123"/>
    <p:sldId id="406" r:id="rId124"/>
    <p:sldId id="407" r:id="rId125"/>
    <p:sldId id="408" r:id="rId126"/>
    <p:sldId id="409" r:id="rId127"/>
    <p:sldId id="410" r:id="rId128"/>
    <p:sldId id="411" r:id="rId129"/>
    <p:sldId id="412" r:id="rId130"/>
    <p:sldId id="413" r:id="rId131"/>
    <p:sldId id="414" r:id="rId132"/>
    <p:sldId id="415" r:id="rId133"/>
    <p:sldId id="416" r:id="rId134"/>
    <p:sldId id="417" r:id="rId135"/>
    <p:sldId id="418" r:id="rId136"/>
    <p:sldId id="419" r:id="rId137"/>
    <p:sldId id="420" r:id="rId138"/>
    <p:sldId id="421" r:id="rId1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8" autoAdjust="0"/>
    <p:restoredTop sz="86452" autoAdjust="0"/>
  </p:normalViewPr>
  <p:slideViewPr>
    <p:cSldViewPr snapToGrid="0">
      <p:cViewPr varScale="1">
        <p:scale>
          <a:sx n="91" d="100"/>
          <a:sy n="91" d="100"/>
        </p:scale>
        <p:origin x="1296" y="192"/>
      </p:cViewPr>
      <p:guideLst/>
    </p:cSldViewPr>
  </p:slideViewPr>
  <p:outlineViewPr>
    <p:cViewPr>
      <p:scale>
        <a:sx n="33" d="100"/>
        <a:sy n="33" d="100"/>
      </p:scale>
      <p:origin x="0" y="-198656"/>
    </p:cViewPr>
  </p:outlineViewPr>
  <p:notesTextViewPr>
    <p:cViewPr>
      <p:scale>
        <a:sx n="1" d="1"/>
        <a:sy n="1" d="1"/>
      </p:scale>
      <p:origin x="0" y="0"/>
    </p:cViewPr>
  </p:notesTextViewPr>
  <p:sorterViewPr>
    <p:cViewPr>
      <p:scale>
        <a:sx n="141" d="100"/>
        <a:sy n="141"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2" Type="http://schemas.openxmlformats.org/officeDocument/2006/relationships/tableStyles" Target="tableStyles.xml"/><Relationship Id="rId141" Type="http://schemas.openxmlformats.org/officeDocument/2006/relationships/viewProps" Target="viewProps.xml"/><Relationship Id="rId140" Type="http://schemas.openxmlformats.org/officeDocument/2006/relationships/presProps" Target="presProps.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50B64F-FD8B-3F4E-B770-881CBF8AF594}"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5B2D4-4121-E746-8724-2F5AD4F820A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页">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6000">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b="0" i="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4" name="日期占位符 3"/>
          <p:cNvSpPr>
            <a:spLocks noGrp="1"/>
          </p:cNvSpPr>
          <p:nvPr>
            <p:ph type="dt" sz="half" idx="10"/>
          </p:nvPr>
        </p:nvSpPr>
        <p:spPr/>
        <p:txBody>
          <a:bodyPr/>
          <a:lstStyle>
            <a:lvl1pPr>
              <a:defRPr>
                <a:latin typeface="黑体" panose="02010609060101010101" pitchFamily="49" charset="-122"/>
                <a:ea typeface="黑体" panose="02010609060101010101" pitchFamily="49" charset="-122"/>
              </a:defRPr>
            </a:lvl1pPr>
          </a:lstStyle>
          <a:p>
            <a:fld id="{7B2AEECA-C3C8-1244-98CC-025D6DAAF97C}"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pic>
        <p:nvPicPr>
          <p:cNvPr id="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1995959" y="1219202"/>
            <a:ext cx="8200082" cy="4957760"/>
          </a:xfrm>
        </p:spPr>
        <p:txBody>
          <a:bodyPr>
            <a:normAutofit/>
          </a:bodyPr>
          <a:lstStyle>
            <a:lvl1pPr marL="0" indent="0">
              <a:lnSpc>
                <a:spcPct val="200000"/>
              </a:lnSpc>
              <a:buFont typeface="Wingdings" panose="05000000000000000000" pitchFamily="2" charset="2"/>
              <a:buNone/>
              <a:defRPr sz="2800" b="0"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en-US" altLang="zh-CN" dirty="0"/>
              <a:t>1.1</a:t>
            </a:r>
            <a:r>
              <a:rPr lang="zh-CN" altLang="en-US" dirty="0"/>
              <a:t> 目录</a:t>
            </a:r>
            <a:r>
              <a:rPr lang="en-US" altLang="zh-CN" dirty="0"/>
              <a:t>1</a:t>
            </a:r>
            <a:endParaRPr lang="en-US" altLang="zh-CN" dirty="0"/>
          </a:p>
          <a:p>
            <a:pPr lvl="0"/>
            <a:r>
              <a:rPr lang="en-US" altLang="zh-CN" dirty="0"/>
              <a:t>1.2</a:t>
            </a:r>
            <a:r>
              <a:rPr lang="zh-CN" altLang="en-US" dirty="0"/>
              <a:t> 目录</a:t>
            </a:r>
            <a:r>
              <a:rPr lang="en-US" altLang="zh-CN" dirty="0"/>
              <a:t>2</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07AFB82E-7069-BD4E-96F2-53BDFC0AAE44}"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_单栏">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7163" y="1219203"/>
            <a:ext cx="11453091" cy="4957760"/>
          </a:xfrm>
        </p:spPr>
        <p:txBody>
          <a:bodyPr/>
          <a:lstStyle>
            <a:lvl1pPr marL="228600" indent="-228600" algn="just">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gn="just">
              <a:lnSpc>
                <a:spcPct val="120000"/>
              </a:lnSpc>
              <a:defRPr b="0" i="0">
                <a:latin typeface="微软雅黑" panose="020B0503020204020204" pitchFamily="34" charset="-122"/>
                <a:ea typeface="微软雅黑" panose="020B0503020204020204" pitchFamily="34" charset="-122"/>
              </a:defRPr>
            </a:lvl2pPr>
            <a:lvl3pPr algn="just">
              <a:lnSpc>
                <a:spcPct val="120000"/>
              </a:lnSpc>
              <a:defRPr b="0" i="0">
                <a:latin typeface="微软雅黑" panose="020B0503020204020204" pitchFamily="34" charset="-122"/>
                <a:ea typeface="微软雅黑" panose="020B0503020204020204" pitchFamily="34" charset="-122"/>
              </a:defRPr>
            </a:lvl3pPr>
            <a:lvl4pPr algn="just">
              <a:lnSpc>
                <a:spcPct val="120000"/>
              </a:lnSpc>
              <a:defRPr b="0" i="0">
                <a:latin typeface="微软雅黑" panose="020B0503020204020204" pitchFamily="34" charset="-122"/>
                <a:ea typeface="微软雅黑" panose="020B0503020204020204" pitchFamily="34" charset="-122"/>
              </a:defRPr>
            </a:lvl4pPr>
            <a:lvl5pPr algn="just">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8118BE18-7306-3643-B1E0-A687D3D01200}"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_双栏">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367147"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11" name="页脚占位符 4"/>
          <p:cNvSpPr>
            <a:spLocks noGrp="1"/>
          </p:cNvSpPr>
          <p:nvPr>
            <p:ph type="ftr" sz="quarter" idx="11"/>
          </p:nvPr>
        </p:nvSpPr>
        <p:spPr>
          <a:xfrm>
            <a:off x="4038600" y="6356350"/>
            <a:ext cx="4114800" cy="365125"/>
          </a:xfrm>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12"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6"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a:spLocks noGrp="1"/>
          </p:cNvSpPr>
          <p:nvPr>
            <p:ph sz="half" idx="13" hasCustomPrompt="1"/>
          </p:nvPr>
        </p:nvSpPr>
        <p:spPr>
          <a:xfrm>
            <a:off x="6262255"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2564091" y="2309567"/>
            <a:ext cx="7239785" cy="35514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文本占位符 3"/>
          <p:cNvSpPr>
            <a:spLocks noGrp="1"/>
          </p:cNvSpPr>
          <p:nvPr>
            <p:ph type="body" sz="quarter" idx="14" hasCustomPrompt="1"/>
          </p:nvPr>
        </p:nvSpPr>
        <p:spPr>
          <a:xfrm>
            <a:off x="5232448" y="5899150"/>
            <a:ext cx="1177779" cy="365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0" i="0">
                <a:latin typeface="微软雅黑" panose="020B0503020204020204" pitchFamily="34" charset="-122"/>
                <a:ea typeface="微软雅黑" panose="020B0503020204020204" pitchFamily="34" charset="-122"/>
              </a:defRPr>
            </a:lvl1pPr>
          </a:lstStyle>
          <a:p>
            <a:pPr lvl="0"/>
            <a:r>
              <a:rPr kumimoji="1" lang="zh-CN" altLang="en-US" dirty="0"/>
              <a:t>图</a:t>
            </a:r>
            <a:r>
              <a:rPr kumimoji="1" lang="en-GB" altLang="zh-CN" dirty="0" err="1"/>
              <a:t>x.x</a:t>
            </a:r>
            <a:r>
              <a:rPr kumimoji="1" lang="en-GB" altLang="zh-CN" dirty="0"/>
              <a:t> </a:t>
            </a:r>
            <a:endParaRPr kumimoji="1" lang="en-GB" altLang="zh-CN" dirty="0"/>
          </a:p>
          <a:p>
            <a:pPr lvl="0"/>
            <a:endParaRPr kumimoji="1" lang="zh-CN" altLang="en-US" dirty="0"/>
          </a:p>
        </p:txBody>
      </p:sp>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8"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5"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格">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2" name="文本框 11"/>
          <p:cNvSpPr txBox="1"/>
          <p:nvPr userDrawn="1"/>
        </p:nvSpPr>
        <p:spPr>
          <a:xfrm>
            <a:off x="5676654" y="5192412"/>
            <a:ext cx="838691" cy="400110"/>
          </a:xfrm>
          <a:prstGeom prst="rect">
            <a:avLst/>
          </a:prstGeom>
          <a:noFill/>
        </p:spPr>
        <p:txBody>
          <a:bodyPr wrap="none" rtlCol="0">
            <a:spAutoFit/>
          </a:bodyPr>
          <a:lstStyle/>
          <a:p>
            <a:r>
              <a:rPr kumimoji="1" lang="zh-CN" altLang="en-US" sz="2000" b="0" i="0" dirty="0">
                <a:latin typeface="微软雅黑" panose="020B0503020204020204" pitchFamily="34" charset="-122"/>
                <a:ea typeface="微软雅黑" panose="020B0503020204020204" pitchFamily="34" charset="-122"/>
              </a:rPr>
              <a:t>表</a:t>
            </a:r>
            <a:r>
              <a:rPr kumimoji="1" lang="en-US" altLang="zh-CN" sz="2000" b="0" i="0" dirty="0" err="1">
                <a:latin typeface="微软雅黑" panose="020B0503020204020204" pitchFamily="34" charset="-122"/>
                <a:ea typeface="微软雅黑" panose="020B0503020204020204" pitchFamily="34" charset="-122"/>
              </a:rPr>
              <a:t>x.x</a:t>
            </a:r>
            <a:r>
              <a:rPr kumimoji="1" lang="en-US" altLang="zh-CN" sz="2000" b="0" i="0" dirty="0">
                <a:latin typeface="微软雅黑" panose="020B0503020204020204" pitchFamily="34" charset="-122"/>
                <a:ea typeface="微软雅黑" panose="020B0503020204020204" pitchFamily="34" charset="-122"/>
              </a:rPr>
              <a:t> </a:t>
            </a:r>
            <a:endParaRPr kumimoji="1" lang="zh-CN" altLang="en-US" sz="2000" b="0" i="0" dirty="0">
              <a:latin typeface="微软雅黑" panose="020B0503020204020204" pitchFamily="34" charset="-122"/>
              <a:ea typeface="微软雅黑" panose="020B0503020204020204" pitchFamily="34" charset="-122"/>
            </a:endParaRPr>
          </a:p>
        </p:txBody>
      </p:sp>
      <p:graphicFrame>
        <p:nvGraphicFramePr>
          <p:cNvPr id="14" name="表格 13"/>
          <p:cNvGraphicFramePr>
            <a:graphicFrameLocks noGrp="1"/>
          </p:cNvGraphicFramePr>
          <p:nvPr userDrawn="1"/>
        </p:nvGraphicFramePr>
        <p:xfrm>
          <a:off x="2209800" y="3473310"/>
          <a:ext cx="8128000" cy="1584960"/>
        </p:xfrm>
        <a:graphic>
          <a:graphicData uri="http://schemas.openxmlformats.org/drawingml/2006/table">
            <a:tbl>
              <a:tblPr firstRow="1" bandRow="1">
                <a:tableStyleId>{5A111915-BE36-4E01-A7E5-04B1672EAD32}</a:tableStyleId>
              </a:tblPr>
              <a:tblGrid>
                <a:gridCol w="1625600"/>
                <a:gridCol w="1625600"/>
                <a:gridCol w="1625600"/>
                <a:gridCol w="1625600"/>
                <a:gridCol w="1625600"/>
              </a:tblGrid>
              <a:tr h="370840">
                <a:tc>
                  <a:txBody>
                    <a:bodyPr/>
                    <a:lstStyle/>
                    <a:p>
                      <a:pPr algn="ctr"/>
                      <a:r>
                        <a:rPr lang="zh-CN" altLang="en-US" sz="2000" b="0" i="0" dirty="0">
                          <a:solidFill>
                            <a:schemeClr val="tx1"/>
                          </a:solidFill>
                          <a:latin typeface="微软雅黑" panose="020B0503020204020204" pitchFamily="34" charset="-122"/>
                          <a:ea typeface="微软雅黑" panose="020B0503020204020204" pitchFamily="34" charset="-122"/>
                        </a:rPr>
                        <a:t>表格</a:t>
                      </a:r>
                      <a:endParaRPr lang="zh-CN" altLang="en-US" sz="2000" b="0" i="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3"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A0ED15-8309-5642-9A4C-6A3002950670}"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91F7F-8655-44AE-A6FF-53AD9F2B6B8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3.xml"/><Relationship Id="rId5" Type="http://schemas.openxmlformats.org/officeDocument/2006/relationships/image" Target="../media/image8.wmf"/><Relationship Id="rId4" Type="http://schemas.openxmlformats.org/officeDocument/2006/relationships/oleObject" Target="../embeddings/oleObject2.bin"/><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8.png"/><Relationship Id="rId1" Type="http://schemas.openxmlformats.org/officeDocument/2006/relationships/image" Target="../media/image2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2.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3.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4.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5.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6.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7.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8.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9.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3.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4.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5.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6.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7.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9.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0.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1.png"/></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65.xml.rels><?xml version="1.0" encoding="UTF-8" standalone="yes"?>
<Relationships xmlns="http://schemas.openxmlformats.org/package/2006/relationships"><Relationship Id="rId7" Type="http://schemas.openxmlformats.org/officeDocument/2006/relationships/slideLayout" Target="../slideLayouts/slideLayout3.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2.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3.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4.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5.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6.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8.png"/><Relationship Id="rId1" Type="http://schemas.openxmlformats.org/officeDocument/2006/relationships/image" Target="../media/image67.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9.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1.png"/><Relationship Id="rId1" Type="http://schemas.openxmlformats.org/officeDocument/2006/relationships/image" Target="../media/image70.png"/></Relationships>
</file>

<file path=ppt/slides/_rels/slide74.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3.xml"/><Relationship Id="rId3" Type="http://schemas.openxmlformats.org/officeDocument/2006/relationships/image" Target="../media/image73.png"/><Relationship Id="rId2" Type="http://schemas.openxmlformats.org/officeDocument/2006/relationships/image" Target="../media/image72.emf"/><Relationship Id="rId1" Type="http://schemas.openxmlformats.org/officeDocument/2006/relationships/oleObject" Target="../embeddings/oleObject3.bin"/></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4.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6.png"/><Relationship Id="rId1" Type="http://schemas.openxmlformats.org/officeDocument/2006/relationships/image" Target="../media/image75.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7.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8.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9.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0.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1.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2.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7.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8.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9.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2.png"/></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3.png"/></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4.png"/></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5.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6.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629676"/>
            <a:ext cx="9144000" cy="2387600"/>
          </a:xfrm>
        </p:spPr>
        <p:txBody>
          <a:bodyPr>
            <a:normAutofit/>
          </a:bodyPr>
          <a:lstStyle/>
          <a:p>
            <a:r>
              <a:rPr lang="zh-CN" altLang="en-US" dirty="0"/>
              <a:t>第</a:t>
            </a:r>
            <a:r>
              <a:rPr lang="en-US" altLang="zh-CN" dirty="0"/>
              <a:t>4</a:t>
            </a:r>
            <a:r>
              <a:rPr lang="zh-CN" altLang="en-US" dirty="0"/>
              <a:t>章 数据依赖与关系模式规范化</a:t>
            </a:r>
            <a:endParaRPr lang="zh-CN" altLang="en-US" dirty="0"/>
          </a:p>
        </p:txBody>
      </p:sp>
      <p:sp>
        <p:nvSpPr>
          <p:cNvPr id="3" name="副标题 2"/>
          <p:cNvSpPr>
            <a:spLocks noGrp="1"/>
          </p:cNvSpPr>
          <p:nvPr>
            <p:ph type="subTitle" idx="1"/>
          </p:nvPr>
        </p:nvSpPr>
        <p:spPr>
          <a:xfrm>
            <a:off x="1524000" y="4079875"/>
            <a:ext cx="9144000" cy="1655762"/>
          </a:xfrm>
        </p:spPr>
        <p:txBody>
          <a:bodyPr/>
          <a:lstStyle/>
          <a:p>
            <a:pPr>
              <a:lnSpc>
                <a:spcPct val="150000"/>
              </a:lnSpc>
            </a:pPr>
            <a:r>
              <a:rPr lang="zh-CN" altLang="en-US" dirty="0"/>
              <a:t>西安交通大学计算机科学与技术学院</a:t>
            </a:r>
            <a:r>
              <a:rPr lang="en-US" altLang="zh-CN" dirty="0"/>
              <a:t>	</a:t>
            </a:r>
            <a:r>
              <a:rPr lang="zh-CN" altLang="en-US" dirty="0"/>
              <a:t>任雪斌</a:t>
            </a:r>
            <a:endParaRPr lang="en-US" altLang="zh-CN" dirty="0"/>
          </a:p>
          <a:p>
            <a:pPr>
              <a:lnSpc>
                <a:spcPct val="150000"/>
              </a:lnSpc>
            </a:pPr>
            <a:r>
              <a:rPr lang="en-US" altLang="zh-CN" dirty="0" err="1"/>
              <a:t>xuebinren@mail.xjtu.edu.cn</a:t>
            </a:r>
            <a:endParaRPr lang="en-US" altLang="zh-CN" dirty="0"/>
          </a:p>
          <a:p>
            <a:endParaRPr lang="zh-CN" altLang="en-US" dirty="0"/>
          </a:p>
        </p:txBody>
      </p:sp>
      <p:sp>
        <p:nvSpPr>
          <p:cNvPr id="5" name="灯片编号占位符 4"/>
          <p:cNvSpPr>
            <a:spLocks noGrp="1"/>
          </p:cNvSpPr>
          <p:nvPr>
            <p:ph type="sldNum" sz="quarter" idx="12"/>
          </p:nvPr>
        </p:nvSpPr>
        <p:spPr/>
        <p:txBody>
          <a:bodyPr/>
          <a:lstStyle/>
          <a:p>
            <a:fld id="{FB891F7F-8655-44AE-A6FF-53AD9F2B6B87}"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en-US" altLang="zh-CN" dirty="0"/>
              <a:t>4.1</a:t>
            </a:r>
            <a:r>
              <a:rPr kumimoji="1" lang="zh-CN" altLang="en-US" dirty="0"/>
              <a:t> 问题的提出</a:t>
            </a:r>
            <a:endParaRPr kumimoji="1" lang="en-US" altLang="zh-CN" dirty="0"/>
          </a:p>
          <a:p>
            <a:r>
              <a:rPr kumimoji="1" lang="en-US" altLang="zh-CN" dirty="0"/>
              <a:t>4.2</a:t>
            </a:r>
            <a:r>
              <a:rPr kumimoji="1" lang="zh-CN" altLang="en-US" dirty="0"/>
              <a:t> 数据依赖</a:t>
            </a:r>
            <a:endParaRPr kumimoji="1" lang="en-US" altLang="zh-CN" dirty="0"/>
          </a:p>
          <a:p>
            <a:r>
              <a:rPr kumimoji="1" lang="en-US" altLang="zh-CN" dirty="0"/>
              <a:t>4.3</a:t>
            </a:r>
            <a:r>
              <a:rPr kumimoji="1" lang="zh-CN" altLang="en-US" dirty="0"/>
              <a:t> 关系模式分解</a:t>
            </a:r>
            <a:endParaRPr kumimoji="1" lang="en-US" altLang="zh-CN" dirty="0"/>
          </a:p>
          <a:p>
            <a:r>
              <a:rPr kumimoji="1" lang="en-US" altLang="zh-CN" dirty="0"/>
              <a:t>4.4</a:t>
            </a:r>
            <a:r>
              <a:rPr kumimoji="1" lang="zh-CN" altLang="en-US" dirty="0"/>
              <a:t> 关系模式规范化</a:t>
            </a: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kumimoji="1" lang="zh-CN" altLang="en-US" dirty="0"/>
              <a:t>第</a:t>
            </a:r>
            <a:r>
              <a:rPr kumimoji="1" lang="en-US" altLang="zh-CN" dirty="0"/>
              <a:t>4</a:t>
            </a:r>
            <a:r>
              <a:rPr kumimoji="1" lang="zh-CN" altLang="en-US" dirty="0"/>
              <a:t>章 数据依赖与关系模式规范化</a:t>
            </a:r>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a:t>关系模式设计中的问题</a:t>
            </a:r>
            <a:endParaRPr kumimoji="1" lang="en-US" altLang="zh-CN" dirty="0"/>
          </a:p>
          <a:p>
            <a:pPr lvl="1"/>
            <a:r>
              <a:rPr kumimoji="1" lang="zh-CN" altLang="en-US" dirty="0"/>
              <a:t>前面我们已经讨论了关系数据库的基本概念、关系模型的三个部分以及关系数据库的标准语言</a:t>
            </a:r>
            <a:r>
              <a:rPr kumimoji="1" lang="en-GB" altLang="zh-CN" dirty="0"/>
              <a:t>SQL</a:t>
            </a:r>
            <a:endParaRPr kumimoji="1" lang="en-GB" altLang="zh-CN" dirty="0"/>
          </a:p>
          <a:p>
            <a:pPr lvl="1"/>
            <a:r>
              <a:rPr kumimoji="1" lang="zh-CN" altLang="en-US" dirty="0"/>
              <a:t>但是，还有一个基本问题尚未涉及，即针对一个具体的应用问题，应该如何构造一个适合于它的关系数据库模式？应该构造几个关系模式？每个关系由哪些属性组成？</a:t>
            </a:r>
            <a:endParaRPr kumimoji="1" lang="zh-CN" altLang="en-US" dirty="0"/>
          </a:p>
          <a:p>
            <a:pPr lvl="1"/>
            <a:r>
              <a:rPr kumimoji="1" lang="zh-CN" altLang="en-US" dirty="0"/>
              <a:t>本章的任务是研究设计一个“好”的（即没有“毛病”的）关系模式的方法</a:t>
            </a:r>
            <a:endParaRPr kumimoji="1" lang="zh-CN" altLang="en-US" dirty="0"/>
          </a:p>
          <a:p>
            <a:pPr lvl="1"/>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4.1 </a:t>
            </a:r>
            <a:r>
              <a:rPr lang="zh-CN" altLang="en-US" dirty="0"/>
              <a:t>问题的提出</a:t>
            </a:r>
            <a:endParaRPr kumimoji="1"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kumimoji="1" lang="zh-CN" altLang="en-US" dirty="0"/>
              <a:t>实例分析</a:t>
            </a:r>
            <a:endParaRPr kumimoji="1" lang="en-US" altLang="zh-CN" dirty="0"/>
          </a:p>
          <a:p>
            <a:pPr lvl="1"/>
            <a:r>
              <a:rPr kumimoji="1" lang="zh-CN" altLang="en-US" dirty="0"/>
              <a:t>前面章节中多次引用过的三个基本表：</a:t>
            </a:r>
            <a:endParaRPr kumimoji="1" lang="zh-CN" altLang="en-US" dirty="0"/>
          </a:p>
          <a:p>
            <a:pPr marL="457200" lvl="1" indent="0">
              <a:buNone/>
            </a:pPr>
            <a:r>
              <a:rPr kumimoji="1" lang="en-US" altLang="zh-CN" dirty="0"/>
              <a:t>	</a:t>
            </a:r>
            <a:r>
              <a:rPr kumimoji="1" lang="zh-CN" altLang="en-US" dirty="0"/>
              <a:t> </a:t>
            </a:r>
            <a:r>
              <a:rPr kumimoji="1" lang="en-GB" altLang="zh-CN" dirty="0"/>
              <a:t>Student(S#</a:t>
            </a:r>
            <a:r>
              <a:rPr kumimoji="1" lang="zh-CN" altLang="en-GB" dirty="0"/>
              <a:t>，</a:t>
            </a:r>
            <a:r>
              <a:rPr kumimoji="1" lang="en-GB" altLang="zh-CN" dirty="0"/>
              <a:t>Class</a:t>
            </a:r>
            <a:r>
              <a:rPr kumimoji="1" lang="zh-CN" altLang="en-GB" dirty="0"/>
              <a:t>，</a:t>
            </a:r>
            <a:r>
              <a:rPr kumimoji="1" lang="en-GB" altLang="zh-CN" dirty="0" err="1"/>
              <a:t>Sname</a:t>
            </a:r>
            <a:r>
              <a:rPr kumimoji="1" lang="zh-CN" altLang="en-GB" dirty="0"/>
              <a:t>，</a:t>
            </a:r>
            <a:r>
              <a:rPr kumimoji="1" lang="en-GB" altLang="zh-CN" dirty="0"/>
              <a:t>…)</a:t>
            </a:r>
            <a:r>
              <a:rPr kumimoji="1" lang="zh-CN" altLang="en-GB" dirty="0"/>
              <a:t>、</a:t>
            </a:r>
            <a:endParaRPr kumimoji="1" lang="zh-CN" altLang="en-GB" dirty="0"/>
          </a:p>
          <a:p>
            <a:pPr marL="457200" lvl="1" indent="0">
              <a:buNone/>
            </a:pPr>
            <a:r>
              <a:rPr kumimoji="1" lang="en-US" altLang="zh-CN" dirty="0"/>
              <a:t>	</a:t>
            </a:r>
            <a:r>
              <a:rPr kumimoji="1" lang="zh-CN" altLang="en-US" dirty="0"/>
              <a:t> </a:t>
            </a:r>
            <a:r>
              <a:rPr kumimoji="1" lang="en-GB" altLang="zh-CN" dirty="0"/>
              <a:t>Course(C#</a:t>
            </a:r>
            <a:r>
              <a:rPr kumimoji="1" lang="zh-CN" altLang="en-GB" dirty="0"/>
              <a:t>，</a:t>
            </a:r>
            <a:r>
              <a:rPr kumimoji="1" lang="en-GB" altLang="zh-CN" dirty="0" err="1"/>
              <a:t>Cname</a:t>
            </a:r>
            <a:r>
              <a:rPr kumimoji="1" lang="zh-CN" altLang="en-GB" dirty="0"/>
              <a:t>，</a:t>
            </a:r>
            <a:r>
              <a:rPr kumimoji="1" lang="en-GB" altLang="zh-CN" dirty="0"/>
              <a:t>Teacher)</a:t>
            </a:r>
            <a:r>
              <a:rPr kumimoji="1" lang="zh-CN" altLang="en-GB" dirty="0"/>
              <a:t>、</a:t>
            </a:r>
            <a:endParaRPr kumimoji="1" lang="zh-CN" altLang="en-GB" dirty="0"/>
          </a:p>
          <a:p>
            <a:pPr marL="457200" lvl="1" indent="0">
              <a:buNone/>
            </a:pPr>
            <a:r>
              <a:rPr kumimoji="1" lang="en-US" altLang="zh-CN" dirty="0"/>
              <a:t>	</a:t>
            </a:r>
            <a:r>
              <a:rPr kumimoji="1" lang="zh-CN" altLang="en-US" dirty="0"/>
              <a:t> </a:t>
            </a:r>
            <a:r>
              <a:rPr kumimoji="1" lang="en-GB" altLang="zh-CN" dirty="0"/>
              <a:t>SC(S#</a:t>
            </a:r>
            <a:r>
              <a:rPr kumimoji="1" lang="zh-CN" altLang="en-GB" dirty="0"/>
              <a:t>，</a:t>
            </a:r>
            <a:r>
              <a:rPr kumimoji="1" lang="en-GB" altLang="zh-CN" dirty="0"/>
              <a:t>C#</a:t>
            </a:r>
            <a:r>
              <a:rPr kumimoji="1" lang="zh-CN" altLang="en-GB" dirty="0"/>
              <a:t>，</a:t>
            </a:r>
            <a:r>
              <a:rPr kumimoji="1" lang="en-GB" altLang="zh-CN" dirty="0"/>
              <a:t>Grade)</a:t>
            </a:r>
            <a:endParaRPr kumimoji="1" lang="en-GB" altLang="zh-CN" dirty="0"/>
          </a:p>
          <a:p>
            <a:pPr lvl="1"/>
            <a:r>
              <a:rPr kumimoji="1" lang="zh-CN" altLang="en-US" dirty="0"/>
              <a:t>对于这个应用而言，为什么仅设计了这三个表，如果将这三个表合并成一个或两个表，或者将其拆分为更多的表，这样是否更合适？</a:t>
            </a:r>
            <a:endParaRPr kumimoji="1" lang="zh-CN" altLang="en-US" dirty="0"/>
          </a:p>
          <a:p>
            <a:pPr marL="457200" lvl="1" indent="0">
              <a:buNone/>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4.1 </a:t>
            </a:r>
            <a:r>
              <a:rPr lang="zh-CN" altLang="en-US" dirty="0"/>
              <a:t>问题的提出</a:t>
            </a:r>
            <a:endParaRPr kumimoji="1"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kumimoji="1" lang="zh-CN" altLang="en-US" dirty="0"/>
              <a:t>实例分析</a:t>
            </a:r>
            <a:endParaRPr kumimoji="1" lang="en-US" altLang="zh-CN" dirty="0"/>
          </a:p>
          <a:p>
            <a:pPr lvl="1"/>
            <a:r>
              <a:rPr kumimoji="1" lang="zh-CN" altLang="en-US" dirty="0"/>
              <a:t>考虑下面的关系模式</a:t>
            </a:r>
            <a:r>
              <a:rPr kumimoji="1" lang="en-GB" altLang="zh-CN" dirty="0"/>
              <a:t>SCT:</a:t>
            </a:r>
            <a:endParaRPr kumimoji="1" lang="en-GB" altLang="zh-CN" dirty="0"/>
          </a:p>
          <a:p>
            <a:pPr marL="457200" lvl="1" indent="0">
              <a:buNone/>
            </a:pPr>
            <a:r>
              <a:rPr kumimoji="1" lang="en-GB" altLang="zh-CN" dirty="0"/>
              <a:t>	</a:t>
            </a:r>
            <a:r>
              <a:rPr kumimoji="1" lang="zh-CN" altLang="en-US" dirty="0"/>
              <a:t> </a:t>
            </a:r>
            <a:r>
              <a:rPr kumimoji="1" lang="en-GB" altLang="zh-CN" dirty="0"/>
              <a:t>SCT(S#,C#,</a:t>
            </a:r>
            <a:r>
              <a:rPr kumimoji="1" lang="en-GB" altLang="zh-CN" dirty="0" err="1"/>
              <a:t>Grade,Teacher,Dept</a:t>
            </a:r>
            <a:r>
              <a:rPr kumimoji="1" lang="en-GB" altLang="zh-CN" dirty="0"/>
              <a:t>)</a:t>
            </a: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4.1 </a:t>
            </a:r>
            <a:r>
              <a:rPr lang="zh-CN" altLang="en-US" dirty="0"/>
              <a:t>问题的提出</a:t>
            </a:r>
            <a:endParaRPr kumimoji="1" lang="zh-CN" altLang="en-US" dirty="0"/>
          </a:p>
        </p:txBody>
      </p:sp>
      <p:grpSp>
        <p:nvGrpSpPr>
          <p:cNvPr id="6" name="Group 5"/>
          <p:cNvGrpSpPr/>
          <p:nvPr/>
        </p:nvGrpSpPr>
        <p:grpSpPr bwMode="auto">
          <a:xfrm>
            <a:off x="2187676" y="3187700"/>
            <a:ext cx="7056438" cy="3168650"/>
            <a:chOff x="4140" y="1908"/>
            <a:chExt cx="3804" cy="2652"/>
          </a:xfrm>
        </p:grpSpPr>
        <p:sp>
          <p:nvSpPr>
            <p:cNvPr id="7" name="Text Box 6"/>
            <p:cNvSpPr txBox="1">
              <a:spLocks noChangeArrowheads="1"/>
            </p:cNvSpPr>
            <p:nvPr/>
          </p:nvSpPr>
          <p:spPr bwMode="auto">
            <a:xfrm>
              <a:off x="4140" y="1908"/>
              <a:ext cx="72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S#</a:t>
              </a:r>
              <a:endParaRPr lang="en-US" altLang="zh-CN" sz="2400" b="0">
                <a:latin typeface="Arial" panose="020B0604020202020204" pitchFamily="34" charset="0"/>
              </a:endParaRPr>
            </a:p>
          </p:txBody>
        </p:sp>
        <p:sp>
          <p:nvSpPr>
            <p:cNvPr id="8" name="Text Box 7"/>
            <p:cNvSpPr txBox="1">
              <a:spLocks noChangeArrowheads="1"/>
            </p:cNvSpPr>
            <p:nvPr/>
          </p:nvSpPr>
          <p:spPr bwMode="auto">
            <a:xfrm>
              <a:off x="5220" y="1908"/>
              <a:ext cx="72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C#</a:t>
              </a:r>
              <a:endParaRPr lang="en-US" altLang="zh-CN" sz="2400" b="0">
                <a:latin typeface="Arial" panose="020B0604020202020204" pitchFamily="34" charset="0"/>
              </a:endParaRPr>
            </a:p>
          </p:txBody>
        </p:sp>
        <p:sp>
          <p:nvSpPr>
            <p:cNvPr id="9" name="Line 8"/>
            <p:cNvSpPr>
              <a:spLocks noChangeShapeType="1"/>
            </p:cNvSpPr>
            <p:nvPr/>
          </p:nvSpPr>
          <p:spPr bwMode="auto">
            <a:xfrm>
              <a:off x="4500" y="2376"/>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Line 9"/>
            <p:cNvSpPr>
              <a:spLocks noChangeShapeType="1"/>
            </p:cNvSpPr>
            <p:nvPr/>
          </p:nvSpPr>
          <p:spPr bwMode="auto">
            <a:xfrm>
              <a:off x="5580" y="2376"/>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 name="Line 10"/>
            <p:cNvSpPr>
              <a:spLocks noChangeShapeType="1"/>
            </p:cNvSpPr>
            <p:nvPr/>
          </p:nvSpPr>
          <p:spPr bwMode="auto">
            <a:xfrm>
              <a:off x="4500" y="2844"/>
              <a:ext cx="10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11"/>
            <p:cNvSpPr>
              <a:spLocks noChangeShapeType="1"/>
            </p:cNvSpPr>
            <p:nvPr/>
          </p:nvSpPr>
          <p:spPr bwMode="auto">
            <a:xfrm>
              <a:off x="5040" y="2844"/>
              <a:ext cx="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12"/>
            <p:cNvSpPr txBox="1">
              <a:spLocks noChangeArrowheads="1"/>
            </p:cNvSpPr>
            <p:nvPr/>
          </p:nvSpPr>
          <p:spPr bwMode="auto">
            <a:xfrm>
              <a:off x="4584" y="3312"/>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Grade</a:t>
              </a:r>
              <a:endParaRPr lang="en-US" altLang="zh-CN" sz="2400" b="0">
                <a:latin typeface="Arial" panose="020B0604020202020204" pitchFamily="34" charset="0"/>
              </a:endParaRPr>
            </a:p>
          </p:txBody>
        </p:sp>
        <p:sp>
          <p:nvSpPr>
            <p:cNvPr id="14" name="Line 13"/>
            <p:cNvSpPr>
              <a:spLocks noChangeShapeType="1"/>
            </p:cNvSpPr>
            <p:nvPr/>
          </p:nvSpPr>
          <p:spPr bwMode="auto">
            <a:xfrm>
              <a:off x="5940" y="2136"/>
              <a:ext cx="108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Text Box 14"/>
            <p:cNvSpPr txBox="1">
              <a:spLocks noChangeArrowheads="1"/>
            </p:cNvSpPr>
            <p:nvPr/>
          </p:nvSpPr>
          <p:spPr bwMode="auto">
            <a:xfrm>
              <a:off x="7044" y="1911"/>
              <a:ext cx="876" cy="468"/>
            </a:xfrm>
            <a:prstGeom prst="rect">
              <a:avLst/>
            </a:prstGeom>
            <a:solidFill>
              <a:srgbClr val="FFFFFF"/>
            </a:solidFill>
            <a:ln w="9525">
              <a:solidFill>
                <a:srgbClr val="000000"/>
              </a:solidFill>
              <a:miter lim="800000"/>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Teacher</a:t>
              </a:r>
              <a:endParaRPr lang="en-US" altLang="zh-CN" sz="2400" b="0">
                <a:latin typeface="Arial" panose="020B0604020202020204" pitchFamily="34" charset="0"/>
              </a:endParaRPr>
            </a:p>
          </p:txBody>
        </p:sp>
        <p:sp>
          <p:nvSpPr>
            <p:cNvPr id="16" name="Line 15"/>
            <p:cNvSpPr>
              <a:spLocks noChangeShapeType="1"/>
            </p:cNvSpPr>
            <p:nvPr/>
          </p:nvSpPr>
          <p:spPr bwMode="auto">
            <a:xfrm>
              <a:off x="7500" y="2388"/>
              <a:ext cx="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Text Box 16"/>
            <p:cNvSpPr txBox="1">
              <a:spLocks noChangeArrowheads="1"/>
            </p:cNvSpPr>
            <p:nvPr/>
          </p:nvSpPr>
          <p:spPr bwMode="auto">
            <a:xfrm>
              <a:off x="7044" y="3348"/>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dirty="0">
                  <a:latin typeface="Times New Roman" panose="02020603050405020304" pitchFamily="18" charset="0"/>
                </a:rPr>
                <a:t>Dept</a:t>
              </a:r>
              <a:endParaRPr lang="en-US" altLang="zh-CN" sz="2400" b="0" dirty="0">
                <a:latin typeface="Arial" panose="020B0604020202020204" pitchFamily="34" charset="0"/>
              </a:endParaRPr>
            </a:p>
          </p:txBody>
        </p:sp>
        <p:sp>
          <p:nvSpPr>
            <p:cNvPr id="18" name="Text Box 17"/>
            <p:cNvSpPr txBox="1">
              <a:spLocks noChangeArrowheads="1"/>
            </p:cNvSpPr>
            <p:nvPr/>
          </p:nvSpPr>
          <p:spPr bwMode="auto">
            <a:xfrm>
              <a:off x="4140" y="4092"/>
              <a:ext cx="378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a:latin typeface="Times New Roman" panose="02020603050405020304" pitchFamily="18" charset="0"/>
                </a:rPr>
                <a:t>图</a:t>
              </a:r>
              <a:r>
                <a:rPr lang="en-US" altLang="zh-CN" sz="2400">
                  <a:latin typeface="Times New Roman" panose="02020603050405020304" pitchFamily="18" charset="0"/>
                </a:rPr>
                <a:t>4.1</a:t>
              </a:r>
              <a:r>
                <a:rPr lang="zh-CN" altLang="en-US" sz="2400">
                  <a:latin typeface="Times New Roman" panose="02020603050405020304" pitchFamily="18" charset="0"/>
                </a:rPr>
                <a:t>关系模式</a:t>
              </a:r>
              <a:r>
                <a:rPr lang="en-US" altLang="zh-CN" sz="2400">
                  <a:latin typeface="Times New Roman" panose="02020603050405020304" pitchFamily="18" charset="0"/>
                </a:rPr>
                <a:t>SCT</a:t>
              </a:r>
              <a:r>
                <a:rPr lang="zh-CN" altLang="en-US" sz="2400">
                  <a:latin typeface="Times New Roman" panose="02020603050405020304" pitchFamily="18" charset="0"/>
                </a:rPr>
                <a:t>属性间依赖关系</a:t>
              </a:r>
              <a:endParaRPr lang="zh-CN" altLang="en-US" sz="2400">
                <a:latin typeface="Arial" panose="020B0604020202020204" pitchFamily="34" charset="0"/>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kumimoji="1" lang="zh-CN" altLang="en-US" dirty="0"/>
              <a:t>实例分析</a:t>
            </a:r>
            <a:endParaRPr kumimoji="1"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4.1 </a:t>
            </a:r>
            <a:r>
              <a:rPr lang="zh-CN" altLang="en-US" dirty="0"/>
              <a:t>问题的提出</a:t>
            </a:r>
            <a:endParaRPr kumimoji="1" lang="zh-CN" altLang="en-US" dirty="0"/>
          </a:p>
        </p:txBody>
      </p:sp>
      <p:graphicFrame>
        <p:nvGraphicFramePr>
          <p:cNvPr id="19" name="Group 291"/>
          <p:cNvGraphicFramePr>
            <a:graphicFrameLocks noGrp="1"/>
          </p:cNvGraphicFramePr>
          <p:nvPr/>
        </p:nvGraphicFramePr>
        <p:xfrm>
          <a:off x="2855119" y="2160587"/>
          <a:ext cx="6481762" cy="2536825"/>
        </p:xfrm>
        <a:graphic>
          <a:graphicData uri="http://schemas.openxmlformats.org/drawingml/2006/table">
            <a:tbl>
              <a:tblPr/>
              <a:tblGrid>
                <a:gridCol w="1211262"/>
                <a:gridCol w="1363663"/>
                <a:gridCol w="1187450"/>
                <a:gridCol w="1363662"/>
                <a:gridCol w="1355725"/>
              </a:tblGrid>
              <a:tr h="4397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S#</a:t>
                      </a:r>
                      <a:endParaRPr kumimoji="0"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a:t>
                      </a:r>
                      <a:endParaRPr kumimoji="0"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Grade</a:t>
                      </a:r>
                      <a:endParaRPr kumimoji="0"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Teacher</a:t>
                      </a:r>
                      <a:endParaRPr kumimoji="0"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Dept</a:t>
                      </a:r>
                      <a:endParaRPr kumimoji="0" lang="en-US" altLang="zh-CN" sz="20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09708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02055019</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02055019</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02055037</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02055066</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02055066</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01</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03</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01</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03</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89</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86</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68</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92</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73</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rgbClr val="FF6600"/>
                          </a:solidFill>
                          <a:effectLst/>
                          <a:latin typeface="黑体" panose="02010609060101010101" pitchFamily="49" charset="-122"/>
                          <a:ea typeface="黑体" panose="02010609060101010101" pitchFamily="49" charset="-122"/>
                          <a:cs typeface="Times New Roman" panose="02020603050405020304" pitchFamily="18" charset="0"/>
                        </a:rPr>
                        <a:t>刘朝</a:t>
                      </a:r>
                      <a:endParaRPr kumimoji="0" lang="zh-CN" altLang="en-US" sz="2000" b="1" i="0" u="none" strike="noStrike" cap="none" normalizeH="0" baseline="0">
                        <a:ln>
                          <a:noFill/>
                        </a:ln>
                        <a:solidFill>
                          <a:srgbClr val="FF66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张莹</a:t>
                      </a:r>
                      <a:endParaRPr kumimoji="0" lang="zh-CN" altLang="en-US" sz="2000" b="0" i="0" u="none" strike="noStrike" cap="none" normalizeH="0" baseline="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rgbClr val="FF6600"/>
                          </a:solidFill>
                          <a:effectLst/>
                          <a:latin typeface="黑体" panose="02010609060101010101" pitchFamily="49" charset="-122"/>
                          <a:ea typeface="黑体" panose="02010609060101010101" pitchFamily="49" charset="-122"/>
                          <a:cs typeface="Times New Roman" panose="02020603050405020304" pitchFamily="18" charset="0"/>
                        </a:rPr>
                        <a:t>刘朝</a:t>
                      </a:r>
                      <a:endParaRPr kumimoji="0" lang="zh-CN" altLang="en-US" sz="2000" b="1" i="0" u="none" strike="noStrike" cap="none" normalizeH="0" baseline="0">
                        <a:ln>
                          <a:noFill/>
                        </a:ln>
                        <a:solidFill>
                          <a:srgbClr val="FF66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林琳</a:t>
                      </a:r>
                      <a:endParaRPr kumimoji="0" lang="zh-CN" altLang="en-US"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张莹</a:t>
                      </a:r>
                      <a:endParaRPr kumimoji="0" lang="zh-CN" altLang="en-US" sz="2000" b="0" i="0" u="none" strike="noStrike" cap="none" normalizeH="0" baseline="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2000" b="0"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计算机</a:t>
                      </a:r>
                      <a:endParaRPr kumimoji="0" lang="zh-CN" altLang="en-US" sz="20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计算机</a:t>
                      </a:r>
                      <a:endParaRPr kumimoji="0" lang="zh-CN" altLang="en-US" sz="20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计算机</a:t>
                      </a:r>
                      <a:endParaRPr kumimoji="0" lang="zh-CN" altLang="en-US" sz="20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计算机</a:t>
                      </a:r>
                      <a:endParaRPr kumimoji="0" lang="zh-CN" altLang="en-US" sz="20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计算机</a:t>
                      </a:r>
                      <a:endParaRPr kumimoji="0" lang="zh-CN" altLang="en-US" sz="20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0" name="Rectangle 283"/>
          <p:cNvSpPr>
            <a:spLocks noChangeArrowheads="1"/>
          </p:cNvSpPr>
          <p:nvPr/>
        </p:nvSpPr>
        <p:spPr bwMode="auto">
          <a:xfrm>
            <a:off x="4383031" y="4946798"/>
            <a:ext cx="34259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4.2 </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关系模式</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SCT</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实例</a:t>
            </a:r>
            <a:endParaRPr lang="zh-CN" alt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kumimoji="1" lang="zh-CN" altLang="en-US" dirty="0"/>
              <a:t>实例分析</a:t>
            </a:r>
            <a:endParaRPr kumimoji="1" lang="en-US" altLang="zh-CN" dirty="0"/>
          </a:p>
          <a:p>
            <a:pPr lvl="1"/>
            <a:r>
              <a:rPr kumimoji="1" lang="zh-CN" altLang="en-US" sz="2600" dirty="0"/>
              <a:t>关系模式</a:t>
            </a:r>
            <a:r>
              <a:rPr kumimoji="1" lang="en-US" altLang="zh-CN" sz="2600" dirty="0"/>
              <a:t>SCT</a:t>
            </a:r>
            <a:r>
              <a:rPr kumimoji="1" lang="zh-CN" altLang="en-US" sz="2600" dirty="0"/>
              <a:t>存在的问题： </a:t>
            </a:r>
            <a:endParaRPr kumimoji="1" lang="en-US" altLang="zh-CN" sz="2600" dirty="0"/>
          </a:p>
          <a:p>
            <a:pPr lvl="2">
              <a:lnSpc>
                <a:spcPct val="200000"/>
              </a:lnSpc>
            </a:pPr>
            <a:r>
              <a:rPr kumimoji="1" lang="zh-CN" altLang="en-US" sz="2400" dirty="0"/>
              <a:t>数据冗余</a:t>
            </a:r>
            <a:r>
              <a:rPr kumimoji="1" lang="en-US" altLang="zh-CN" sz="2400" dirty="0"/>
              <a:t>(Redundancy)</a:t>
            </a:r>
            <a:endParaRPr kumimoji="1" lang="en-US" altLang="zh-CN" sz="2400" dirty="0"/>
          </a:p>
          <a:p>
            <a:pPr lvl="2">
              <a:lnSpc>
                <a:spcPct val="200000"/>
              </a:lnSpc>
            </a:pPr>
            <a:r>
              <a:rPr kumimoji="1" lang="zh-CN" altLang="en-US" sz="2400" dirty="0"/>
              <a:t>更新异常</a:t>
            </a:r>
            <a:r>
              <a:rPr kumimoji="1" lang="en-US" altLang="zh-CN" sz="2400" dirty="0"/>
              <a:t>(Update Anomalies)</a:t>
            </a:r>
            <a:endParaRPr kumimoji="1" lang="en-US" altLang="zh-CN" sz="2400" dirty="0"/>
          </a:p>
          <a:p>
            <a:pPr lvl="2">
              <a:lnSpc>
                <a:spcPct val="200000"/>
              </a:lnSpc>
            </a:pPr>
            <a:r>
              <a:rPr kumimoji="1" lang="zh-CN" altLang="en-US" sz="2400" dirty="0"/>
              <a:t>插入异常</a:t>
            </a:r>
            <a:r>
              <a:rPr kumimoji="1" lang="en-US" altLang="zh-CN" sz="2400" dirty="0"/>
              <a:t>(Insertion Anomalies)</a:t>
            </a:r>
            <a:endParaRPr kumimoji="1" lang="en-US" altLang="zh-CN" sz="2400" dirty="0"/>
          </a:p>
          <a:p>
            <a:pPr lvl="2">
              <a:lnSpc>
                <a:spcPct val="200000"/>
              </a:lnSpc>
            </a:pPr>
            <a:r>
              <a:rPr kumimoji="1" lang="zh-CN" altLang="en-US" sz="2400" dirty="0"/>
              <a:t>删除异常</a:t>
            </a:r>
            <a:r>
              <a:rPr kumimoji="1" lang="en-US" altLang="zh-CN" sz="2400" dirty="0"/>
              <a:t>(Deletion Anomalies)</a:t>
            </a:r>
            <a:endParaRPr kumimoji="1" lang="en-US" altLang="zh-CN" sz="2400" dirty="0"/>
          </a:p>
          <a:p>
            <a:pPr lvl="1"/>
            <a:endParaRPr kumimoji="1"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4.1 </a:t>
            </a:r>
            <a:r>
              <a:rPr lang="zh-CN" altLang="en-US" dirty="0"/>
              <a:t>问题的提出</a:t>
            </a:r>
            <a:endParaRPr kumimoji="1"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a:bodyPr>
          <a:lstStyle/>
          <a:p>
            <a:r>
              <a:rPr kumimoji="1" lang="zh-CN" altLang="en-US" dirty="0"/>
              <a:t>实例分析</a:t>
            </a:r>
            <a:endParaRPr kumimoji="1" lang="en-US" altLang="zh-CN" dirty="0"/>
          </a:p>
          <a:p>
            <a:pPr lvl="1">
              <a:lnSpc>
                <a:spcPct val="150000"/>
              </a:lnSpc>
            </a:pPr>
            <a:r>
              <a:rPr kumimoji="1" lang="zh-CN" altLang="en-US" sz="2600" dirty="0"/>
              <a:t>结论：</a:t>
            </a:r>
            <a:endParaRPr kumimoji="1" lang="en-US" altLang="zh-CN" sz="2600" dirty="0"/>
          </a:p>
          <a:p>
            <a:pPr lvl="2">
              <a:lnSpc>
                <a:spcPct val="150000"/>
              </a:lnSpc>
            </a:pPr>
            <a:r>
              <a:rPr kumimoji="1" lang="en-GB" altLang="zh-CN" sz="2400" dirty="0"/>
              <a:t>SCT</a:t>
            </a:r>
            <a:r>
              <a:rPr kumimoji="1" lang="zh-CN" altLang="en-US" sz="2400" dirty="0"/>
              <a:t>不是一个”好”的关系模式</a:t>
            </a:r>
            <a:endParaRPr kumimoji="1" lang="en-US" altLang="zh-CN" sz="2400" dirty="0"/>
          </a:p>
          <a:p>
            <a:pPr lvl="2">
              <a:lnSpc>
                <a:spcPct val="150000"/>
              </a:lnSpc>
            </a:pPr>
            <a:r>
              <a:rPr kumimoji="1" lang="zh-CN" altLang="en-US" sz="2400" dirty="0"/>
              <a:t>“好”的模式：数据冗余应尽可能少，不会发生插入异常、删除异常、更新异常</a:t>
            </a:r>
            <a:endParaRPr kumimoji="1" lang="zh-CN" altLang="en-US" sz="2400" dirty="0"/>
          </a:p>
          <a:p>
            <a:pPr lvl="1">
              <a:lnSpc>
                <a:spcPct val="150000"/>
              </a:lnSpc>
            </a:pPr>
            <a:r>
              <a:rPr kumimoji="1" lang="zh-CN" altLang="en-US" sz="2600" dirty="0"/>
              <a:t>原因：</a:t>
            </a:r>
            <a:endParaRPr kumimoji="1" lang="en-US" altLang="zh-CN" sz="2600" dirty="0"/>
          </a:p>
          <a:p>
            <a:pPr lvl="2">
              <a:lnSpc>
                <a:spcPct val="150000"/>
              </a:lnSpc>
            </a:pPr>
            <a:r>
              <a:rPr kumimoji="1" lang="zh-CN" altLang="en-US" sz="2400" dirty="0"/>
              <a:t>由存在于模式中的某些”数据依赖”引起的</a:t>
            </a:r>
            <a:endParaRPr kumimoji="1" lang="zh-CN" altLang="en-US" sz="2400" dirty="0"/>
          </a:p>
          <a:p>
            <a:pPr lvl="1">
              <a:lnSpc>
                <a:spcPct val="150000"/>
              </a:lnSpc>
            </a:pPr>
            <a:r>
              <a:rPr kumimoji="1" lang="zh-CN" altLang="en-US" sz="2600" dirty="0"/>
              <a:t>解决方法：</a:t>
            </a:r>
            <a:endParaRPr kumimoji="1" lang="en-US" altLang="zh-CN" sz="2600" dirty="0"/>
          </a:p>
          <a:p>
            <a:pPr lvl="2">
              <a:lnSpc>
                <a:spcPct val="150000"/>
              </a:lnSpc>
            </a:pPr>
            <a:r>
              <a:rPr kumimoji="1" lang="zh-CN" altLang="en-US" sz="2400" dirty="0"/>
              <a:t>通过分解关系模式来消除其中不合适的数据依赖</a:t>
            </a:r>
            <a:endParaRPr kumimoji="1" lang="zh-CN" altLang="en-US" sz="2400" dirty="0"/>
          </a:p>
          <a:p>
            <a:pPr lvl="1"/>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4.1 </a:t>
            </a:r>
            <a:r>
              <a:rPr lang="zh-CN" altLang="en-US" dirty="0"/>
              <a:t>问题的提出</a:t>
            </a:r>
            <a:endParaRPr kumimoji="1"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a:lnSpc>
                <a:spcPct val="150000"/>
              </a:lnSpc>
            </a:pPr>
            <a:r>
              <a:rPr kumimoji="1" lang="zh-CN" altLang="en-US" sz="2600" dirty="0">
                <a:solidFill>
                  <a:srgbClr val="C00000"/>
                </a:solidFill>
              </a:rPr>
              <a:t>数据依赖</a:t>
            </a:r>
            <a:r>
              <a:rPr kumimoji="1" lang="en-US" altLang="zh-CN" sz="2600" dirty="0"/>
              <a:t>(</a:t>
            </a:r>
            <a:r>
              <a:rPr kumimoji="1" lang="en-GB" altLang="zh-CN" sz="2600" dirty="0"/>
              <a:t>Data Dependency)</a:t>
            </a:r>
            <a:r>
              <a:rPr kumimoji="1" lang="zh-CN" altLang="en-US" sz="2600" dirty="0"/>
              <a:t>是通过一个关系中各属性值相等与否体现出来的一种数据间的</a:t>
            </a:r>
            <a:r>
              <a:rPr kumimoji="1" lang="zh-CN" altLang="en-US" sz="2600" dirty="0">
                <a:solidFill>
                  <a:srgbClr val="C00000"/>
                </a:solidFill>
              </a:rPr>
              <a:t>相互制约关系</a:t>
            </a:r>
            <a:r>
              <a:rPr kumimoji="1" lang="zh-CN" altLang="en-US" sz="2600" dirty="0"/>
              <a:t>，是现实世界中事物属性间相互联系的抽象，是数据内在的性质，是语义的体现</a:t>
            </a:r>
            <a:endParaRPr kumimoji="1" lang="zh-CN" altLang="en-US" sz="2600" dirty="0"/>
          </a:p>
          <a:p>
            <a:pPr>
              <a:lnSpc>
                <a:spcPct val="150000"/>
              </a:lnSpc>
            </a:pPr>
            <a:r>
              <a:rPr kumimoji="1" lang="zh-CN" altLang="en-US" sz="2600" dirty="0"/>
              <a:t>人们已经提出了许多种类型的数据依赖，其中最重要的是</a:t>
            </a:r>
            <a:r>
              <a:rPr kumimoji="1" lang="zh-CN" altLang="en-US" sz="2600" dirty="0">
                <a:solidFill>
                  <a:srgbClr val="7030A0"/>
                </a:solidFill>
              </a:rPr>
              <a:t>函数依赖</a:t>
            </a:r>
            <a:r>
              <a:rPr kumimoji="1" lang="en-US" altLang="zh-CN" sz="2600" dirty="0"/>
              <a:t>(</a:t>
            </a:r>
            <a:r>
              <a:rPr kumimoji="1" lang="en-GB" altLang="zh-CN" sz="2600" dirty="0"/>
              <a:t>Functional Dependency</a:t>
            </a:r>
            <a:r>
              <a:rPr kumimoji="1" lang="zh-CN" altLang="en-US" sz="2600" dirty="0"/>
              <a:t>简记为</a:t>
            </a:r>
            <a:r>
              <a:rPr kumimoji="1" lang="en-GB" altLang="zh-CN" sz="2600" dirty="0"/>
              <a:t>FD)</a:t>
            </a:r>
            <a:r>
              <a:rPr kumimoji="1" lang="zh-CN" altLang="en-US" sz="2600" dirty="0"/>
              <a:t>和</a:t>
            </a:r>
            <a:r>
              <a:rPr kumimoji="1" lang="zh-CN" altLang="en-US" sz="2600" dirty="0">
                <a:solidFill>
                  <a:srgbClr val="7030A0"/>
                </a:solidFill>
              </a:rPr>
              <a:t>多值依赖</a:t>
            </a:r>
            <a:r>
              <a:rPr kumimoji="1" lang="en-US" altLang="zh-CN" sz="2600" dirty="0"/>
              <a:t>(</a:t>
            </a:r>
            <a:r>
              <a:rPr kumimoji="1" lang="en-GB" altLang="zh-CN" sz="2600" dirty="0"/>
              <a:t>Multivalued Dependency</a:t>
            </a:r>
            <a:r>
              <a:rPr kumimoji="1" lang="zh-CN" altLang="en-US" sz="2600" dirty="0"/>
              <a:t>简记为</a:t>
            </a:r>
            <a:r>
              <a:rPr kumimoji="1" lang="en-GB" altLang="zh-CN" sz="2600" dirty="0"/>
              <a:t>MVD) </a:t>
            </a:r>
            <a:endParaRPr kumimoji="1" lang="en-GB" altLang="zh-CN" sz="2600" dirty="0"/>
          </a:p>
          <a:p>
            <a:pPr>
              <a:lnSpc>
                <a:spcPct val="150000"/>
              </a:lnSpc>
            </a:pPr>
            <a:endParaRPr kumimoji="1" lang="zh-CN" altLang="en-US" sz="2600" dirty="0"/>
          </a:p>
          <a:p>
            <a:pPr lvl="1"/>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kumimoji="1" lang="zh-CN" altLang="en-US" dirty="0"/>
                  <a:t>常用符号及其含义</a:t>
                </a:r>
                <a:endParaRPr kumimoji="1" lang="en-US" altLang="zh-CN" dirty="0"/>
              </a:p>
              <a:p>
                <a:pPr lvl="1">
                  <a:lnSpc>
                    <a:spcPct val="200000"/>
                  </a:lnSpc>
                </a:pPr>
                <a14:m>
                  <m:oMath xmlns:m="http://schemas.openxmlformats.org/officeDocument/2006/math">
                    <m:r>
                      <a:rPr lang="en-US" altLang="zh-CN" b="0" i="1" smtClean="0">
                        <a:latin typeface="Cambria Math" panose="02040503050406030204" pitchFamily="18" charset="0"/>
                        <a:ea typeface="黑体" panose="02010609060101010101" pitchFamily="49" charset="-122"/>
                      </a:rPr>
                      <m:t>𝑅</m:t>
                    </m:r>
                  </m:oMath>
                </a14:m>
                <a:r>
                  <a:rPr lang="zh-CN" altLang="en-US" dirty="0"/>
                  <a:t>表示一个抽象的关系模式，</a:t>
                </a:r>
                <a:r>
                  <a:rPr lang="en-US" altLang="zh-CN" dirty="0"/>
                  <a:t> </a:t>
                </a:r>
                <a14:m>
                  <m:oMath xmlns:m="http://schemas.openxmlformats.org/officeDocument/2006/math">
                    <m:r>
                      <a:rPr lang="en-US" altLang="zh-CN" i="1">
                        <a:latin typeface="Cambria Math" panose="02040503050406030204" pitchFamily="18" charset="0"/>
                        <a:ea typeface="黑体" panose="02010609060101010101" pitchFamily="49" charset="-122"/>
                      </a:rPr>
                      <m:t>𝑅</m:t>
                    </m:r>
                  </m:oMath>
                </a14:m>
                <a:r>
                  <a:rPr lang="zh-CN" altLang="en-US" dirty="0"/>
                  <a:t>上全部函数依赖的集合记为</a:t>
                </a:r>
                <a14:m>
                  <m:oMath xmlns:m="http://schemas.openxmlformats.org/officeDocument/2006/math">
                    <m:r>
                      <a:rPr lang="en-US" altLang="zh-CN" b="0" i="1" smtClean="0">
                        <a:latin typeface="Cambria Math" panose="02040503050406030204" pitchFamily="18" charset="0"/>
                        <a:ea typeface="黑体" panose="02010609060101010101" pitchFamily="49" charset="-122"/>
                      </a:rPr>
                      <m:t>𝐹</m:t>
                    </m:r>
                  </m:oMath>
                </a14:m>
                <a:r>
                  <a:rPr lang="zh-CN" altLang="en-US" dirty="0"/>
                  <a:t>；</a:t>
                </a:r>
                <a:endParaRPr lang="en-US" altLang="zh-CN" dirty="0"/>
              </a:p>
              <a:p>
                <a:pPr lvl="1">
                  <a:lnSpc>
                    <a:spcPct val="200000"/>
                  </a:lnSpc>
                </a:pPr>
                <a14:m>
                  <m:oMath xmlns:m="http://schemas.openxmlformats.org/officeDocument/2006/math">
                    <m:r>
                      <a:rPr lang="en-US" altLang="zh-CN" i="1">
                        <a:latin typeface="Cambria Math" panose="02040503050406030204" pitchFamily="18" charset="0"/>
                        <a:ea typeface="黑体" panose="02010609060101010101" pitchFamily="49" charset="-122"/>
                      </a:rPr>
                      <m:t>𝑅</m:t>
                    </m:r>
                  </m:oMath>
                </a14:m>
                <a:r>
                  <a:rPr lang="zh-CN" altLang="en-US" dirty="0"/>
                  <a:t>的属性全集一般用</a:t>
                </a:r>
                <a14:m>
                  <m:oMath xmlns:m="http://schemas.openxmlformats.org/officeDocument/2006/math">
                    <m:r>
                      <m:rPr>
                        <m:sty m:val="p"/>
                      </m:rPr>
                      <a:rPr lang="en-US" altLang="zh-CN" i="1" dirty="0">
                        <a:latin typeface="Cambria Math" panose="02040503050406030204" pitchFamily="18" charset="0"/>
                        <a:ea typeface="黑体" panose="02010609060101010101" pitchFamily="49" charset="-122"/>
                      </a:rPr>
                      <m:t>U</m:t>
                    </m:r>
                  </m:oMath>
                </a14:m>
                <a:r>
                  <a:rPr lang="zh-CN" altLang="en-US" dirty="0"/>
                  <a:t>表示，</a:t>
                </a:r>
                <a14:m>
                  <m:oMath xmlns:m="http://schemas.openxmlformats.org/officeDocument/2006/math">
                    <m:r>
                      <m:rPr>
                        <m:sty m:val="p"/>
                      </m:rPr>
                      <a:rPr lang="en-US" altLang="zh-CN" i="1" dirty="0">
                        <a:latin typeface="Cambria Math" panose="02040503050406030204" pitchFamily="18" charset="0"/>
                        <a:ea typeface="黑体" panose="02010609060101010101" pitchFamily="49" charset="-122"/>
                      </a:rPr>
                      <m:t>U</m:t>
                    </m:r>
                    <m:r>
                      <a:rPr lang="en-US" altLang="zh-CN" b="0" i="1" dirty="0" smtClean="0">
                        <a:latin typeface="Cambria Math" panose="02040503050406030204" pitchFamily="18" charset="0"/>
                        <a:ea typeface="黑体" panose="02010609060101010101" pitchFamily="49" charset="-122"/>
                      </a:rPr>
                      <m:t>={</m:t>
                    </m:r>
                    <m:sSub>
                      <m:sSubPr>
                        <m:ctrlPr>
                          <a:rPr lang="en-US" altLang="zh-CN" b="0" i="1" dirty="0" smtClean="0">
                            <a:latin typeface="Cambria Math" panose="02040503050406030204" pitchFamily="18" charset="0"/>
                            <a:ea typeface="黑体" panose="02010609060101010101" pitchFamily="49" charset="-122"/>
                          </a:rPr>
                        </m:ctrlPr>
                      </m:sSubPr>
                      <m:e>
                        <m:r>
                          <a:rPr lang="en-US" altLang="zh-CN" b="0" i="1" dirty="0" smtClean="0">
                            <a:latin typeface="Cambria Math" panose="02040503050406030204" pitchFamily="18" charset="0"/>
                            <a:ea typeface="黑体" panose="02010609060101010101" pitchFamily="49" charset="-122"/>
                          </a:rPr>
                          <m:t>𝐴</m:t>
                        </m:r>
                      </m:e>
                      <m:sub>
                        <m:r>
                          <a:rPr lang="en-US" altLang="zh-CN" b="0" i="1" dirty="0" smtClean="0">
                            <a:latin typeface="Cambria Math" panose="02040503050406030204" pitchFamily="18" charset="0"/>
                            <a:ea typeface="黑体" panose="02010609060101010101" pitchFamily="49" charset="-122"/>
                          </a:rPr>
                          <m:t>1</m:t>
                        </m:r>
                      </m:sub>
                    </m:sSub>
                    <m:r>
                      <a:rPr lang="en-US" altLang="zh-CN" b="0" i="1" dirty="0" smtClean="0">
                        <a:latin typeface="Cambria Math" panose="02040503050406030204" pitchFamily="18" charset="0"/>
                        <a:ea typeface="黑体" panose="02010609060101010101" pitchFamily="49" charset="-122"/>
                      </a:rPr>
                      <m:t>,</m:t>
                    </m:r>
                    <m:sSub>
                      <m:sSubPr>
                        <m:ctrlPr>
                          <a:rPr lang="en-US" altLang="zh-CN" i="1" dirty="0">
                            <a:latin typeface="Cambria Math" panose="02040503050406030204" pitchFamily="18" charset="0"/>
                            <a:ea typeface="黑体" panose="02010609060101010101" pitchFamily="49" charset="-122"/>
                          </a:rPr>
                        </m:ctrlPr>
                      </m:sSubPr>
                      <m:e>
                        <m:r>
                          <a:rPr lang="en-US" altLang="zh-CN" i="1" dirty="0">
                            <a:latin typeface="Cambria Math" panose="02040503050406030204" pitchFamily="18" charset="0"/>
                            <a:ea typeface="黑体" panose="02010609060101010101" pitchFamily="49" charset="-122"/>
                          </a:rPr>
                          <m:t>𝐴</m:t>
                        </m:r>
                      </m:e>
                      <m:sub>
                        <m:r>
                          <a:rPr lang="en-US" altLang="zh-CN" b="0" i="1" dirty="0" smtClean="0">
                            <a:latin typeface="Cambria Math" panose="02040503050406030204" pitchFamily="18" charset="0"/>
                            <a:ea typeface="黑体" panose="02010609060101010101" pitchFamily="49" charset="-122"/>
                          </a:rPr>
                          <m:t>2</m:t>
                        </m:r>
                      </m:sub>
                    </m:sSub>
                    <m:r>
                      <a:rPr lang="en-US" altLang="zh-CN" b="0" i="1" dirty="0" smtClean="0">
                        <a:latin typeface="Cambria Math" panose="02040503050406030204" pitchFamily="18" charset="0"/>
                        <a:ea typeface="黑体" panose="02010609060101010101" pitchFamily="49" charset="-122"/>
                      </a:rPr>
                      <m:t>,…,</m:t>
                    </m:r>
                    <m:sSub>
                      <m:sSubPr>
                        <m:ctrlPr>
                          <a:rPr lang="en-US" altLang="zh-CN" i="1" dirty="0">
                            <a:latin typeface="Cambria Math" panose="02040503050406030204" pitchFamily="18" charset="0"/>
                            <a:ea typeface="黑体" panose="02010609060101010101" pitchFamily="49" charset="-122"/>
                          </a:rPr>
                        </m:ctrlPr>
                      </m:sSubPr>
                      <m:e>
                        <m:r>
                          <a:rPr lang="en-US" altLang="zh-CN" i="1" dirty="0">
                            <a:latin typeface="Cambria Math" panose="02040503050406030204" pitchFamily="18" charset="0"/>
                            <a:ea typeface="黑体" panose="02010609060101010101" pitchFamily="49" charset="-122"/>
                          </a:rPr>
                          <m:t>𝐴</m:t>
                        </m:r>
                      </m:e>
                      <m:sub>
                        <m:r>
                          <a:rPr lang="en-US" altLang="zh-CN" b="0" i="1" dirty="0" smtClean="0">
                            <a:latin typeface="Cambria Math" panose="02040503050406030204" pitchFamily="18" charset="0"/>
                            <a:ea typeface="黑体" panose="02010609060101010101" pitchFamily="49" charset="-122"/>
                          </a:rPr>
                          <m:t>𝑛</m:t>
                        </m:r>
                      </m:sub>
                    </m:sSub>
                    <m:r>
                      <a:rPr lang="en-US" altLang="zh-CN" b="0" i="1" dirty="0" smtClean="0">
                        <a:latin typeface="Cambria Math" panose="02040503050406030204" pitchFamily="18" charset="0"/>
                        <a:ea typeface="黑体" panose="02010609060101010101" pitchFamily="49" charset="-122"/>
                      </a:rPr>
                      <m:t>}</m:t>
                    </m:r>
                  </m:oMath>
                </a14:m>
                <a:r>
                  <a:rPr lang="en-US" altLang="zh-CN" dirty="0"/>
                  <a:t> </a:t>
                </a:r>
                <a:r>
                  <a:rPr lang="zh-CN" altLang="en-US" dirty="0"/>
                  <a:t>，其中的每一个 </a:t>
                </a:r>
                <a14:m>
                  <m:oMath xmlns:m="http://schemas.openxmlformats.org/officeDocument/2006/math">
                    <m:sSub>
                      <m:sSubPr>
                        <m:ctrlPr>
                          <a:rPr lang="en-US" altLang="zh-CN" i="1" dirty="0">
                            <a:latin typeface="Cambria Math" panose="02040503050406030204" pitchFamily="18" charset="0"/>
                            <a:ea typeface="黑体" panose="02010609060101010101" pitchFamily="49" charset="-122"/>
                          </a:rPr>
                        </m:ctrlPr>
                      </m:sSubPr>
                      <m:e>
                        <m:r>
                          <a:rPr lang="en-US" altLang="zh-CN" i="1" dirty="0">
                            <a:latin typeface="Cambria Math" panose="02040503050406030204" pitchFamily="18" charset="0"/>
                            <a:ea typeface="黑体" panose="02010609060101010101" pitchFamily="49" charset="-122"/>
                          </a:rPr>
                          <m:t>𝐴</m:t>
                        </m:r>
                      </m:e>
                      <m:sub>
                        <m:r>
                          <a:rPr lang="en-US" altLang="zh-CN" b="0" i="1" dirty="0" smtClean="0">
                            <a:latin typeface="Cambria Math" panose="02040503050406030204" pitchFamily="18" charset="0"/>
                            <a:ea typeface="黑体" panose="02010609060101010101" pitchFamily="49" charset="-122"/>
                          </a:rPr>
                          <m:t>𝑖</m:t>
                        </m:r>
                      </m:sub>
                    </m:sSub>
                    <m:r>
                      <a:rPr lang="en-US" altLang="zh-CN" b="0" i="1" dirty="0" smtClean="0">
                        <a:latin typeface="Cambria Math" panose="02040503050406030204" pitchFamily="18" charset="0"/>
                        <a:ea typeface="黑体" panose="02010609060101010101" pitchFamily="49" charset="-122"/>
                      </a:rPr>
                      <m:t>(</m:t>
                    </m:r>
                    <m:r>
                      <a:rPr lang="en-US" altLang="zh-CN" b="0" i="1" dirty="0" smtClean="0">
                        <a:latin typeface="Cambria Math" panose="02040503050406030204" pitchFamily="18" charset="0"/>
                        <a:ea typeface="黑体" panose="02010609060101010101" pitchFamily="49" charset="-122"/>
                      </a:rPr>
                      <m:t>1</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𝑖</m:t>
                    </m:r>
                    <m:r>
                      <a:rPr lang="en-US" altLang="zh-CN" b="0"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𝑛</m:t>
                    </m:r>
                    <m:r>
                      <a:rPr lang="en-US" altLang="zh-CN" b="0" i="1" dirty="0" smtClean="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 </m:t>
                    </m:r>
                  </m:oMath>
                </a14:m>
                <a:r>
                  <a:rPr lang="zh-CN" altLang="en-US" dirty="0"/>
                  <a:t>均表示</a:t>
                </a:r>
                <a14:m>
                  <m:oMath xmlns:m="http://schemas.openxmlformats.org/officeDocument/2006/math">
                    <m:r>
                      <a:rPr lang="en-US" altLang="zh-CN" i="1">
                        <a:latin typeface="Cambria Math" panose="02040503050406030204" pitchFamily="18" charset="0"/>
                        <a:ea typeface="黑体" panose="02010609060101010101" pitchFamily="49" charset="-122"/>
                      </a:rPr>
                      <m:t>𝑅</m:t>
                    </m:r>
                  </m:oMath>
                </a14:m>
                <a:r>
                  <a:rPr lang="zh-CN" altLang="en-US" dirty="0"/>
                  <a:t>的一个属性，</a:t>
                </a:r>
                <a:r>
                  <a:rPr lang="en-US" altLang="zh-CN" dirty="0"/>
                  <a:t> </a:t>
                </a:r>
                <a14:m>
                  <m:oMath xmlns:m="http://schemas.openxmlformats.org/officeDocument/2006/math">
                    <m:r>
                      <a:rPr lang="en-US" altLang="zh-CN" b="0" i="1" smtClean="0">
                        <a:latin typeface="Cambria Math" panose="02040503050406030204" pitchFamily="18" charset="0"/>
                        <a:ea typeface="黑体" panose="02010609060101010101" pitchFamily="49" charset="-122"/>
                      </a:rPr>
                      <m:t>𝑋</m:t>
                    </m:r>
                    <m:r>
                      <a:rPr lang="zh-CN" altLang="en-US" b="0" i="1" smtClean="0">
                        <a:latin typeface="Cambria Math" panose="02040503050406030204" pitchFamily="18" charset="0"/>
                        <a:ea typeface="黑体" panose="02010609060101010101" pitchFamily="49" charset="-122"/>
                      </a:rPr>
                      <m:t>、</m:t>
                    </m:r>
                    <m:r>
                      <a:rPr lang="en-US" altLang="zh-CN" b="0" i="1" smtClean="0">
                        <a:latin typeface="Cambria Math" panose="02040503050406030204" pitchFamily="18" charset="0"/>
                        <a:ea typeface="黑体" panose="02010609060101010101" pitchFamily="49" charset="-122"/>
                      </a:rPr>
                      <m:t>𝑌</m:t>
                    </m:r>
                    <m:r>
                      <a:rPr lang="zh-CN" altLang="en-US" b="0" i="1" smtClean="0">
                        <a:latin typeface="Cambria Math" panose="02040503050406030204" pitchFamily="18" charset="0"/>
                        <a:ea typeface="黑体" panose="02010609060101010101" pitchFamily="49" charset="-122"/>
                      </a:rPr>
                      <m:t>、</m:t>
                    </m:r>
                    <m:r>
                      <a:rPr lang="en-US" altLang="zh-CN" b="0" i="1" smtClean="0">
                        <a:latin typeface="Cambria Math" panose="02040503050406030204" pitchFamily="18" charset="0"/>
                        <a:ea typeface="黑体" panose="02010609060101010101" pitchFamily="49" charset="-122"/>
                      </a:rPr>
                      <m:t>𝑍</m:t>
                    </m:r>
                  </m:oMath>
                </a14:m>
                <a:r>
                  <a:rPr lang="zh-CN" altLang="en-US" dirty="0"/>
                  <a:t>等表示</a:t>
                </a:r>
                <a14:m>
                  <m:oMath xmlns:m="http://schemas.openxmlformats.org/officeDocument/2006/math">
                    <m:r>
                      <a:rPr lang="en-US" altLang="zh-CN" b="0" i="1" smtClean="0">
                        <a:latin typeface="Cambria Math" panose="02040503050406030204" pitchFamily="18" charset="0"/>
                        <a:ea typeface="黑体" panose="02010609060101010101" pitchFamily="49" charset="-122"/>
                      </a:rPr>
                      <m:t>𝑈</m:t>
                    </m:r>
                  </m:oMath>
                </a14:m>
                <a:r>
                  <a:rPr lang="zh-CN" altLang="en-US" dirty="0"/>
                  <a:t>的一个真子集，也就是若干属性的集合；</a:t>
                </a:r>
                <a:endParaRPr lang="zh-CN" altLang="en-US" dirty="0"/>
              </a:p>
              <a:p>
                <a:pPr lvl="1"/>
                <a:endParaRPr kumimoji="1"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1160"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kumimoji="1" lang="zh-CN" altLang="en-US" dirty="0"/>
                  <a:t>常用符号及其含义</a:t>
                </a:r>
                <a:endParaRPr kumimoji="1" lang="en-US" altLang="zh-CN" dirty="0"/>
              </a:p>
              <a:p>
                <a:pPr lvl="1"/>
                <a:r>
                  <a:rPr lang="en-US" altLang="zh-CN" dirty="0"/>
                  <a:t>关系模式可以表示为：</a:t>
                </a:r>
                <a14:m>
                  <m:oMath xmlns:m="http://schemas.openxmlformats.org/officeDocument/2006/math">
                    <m:r>
                      <a:rPr lang="en-US" altLang="zh-CN" i="1">
                        <a:latin typeface="Cambria Math" panose="02040503050406030204" pitchFamily="18" charset="0"/>
                      </a:rPr>
                      <m:t>𝑅</m:t>
                    </m:r>
                    <m:r>
                      <a:rPr lang="en-US" altLang="zh-CN" i="1">
                        <a:latin typeface="Cambria Math" panose="02040503050406030204" pitchFamily="18" charset="0"/>
                      </a:rPr>
                      <m:t>(</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𝐷</m:t>
                    </m:r>
                    <m:r>
                      <a:rPr lang="en-US" altLang="zh-CN" i="1">
                        <a:latin typeface="Cambria Math" panose="02040503050406030204" pitchFamily="18" charset="0"/>
                      </a:rPr>
                      <m:t>,</m:t>
                    </m:r>
                    <m:r>
                      <a:rPr lang="en-US" altLang="zh-CN" i="1">
                        <a:latin typeface="Cambria Math" panose="02040503050406030204" pitchFamily="18" charset="0"/>
                      </a:rPr>
                      <m:t>𝐷𝑂𝑀</m:t>
                    </m:r>
                    <m:r>
                      <a:rPr lang="en-US" altLang="zh-CN" i="1">
                        <a:latin typeface="Cambria Math" panose="02040503050406030204" pitchFamily="18" charset="0"/>
                      </a:rPr>
                      <m:t>,</m:t>
                    </m:r>
                    <m:r>
                      <a:rPr lang="en-US" altLang="zh-CN" i="1">
                        <a:latin typeface="Cambria Math" panose="02040503050406030204" pitchFamily="18" charset="0"/>
                      </a:rPr>
                      <m:t>𝐼</m:t>
                    </m:r>
                    <m:r>
                      <a:rPr lang="en-US" altLang="zh-CN" i="1">
                        <a:latin typeface="Cambria Math" panose="02040503050406030204" pitchFamily="18" charset="0"/>
                      </a:rPr>
                      <m:t>,</m:t>
                    </m:r>
                    <m:r>
                      <a:rPr lang="en-US" altLang="zh-CN" i="1">
                        <a:latin typeface="Cambria Math" panose="02040503050406030204" pitchFamily="18" charset="0"/>
                      </a:rPr>
                      <m:t>𝐹</m:t>
                    </m:r>
                    <m:r>
                      <a:rPr lang="en-US" altLang="zh-CN" i="1">
                        <a:latin typeface="Cambria Math" panose="02040503050406030204" pitchFamily="18" charset="0"/>
                      </a:rPr>
                      <m:t>)</m:t>
                    </m:r>
                  </m:oMath>
                </a14:m>
                <a:endParaRPr lang="en-US" altLang="zh-CN" dirty="0"/>
              </a:p>
              <a:p>
                <a:pPr lvl="1"/>
                <a:r>
                  <a:rPr lang="zh-CN" altLang="en-US" i="1" dirty="0"/>
                  <a:t>例子：有一个关系模式为：</a:t>
                </a:r>
                <a14:m>
                  <m:oMath xmlns:m="http://schemas.openxmlformats.org/officeDocument/2006/math">
                    <m:r>
                      <a:rPr lang="en-US" altLang="zh-CN" i="1">
                        <a:latin typeface="Cambria Math" panose="02040503050406030204" pitchFamily="18" charset="0"/>
                      </a:rPr>
                      <m:t>𝑆𝑇𝑈𝐷𝐸𝑁𝑇</m:t>
                    </m:r>
                    <m:r>
                      <a:rPr lang="en-US" altLang="zh-CN" i="1">
                        <a:latin typeface="Cambria Math" panose="02040503050406030204" pitchFamily="18" charset="0"/>
                      </a:rPr>
                      <m:t>(</m:t>
                    </m:r>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𝐷</m:t>
                    </m:r>
                    <m:r>
                      <a:rPr lang="en-US" altLang="zh-CN" i="1">
                        <a:latin typeface="Cambria Math" panose="02040503050406030204" pitchFamily="18" charset="0"/>
                      </a:rPr>
                      <m:t>,</m:t>
                    </m:r>
                    <m:r>
                      <a:rPr lang="en-US" altLang="zh-CN" i="1">
                        <a:latin typeface="Cambria Math" panose="02040503050406030204" pitchFamily="18" charset="0"/>
                      </a:rPr>
                      <m:t>𝐷𝑂𝑀</m:t>
                    </m:r>
                    <m:r>
                      <a:rPr lang="en-US" altLang="zh-CN" i="1">
                        <a:latin typeface="Cambria Math" panose="02040503050406030204" pitchFamily="18" charset="0"/>
                      </a:rPr>
                      <m:t>,</m:t>
                    </m:r>
                    <m:r>
                      <a:rPr lang="en-US" altLang="zh-CN" i="1">
                        <a:latin typeface="Cambria Math" panose="02040503050406030204" pitchFamily="18" charset="0"/>
                      </a:rPr>
                      <m:t>𝐼</m:t>
                    </m:r>
                    <m:r>
                      <a:rPr lang="en-US" altLang="zh-CN" i="1">
                        <a:latin typeface="Cambria Math" panose="02040503050406030204" pitchFamily="18" charset="0"/>
                      </a:rPr>
                      <m:t>,</m:t>
                    </m:r>
                    <m:r>
                      <a:rPr lang="en-US" altLang="zh-CN" i="1">
                        <a:latin typeface="Cambria Math" panose="02040503050406030204" pitchFamily="18" charset="0"/>
                      </a:rPr>
                      <m:t>𝐹</m:t>
                    </m:r>
                    <m:r>
                      <a:rPr lang="en-US" altLang="zh-CN" i="1">
                        <a:latin typeface="Cambria Math" panose="02040503050406030204" pitchFamily="18" charset="0"/>
                      </a:rPr>
                      <m:t>)</m:t>
                    </m:r>
                  </m:oMath>
                </a14:m>
                <a:endParaRPr lang="en-US" altLang="zh-CN" i="1" dirty="0"/>
              </a:p>
              <a:p>
                <a:pPr marL="457200" lvl="1" indent="0">
                  <a:buNone/>
                </a:pPr>
                <a:endParaRPr kumimoji="1" lang="en-US" altLang="zh-CN" sz="800" dirty="0"/>
              </a:p>
              <a:p>
                <a:pPr lvl="1"/>
                <a:r>
                  <a:rPr lang="zh-CN" altLang="en-US" dirty="0"/>
                  <a:t>属性集合</a:t>
                </a:r>
                <a14:m>
                  <m:oMath xmlns:m="http://schemas.openxmlformats.org/officeDocument/2006/math">
                    <m:r>
                      <a:rPr lang="en-US" altLang="zh-CN" i="1">
                        <a:latin typeface="Cambria Math" panose="02040503050406030204" pitchFamily="18" charset="0"/>
                      </a:rPr>
                      <m:t>𝑈</m:t>
                    </m:r>
                    <m:r>
                      <a:rPr lang="en-US" altLang="zh-CN" i="1">
                        <a:latin typeface="Cambria Math" panose="02040503050406030204" pitchFamily="18" charset="0"/>
                      </a:rPr>
                      <m:t>={</m:t>
                    </m:r>
                    <m:r>
                      <a:rPr lang="en-US" altLang="zh-CN" i="1">
                        <a:latin typeface="Cambria Math" panose="02040503050406030204" pitchFamily="18" charset="0"/>
                      </a:rPr>
                      <m:t>𝑠𝑛𝑜</m:t>
                    </m:r>
                    <m:r>
                      <a:rPr lang="en-US" altLang="zh-CN" i="1">
                        <a:latin typeface="Cambria Math" panose="02040503050406030204" pitchFamily="18" charset="0"/>
                      </a:rPr>
                      <m:t>,</m:t>
                    </m:r>
                    <m:r>
                      <a:rPr lang="en-US" altLang="zh-CN" i="1">
                        <a:latin typeface="Cambria Math" panose="02040503050406030204" pitchFamily="18" charset="0"/>
                      </a:rPr>
                      <m:t>𝑛𝑎𝑚𝑒</m:t>
                    </m:r>
                    <m:r>
                      <a:rPr lang="en-US" altLang="zh-CN" i="1">
                        <a:latin typeface="Cambria Math" panose="02040503050406030204" pitchFamily="18" charset="0"/>
                      </a:rPr>
                      <m:t>,</m:t>
                    </m:r>
                    <m:r>
                      <a:rPr lang="en-US" altLang="zh-CN" i="1">
                        <a:latin typeface="Cambria Math" panose="02040503050406030204" pitchFamily="18" charset="0"/>
                      </a:rPr>
                      <m:t>𝑎𝑔𝑒</m:t>
                    </m:r>
                    <m:r>
                      <a:rPr lang="en-US" altLang="zh-CN" i="1">
                        <a:latin typeface="Cambria Math" panose="02040503050406030204" pitchFamily="18" charset="0"/>
                      </a:rPr>
                      <m:t>}</m:t>
                    </m:r>
                  </m:oMath>
                </a14:m>
                <a:r>
                  <a:rPr lang="zh-CN" altLang="en-US" dirty="0"/>
                  <a:t>　　</a:t>
                </a:r>
                <a:r>
                  <a:rPr lang="en-US" altLang="zh-CN" dirty="0"/>
                  <a:t>//</a:t>
                </a:r>
                <a:r>
                  <a:rPr lang="zh-CN" altLang="en-US" dirty="0"/>
                  <a:t>理解为表的字段集合</a:t>
                </a:r>
                <a:endParaRPr kumimoji="1" lang="en-US" altLang="zh-CN" dirty="0"/>
              </a:p>
              <a:p>
                <a:pPr lvl="1"/>
                <a:r>
                  <a:rPr lang="zh-CN" altLang="en-US" dirty="0"/>
                  <a:t>域集合</a:t>
                </a:r>
                <a14:m>
                  <m:oMath xmlns:m="http://schemas.openxmlformats.org/officeDocument/2006/math">
                    <m:r>
                      <a:rPr lang="en-US" altLang="zh-CN" i="1">
                        <a:latin typeface="Cambria Math" panose="02040503050406030204" pitchFamily="18" charset="0"/>
                      </a:rPr>
                      <m:t>𝐷</m:t>
                    </m:r>
                    <m:r>
                      <a:rPr lang="en-US" altLang="zh-CN" i="1">
                        <a:latin typeface="Cambria Math" panose="02040503050406030204" pitchFamily="18" charset="0"/>
                      </a:rPr>
                      <m:t>={</m:t>
                    </m:r>
                    <m:r>
                      <a:rPr lang="en-US" altLang="zh-CN" i="1">
                        <a:latin typeface="Cambria Math" panose="02040503050406030204" pitchFamily="18" charset="0"/>
                      </a:rPr>
                      <m:t>𝑐ℎ𝑎𝑟</m:t>
                    </m:r>
                    <m:r>
                      <a:rPr lang="en-US" altLang="zh-CN" i="1">
                        <a:latin typeface="Cambria Math" panose="02040503050406030204" pitchFamily="18" charset="0"/>
                      </a:rPr>
                      <m:t>,</m:t>
                    </m:r>
                    <m:r>
                      <a:rPr lang="en-US" altLang="zh-CN" i="1">
                        <a:latin typeface="Cambria Math" panose="02040503050406030204" pitchFamily="18" charset="0"/>
                      </a:rPr>
                      <m:t>𝑖𝑛𝑡</m:t>
                    </m:r>
                    <m:r>
                      <a:rPr lang="en-US" altLang="zh-CN" i="1">
                        <a:latin typeface="Cambria Math" panose="02040503050406030204" pitchFamily="18" charset="0"/>
                      </a:rPr>
                      <m:t>}</m:t>
                    </m:r>
                  </m:oMath>
                </a14:m>
                <a:r>
                  <a:rPr lang="zh-CN" altLang="en-US" dirty="0"/>
                  <a:t>　　</a:t>
                </a:r>
                <a:r>
                  <a:rPr lang="en-US" altLang="zh-CN" dirty="0"/>
                  <a:t>// </a:t>
                </a:r>
                <a:r>
                  <a:rPr lang="zh-CN" altLang="en-US" dirty="0"/>
                  <a:t>理解为表中字段的类型集合</a:t>
                </a:r>
                <a:endParaRPr lang="zh-CN" altLang="en-US" dirty="0"/>
              </a:p>
              <a:p>
                <a:pPr lvl="1"/>
                <a:r>
                  <a:rPr lang="zh-CN" altLang="en-US" dirty="0"/>
                  <a:t>属性到域的映射集合</a:t>
                </a:r>
                <a14:m>
                  <m:oMath xmlns:m="http://schemas.openxmlformats.org/officeDocument/2006/math">
                    <m:r>
                      <a:rPr lang="en-US" altLang="zh-CN" i="1">
                        <a:latin typeface="Cambria Math" panose="02040503050406030204" pitchFamily="18" charset="0"/>
                      </a:rPr>
                      <m:t>𝐷𝑂𝑀</m:t>
                    </m:r>
                    <m:r>
                      <a:rPr lang="en-US" altLang="zh-CN" i="1">
                        <a:latin typeface="Cambria Math" panose="02040503050406030204" pitchFamily="18" charset="0"/>
                      </a:rPr>
                      <m:t>={</m:t>
                    </m:r>
                    <m:r>
                      <a:rPr lang="en-US" altLang="zh-CN" i="1">
                        <a:latin typeface="Cambria Math" panose="02040503050406030204" pitchFamily="18" charset="0"/>
                      </a:rPr>
                      <m:t>𝑑𝑜𝑚</m:t>
                    </m:r>
                    <m:r>
                      <a:rPr lang="en-US" altLang="zh-CN" i="1">
                        <a:latin typeface="Cambria Math" panose="02040503050406030204" pitchFamily="18" charset="0"/>
                      </a:rPr>
                      <m:t>(</m:t>
                    </m:r>
                    <m:r>
                      <a:rPr lang="en-US" altLang="zh-CN" i="1">
                        <a:latin typeface="Cambria Math" panose="02040503050406030204" pitchFamily="18" charset="0"/>
                      </a:rPr>
                      <m:t>𝑠𝑛𝑜</m:t>
                    </m:r>
                    <m:r>
                      <a:rPr lang="en-US" altLang="zh-CN" i="1">
                        <a:latin typeface="Cambria Math" panose="02040503050406030204" pitchFamily="18" charset="0"/>
                      </a:rPr>
                      <m:t>)=</m:t>
                    </m:r>
                    <m:r>
                      <a:rPr lang="en-US" altLang="zh-CN" i="1">
                        <a:latin typeface="Cambria Math" panose="02040503050406030204" pitchFamily="18" charset="0"/>
                      </a:rPr>
                      <m:t>𝑑𝑜𝑚</m:t>
                    </m:r>
                    <m:r>
                      <a:rPr lang="en-US" altLang="zh-CN" i="1">
                        <a:latin typeface="Cambria Math" panose="02040503050406030204" pitchFamily="18" charset="0"/>
                      </a:rPr>
                      <m:t>(</m:t>
                    </m:r>
                    <m:r>
                      <a:rPr lang="en-US" altLang="zh-CN" i="1">
                        <a:latin typeface="Cambria Math" panose="02040503050406030204" pitchFamily="18" charset="0"/>
                      </a:rPr>
                      <m:t>𝑛𝑎𝑚𝑒</m:t>
                    </m:r>
                    <m:r>
                      <a:rPr lang="en-US" altLang="zh-CN" i="1">
                        <a:latin typeface="Cambria Math" panose="02040503050406030204" pitchFamily="18" charset="0"/>
                      </a:rPr>
                      <m:t>)=</m:t>
                    </m:r>
                    <m:r>
                      <a:rPr lang="en-US" altLang="zh-CN" i="1">
                        <a:latin typeface="Cambria Math" panose="02040503050406030204" pitchFamily="18" charset="0"/>
                      </a:rPr>
                      <m:t>𝑐ℎ𝑎𝑟</m:t>
                    </m:r>
                    <m:r>
                      <a:rPr lang="en-US" altLang="zh-CN" i="1">
                        <a:latin typeface="Cambria Math" panose="02040503050406030204" pitchFamily="18" charset="0"/>
                      </a:rPr>
                      <m:t>, </m:t>
                    </m:r>
                    <m:r>
                      <a:rPr lang="en-US" altLang="zh-CN" i="1">
                        <a:latin typeface="Cambria Math" panose="02040503050406030204" pitchFamily="18" charset="0"/>
                      </a:rPr>
                      <m:t>𝑑𝑜𝑚</m:t>
                    </m:r>
                    <m:r>
                      <a:rPr lang="en-US" altLang="zh-CN" i="1">
                        <a:latin typeface="Cambria Math" panose="02040503050406030204" pitchFamily="18" charset="0"/>
                      </a:rPr>
                      <m:t>(</m:t>
                    </m:r>
                    <m:r>
                      <a:rPr lang="en-US" altLang="zh-CN" i="1">
                        <a:latin typeface="Cambria Math" panose="02040503050406030204" pitchFamily="18" charset="0"/>
                      </a:rPr>
                      <m:t>𝑎𝑔𝑒</m:t>
                    </m:r>
                    <m:r>
                      <a:rPr lang="en-US" altLang="zh-CN" i="1">
                        <a:latin typeface="Cambria Math" panose="02040503050406030204" pitchFamily="18" charset="0"/>
                      </a:rPr>
                      <m:t>)=</m:t>
                    </m:r>
                    <m:r>
                      <a:rPr lang="en-US" altLang="zh-CN" i="1">
                        <a:latin typeface="Cambria Math" panose="02040503050406030204" pitchFamily="18" charset="0"/>
                      </a:rPr>
                      <m:t>𝑖𝑛𝑡</m:t>
                    </m:r>
                    <m:r>
                      <a:rPr lang="en-US" altLang="zh-CN" i="1">
                        <a:latin typeface="Cambria Math" panose="02040503050406030204" pitchFamily="18" charset="0"/>
                      </a:rPr>
                      <m:t>}</m:t>
                    </m:r>
                  </m:oMath>
                </a14:m>
                <a:r>
                  <a:rPr lang="zh-CN" altLang="en-US" dirty="0"/>
                  <a:t>　　</a:t>
                </a:r>
                <a:r>
                  <a:rPr lang="en-US" altLang="zh-CN" dirty="0"/>
                  <a:t>// </a:t>
                </a:r>
                <a:r>
                  <a:rPr lang="zh-CN" altLang="en-US" dirty="0"/>
                  <a:t>理解为每个字段具体的取值</a:t>
                </a:r>
                <a:endParaRPr lang="zh-CN" altLang="en-US" dirty="0"/>
              </a:p>
              <a:p>
                <a:pPr lvl="1"/>
                <a:r>
                  <a:rPr lang="zh-CN" altLang="en-US" dirty="0"/>
                  <a:t>完整性约束集合</a:t>
                </a:r>
                <a14:m>
                  <m:oMath xmlns:m="http://schemas.openxmlformats.org/officeDocument/2006/math">
                    <m:r>
                      <a:rPr lang="en-US" altLang="zh-CN" i="1">
                        <a:latin typeface="Cambria Math" panose="02040503050406030204" pitchFamily="18" charset="0"/>
                      </a:rPr>
                      <m:t>𝐼</m:t>
                    </m:r>
                    <m:r>
                      <a:rPr lang="en-US" altLang="zh-CN" i="1">
                        <a:latin typeface="Cambria Math" panose="02040503050406030204" pitchFamily="18" charset="0"/>
                      </a:rPr>
                      <m:t>={</m:t>
                    </m:r>
                    <m:r>
                      <a:rPr lang="en-US" altLang="zh-CN" i="1">
                        <a:latin typeface="Cambria Math" panose="02040503050406030204" pitchFamily="18" charset="0"/>
                      </a:rPr>
                      <m:t>𝑠𝑛𝑜</m:t>
                    </m:r>
                    <m:r>
                      <a:rPr lang="en-US" altLang="zh-CN" i="1">
                        <a:latin typeface="Cambria Math" panose="02040503050406030204" pitchFamily="18" charset="0"/>
                      </a:rPr>
                      <m:t>!=</m:t>
                    </m:r>
                    <m:r>
                      <a:rPr lang="en-US" altLang="zh-CN" i="1">
                        <a:latin typeface="Cambria Math" panose="02040503050406030204" pitchFamily="18" charset="0"/>
                      </a:rPr>
                      <m:t>𝑁𝑢𝑙𝑙</m:t>
                    </m:r>
                    <m:r>
                      <a:rPr lang="en-US" altLang="zh-CN" i="1">
                        <a:latin typeface="Cambria Math" panose="02040503050406030204" pitchFamily="18" charset="0"/>
                      </a:rPr>
                      <m:t>, </m:t>
                    </m:r>
                    <m:r>
                      <a:rPr lang="en-US" altLang="zh-CN" i="1">
                        <a:latin typeface="Cambria Math" panose="02040503050406030204" pitchFamily="18" charset="0"/>
                      </a:rPr>
                      <m:t>𝐼𝑠𝑈𝑛𝑖𝑞𝑢𝑒</m:t>
                    </m:r>
                    <m:r>
                      <a:rPr lang="en-US" altLang="zh-CN" i="1">
                        <a:latin typeface="Cambria Math" panose="02040503050406030204" pitchFamily="18" charset="0"/>
                      </a:rPr>
                      <m:t>(</m:t>
                    </m:r>
                    <m:r>
                      <a:rPr lang="en-US" altLang="zh-CN" i="1">
                        <a:latin typeface="Cambria Math" panose="02040503050406030204" pitchFamily="18" charset="0"/>
                      </a:rPr>
                      <m:t>𝑠𝑛𝑜</m:t>
                    </m:r>
                    <m:r>
                      <a:rPr lang="en-US" altLang="zh-CN" i="1">
                        <a:latin typeface="Cambria Math" panose="02040503050406030204" pitchFamily="18" charset="0"/>
                      </a:rPr>
                      <m:t>)=</m:t>
                    </m:r>
                    <m:r>
                      <a:rPr lang="en-US" altLang="zh-CN" i="1">
                        <a:latin typeface="Cambria Math" panose="02040503050406030204" pitchFamily="18" charset="0"/>
                      </a:rPr>
                      <m:t>𝑇𝑟𝑢𝑒</m:t>
                    </m:r>
                    <m:r>
                      <a:rPr lang="en-US" altLang="zh-CN" i="1">
                        <a:latin typeface="Cambria Math" panose="02040503050406030204" pitchFamily="18" charset="0"/>
                      </a:rPr>
                      <m:t>, </m:t>
                    </m:r>
                    <m:r>
                      <a:rPr lang="en-US" altLang="zh-CN" i="1">
                        <a:latin typeface="Cambria Math" panose="02040503050406030204" pitchFamily="18" charset="0"/>
                      </a:rPr>
                      <m:t>18</m:t>
                    </m:r>
                    <m:r>
                      <a:rPr lang="en-US" altLang="zh-CN" i="1">
                        <a:latin typeface="Cambria Math" panose="02040503050406030204" pitchFamily="18" charset="0"/>
                      </a:rPr>
                      <m:t>&lt;=</m:t>
                    </m:r>
                    <m:r>
                      <a:rPr lang="en-US" altLang="zh-CN" i="1">
                        <a:latin typeface="Cambria Math" panose="02040503050406030204" pitchFamily="18" charset="0"/>
                      </a:rPr>
                      <m:t>𝑎𝑔𝑒</m:t>
                    </m:r>
                    <m:r>
                      <a:rPr lang="en-US" altLang="zh-CN" i="1">
                        <a:latin typeface="Cambria Math" panose="02040503050406030204" pitchFamily="18" charset="0"/>
                      </a:rPr>
                      <m:t>&lt;=</m:t>
                    </m:r>
                    <m:r>
                      <a:rPr lang="en-US" altLang="zh-CN" i="1">
                        <a:latin typeface="Cambria Math" panose="02040503050406030204" pitchFamily="18" charset="0"/>
                      </a:rPr>
                      <m:t>22</m:t>
                    </m:r>
                  </m:oMath>
                </a14:m>
                <a:r>
                  <a:rPr lang="en-US" altLang="zh-CN" dirty="0"/>
                  <a:t>}      </a:t>
                </a:r>
                <a:endParaRPr lang="en-US" altLang="zh-CN" dirty="0"/>
              </a:p>
              <a:p>
                <a:pPr marL="457200" lvl="1" indent="0">
                  <a:buNone/>
                </a:pPr>
                <a:r>
                  <a:rPr kumimoji="1" lang="en-US" altLang="zh-CN" dirty="0"/>
                  <a:t>      //</a:t>
                </a:r>
                <a:r>
                  <a:rPr lang="zh-CN" altLang="en-US" dirty="0"/>
                  <a:t>理解为表字段取值的限制</a:t>
                </a:r>
                <a:endParaRPr kumimoji="1" lang="en-US" altLang="zh-CN" dirty="0"/>
              </a:p>
              <a:p>
                <a:pPr lvl="1"/>
                <a:endParaRPr kumimoji="1"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5373"/>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a:t>关系的内涵和外延</a:t>
            </a:r>
            <a:endParaRPr kumimoji="1" lang="en-US" altLang="zh-CN" dirty="0"/>
          </a:p>
          <a:p>
            <a:pPr lvl="1">
              <a:lnSpc>
                <a:spcPct val="150000"/>
              </a:lnSpc>
            </a:pPr>
            <a:r>
              <a:rPr kumimoji="1" lang="en-GB" altLang="zh-CN" dirty="0"/>
              <a:t>r</a:t>
            </a:r>
            <a:r>
              <a:rPr kumimoji="1" lang="zh-CN" altLang="en-US" dirty="0"/>
              <a:t>是关系模式</a:t>
            </a:r>
            <a:r>
              <a:rPr kumimoji="1" lang="en-GB" altLang="zh-CN" dirty="0"/>
              <a:t>R</a:t>
            </a:r>
            <a:r>
              <a:rPr kumimoji="1" lang="zh-CN" altLang="en-US" dirty="0"/>
              <a:t>上的一个实例，即满足</a:t>
            </a:r>
            <a:r>
              <a:rPr kumimoji="1" lang="en-GB" altLang="zh-CN" dirty="0"/>
              <a:t>R</a:t>
            </a:r>
            <a:r>
              <a:rPr kumimoji="1" lang="zh-CN" altLang="en-US" dirty="0"/>
              <a:t>的一些元组的集合，</a:t>
            </a:r>
            <a:r>
              <a:rPr kumimoji="1" lang="en-GB" altLang="zh-CN" dirty="0"/>
              <a:t>R</a:t>
            </a:r>
            <a:r>
              <a:rPr kumimoji="1" lang="zh-CN" altLang="en-US" dirty="0"/>
              <a:t>可以有多个不同的实例</a:t>
            </a:r>
            <a:r>
              <a:rPr kumimoji="1" lang="en-GB" altLang="zh-CN" dirty="0"/>
              <a:t>r</a:t>
            </a:r>
            <a:r>
              <a:rPr kumimoji="1" lang="zh-CN" altLang="en-GB" dirty="0"/>
              <a:t>，</a:t>
            </a:r>
            <a:r>
              <a:rPr kumimoji="1" lang="zh-CN" altLang="en-US" dirty="0"/>
              <a:t>通常关系模式很少变化，经常发生变化的是关系的实例，因此将关系的模式称为关系的</a:t>
            </a:r>
            <a:r>
              <a:rPr kumimoji="1" lang="zh-CN" altLang="en-US" dirty="0">
                <a:solidFill>
                  <a:srgbClr val="C00000"/>
                </a:solidFill>
              </a:rPr>
              <a:t>内涵</a:t>
            </a:r>
            <a:r>
              <a:rPr kumimoji="1" lang="zh-CN" altLang="en-US" dirty="0"/>
              <a:t>，而将关系的实例</a:t>
            </a:r>
            <a:r>
              <a:rPr kumimoji="1" lang="en-GB" altLang="zh-CN" dirty="0"/>
              <a:t>r</a:t>
            </a:r>
            <a:r>
              <a:rPr kumimoji="1" lang="zh-CN" altLang="en-US" dirty="0"/>
              <a:t>称为关系的</a:t>
            </a:r>
            <a:r>
              <a:rPr kumimoji="1" lang="zh-CN" altLang="en-US" dirty="0">
                <a:solidFill>
                  <a:srgbClr val="C00000"/>
                </a:solidFill>
              </a:rPr>
              <a:t>外延</a:t>
            </a:r>
            <a:r>
              <a:rPr kumimoji="1" lang="zh-CN" altLang="en-US" dirty="0"/>
              <a:t>，由于用户经常对关系进行插入、删除和修改操作，因此外延是与时间有关的，随着时间的推移在不断变化</a:t>
            </a: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a:t>关系的内涵和外延</a:t>
            </a:r>
            <a:endParaRPr kumimoji="1" lang="en-US" altLang="zh-CN" dirty="0"/>
          </a:p>
          <a:p>
            <a:pPr lvl="1">
              <a:lnSpc>
                <a:spcPct val="150000"/>
              </a:lnSpc>
            </a:pPr>
            <a:r>
              <a:rPr lang="zh-CN" altLang="en-US" dirty="0"/>
              <a:t>关系的内涵是对数据的定义以及数据完整性约束的定义，一般是与时间独立的</a:t>
            </a:r>
            <a:endParaRPr lang="en-US" altLang="zh-CN" dirty="0"/>
          </a:p>
          <a:p>
            <a:pPr lvl="1">
              <a:lnSpc>
                <a:spcPct val="150000"/>
              </a:lnSpc>
            </a:pPr>
            <a:r>
              <a:rPr lang="zh-CN" altLang="en-US" dirty="0"/>
              <a:t>对数据的定义包括对关系、属性、域的定义和说明。对数据完整性约束的定义涉及面较广，主要包括以下几个方面：</a:t>
            </a:r>
            <a:endParaRPr lang="en-US" altLang="zh-CN" dirty="0"/>
          </a:p>
          <a:p>
            <a:pPr lvl="2">
              <a:lnSpc>
                <a:spcPct val="150000"/>
              </a:lnSpc>
            </a:pPr>
            <a:r>
              <a:rPr lang="zh-CN" altLang="en-US" sz="2200" dirty="0"/>
              <a:t>静态约束，涉及到数据之间联系（称为“数据依赖，</a:t>
            </a:r>
            <a:r>
              <a:rPr lang="en-US" altLang="zh-CN" sz="2200" dirty="0"/>
              <a:t>data dependences</a:t>
            </a:r>
            <a:r>
              <a:rPr lang="zh-CN" altLang="en-US" sz="2200" dirty="0"/>
              <a:t>）、主键和值域的设计</a:t>
            </a:r>
            <a:endParaRPr lang="en-US" altLang="zh-CN" sz="2200" dirty="0"/>
          </a:p>
          <a:p>
            <a:pPr lvl="2">
              <a:lnSpc>
                <a:spcPct val="150000"/>
              </a:lnSpc>
            </a:pPr>
            <a:r>
              <a:rPr lang="zh-CN" altLang="en-US" sz="2200" dirty="0"/>
              <a:t>动态约束，定义各种操作（插入、删除、修改）对关系值的影响 </a:t>
            </a:r>
            <a:endParaRPr lang="zh-CN" altLang="en-US" sz="2200" dirty="0"/>
          </a:p>
          <a:p>
            <a:pPr lvl="1">
              <a:lnSpc>
                <a:spcPct val="150000"/>
              </a:lnSpc>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kumimoji="1" lang="zh-CN" altLang="en-US" dirty="0"/>
                  <a:t>函数依赖的定义</a:t>
                </a:r>
                <a:endParaRPr lang="en-US" altLang="zh-CN" dirty="0"/>
              </a:p>
              <a:p>
                <a:pPr lvl="1">
                  <a:lnSpc>
                    <a:spcPct val="150000"/>
                  </a:lnSpc>
                </a:pPr>
                <a:r>
                  <a:rPr lang="zh-CN" altLang="zh-CN" dirty="0"/>
                  <a:t>定义4</a:t>
                </a:r>
                <a:r>
                  <a:rPr lang="zh-CN" altLang="en-US" dirty="0"/>
                  <a:t>.</a:t>
                </a:r>
                <a:r>
                  <a:rPr lang="zh-CN" altLang="zh-CN" dirty="0"/>
                  <a:t>1：设</a:t>
                </a:r>
                <a14:m>
                  <m:oMath xmlns:m="http://schemas.openxmlformats.org/officeDocument/2006/math">
                    <m:r>
                      <a:rPr lang="en-US" altLang="zh-CN" b="0" i="1" smtClean="0">
                        <a:latin typeface="Cambria Math" panose="02040503050406030204" pitchFamily="18" charset="0"/>
                      </a:rPr>
                      <m:t>𝑅</m:t>
                    </m:r>
                  </m:oMath>
                </a14:m>
                <a:r>
                  <a:rPr lang="zh-CN" altLang="zh-CN" dirty="0"/>
                  <a:t>为关系模式，</a:t>
                </a:r>
                <a:r>
                  <a:rPr lang="en-US" altLang="zh-CN" dirty="0"/>
                  <a:t> </a:t>
                </a:r>
                <a14:m>
                  <m:oMath xmlns:m="http://schemas.openxmlformats.org/officeDocument/2006/math">
                    <m:r>
                      <a:rPr lang="en-US" altLang="zh-CN" b="0" i="1" smtClean="0">
                        <a:latin typeface="Cambria Math" panose="02040503050406030204" pitchFamily="18" charset="0"/>
                      </a:rPr>
                      <m:t>𝑟</m:t>
                    </m:r>
                  </m:oMath>
                </a14:m>
                <a:r>
                  <a:rPr lang="zh-CN" altLang="zh-CN" dirty="0"/>
                  <a:t>是</a:t>
                </a:r>
                <a14:m>
                  <m:oMath xmlns:m="http://schemas.openxmlformats.org/officeDocument/2006/math">
                    <m:r>
                      <a:rPr lang="en-US" altLang="zh-CN" i="1">
                        <a:latin typeface="Cambria Math" panose="02040503050406030204" pitchFamily="18" charset="0"/>
                      </a:rPr>
                      <m:t>𝑅</m:t>
                    </m:r>
                  </m:oMath>
                </a14:m>
                <a:r>
                  <a:rPr lang="zh-CN" altLang="zh-CN" dirty="0"/>
                  <a:t>上的</a:t>
                </a:r>
                <a:r>
                  <a:rPr lang="zh-CN" altLang="zh-CN" u="sng" dirty="0">
                    <a:solidFill>
                      <a:srgbClr val="C00000"/>
                    </a:solidFill>
                  </a:rPr>
                  <a:t>任意</a:t>
                </a:r>
                <a:r>
                  <a:rPr lang="zh-CN" altLang="zh-CN" dirty="0"/>
                  <a:t>一个关系实例，</a:t>
                </a:r>
                <a:r>
                  <a:rPr lang="en-US" altLang="zh-CN" dirty="0"/>
                  <a:t> </a:t>
                </a:r>
                <a14:m>
                  <m:oMath xmlns:m="http://schemas.openxmlformats.org/officeDocument/2006/math">
                    <m:r>
                      <m:rPr>
                        <m:sty m:val="p"/>
                      </m:rPr>
                      <a:rPr lang="en-US" altLang="zh-CN" b="0" i="0" smtClean="0">
                        <a:latin typeface="Cambria Math" panose="02040503050406030204" pitchFamily="18" charset="0"/>
                      </a:rPr>
                      <m:t>X</m:t>
                    </m:r>
                    <m:r>
                      <a:rPr lang="en-US" altLang="zh-CN" b="0" i="0" smtClean="0">
                        <a:latin typeface="Cambria Math" panose="02040503050406030204" pitchFamily="18" charset="0"/>
                      </a:rPr>
                      <m:t>,</m:t>
                    </m:r>
                    <m:r>
                      <a:rPr lang="en-US" altLang="zh-CN" i="1">
                        <a:latin typeface="Cambria Math" panose="02040503050406030204" pitchFamily="18" charset="0"/>
                      </a:rPr>
                      <m:t>𝑌</m:t>
                    </m:r>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𝑈</m:t>
                    </m:r>
                    <m:r>
                      <a:rPr lang="en-US" altLang="zh-CN" i="1">
                        <a:latin typeface="Cambria Math" panose="02040503050406030204" pitchFamily="18" charset="0"/>
                      </a:rPr>
                      <m:t> </m:t>
                    </m:r>
                  </m:oMath>
                </a14:m>
                <a:r>
                  <a:rPr lang="zh-CN" altLang="zh-CN" dirty="0"/>
                  <a:t>是</a:t>
                </a:r>
                <a14:m>
                  <m:oMath xmlns:m="http://schemas.openxmlformats.org/officeDocument/2006/math">
                    <m:r>
                      <a:rPr lang="en-US" altLang="zh-CN" i="1">
                        <a:latin typeface="Cambria Math" panose="02040503050406030204" pitchFamily="18" charset="0"/>
                      </a:rPr>
                      <m:t>𝑅</m:t>
                    </m:r>
                  </m:oMath>
                </a14:m>
                <a:r>
                  <a:rPr lang="zh-CN" altLang="zh-CN" dirty="0"/>
                  <a:t>的两个属性子集，若对于</a:t>
                </a:r>
                <a14:m>
                  <m:oMath xmlns:m="http://schemas.openxmlformats.org/officeDocument/2006/math">
                    <m:r>
                      <a:rPr lang="en-US" altLang="zh-CN" b="0" i="1" smtClean="0">
                        <a:latin typeface="Cambria Math" panose="02040503050406030204" pitchFamily="18" charset="0"/>
                      </a:rPr>
                      <m:t>𝑟</m:t>
                    </m:r>
                  </m:oMath>
                </a14:m>
                <a:r>
                  <a:rPr lang="zh-CN" altLang="zh-CN" dirty="0"/>
                  <a:t>上的</a:t>
                </a:r>
                <a:r>
                  <a:rPr lang="zh-CN" altLang="zh-CN" u="sng" dirty="0">
                    <a:solidFill>
                      <a:srgbClr val="C00000"/>
                    </a:solidFill>
                  </a:rPr>
                  <a:t>任意</a:t>
                </a:r>
                <a:r>
                  <a:rPr lang="zh-CN" altLang="zh-CN" dirty="0"/>
                  <a:t>两个元组</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𝑟</m:t>
                    </m:r>
                  </m:oMath>
                </a14:m>
                <a:r>
                  <a:rPr lang="zh-CN" altLang="zh-CN" dirty="0"/>
                  <a:t>都有</a:t>
                </a:r>
                <a:r>
                  <a:rPr lang="zh-CN" altLang="en-US" dirty="0"/>
                  <a:t>：</a:t>
                </a:r>
                <a:r>
                  <a:rPr lang="zh-CN" altLang="zh-CN" dirty="0"/>
                  <a:t>如果</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1</m:t>
                        </m:r>
                      </m:sub>
                    </m:sSub>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𝑋</m:t>
                        </m:r>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oMath>
                </a14:m>
                <a:r>
                  <a:rPr lang="en-US" altLang="zh-CN" dirty="0"/>
                  <a:t>,</a:t>
                </a:r>
                <a:r>
                  <a:rPr lang="zh-CN" altLang="zh-CN" dirty="0"/>
                  <a:t> 则必有</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1</m:t>
                        </m:r>
                      </m:sub>
                    </m:sSub>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𝑌</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b="0" i="1" smtClean="0">
                        <a:latin typeface="Cambria Math" panose="02040503050406030204" pitchFamily="18" charset="0"/>
                      </a:rPr>
                      <m:t>𝑌</m:t>
                    </m:r>
                    <m:r>
                      <a:rPr lang="en-US" altLang="zh-CN" i="1">
                        <a:latin typeface="Cambria Math" panose="02040503050406030204" pitchFamily="18" charset="0"/>
                      </a:rPr>
                      <m:t>]</m:t>
                    </m:r>
                  </m:oMath>
                </a14:m>
                <a:r>
                  <a:rPr lang="en-US" altLang="zh-CN" dirty="0"/>
                  <a:t>, </a:t>
                </a:r>
                <a:r>
                  <a:rPr lang="zh-CN" altLang="zh-CN" dirty="0"/>
                  <a:t>则称在</a:t>
                </a:r>
                <a14:m>
                  <m:oMath xmlns:m="http://schemas.openxmlformats.org/officeDocument/2006/math">
                    <m:r>
                      <a:rPr lang="en-US" altLang="zh-CN" i="1">
                        <a:latin typeface="Cambria Math" panose="02040503050406030204" pitchFamily="18" charset="0"/>
                      </a:rPr>
                      <m:t>𝑅</m:t>
                    </m:r>
                  </m:oMath>
                </a14:m>
                <a:r>
                  <a:rPr lang="zh-CN" altLang="zh-CN" dirty="0"/>
                  <a:t>上</a:t>
                </a:r>
                <a14:m>
                  <m:oMath xmlns:m="http://schemas.openxmlformats.org/officeDocument/2006/math">
                    <m:r>
                      <a:rPr lang="en-US" altLang="zh-CN" b="0" i="1" dirty="0" smtClean="0">
                        <a:latin typeface="Cambria Math" panose="02040503050406030204" pitchFamily="18" charset="0"/>
                      </a:rPr>
                      <m:t>𝑋</m:t>
                    </m:r>
                  </m:oMath>
                </a14:m>
                <a:r>
                  <a:rPr lang="zh-CN" altLang="zh-CN" dirty="0"/>
                  <a:t>函数决定</a:t>
                </a:r>
                <a14:m>
                  <m:oMath xmlns:m="http://schemas.openxmlformats.org/officeDocument/2006/math">
                    <m:r>
                      <a:rPr lang="en-US" altLang="zh-CN" b="0" i="1" smtClean="0">
                        <a:latin typeface="Cambria Math" panose="02040503050406030204" pitchFamily="18" charset="0"/>
                      </a:rPr>
                      <m:t>𝑌</m:t>
                    </m:r>
                  </m:oMath>
                </a14:m>
                <a:r>
                  <a:rPr lang="zh-CN" altLang="zh-CN" dirty="0"/>
                  <a:t>或者</a:t>
                </a:r>
                <a14:m>
                  <m:oMath xmlns:m="http://schemas.openxmlformats.org/officeDocument/2006/math">
                    <m:r>
                      <a:rPr lang="en-US" altLang="zh-CN" i="1">
                        <a:latin typeface="Cambria Math" panose="02040503050406030204" pitchFamily="18" charset="0"/>
                      </a:rPr>
                      <m:t>𝑌</m:t>
                    </m:r>
                  </m:oMath>
                </a14:m>
                <a:r>
                  <a:rPr lang="zh-CN" altLang="zh-CN" dirty="0"/>
                  <a:t>函数依赖于</a:t>
                </a:r>
                <a14:m>
                  <m:oMath xmlns:m="http://schemas.openxmlformats.org/officeDocument/2006/math">
                    <m:r>
                      <a:rPr lang="en-US" altLang="zh-CN" b="0" i="1" smtClean="0">
                        <a:latin typeface="Cambria Math" panose="02040503050406030204" pitchFamily="18" charset="0"/>
                      </a:rPr>
                      <m:t>𝑋</m:t>
                    </m:r>
                  </m:oMath>
                </a14:m>
                <a:r>
                  <a:rPr lang="zh-CN" altLang="zh-CN" dirty="0"/>
                  <a:t>，记为</a:t>
                </a:r>
                <a14:m>
                  <m:oMath xmlns:m="http://schemas.openxmlformats.org/officeDocument/2006/math">
                    <m:r>
                      <a:rPr lang="en-US" altLang="zh-CN" b="0" i="1" smtClean="0">
                        <a:latin typeface="Cambria Math" panose="02040503050406030204" pitchFamily="18" charset="0"/>
                      </a:rPr>
                      <m:t>𝑋</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𝑌</m:t>
                    </m:r>
                  </m:oMath>
                </a14:m>
                <a:r>
                  <a:rPr lang="zh-CN" altLang="zh-CN" dirty="0"/>
                  <a:t>，</a:t>
                </a:r>
                <a:r>
                  <a:rPr lang="en-US" altLang="zh-CN" dirty="0"/>
                  <a:t> </a:t>
                </a:r>
                <a14:m>
                  <m:oMath xmlns:m="http://schemas.openxmlformats.org/officeDocument/2006/math">
                    <m:r>
                      <a:rPr lang="en-US" altLang="zh-CN" i="1">
                        <a:latin typeface="Cambria Math" panose="02040503050406030204" pitchFamily="18" charset="0"/>
                      </a:rPr>
                      <m:t>𝑋</m:t>
                    </m:r>
                  </m:oMath>
                </a14:m>
                <a:r>
                  <a:rPr lang="zh-CN" altLang="zh-CN" dirty="0"/>
                  <a:t>称为决定子(Determinant)</a:t>
                </a:r>
                <a:endParaRPr lang="zh-CN" altLang="en-US" dirty="0"/>
              </a:p>
              <a:p>
                <a:pPr lvl="1">
                  <a:lnSpc>
                    <a:spcPct val="150000"/>
                  </a:lnSpc>
                </a:pPr>
                <a:endParaRPr kumimoji="1"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lnSpcReduction="10000"/>
              </a:bodyPr>
              <a:lstStyle/>
              <a:p>
                <a:r>
                  <a:rPr kumimoji="1" lang="zh-CN" altLang="en-US" i="1" dirty="0"/>
                  <a:t>例子</a:t>
                </a:r>
                <a:endParaRPr lang="en-US" altLang="zh-CN" i="1" dirty="0"/>
              </a:p>
              <a:p>
                <a:pPr lvl="1">
                  <a:lnSpc>
                    <a:spcPct val="150000"/>
                  </a:lnSpc>
                </a:pPr>
                <a:endParaRPr kumimoji="1" lang="en-US" altLang="zh-CN" dirty="0"/>
              </a:p>
              <a:p>
                <a:pPr lvl="1">
                  <a:lnSpc>
                    <a:spcPct val="150000"/>
                  </a:lnSpc>
                </a:pPr>
                <a:endParaRPr kumimoji="1" lang="en-US" altLang="zh-CN" dirty="0"/>
              </a:p>
              <a:p>
                <a:pPr lvl="1">
                  <a:lnSpc>
                    <a:spcPct val="150000"/>
                  </a:lnSpc>
                </a:pPr>
                <a:endParaRPr kumimoji="1" lang="en-US" altLang="zh-CN" dirty="0"/>
              </a:p>
              <a:p>
                <a:pPr lvl="1">
                  <a:lnSpc>
                    <a:spcPct val="150000"/>
                  </a:lnSpc>
                </a:pPr>
                <a:endParaRPr kumimoji="1" lang="en-US" altLang="zh-CN" dirty="0"/>
              </a:p>
              <a:p>
                <a:pPr lvl="1">
                  <a:lnSpc>
                    <a:spcPct val="150000"/>
                  </a:lnSpc>
                </a:pPr>
                <a:r>
                  <a:rPr kumimoji="1" lang="zh-CN" altLang="en-US" dirty="0"/>
                  <a:t>分别校验：</a:t>
                </a:r>
                <a14:m>
                  <m:oMath xmlns:m="http://schemas.openxmlformats.org/officeDocument/2006/math">
                    <m:r>
                      <a:rPr kumimoji="1" lang="en-GB" altLang="zh-CN" i="1">
                        <a:latin typeface="Cambria Math" panose="02040503050406030204" pitchFamily="18" charset="0"/>
                      </a:rPr>
                      <m:t>𝐴</m:t>
                    </m:r>
                    <m:r>
                      <a:rPr kumimoji="1" lang="en-GB" altLang="zh-CN" i="1">
                        <a:latin typeface="Cambria Math" panose="02040503050406030204" pitchFamily="18" charset="0"/>
                      </a:rPr>
                      <m:t>→</m:t>
                    </m:r>
                    <m:r>
                      <a:rPr kumimoji="1" lang="en-GB" altLang="zh-CN" i="1">
                        <a:latin typeface="Cambria Math" panose="02040503050406030204" pitchFamily="18" charset="0"/>
                      </a:rPr>
                      <m:t>𝐶</m:t>
                    </m:r>
                    <m:r>
                      <a:rPr kumimoji="1" lang="zh-CN" altLang="en-GB" i="1">
                        <a:latin typeface="Cambria Math" panose="02040503050406030204" pitchFamily="18" charset="0"/>
                      </a:rPr>
                      <m:t>？</m:t>
                    </m:r>
                    <m:r>
                      <a:rPr kumimoji="1" lang="en-GB" altLang="zh-CN" i="1">
                        <a:latin typeface="Cambria Math" panose="02040503050406030204" pitchFamily="18" charset="0"/>
                      </a:rPr>
                      <m:t>𝐶</m:t>
                    </m:r>
                    <m:r>
                      <a:rPr kumimoji="1" lang="en-GB" altLang="zh-CN" i="1">
                        <a:latin typeface="Cambria Math" panose="02040503050406030204" pitchFamily="18" charset="0"/>
                      </a:rPr>
                      <m:t>→</m:t>
                    </m:r>
                    <m:r>
                      <a:rPr kumimoji="1" lang="en-GB" altLang="zh-CN" i="1">
                        <a:latin typeface="Cambria Math" panose="02040503050406030204" pitchFamily="18" charset="0"/>
                      </a:rPr>
                      <m:t>𝐴</m:t>
                    </m:r>
                    <m:r>
                      <a:rPr kumimoji="1" lang="zh-CN" altLang="en-GB" i="1">
                        <a:latin typeface="Cambria Math" panose="02040503050406030204" pitchFamily="18" charset="0"/>
                      </a:rPr>
                      <m:t>？</m:t>
                    </m:r>
                    <m:r>
                      <a:rPr kumimoji="1" lang="en-GB" altLang="zh-CN" i="1">
                        <a:latin typeface="Cambria Math" panose="02040503050406030204" pitchFamily="18" charset="0"/>
                      </a:rPr>
                      <m:t>𝐴𝐵</m:t>
                    </m:r>
                    <m:r>
                      <a:rPr kumimoji="1" lang="en-GB" altLang="zh-CN" i="1">
                        <a:latin typeface="Cambria Math" panose="02040503050406030204" pitchFamily="18" charset="0"/>
                      </a:rPr>
                      <m:t>→</m:t>
                    </m:r>
                    <m:r>
                      <a:rPr kumimoji="1" lang="en-GB" altLang="zh-CN" i="1">
                        <a:latin typeface="Cambria Math" panose="02040503050406030204" pitchFamily="18" charset="0"/>
                      </a:rPr>
                      <m:t>𝐷</m:t>
                    </m:r>
                    <m:r>
                      <a:rPr kumimoji="1" lang="zh-CN" altLang="en-GB" i="1">
                        <a:latin typeface="Cambria Math" panose="02040503050406030204" pitchFamily="18" charset="0"/>
                      </a:rPr>
                      <m:t>？</m:t>
                    </m:r>
                  </m:oMath>
                </a14:m>
                <a:endParaRPr kumimoji="1" lang="zh-CN" altLang="en-US" dirty="0"/>
              </a:p>
              <a:p>
                <a:pPr lvl="1">
                  <a:lnSpc>
                    <a:spcPct val="150000"/>
                  </a:lnSpc>
                </a:pPr>
                <a:r>
                  <a:rPr kumimoji="1" lang="zh-CN" altLang="en-US" dirty="0"/>
                  <a:t>辨识：</a:t>
                </a:r>
                <a:endParaRPr kumimoji="1" lang="zh-CN" altLang="en-US" dirty="0"/>
              </a:p>
              <a:p>
                <a:pPr lvl="2">
                  <a:lnSpc>
                    <a:spcPct val="150000"/>
                  </a:lnSpc>
                </a:pPr>
                <a:r>
                  <a:rPr kumimoji="1" lang="zh-CN" altLang="en-US" dirty="0"/>
                  <a:t>满足依赖的关系：依赖在模式的某个关系实例上成立</a:t>
                </a:r>
                <a:endParaRPr kumimoji="1" lang="zh-CN" altLang="en-US" dirty="0"/>
              </a:p>
              <a:p>
                <a:pPr lvl="2">
                  <a:lnSpc>
                    <a:spcPct val="150000"/>
                  </a:lnSpc>
                </a:pPr>
                <a:r>
                  <a:rPr kumimoji="1" lang="zh-CN" altLang="en-US" dirty="0"/>
                  <a:t>模式上成立的依赖：依赖在模式的所有关系实例上都成立</a:t>
                </a:r>
                <a:endParaRPr kumimoji="1"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graphicFrame>
        <p:nvGraphicFramePr>
          <p:cNvPr id="6" name="Group 59"/>
          <p:cNvGraphicFramePr/>
          <p:nvPr/>
        </p:nvGraphicFramePr>
        <p:xfrm>
          <a:off x="2532184" y="1039816"/>
          <a:ext cx="7943945" cy="3209836"/>
        </p:xfrm>
        <a:graphic>
          <a:graphicData uri="http://schemas.openxmlformats.org/drawingml/2006/table">
            <a:tbl>
              <a:tblPr/>
              <a:tblGrid>
                <a:gridCol w="881458"/>
                <a:gridCol w="884550"/>
                <a:gridCol w="881458"/>
                <a:gridCol w="883004"/>
                <a:gridCol w="883005"/>
                <a:gridCol w="883004"/>
                <a:gridCol w="881458"/>
                <a:gridCol w="884550"/>
                <a:gridCol w="881458"/>
              </a:tblGrid>
              <a:tr h="790294">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a:noFill/>
                    </a:lnR>
                    <a:lnT cap="fla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148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tr>
              <a:tr h="616312">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cap="flat">
                      <a:noFill/>
                    </a:lnR>
                    <a:lnT>
                      <a:noFill/>
                    </a:lnT>
                    <a:lnB>
                      <a:noFill/>
                    </a:lnB>
                    <a:lnTlToBr>
                      <a:noFill/>
                    </a:lnTlToBr>
                    <a:lnBlToTr>
                      <a:noFill/>
                    </a:lnBlToTr>
                    <a:noFill/>
                  </a:tcPr>
                </a:tc>
              </a:tr>
              <a:tr h="573554">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cap="flat">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cap="flat">
                      <a:noFill/>
                    </a:lnR>
                    <a:lnT>
                      <a:noFill/>
                    </a:lnT>
                    <a:lnB>
                      <a:noFill/>
                    </a:lnB>
                    <a:lnTlToBr>
                      <a:noFill/>
                    </a:lnTlToBr>
                    <a:lnBlToTr>
                      <a:noFill/>
                    </a:lnBlToTr>
                    <a:noFill/>
                  </a:tcPr>
                </a:tc>
              </a:tr>
              <a:tr h="6148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cap="flat">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en-US"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a:noFill/>
                    </a:lnR>
                    <a:lnT>
                      <a:noFill/>
                    </a:lnT>
                    <a:lnB cap="flat">
                      <a:noFill/>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anchor="ctr" horzOverflow="overflow">
                    <a:lnL>
                      <a:noFill/>
                    </a:lnL>
                    <a:lnR cap="flat">
                      <a:noFill/>
                    </a:lnR>
                    <a:lnT>
                      <a:noFill/>
                    </a:lnT>
                    <a:lnB cap="flat">
                      <a:noFill/>
                    </a:lnB>
                    <a:lnTlToBr>
                      <a:noFill/>
                    </a:lnTlToBr>
                    <a:lnBlToTr>
                      <a:noFill/>
                    </a:lnBlToTr>
                    <a:noFill/>
                  </a:tcPr>
                </a:tc>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a:t>函数依赖的定义</a:t>
            </a:r>
            <a:endParaRPr kumimoji="1" lang="en-US" altLang="zh-CN" dirty="0"/>
          </a:p>
          <a:p>
            <a:pPr lvl="1"/>
            <a:r>
              <a:rPr lang="zh-CN" altLang="en-US" dirty="0"/>
              <a:t>函数依赖不是指关系模式</a:t>
            </a:r>
            <a:r>
              <a:rPr lang="en-US" altLang="zh-CN" dirty="0">
                <a:solidFill>
                  <a:srgbClr val="006600"/>
                </a:solidFill>
              </a:rPr>
              <a:t>R</a:t>
            </a:r>
            <a:r>
              <a:rPr lang="zh-CN" altLang="en-US" dirty="0"/>
              <a:t>的某个或某些关系实例满足的约束条件，而是指</a:t>
            </a:r>
            <a:r>
              <a:rPr lang="en-US" altLang="zh-CN" dirty="0">
                <a:solidFill>
                  <a:srgbClr val="006600"/>
                </a:solidFill>
              </a:rPr>
              <a:t>R</a:t>
            </a:r>
            <a:r>
              <a:rPr lang="zh-CN" altLang="en-US" dirty="0"/>
              <a:t>的</a:t>
            </a:r>
            <a:r>
              <a:rPr lang="zh-CN" altLang="en-US" dirty="0">
                <a:solidFill>
                  <a:srgbClr val="FF0000"/>
                </a:solidFill>
              </a:rPr>
              <a:t>所有关系实例</a:t>
            </a:r>
            <a:r>
              <a:rPr lang="zh-CN" altLang="en-US" dirty="0"/>
              <a:t>均要满足的约束条件。</a:t>
            </a:r>
            <a:endParaRPr lang="en-US" altLang="zh-CN" dirty="0"/>
          </a:p>
          <a:p>
            <a:pPr lvl="1"/>
            <a:r>
              <a:rPr lang="zh-CN" altLang="en-US" dirty="0"/>
              <a:t>函数依赖是</a:t>
            </a:r>
            <a:r>
              <a:rPr lang="zh-CN" altLang="en-US" dirty="0">
                <a:solidFill>
                  <a:srgbClr val="FF0000"/>
                </a:solidFill>
              </a:rPr>
              <a:t>语义范畴</a:t>
            </a:r>
            <a:r>
              <a:rPr lang="zh-CN" altLang="en-US" dirty="0"/>
              <a:t>的概念，只能根据数据的语义来确定函数依赖是否成立。</a:t>
            </a:r>
            <a:endParaRPr lang="en-US" altLang="zh-CN" dirty="0"/>
          </a:p>
          <a:p>
            <a:pPr lvl="1"/>
            <a:r>
              <a:rPr lang="zh-CN" altLang="en-US" i="1" dirty="0"/>
              <a:t>例：对于学生关系</a:t>
            </a:r>
            <a:endParaRPr lang="en-US" altLang="zh-CN" i="1" dirty="0"/>
          </a:p>
          <a:p>
            <a:pPr marL="800100" lvl="2" indent="0">
              <a:lnSpc>
                <a:spcPct val="110000"/>
              </a:lnSpc>
              <a:spcBef>
                <a:spcPct val="10000"/>
              </a:spcBef>
              <a:buNone/>
            </a:pPr>
            <a:r>
              <a:rPr lang="zh-CN" altLang="en-US" sz="2400" i="1" dirty="0"/>
              <a:t>学生</a:t>
            </a:r>
            <a:r>
              <a:rPr lang="en-US" altLang="zh-CN" sz="2400" i="1" dirty="0"/>
              <a:t>(</a:t>
            </a:r>
            <a:r>
              <a:rPr lang="zh-CN" altLang="en-US" sz="2400" i="1" dirty="0"/>
              <a:t>学号，姓名，性别，出生日期，班级，宿舍，专业</a:t>
            </a:r>
            <a:r>
              <a:rPr lang="en-US" altLang="zh-CN" sz="2400" i="1" dirty="0"/>
              <a:t>)</a:t>
            </a:r>
            <a:endParaRPr lang="en-US" altLang="zh-CN" sz="2400" i="1" dirty="0"/>
          </a:p>
          <a:p>
            <a:pPr marL="800100" lvl="2" indent="0">
              <a:lnSpc>
                <a:spcPct val="110000"/>
              </a:lnSpc>
              <a:spcBef>
                <a:spcPct val="10000"/>
              </a:spcBef>
              <a:buNone/>
            </a:pPr>
            <a:r>
              <a:rPr lang="zh-CN" altLang="en-US" sz="2400" i="1" dirty="0"/>
              <a:t>班级→性别 是否成立？</a:t>
            </a:r>
            <a:endParaRPr lang="en-US" altLang="zh-CN" sz="2400" i="1" dirty="0"/>
          </a:p>
          <a:p>
            <a:pPr marL="800100" lvl="2" indent="0">
              <a:lnSpc>
                <a:spcPct val="110000"/>
              </a:lnSpc>
              <a:spcBef>
                <a:spcPct val="10000"/>
              </a:spcBef>
              <a:buNone/>
            </a:pPr>
            <a:r>
              <a:rPr lang="zh-CN" altLang="en-US" sz="2400" i="1" dirty="0"/>
              <a:t>如果规定“男女生分班”，则成立</a:t>
            </a:r>
            <a:endParaRPr lang="en-US" altLang="zh-CN" sz="2400" i="1" dirty="0"/>
          </a:p>
          <a:p>
            <a:pPr marL="800100" lvl="2" indent="0">
              <a:lnSpc>
                <a:spcPct val="110000"/>
              </a:lnSpc>
              <a:spcBef>
                <a:spcPct val="10000"/>
              </a:spcBef>
              <a:buNone/>
            </a:pPr>
            <a:r>
              <a:rPr lang="zh-CN" altLang="en-US" sz="2400" i="1" dirty="0"/>
              <a:t>          否则，不成立。</a:t>
            </a:r>
            <a:endParaRPr lang="zh-CN" altLang="en-US" sz="2400" i="1" dirty="0"/>
          </a:p>
          <a:p>
            <a:pPr lvl="1">
              <a:lnSpc>
                <a:spcPct val="150000"/>
              </a:lnSpc>
            </a:pP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kumimoji="1" lang="zh-CN" altLang="en-US" dirty="0"/>
                  <a:t>函数依赖的定义</a:t>
                </a:r>
                <a:endParaRPr kumimoji="1" lang="en-US" altLang="zh-CN" dirty="0"/>
              </a:p>
              <a:p>
                <a:pPr lvl="1">
                  <a:lnSpc>
                    <a:spcPct val="150000"/>
                  </a:lnSpc>
                </a:pPr>
                <a:r>
                  <a:rPr lang="zh-CN" altLang="en-US" dirty="0"/>
                  <a:t>定义</a:t>
                </a:r>
                <a:r>
                  <a:rPr lang="en-US" altLang="zh-CN" dirty="0"/>
                  <a:t>4.2</a:t>
                </a:r>
                <a:r>
                  <a:rPr lang="zh-CN" altLang="en-US" dirty="0"/>
                  <a:t>：设</a:t>
                </a:r>
                <a14:m>
                  <m:oMath xmlns:m="http://schemas.openxmlformats.org/officeDocument/2006/math">
                    <m:r>
                      <a:rPr lang="en-US" altLang="zh-CN" i="1">
                        <a:latin typeface="Cambria Math" panose="02040503050406030204" pitchFamily="18" charset="0"/>
                      </a:rPr>
                      <m:t>𝑅</m:t>
                    </m:r>
                  </m:oMath>
                </a14:m>
                <a:r>
                  <a:rPr lang="zh-CN" altLang="en-US" dirty="0"/>
                  <a:t>为关系模式，</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zh-CN" altLang="en-US"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𝑌</m:t>
                    </m:r>
                  </m:oMath>
                </a14:m>
                <a:r>
                  <a:rPr lang="zh-CN" altLang="en-US" dirty="0"/>
                  <a:t>是</a:t>
                </a:r>
                <a14:m>
                  <m:oMath xmlns:m="http://schemas.openxmlformats.org/officeDocument/2006/math">
                    <m:r>
                      <a:rPr lang="en-US" altLang="zh-CN" i="1">
                        <a:latin typeface="Cambria Math" panose="02040503050406030204" pitchFamily="18" charset="0"/>
                      </a:rPr>
                      <m:t>𝑅</m:t>
                    </m:r>
                  </m:oMath>
                </a14:m>
                <a:r>
                  <a:rPr lang="zh-CN" altLang="en-US" dirty="0"/>
                  <a:t>的不同属性集，如果</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en-US" altLang="zh-CN" i="1" dirty="0">
                        <a:latin typeface="Cambria Math" panose="02040503050406030204" pitchFamily="18" charset="0"/>
                        <a:ea typeface="黑体" panose="02010609060101010101" pitchFamily="49" charset="-122"/>
                        <a:cs typeface="Times New Roman" panose="02020603050405020304" pitchFamily="18" charset="0"/>
                      </a:rPr>
                      <m:t>→</m:t>
                    </m:r>
                    <m:r>
                      <a:rPr lang="en-US" altLang="zh-CN" i="1" dirty="0">
                        <a:latin typeface="Cambria Math" panose="02040503050406030204" pitchFamily="18" charset="0"/>
                        <a:ea typeface="黑体" panose="02010609060101010101" pitchFamily="49" charset="-122"/>
                      </a:rPr>
                      <m:t>𝑌</m:t>
                    </m:r>
                  </m:oMath>
                </a14:m>
                <a:r>
                  <a:rPr lang="zh-CN" altLang="en-US" dirty="0"/>
                  <a:t>成立，且不存在</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en-US" altLang="zh-CN" i="1" dirty="0">
                        <a:latin typeface="Cambria Math" panose="02040503050406030204" pitchFamily="18" charset="0"/>
                        <a:ea typeface="Arial Unicode MS" pitchFamily="34" charset="-122"/>
                      </a:rPr>
                      <m:t>’</m:t>
                    </m:r>
                    <m:r>
                      <a:rPr lang="en-US" altLang="zh-CN"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𝑋</m:t>
                    </m:r>
                  </m:oMath>
                </a14:m>
                <a:r>
                  <a:rPr lang="zh-CN" altLang="en-US" dirty="0"/>
                  <a:t>使得</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en-US" altLang="zh-CN" i="1" dirty="0">
                        <a:latin typeface="Cambria Math" panose="02040503050406030204" pitchFamily="18" charset="0"/>
                        <a:ea typeface="Arial Unicode MS" pitchFamily="34" charset="-122"/>
                      </a:rPr>
                      <m:t>’</m:t>
                    </m:r>
                    <m:r>
                      <a:rPr lang="en-US" altLang="zh-CN"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𝑌</m:t>
                    </m:r>
                  </m:oMath>
                </a14:m>
                <a:r>
                  <a:rPr lang="zh-CN" altLang="en-US" dirty="0"/>
                  <a:t>也成立，则称</a:t>
                </a:r>
                <a14:m>
                  <m:oMath xmlns:m="http://schemas.openxmlformats.org/officeDocument/2006/math">
                    <m:r>
                      <a:rPr lang="en-US" altLang="zh-CN" i="1" dirty="0">
                        <a:latin typeface="Cambria Math" panose="02040503050406030204" pitchFamily="18" charset="0"/>
                        <a:ea typeface="黑体" panose="02010609060101010101" pitchFamily="49" charset="-122"/>
                      </a:rPr>
                      <m:t>𝑌</m:t>
                    </m:r>
                  </m:oMath>
                </a14:m>
                <a:r>
                  <a:rPr lang="zh-CN" altLang="en-US" dirty="0"/>
                  <a:t>完全函数依赖于</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oMath>
                </a14:m>
                <a:r>
                  <a:rPr lang="zh-CN" altLang="en-US" dirty="0"/>
                  <a:t>，记为</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en-US" altLang="zh-CN" i="1" dirty="0">
                        <a:latin typeface="Cambria Math" panose="02040503050406030204" pitchFamily="18" charset="0"/>
                        <a:ea typeface="黑体" panose="02010609060101010101" pitchFamily="49" charset="-122"/>
                      </a:rPr>
                      <m:t>      </m:t>
                    </m:r>
                    <m:r>
                      <a:rPr lang="zh-CN" altLang="en-US" b="0" i="1" dirty="0" smtClean="0">
                        <a:latin typeface="Cambria Math" panose="02040503050406030204" pitchFamily="18" charset="0"/>
                        <a:ea typeface="黑体" panose="02010609060101010101" pitchFamily="49" charset="-122"/>
                      </a:rPr>
                      <m:t>   </m:t>
                    </m:r>
                    <m:r>
                      <a:rPr lang="en-US" altLang="zh-CN" i="1" dirty="0">
                        <a:latin typeface="Cambria Math" panose="02040503050406030204" pitchFamily="18" charset="0"/>
                        <a:ea typeface="黑体" panose="02010609060101010101" pitchFamily="49" charset="-122"/>
                      </a:rPr>
                      <m:t>𝑌</m:t>
                    </m:r>
                  </m:oMath>
                </a14:m>
                <a:r>
                  <a:rPr lang="zh-CN" altLang="en-US" dirty="0"/>
                  <a:t>，否则称</a:t>
                </a:r>
                <a14:m>
                  <m:oMath xmlns:m="http://schemas.openxmlformats.org/officeDocument/2006/math">
                    <m:r>
                      <a:rPr lang="en-US" altLang="zh-CN" i="1" dirty="0">
                        <a:latin typeface="Cambria Math" panose="02040503050406030204" pitchFamily="18" charset="0"/>
                        <a:ea typeface="黑体" panose="02010609060101010101" pitchFamily="49" charset="-122"/>
                      </a:rPr>
                      <m:t>𝑌</m:t>
                    </m:r>
                  </m:oMath>
                </a14:m>
                <a:r>
                  <a:rPr lang="zh-CN" altLang="en-US" dirty="0"/>
                  <a:t>部分依赖于</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oMath>
                </a14:m>
                <a:r>
                  <a:rPr lang="zh-CN" altLang="en-US" dirty="0"/>
                  <a:t>，记为</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en-US" altLang="zh-CN" i="1" dirty="0">
                        <a:latin typeface="Cambria Math" panose="02040503050406030204" pitchFamily="18" charset="0"/>
                        <a:ea typeface="黑体" panose="02010609060101010101" pitchFamily="49" charset="-122"/>
                      </a:rPr>
                      <m:t>         </m:t>
                    </m:r>
                    <m:r>
                      <a:rPr lang="en-US" altLang="zh-CN" i="1" dirty="0">
                        <a:latin typeface="Cambria Math" panose="02040503050406030204" pitchFamily="18" charset="0"/>
                        <a:ea typeface="黑体" panose="02010609060101010101" pitchFamily="49" charset="-122"/>
                      </a:rPr>
                      <m:t>𝑌</m:t>
                    </m:r>
                  </m:oMath>
                </a14:m>
                <a:endParaRPr lang="en-US" altLang="zh-CN" dirty="0"/>
              </a:p>
              <a:p>
                <a:pPr lvl="1">
                  <a:lnSpc>
                    <a:spcPct val="150000"/>
                  </a:lnSpc>
                </a:pPr>
                <a:r>
                  <a:rPr lang="zh-CN" altLang="en-US" dirty="0"/>
                  <a:t>完全函数依赖中的决定子不包含冗余属性，即只要将决定子中的任何一个属性去掉，这个函数依赖就不再成立了</a:t>
                </a:r>
                <a:endParaRPr lang="en-US" altLang="zh-CN" dirty="0"/>
              </a:p>
              <a:p>
                <a:pPr lvl="1">
                  <a:lnSpc>
                    <a:spcPct val="150000"/>
                  </a:lnSpc>
                </a:pPr>
                <a:r>
                  <a:rPr lang="zh-CN" altLang="en-US" dirty="0"/>
                  <a:t>定义</a:t>
                </a:r>
                <a:r>
                  <a:rPr lang="en-US" altLang="zh-CN" dirty="0"/>
                  <a:t>4.3</a:t>
                </a:r>
                <a:r>
                  <a:rPr lang="zh-CN" altLang="en-US" dirty="0"/>
                  <a:t>：如果</a:t>
                </a:r>
                <a14:m>
                  <m:oMath xmlns:m="http://schemas.openxmlformats.org/officeDocument/2006/math">
                    <m:r>
                      <a:rPr lang="en-US" altLang="zh-CN" i="1" dirty="0">
                        <a:latin typeface="Cambria Math" panose="02040503050406030204" pitchFamily="18" charset="0"/>
                        <a:ea typeface="黑体" panose="02010609060101010101" pitchFamily="49" charset="-122"/>
                      </a:rPr>
                      <m:t>𝑌</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sym typeface="Symbol" panose="05050102010706020507" pitchFamily="18" charset="2"/>
                      </a:rPr>
                      <m:t>𝑋</m:t>
                    </m:r>
                  </m:oMath>
                </a14:m>
                <a:r>
                  <a:rPr lang="en-US" altLang="zh-CN" dirty="0">
                    <a:sym typeface="Symbol" panose="05050102010706020507" pitchFamily="18" charset="2"/>
                  </a:rPr>
                  <a:t>,</a:t>
                </a:r>
                <a:r>
                  <a:rPr lang="zh-CN" altLang="en-US" dirty="0">
                    <a:sym typeface="Symbol" panose="05050102010706020507" pitchFamily="18" charset="2"/>
                  </a:rPr>
                  <a:t>则称</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en-US" altLang="zh-CN"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𝑌</m:t>
                    </m:r>
                  </m:oMath>
                </a14:m>
                <a:r>
                  <a:rPr lang="zh-CN" altLang="en-US" dirty="0"/>
                  <a:t>为平凡的函数依赖</a:t>
                </a:r>
                <a:endParaRPr lang="zh-CN" altLang="en-US" dirty="0"/>
              </a:p>
              <a:p>
                <a:pPr lvl="1">
                  <a:lnSpc>
                    <a:spcPct val="150000"/>
                  </a:lnSpc>
                </a:pPr>
                <a:endParaRPr kumimoji="1"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graphicFrame>
        <p:nvGraphicFramePr>
          <p:cNvPr id="6" name="Object 10"/>
          <p:cNvGraphicFramePr>
            <a:graphicFrameLocks noChangeAspect="1"/>
          </p:cNvGraphicFramePr>
          <p:nvPr/>
        </p:nvGraphicFramePr>
        <p:xfrm>
          <a:off x="9207906" y="2466723"/>
          <a:ext cx="585788" cy="276225"/>
        </p:xfrm>
        <a:graphic>
          <a:graphicData uri="http://schemas.openxmlformats.org/presentationml/2006/ole">
            <mc:AlternateContent xmlns:mc="http://schemas.openxmlformats.org/markup-compatibility/2006">
              <mc:Choice xmlns:v="urn:schemas-microsoft-com:vml" Requires="v">
                <p:oleObj spid="_x0000_s0" name="公式" r:id="rId2" imgW="799465" imgH="381000" progId="Equation.3">
                  <p:embed/>
                </p:oleObj>
              </mc:Choice>
              <mc:Fallback>
                <p:oleObj name="公式" r:id="rId2" imgW="799465" imgH="381000" progId="Equation.3">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7906" y="2466723"/>
                        <a:ext cx="5857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nvGraphicFramePr>
        <p:xfrm>
          <a:off x="3697888" y="3012612"/>
          <a:ext cx="595313" cy="280988"/>
        </p:xfrm>
        <a:graphic>
          <a:graphicData uri="http://schemas.openxmlformats.org/presentationml/2006/ole">
            <mc:AlternateContent xmlns:mc="http://schemas.openxmlformats.org/markup-compatibility/2006">
              <mc:Choice xmlns:v="urn:schemas-microsoft-com:vml" Requires="v">
                <p:oleObj spid="_x0000_s8" name="公式" r:id="rId4" imgW="799465" imgH="381000" progId="Equation.3">
                  <p:embed/>
                </p:oleObj>
              </mc:Choice>
              <mc:Fallback>
                <p:oleObj name="公式" r:id="rId4" imgW="799465" imgH="3810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7888" y="3012612"/>
                        <a:ext cx="595313"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非平凡函数依赖</a:t>
                </a:r>
                <a:endParaRPr kumimoji="1" lang="en-US" altLang="zh-CN" sz="2400" dirty="0"/>
              </a:p>
              <a:p>
                <a:pPr lvl="1"/>
                <a:r>
                  <a:rPr lang="zh-CN" altLang="en-US" dirty="0"/>
                  <a:t>定义</a:t>
                </a:r>
                <a:r>
                  <a:rPr lang="en-US" altLang="zh-CN" dirty="0"/>
                  <a:t>4.2</a:t>
                </a:r>
                <a:r>
                  <a:rPr lang="zh-CN" altLang="en-US" dirty="0"/>
                  <a:t>：在关系模式</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𝑈</m:t>
                    </m:r>
                    <m:r>
                      <a:rPr lang="en-US" altLang="zh-CN" i="1" dirty="0" smtClean="0">
                        <a:latin typeface="Cambria Math" panose="02040503050406030204" pitchFamily="18" charset="0"/>
                      </a:rPr>
                      <m:t>)</m:t>
                    </m:r>
                  </m:oMath>
                </a14:m>
                <a:r>
                  <a:rPr lang="zh-CN" altLang="en-US" dirty="0"/>
                  <a:t>中，对于</a:t>
                </a:r>
                <a14:m>
                  <m:oMath xmlns:m="http://schemas.openxmlformats.org/officeDocument/2006/math">
                    <m:r>
                      <a:rPr lang="en-US" altLang="zh-CN" i="1" dirty="0" smtClean="0">
                        <a:latin typeface="Cambria Math" panose="02040503050406030204" pitchFamily="18" charset="0"/>
                      </a:rPr>
                      <m:t>𝑈</m:t>
                    </m:r>
                  </m:oMath>
                </a14:m>
                <a:r>
                  <a:rPr lang="zh-CN" altLang="en-US" dirty="0"/>
                  <a:t>的</a:t>
                </a:r>
                <a:r>
                  <a:rPr lang="zh-CN" altLang="en-US" dirty="0">
                    <a:solidFill>
                      <a:srgbClr val="006600"/>
                    </a:solidFill>
                  </a:rPr>
                  <a:t>子集</a:t>
                </a:r>
                <a14:m>
                  <m:oMath xmlns:m="http://schemas.openxmlformats.org/officeDocument/2006/math">
                    <m:r>
                      <a:rPr lang="en-US" altLang="zh-CN" i="1" dirty="0" smtClean="0">
                        <a:latin typeface="Cambria Math" panose="02040503050406030204" pitchFamily="18" charset="0"/>
                      </a:rPr>
                      <m:t>𝑋</m:t>
                    </m:r>
                  </m:oMath>
                </a14:m>
                <a:r>
                  <a:rPr lang="zh-CN" altLang="en-US" dirty="0"/>
                  <a:t>和</a:t>
                </a:r>
                <a14:m>
                  <m:oMath xmlns:m="http://schemas.openxmlformats.org/officeDocument/2006/math">
                    <m:r>
                      <a:rPr lang="en-US" altLang="zh-CN" i="1" dirty="0" smtClean="0">
                        <a:latin typeface="Cambria Math" panose="02040503050406030204" pitchFamily="18" charset="0"/>
                      </a:rPr>
                      <m:t>𝑌</m:t>
                    </m:r>
                  </m:oMath>
                </a14:m>
                <a:r>
                  <a:rPr lang="zh-CN" altLang="en-US" dirty="0"/>
                  <a:t>：</a:t>
                </a:r>
                <a:endParaRPr lang="en-US" altLang="zh-CN" dirty="0"/>
              </a:p>
              <a:p>
                <a:pPr lvl="1">
                  <a:lnSpc>
                    <a:spcPct val="130000"/>
                  </a:lnSpc>
                  <a:buFont typeface="Wingdings" panose="05000000000000000000" pitchFamily="2" charset="2"/>
                  <a:buNone/>
                </a:pPr>
                <a:r>
                  <a:rPr lang="zh-CN" altLang="en-US" dirty="0"/>
                  <a:t>          如果</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en-US" altLang="zh-CN"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𝑌</m:t>
                    </m:r>
                    <m:r>
                      <a:rPr lang="en-US" altLang="zh-CN" i="1" dirty="0">
                        <a:latin typeface="Cambria Math" panose="02040503050406030204" pitchFamily="18" charset="0"/>
                        <a:ea typeface="黑体" panose="02010609060101010101" pitchFamily="49" charset="-122"/>
                      </a:rPr>
                      <m:t> </m:t>
                    </m:r>
                  </m:oMath>
                </a14:m>
                <a:r>
                  <a:rPr lang="zh-CN" altLang="en-US" dirty="0"/>
                  <a:t>，且</a:t>
                </a:r>
                <a14:m>
                  <m:oMath xmlns:m="http://schemas.openxmlformats.org/officeDocument/2006/math">
                    <m:r>
                      <a:rPr lang="en-US" altLang="zh-CN" i="1" dirty="0">
                        <a:latin typeface="Cambria Math" panose="02040503050406030204" pitchFamily="18" charset="0"/>
                      </a:rPr>
                      <m:t>𝑌</m:t>
                    </m:r>
                    <m:r>
                      <a:rPr lang="en-US" altLang="zh-CN" i="1" dirty="0">
                        <a:latin typeface="Cambria Math" panose="02040503050406030204" pitchFamily="18" charset="0"/>
                        <a:ea typeface="Cambria Math" panose="02040503050406030204" pitchFamily="18" charset="0"/>
                        <a:sym typeface="Symbol" panose="05050102010706020507" pitchFamily="18" charset="2"/>
                      </a:rPr>
                      <m:t>⊆</m:t>
                    </m:r>
                    <m:r>
                      <a:rPr lang="en-US" altLang="zh-CN" i="1" dirty="0">
                        <a:latin typeface="Cambria Math" panose="02040503050406030204" pitchFamily="18" charset="0"/>
                      </a:rPr>
                      <m:t> </m:t>
                    </m:r>
                    <m:r>
                      <a:rPr lang="en-US" altLang="zh-CN" i="1" dirty="0">
                        <a:latin typeface="Cambria Math" panose="02040503050406030204" pitchFamily="18" charset="0"/>
                      </a:rPr>
                      <m:t>𝑋</m:t>
                    </m:r>
                  </m:oMath>
                </a14:m>
                <a:r>
                  <a:rPr lang="zh-CN" altLang="en-US" dirty="0"/>
                  <a:t>，则称</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en-US" altLang="zh-CN"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𝑌</m:t>
                    </m:r>
                  </m:oMath>
                </a14:m>
                <a:r>
                  <a:rPr lang="zh-CN" altLang="en-US" dirty="0"/>
                  <a:t>是</a:t>
                </a:r>
                <a:r>
                  <a:rPr lang="zh-CN" altLang="en-US" dirty="0">
                    <a:solidFill>
                      <a:srgbClr val="0000FF"/>
                    </a:solidFill>
                  </a:rPr>
                  <a:t>平凡的函数依赖</a:t>
                </a:r>
                <a:endParaRPr lang="en-US" altLang="zh-CN" dirty="0">
                  <a:solidFill>
                    <a:srgbClr val="0000FF"/>
                  </a:solidFill>
                </a:endParaRPr>
              </a:p>
              <a:p>
                <a:pPr lvl="1">
                  <a:lnSpc>
                    <a:spcPct val="130000"/>
                  </a:lnSpc>
                  <a:buNone/>
                </a:pPr>
                <a:r>
                  <a:rPr lang="zh-CN" altLang="en-US" dirty="0"/>
                  <a:t>          如果</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en-US" altLang="zh-CN"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𝑌</m:t>
                    </m:r>
                    <m:r>
                      <a:rPr lang="en-US" altLang="zh-CN" i="1" dirty="0">
                        <a:latin typeface="Cambria Math" panose="02040503050406030204" pitchFamily="18" charset="0"/>
                        <a:ea typeface="黑体" panose="02010609060101010101" pitchFamily="49" charset="-122"/>
                      </a:rPr>
                      <m:t> </m:t>
                    </m:r>
                  </m:oMath>
                </a14:m>
                <a:r>
                  <a:rPr lang="zh-CN" altLang="en-US" dirty="0"/>
                  <a:t>，且</a:t>
                </a:r>
                <a14:m>
                  <m:oMath xmlns:m="http://schemas.openxmlformats.org/officeDocument/2006/math">
                    <m:r>
                      <a:rPr lang="en-US" altLang="zh-CN" i="1" dirty="0">
                        <a:latin typeface="Cambria Math" panose="02040503050406030204" pitchFamily="18" charset="0"/>
                      </a:rPr>
                      <m:t>𝑌</m:t>
                    </m:r>
                    <m:r>
                      <a:rPr lang="en-US" altLang="zh-CN" i="1" dirty="0">
                        <a:latin typeface="Cambria Math" panose="02040503050406030204" pitchFamily="18" charset="0"/>
                        <a:ea typeface="Cambria Math" panose="02040503050406030204" pitchFamily="18" charset="0"/>
                      </a:rPr>
                      <m:t>⊈</m:t>
                    </m:r>
                    <m:r>
                      <a:rPr lang="zh-CN" altLang="en-US" i="1" dirty="0">
                        <a:latin typeface="Cambria Math" panose="02040503050406030204" pitchFamily="18" charset="0"/>
                      </a:rPr>
                      <m:t> </m:t>
                    </m:r>
                    <m:r>
                      <a:rPr lang="en-US" altLang="zh-CN" i="1" dirty="0">
                        <a:latin typeface="Cambria Math" panose="02040503050406030204" pitchFamily="18" charset="0"/>
                      </a:rPr>
                      <m:t>𝑋</m:t>
                    </m:r>
                  </m:oMath>
                </a14:m>
                <a:r>
                  <a:rPr lang="en-US" altLang="zh-CN" dirty="0"/>
                  <a:t>,   </a:t>
                </a:r>
                <a:r>
                  <a:rPr lang="zh-CN" altLang="en-US" dirty="0"/>
                  <a:t>则称</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en-US" altLang="zh-CN"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𝑌</m:t>
                    </m:r>
                  </m:oMath>
                </a14:m>
                <a:r>
                  <a:rPr lang="zh-CN" altLang="en-US" dirty="0"/>
                  <a:t>是</a:t>
                </a:r>
                <a:r>
                  <a:rPr lang="zh-CN" altLang="en-US" dirty="0">
                    <a:solidFill>
                      <a:srgbClr val="0000FF"/>
                    </a:solidFill>
                  </a:rPr>
                  <a:t>非平凡的函数依赖</a:t>
                </a:r>
                <a:endParaRPr lang="en-US" altLang="zh-CN" dirty="0">
                  <a:solidFill>
                    <a:srgbClr val="0000FF"/>
                  </a:solidFill>
                </a:endParaRPr>
              </a:p>
              <a:p>
                <a:pPr marL="457200" lvl="1" indent="0">
                  <a:buNone/>
                </a:pPr>
                <a:endParaRPr lang="en-US" altLang="zh-CN" dirty="0"/>
              </a:p>
              <a:p>
                <a:pPr marL="457200" lvl="1" indent="0">
                  <a:buNone/>
                </a:pPr>
                <a:endParaRPr lang="en-US" altLang="zh-CN" dirty="0"/>
              </a:p>
              <a:p>
                <a:pPr lvl="1"/>
                <a:r>
                  <a:rPr lang="zh-CN" altLang="en-US" dirty="0">
                    <a:latin typeface="Times New Roman" panose="02020603050405020304" pitchFamily="18" charset="0"/>
                  </a:rPr>
                  <a:t>例：在关系</a:t>
                </a:r>
                <a14:m>
                  <m:oMath xmlns:m="http://schemas.openxmlformats.org/officeDocument/2006/math">
                    <m:r>
                      <a:rPr lang="en-US" altLang="zh-CN" i="1" dirty="0" smtClean="0">
                        <a:latin typeface="Cambria Math" panose="02040503050406030204" pitchFamily="18" charset="0"/>
                      </a:rPr>
                      <m:t>𝑆𝐶</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𝑆𝑛𝑜</m:t>
                    </m:r>
                    <m:r>
                      <a:rPr lang="en-US" altLang="zh-CN" i="1" dirty="0" smtClean="0">
                        <a:latin typeface="Cambria Math" panose="02040503050406030204" pitchFamily="18" charset="0"/>
                      </a:rPr>
                      <m:t>, </m:t>
                    </m:r>
                    <m:r>
                      <a:rPr lang="en-US" altLang="zh-CN" i="1" dirty="0" err="1">
                        <a:latin typeface="Cambria Math" panose="02040503050406030204" pitchFamily="18" charset="0"/>
                      </a:rPr>
                      <m:t>𝐶𝑛𝑜</m:t>
                    </m:r>
                    <m:r>
                      <a:rPr lang="en-US" altLang="zh-CN" i="1" dirty="0">
                        <a:latin typeface="Cambria Math" panose="02040503050406030204" pitchFamily="18" charset="0"/>
                      </a:rPr>
                      <m:t>, </m:t>
                    </m:r>
                    <m:r>
                      <a:rPr lang="en-US" altLang="zh-CN" i="1" dirty="0">
                        <a:latin typeface="Cambria Math" panose="02040503050406030204" pitchFamily="18" charset="0"/>
                      </a:rPr>
                      <m:t>𝐺𝑟𝑎𝑑𝑒</m:t>
                    </m:r>
                    <m:r>
                      <a:rPr lang="en-US" altLang="zh-CN" i="1" dirty="0">
                        <a:latin typeface="Cambria Math" panose="02040503050406030204" pitchFamily="18" charset="0"/>
                      </a:rPr>
                      <m:t>)</m:t>
                    </m:r>
                  </m:oMath>
                </a14:m>
                <a:r>
                  <a:rPr lang="zh-CN" altLang="en-US" dirty="0">
                    <a:latin typeface="Times New Roman" panose="02020603050405020304" pitchFamily="18" charset="0"/>
                  </a:rPr>
                  <a:t>中，</a:t>
                </a:r>
                <a:endParaRPr lang="en-US" altLang="zh-CN" dirty="0">
                  <a:latin typeface="Times New Roman" panose="02020603050405020304" pitchFamily="18" charset="0"/>
                </a:endParaRPr>
              </a:p>
              <a:p>
                <a:pPr marL="457200" lvl="1" indent="0">
                  <a:buNone/>
                </a:pPr>
                <a:r>
                  <a:rPr lang="zh-CN" altLang="en-US" dirty="0">
                    <a:latin typeface="Times New Roman" panose="02020603050405020304" pitchFamily="18" charset="0"/>
                  </a:rPr>
                  <a:t>            非平凡函数依赖： </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𝑆𝑛𝑜</m:t>
                    </m:r>
                    <m:r>
                      <a:rPr lang="en-US" altLang="zh-CN" i="1" dirty="0" smtClean="0">
                        <a:latin typeface="Cambria Math" panose="02040503050406030204" pitchFamily="18" charset="0"/>
                      </a:rPr>
                      <m:t>, </m:t>
                    </m:r>
                    <m:r>
                      <a:rPr lang="en-US" altLang="zh-CN" i="1" dirty="0" err="1">
                        <a:latin typeface="Cambria Math" panose="02040503050406030204" pitchFamily="18" charset="0"/>
                      </a:rPr>
                      <m:t>𝐶𝑛𝑜</m:t>
                    </m:r>
                    <m:r>
                      <a:rPr lang="en-US" altLang="zh-CN" i="1" dirty="0">
                        <a:latin typeface="Cambria Math" panose="02040503050406030204" pitchFamily="18" charset="0"/>
                      </a:rPr>
                      <m:t>) →</m:t>
                    </m:r>
                    <m:r>
                      <a:rPr lang="en-US" altLang="zh-CN" i="1" baseline="46000" dirty="0">
                        <a:latin typeface="Cambria Math" panose="02040503050406030204" pitchFamily="18" charset="0"/>
                      </a:rPr>
                      <m:t> </m:t>
                    </m:r>
                    <m:r>
                      <a:rPr lang="en-US" altLang="zh-CN" i="1" dirty="0" smtClean="0">
                        <a:latin typeface="Cambria Math" panose="02040503050406030204" pitchFamily="18" charset="0"/>
                      </a:rPr>
                      <m:t>𝐺𝑟𝑎𝑑𝑒</m:t>
                    </m:r>
                  </m:oMath>
                </a14:m>
                <a:endParaRPr lang="en-US" altLang="zh-CN" dirty="0">
                  <a:latin typeface="Times New Roman" panose="02020603050405020304" pitchFamily="18" charset="0"/>
                </a:endParaRPr>
              </a:p>
              <a:p>
                <a:pPr marL="457200" lvl="1" indent="0">
                  <a:buNone/>
                </a:pPr>
                <a:r>
                  <a:rPr lang="zh-CN" altLang="en-US" dirty="0">
                    <a:latin typeface="Times New Roman" panose="02020603050405020304" pitchFamily="18" charset="0"/>
                  </a:rPr>
                  <a:t>            平凡函数依赖</a:t>
                </a:r>
                <a14:m>
                  <m:oMath xmlns:m="http://schemas.openxmlformats.org/officeDocument/2006/math">
                    <m:r>
                      <a:rPr lang="zh-CN" altLang="en-US" i="1" dirty="0" smtClean="0">
                        <a:latin typeface="Cambria Math" panose="02040503050406030204" pitchFamily="18" charset="0"/>
                      </a:rPr>
                      <m:t>：</m:t>
                    </m:r>
                    <m:r>
                      <a:rPr lang="zh-CN" altLang="en-US" i="1" dirty="0" smtClean="0">
                        <a:latin typeface="Cambria Math" panose="02040503050406030204" pitchFamily="18" charset="0"/>
                      </a:rPr>
                      <m:t>     </m:t>
                    </m:r>
                    <m:r>
                      <a:rPr lang="en-US" altLang="zh-CN" i="1" dirty="0">
                        <a:latin typeface="Cambria Math" panose="02040503050406030204" pitchFamily="18" charset="0"/>
                      </a:rPr>
                      <m:t>(</m:t>
                    </m:r>
                    <m:r>
                      <a:rPr lang="en-US" altLang="zh-CN" i="1" dirty="0">
                        <a:latin typeface="Cambria Math" panose="02040503050406030204" pitchFamily="18" charset="0"/>
                      </a:rPr>
                      <m:t>𝑆𝑛𝑜</m:t>
                    </m:r>
                    <m:r>
                      <a:rPr lang="en-US" altLang="zh-CN" i="1" dirty="0">
                        <a:latin typeface="Cambria Math" panose="02040503050406030204" pitchFamily="18" charset="0"/>
                      </a:rPr>
                      <m:t>, </m:t>
                    </m:r>
                    <m:r>
                      <a:rPr lang="en-US" altLang="zh-CN" i="1" dirty="0" err="1">
                        <a:latin typeface="Cambria Math" panose="02040503050406030204" pitchFamily="18" charset="0"/>
                      </a:rPr>
                      <m:t>𝐶𝑛𝑜</m:t>
                    </m:r>
                    <m:r>
                      <a:rPr lang="en-US" altLang="zh-CN" i="1" dirty="0">
                        <a:latin typeface="Cambria Math" panose="02040503050406030204" pitchFamily="18" charset="0"/>
                      </a:rPr>
                      <m:t>) →</m:t>
                    </m:r>
                    <m:r>
                      <a:rPr lang="en-US" altLang="zh-CN" i="1" baseline="46000" dirty="0">
                        <a:latin typeface="Cambria Math" panose="02040503050406030204" pitchFamily="18" charset="0"/>
                      </a:rPr>
                      <m:t> </m:t>
                    </m:r>
                    <m:r>
                      <a:rPr lang="en-US" altLang="zh-CN" i="1" dirty="0">
                        <a:latin typeface="Cambria Math" panose="02040503050406030204" pitchFamily="18" charset="0"/>
                      </a:rPr>
                      <m:t>𝑆𝑛𝑜</m:t>
                    </m:r>
                  </m:oMath>
                </a14:m>
                <a:endParaRPr lang="zh-CN" altLang="en-US" dirty="0">
                  <a:solidFill>
                    <a:srgbClr val="0000FF"/>
                  </a:solidFill>
                </a:endParaRPr>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8" name="Rectangle 4"/>
          <p:cNvSpPr>
            <a:spLocks noChangeArrowheads="1"/>
          </p:cNvSpPr>
          <p:nvPr/>
        </p:nvSpPr>
        <p:spPr bwMode="auto">
          <a:xfrm>
            <a:off x="1633441" y="3429000"/>
            <a:ext cx="8164908" cy="929678"/>
          </a:xfrm>
          <a:prstGeom prst="rect">
            <a:avLst/>
          </a:prstGeom>
          <a:solidFill>
            <a:srgbClr val="FDFFED"/>
          </a:solidFill>
          <a:ln w="9525">
            <a:solidFill>
              <a:srgbClr val="006600"/>
            </a:solidFill>
            <a:miter lim="800000"/>
          </a:ln>
        </p:spPr>
        <p:txBody>
          <a:bodyPr wrap="square">
            <a:spAutoFit/>
          </a:bodyPr>
          <a:lstStyle/>
          <a:p>
            <a:pPr>
              <a:lnSpc>
                <a:spcPct val="130000"/>
              </a:lnSpc>
              <a:spcBef>
                <a:spcPct val="20000"/>
              </a:spcBef>
              <a:buClr>
                <a:schemeClr val="folHlink"/>
              </a:buClr>
              <a:buSzPct val="60000"/>
              <a:buFont typeface="Wingdings" panose="05000000000000000000" pitchFamily="2" charset="2"/>
              <a:buNone/>
            </a:pPr>
            <a:r>
              <a:rPr lang="zh-CN" altLang="en-US" sz="2200" dirty="0">
                <a:latin typeface="微软雅黑" panose="020B0503020204020204" pitchFamily="34" charset="-122"/>
                <a:ea typeface="微软雅黑" panose="020B0503020204020204" pitchFamily="34" charset="-122"/>
              </a:rPr>
              <a:t>对于任一关系模式，平凡函数依赖都是必然成立的，它不反映新的语义，因此若不特别声明， 我们总是讨论非平凡函数依赖。</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完全</a:t>
                </a:r>
                <a:r>
                  <a:rPr kumimoji="1" lang="en-US" altLang="zh-CN" dirty="0"/>
                  <a:t>/</a:t>
                </a:r>
                <a:r>
                  <a:rPr kumimoji="1" lang="zh-CN" altLang="en-US" dirty="0"/>
                  <a:t>部分函数依赖</a:t>
                </a:r>
                <a:endParaRPr kumimoji="1" lang="en-US" altLang="zh-CN" sz="2400" dirty="0"/>
              </a:p>
              <a:p>
                <a:pPr lvl="1"/>
                <a:r>
                  <a:rPr lang="zh-CN" altLang="en-US" dirty="0"/>
                  <a:t>定义</a:t>
                </a:r>
                <a:r>
                  <a:rPr lang="en-US" altLang="zh-CN" dirty="0"/>
                  <a:t>4.3</a:t>
                </a:r>
                <a:r>
                  <a:rPr lang="zh-CN" altLang="en-US" dirty="0"/>
                  <a:t>：</a:t>
                </a:r>
                <a:r>
                  <a:rPr lang="zh-CN" altLang="en-US" b="0" dirty="0"/>
                  <a:t>在关系模式</a:t>
                </a:r>
                <a14:m>
                  <m:oMath xmlns:m="http://schemas.openxmlformats.org/officeDocument/2006/math">
                    <m:r>
                      <a:rPr lang="en-US" altLang="zh-CN" b="0" i="1" dirty="0" smtClean="0">
                        <a:latin typeface="Cambria Math" panose="02040503050406030204" pitchFamily="18" charset="0"/>
                      </a:rPr>
                      <m:t>𝑅</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𝑈</m:t>
                    </m:r>
                    <m:r>
                      <a:rPr lang="en-US" altLang="zh-CN" b="0" i="1" dirty="0" smtClean="0">
                        <a:latin typeface="Cambria Math" panose="02040503050406030204" pitchFamily="18" charset="0"/>
                      </a:rPr>
                      <m:t>)</m:t>
                    </m:r>
                  </m:oMath>
                </a14:m>
                <a:r>
                  <a:rPr lang="zh-CN" altLang="en-US" b="0" dirty="0"/>
                  <a:t>中，如果</a:t>
                </a:r>
                <a14:m>
                  <m:oMath xmlns:m="http://schemas.openxmlformats.org/officeDocument/2006/math">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𝑌</m:t>
                    </m:r>
                  </m:oMath>
                </a14:m>
                <a:r>
                  <a:rPr lang="zh-CN" altLang="en-US" b="0" dirty="0"/>
                  <a:t>，并且对于</a:t>
                </a:r>
                <a14:m>
                  <m:oMath xmlns:m="http://schemas.openxmlformats.org/officeDocument/2006/math">
                    <m:r>
                      <a:rPr lang="en-US" altLang="zh-CN" b="0" i="1" dirty="0" smtClean="0">
                        <a:latin typeface="Cambria Math" panose="02040503050406030204" pitchFamily="18" charset="0"/>
                      </a:rPr>
                      <m:t>𝑋</m:t>
                    </m:r>
                  </m:oMath>
                </a14:m>
                <a:r>
                  <a:rPr lang="zh-CN" altLang="en-US" b="0" dirty="0"/>
                  <a:t>的任何一个真子集</a:t>
                </a:r>
                <a14:m>
                  <m:oMath xmlns:m="http://schemas.openxmlformats.org/officeDocument/2006/math">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oMath>
                </a14:m>
                <a:r>
                  <a:rPr lang="zh-CN" altLang="en-US" b="0" dirty="0"/>
                  <a:t>，都有</a:t>
                </a:r>
                <a14:m>
                  <m:oMath xmlns:m="http://schemas.openxmlformats.org/officeDocument/2006/math">
                    <m:r>
                      <a:rPr lang="en-US" altLang="zh-CN" b="0" i="1" dirty="0">
                        <a:latin typeface="Cambria Math" panose="02040503050406030204" pitchFamily="18" charset="0"/>
                      </a:rPr>
                      <m:t>𝑋</m:t>
                    </m:r>
                    <m:r>
                      <a:rPr lang="en-US" altLang="zh-CN" b="0" i="1" dirty="0">
                        <a:latin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𝑌</m:t>
                    </m:r>
                  </m:oMath>
                </a14:m>
                <a:r>
                  <a:rPr lang="en-US" altLang="zh-CN" b="0" dirty="0"/>
                  <a:t>, </a:t>
                </a:r>
                <a:r>
                  <a:rPr lang="zh-CN" altLang="en-US" b="0" dirty="0"/>
                  <a:t>则称</a:t>
                </a:r>
                <a14:m>
                  <m:oMath xmlns:m="http://schemas.openxmlformats.org/officeDocument/2006/math">
                    <m:r>
                      <a:rPr lang="en-US" altLang="zh-CN" b="0" i="1" dirty="0" smtClean="0">
                        <a:solidFill>
                          <a:srgbClr val="0000FF"/>
                        </a:solidFill>
                        <a:latin typeface="Cambria Math" panose="02040503050406030204" pitchFamily="18" charset="0"/>
                      </a:rPr>
                      <m:t>𝑌</m:t>
                    </m:r>
                  </m:oMath>
                </a14:m>
                <a:r>
                  <a:rPr lang="zh-CN" altLang="en-US" b="0" dirty="0">
                    <a:solidFill>
                      <a:srgbClr val="0000FF"/>
                    </a:solidFill>
                  </a:rPr>
                  <a:t>完全函数依赖于</a:t>
                </a:r>
                <a14:m>
                  <m:oMath xmlns:m="http://schemas.openxmlformats.org/officeDocument/2006/math">
                    <m:r>
                      <a:rPr lang="en-US" altLang="zh-CN" b="0" i="1" dirty="0" smtClean="0">
                        <a:solidFill>
                          <a:srgbClr val="0000FF"/>
                        </a:solidFill>
                        <a:latin typeface="Cambria Math" panose="02040503050406030204" pitchFamily="18" charset="0"/>
                      </a:rPr>
                      <m:t>𝑋</m:t>
                    </m:r>
                  </m:oMath>
                </a14:m>
                <a:r>
                  <a:rPr lang="zh-CN" altLang="en-US" b="0" dirty="0"/>
                  <a:t>，记作</a:t>
                </a:r>
                <a:r>
                  <a:rPr lang="en-US" altLang="zh-CN" b="0" dirty="0"/>
                  <a:t>X       Y</a:t>
                </a:r>
                <a:r>
                  <a:rPr lang="zh-CN" altLang="en-US" b="0" dirty="0"/>
                  <a:t>。若</a:t>
                </a:r>
                <a14:m>
                  <m:oMath xmlns:m="http://schemas.openxmlformats.org/officeDocument/2006/math">
                    <m:r>
                      <a:rPr lang="en-US" altLang="zh-CN" b="0" i="1" dirty="0" smtClean="0">
                        <a:latin typeface="Cambria Math" panose="02040503050406030204" pitchFamily="18" charset="0"/>
                      </a:rPr>
                      <m:t>𝑋</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𝑌</m:t>
                    </m:r>
                  </m:oMath>
                </a14:m>
                <a:r>
                  <a:rPr lang="zh-CN" altLang="en-US" b="0" dirty="0"/>
                  <a:t>，但</a:t>
                </a:r>
                <a:r>
                  <a:rPr lang="en-US" altLang="zh-CN" b="0" dirty="0"/>
                  <a:t>Y</a:t>
                </a:r>
                <a:r>
                  <a:rPr lang="zh-CN" altLang="en-US" b="0" dirty="0"/>
                  <a:t>不完全函数依赖于</a:t>
                </a:r>
                <a14:m>
                  <m:oMath xmlns:m="http://schemas.openxmlformats.org/officeDocument/2006/math">
                    <m:r>
                      <a:rPr lang="en-US" altLang="zh-CN" b="0" i="1" dirty="0" smtClean="0">
                        <a:latin typeface="Cambria Math" panose="02040503050406030204" pitchFamily="18" charset="0"/>
                      </a:rPr>
                      <m:t>𝑋</m:t>
                    </m:r>
                  </m:oMath>
                </a14:m>
                <a:r>
                  <a:rPr lang="zh-CN" altLang="en-US" b="0" dirty="0"/>
                  <a:t>，则称</a:t>
                </a:r>
                <a14:m>
                  <m:oMath xmlns:m="http://schemas.openxmlformats.org/officeDocument/2006/math">
                    <m:r>
                      <a:rPr lang="en-US" altLang="zh-CN" b="0" i="1" dirty="0" smtClean="0">
                        <a:latin typeface="Cambria Math" panose="02040503050406030204" pitchFamily="18" charset="0"/>
                      </a:rPr>
                      <m:t>𝑌</m:t>
                    </m:r>
                  </m:oMath>
                </a14:m>
                <a:r>
                  <a:rPr lang="zh-CN" altLang="en-US" b="0" dirty="0">
                    <a:solidFill>
                      <a:srgbClr val="0000FF"/>
                    </a:solidFill>
                  </a:rPr>
                  <a:t>部分函数依赖</a:t>
                </a:r>
                <a:r>
                  <a:rPr lang="zh-CN" altLang="en-US" b="0" dirty="0"/>
                  <a:t>于</a:t>
                </a:r>
                <a14:m>
                  <m:oMath xmlns:m="http://schemas.openxmlformats.org/officeDocument/2006/math">
                    <m:r>
                      <a:rPr lang="en-US" altLang="zh-CN" b="0" i="1" dirty="0" smtClean="0">
                        <a:latin typeface="Cambria Math" panose="02040503050406030204" pitchFamily="18" charset="0"/>
                      </a:rPr>
                      <m:t>𝑋</m:t>
                    </m:r>
                  </m:oMath>
                </a14:m>
                <a:r>
                  <a:rPr lang="zh-CN" altLang="en-US" b="0" dirty="0"/>
                  <a:t>，记作</a:t>
                </a:r>
                <a:r>
                  <a:rPr lang="en-US" altLang="zh-CN" b="0" dirty="0"/>
                  <a:t>X     Y</a:t>
                </a:r>
                <a:r>
                  <a:rPr lang="zh-CN" altLang="en-US" b="0" dirty="0"/>
                  <a:t>。完全函数依赖中的左部不包含冗余属性，即只要将决定子中的任何一个属性去掉，这个函数依赖就不再成立了</a:t>
                </a:r>
                <a:endParaRPr lang="en-US" altLang="zh-CN" sz="2800" dirty="0"/>
              </a:p>
              <a:p>
                <a:pPr lvl="1"/>
                <a:r>
                  <a:rPr lang="zh-CN" altLang="en-US" i="1" dirty="0"/>
                  <a:t>例</a:t>
                </a:r>
                <a:r>
                  <a:rPr lang="en-US" altLang="zh-CN" i="1" dirty="0"/>
                  <a:t>: </a:t>
                </a:r>
                <a:r>
                  <a:rPr lang="zh-CN" altLang="en-US" i="1" dirty="0"/>
                  <a:t>在关系</a:t>
                </a:r>
                <a14:m>
                  <m:oMath xmlns:m="http://schemas.openxmlformats.org/officeDocument/2006/math">
                    <m:r>
                      <a:rPr lang="en-US" altLang="zh-CN" i="1" dirty="0" smtClean="0">
                        <a:latin typeface="Cambria Math" panose="02040503050406030204" pitchFamily="18" charset="0"/>
                      </a:rPr>
                      <m:t>𝑆𝐶</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𝑆𝑛𝑜</m:t>
                    </m:r>
                    <m:r>
                      <a:rPr lang="en-US" altLang="zh-CN" i="1" dirty="0" smtClean="0">
                        <a:latin typeface="Cambria Math" panose="02040503050406030204" pitchFamily="18" charset="0"/>
                      </a:rPr>
                      <m:t>, </m:t>
                    </m:r>
                    <m:r>
                      <a:rPr lang="en-US" altLang="zh-CN" i="1" dirty="0" err="1">
                        <a:latin typeface="Cambria Math" panose="02040503050406030204" pitchFamily="18" charset="0"/>
                      </a:rPr>
                      <m:t>𝐶𝑛𝑜</m:t>
                    </m:r>
                    <m:r>
                      <a:rPr lang="en-US" altLang="zh-CN" i="1" dirty="0">
                        <a:latin typeface="Cambria Math" panose="02040503050406030204" pitchFamily="18" charset="0"/>
                      </a:rPr>
                      <m:t>, </m:t>
                    </m:r>
                    <m:r>
                      <a:rPr lang="en-US" altLang="zh-CN" i="1" dirty="0">
                        <a:latin typeface="Cambria Math" panose="02040503050406030204" pitchFamily="18" charset="0"/>
                      </a:rPr>
                      <m:t>𝐺𝑟𝑎𝑑𝑒</m:t>
                    </m:r>
                    <m:r>
                      <a:rPr lang="en-US" altLang="zh-CN" i="1" dirty="0">
                        <a:latin typeface="Cambria Math" panose="02040503050406030204" pitchFamily="18" charset="0"/>
                      </a:rPr>
                      <m:t>)</m:t>
                    </m:r>
                  </m:oMath>
                </a14:m>
                <a:r>
                  <a:rPr lang="zh-CN" altLang="en-US" i="1" dirty="0"/>
                  <a:t>中，由于：</a:t>
                </a:r>
                <a14:m>
                  <m:oMath xmlns:m="http://schemas.openxmlformats.org/officeDocument/2006/math">
                    <m:r>
                      <a:rPr lang="en-US" altLang="zh-CN" i="1" dirty="0" smtClean="0">
                        <a:latin typeface="Cambria Math" panose="02040503050406030204" pitchFamily="18" charset="0"/>
                      </a:rPr>
                      <m:t>𝑆𝑛𝑜</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𝐺𝑟𝑎𝑑𝑒</m:t>
                    </m:r>
                  </m:oMath>
                </a14:m>
                <a:r>
                  <a:rPr lang="zh-CN" altLang="en-US" i="1" dirty="0"/>
                  <a:t>，</a:t>
                </a:r>
                <a14:m>
                  <m:oMath xmlns:m="http://schemas.openxmlformats.org/officeDocument/2006/math">
                    <m:r>
                      <a:rPr lang="en-US" altLang="zh-CN" i="1" dirty="0" smtClean="0">
                        <a:latin typeface="Cambria Math" panose="02040503050406030204" pitchFamily="18" charset="0"/>
                      </a:rPr>
                      <m:t>𝐶𝑛𝑜</m:t>
                    </m:r>
                    <m:r>
                      <a:rPr lang="en-US" altLang="zh-CN" i="1" dirty="0">
                        <a:latin typeface="Cambria Math" panose="02040503050406030204" pitchFamily="18" charset="0"/>
                      </a:rPr>
                      <m:t> → </m:t>
                    </m:r>
                    <m:r>
                      <a:rPr lang="en-US" altLang="zh-CN" i="1" dirty="0">
                        <a:latin typeface="Cambria Math" panose="02040503050406030204" pitchFamily="18" charset="0"/>
                      </a:rPr>
                      <m:t>𝐺𝑟𝑎𝑑𝑒</m:t>
                    </m:r>
                  </m:oMath>
                </a14:m>
                <a:r>
                  <a:rPr lang="zh-CN" altLang="en-US" i="1" dirty="0"/>
                  <a:t>，因此：</a:t>
                </a:r>
                <a14:m>
                  <m:oMath xmlns:m="http://schemas.openxmlformats.org/officeDocument/2006/math">
                    <m:r>
                      <a:rPr lang="en-US" altLang="zh-CN" i="1" dirty="0" smtClean="0">
                        <a:latin typeface="Cambria Math" panose="02040503050406030204" pitchFamily="18" charset="0"/>
                      </a:rPr>
                      <m:t>(</m:t>
                    </m:r>
                    <m:r>
                      <a:rPr lang="en-US" altLang="zh-CN" i="1" dirty="0" smtClean="0">
                        <a:latin typeface="Cambria Math" panose="02040503050406030204" pitchFamily="18" charset="0"/>
                      </a:rPr>
                      <m:t>𝑆𝑛𝑜</m:t>
                    </m:r>
                    <m:r>
                      <a:rPr lang="en-US" altLang="zh-CN" i="1" dirty="0" smtClean="0">
                        <a:latin typeface="Cambria Math" panose="02040503050406030204" pitchFamily="18" charset="0"/>
                      </a:rPr>
                      <m:t>, </m:t>
                    </m:r>
                    <m:r>
                      <a:rPr lang="en-US" altLang="zh-CN" i="1" dirty="0" err="1">
                        <a:latin typeface="Cambria Math" panose="02040503050406030204" pitchFamily="18" charset="0"/>
                      </a:rPr>
                      <m:t>𝐶𝑛𝑜</m:t>
                    </m:r>
                    <m:r>
                      <a:rPr lang="en-US" altLang="zh-CN" i="1" dirty="0">
                        <a:latin typeface="Cambria Math" panose="02040503050406030204" pitchFamily="18" charset="0"/>
                      </a:rPr>
                      <m:t>)   </m:t>
                    </m:r>
                    <m:r>
                      <a:rPr lang="en-US" altLang="zh-CN" b="0" i="1" dirty="0" smtClean="0">
                        <a:latin typeface="Cambria Math" panose="02040503050406030204" pitchFamily="18" charset="0"/>
                      </a:rPr>
                      <m:t> </m:t>
                    </m:r>
                    <m:r>
                      <a:rPr lang="en-US" altLang="zh-CN" i="1" baseline="46000" dirty="0">
                        <a:latin typeface="Cambria Math" panose="02040503050406030204" pitchFamily="18" charset="0"/>
                      </a:rPr>
                      <m:t>𝐹</m:t>
                    </m:r>
                    <m:r>
                      <a:rPr lang="en-US" altLang="zh-CN" i="1" baseline="46000" dirty="0">
                        <a:latin typeface="Cambria Math" panose="02040503050406030204" pitchFamily="18" charset="0"/>
                      </a:rPr>
                      <m:t>    </m:t>
                    </m:r>
                    <m:r>
                      <a:rPr lang="en-US" altLang="zh-CN" i="1" dirty="0">
                        <a:latin typeface="Cambria Math" panose="02040503050406030204" pitchFamily="18" charset="0"/>
                      </a:rPr>
                      <m:t>𝐺𝑟𝑎𝑑𝑒</m:t>
                    </m:r>
                  </m:oMath>
                </a14:m>
                <a:endParaRPr lang="en-US" altLang="zh-CN" i="1" dirty="0"/>
              </a:p>
              <a:p>
                <a:pPr lvl="1"/>
                <a:endParaRPr lang="zh-CN" altLang="en-US" b="0" dirty="0"/>
              </a:p>
              <a:p>
                <a:pPr marL="457200" lvl="1" indent="0">
                  <a:buNone/>
                </a:pPr>
                <a:endParaRPr lang="zh-CN" altLang="en-US" dirty="0">
                  <a:solidFill>
                    <a:srgbClr val="0000FF"/>
                  </a:solidFill>
                </a:endParaRPr>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cxnSp>
        <p:nvCxnSpPr>
          <p:cNvPr id="7" name="直线箭头连接符 6"/>
          <p:cNvCxnSpPr/>
          <p:nvPr/>
        </p:nvCxnSpPr>
        <p:spPr>
          <a:xfrm>
            <a:off x="7174526" y="2504051"/>
            <a:ext cx="5697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文本框 8"/>
          <p:cNvSpPr txBox="1"/>
          <p:nvPr/>
        </p:nvSpPr>
        <p:spPr>
          <a:xfrm>
            <a:off x="7280031" y="2205059"/>
            <a:ext cx="267286" cy="369332"/>
          </a:xfrm>
          <a:prstGeom prst="rect">
            <a:avLst/>
          </a:prstGeom>
          <a:noFill/>
        </p:spPr>
        <p:txBody>
          <a:bodyPr wrap="square" rtlCol="0">
            <a:spAutoFit/>
          </a:bodyPr>
          <a:lstStyle/>
          <a:p>
            <a:r>
              <a:rPr kumimoji="1" lang="en-US" altLang="zh-CN" dirty="0">
                <a:latin typeface="微软雅黑" panose="020B0503020204020204" pitchFamily="34" charset="-122"/>
                <a:ea typeface="微软雅黑" panose="020B0503020204020204" pitchFamily="34" charset="-122"/>
              </a:rPr>
              <a:t>F</a:t>
            </a:r>
            <a:endParaRPr kumimoji="1" lang="zh-CN" altLang="en-US" dirty="0">
              <a:latin typeface="微软雅黑" panose="020B0503020204020204" pitchFamily="34" charset="-122"/>
              <a:ea typeface="微软雅黑" panose="020B0503020204020204" pitchFamily="34" charset="-122"/>
            </a:endParaRPr>
          </a:p>
        </p:txBody>
      </p:sp>
      <p:cxnSp>
        <p:nvCxnSpPr>
          <p:cNvPr id="10" name="直线箭头连接符 9"/>
          <p:cNvCxnSpPr/>
          <p:nvPr/>
        </p:nvCxnSpPr>
        <p:spPr>
          <a:xfrm>
            <a:off x="6840416" y="2951930"/>
            <a:ext cx="45016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6928337" y="2596666"/>
            <a:ext cx="267286" cy="369332"/>
          </a:xfrm>
          <a:prstGeom prst="rect">
            <a:avLst/>
          </a:prstGeom>
          <a:noFill/>
        </p:spPr>
        <p:txBody>
          <a:bodyPr wrap="square" rtlCol="0">
            <a:spAutoFit/>
          </a:bodyPr>
          <a:lstStyle/>
          <a:p>
            <a:r>
              <a:rPr kumimoji="1" lang="en-US" altLang="zh-CN" dirty="0">
                <a:latin typeface="微软雅黑" panose="020B0503020204020204" pitchFamily="34" charset="-122"/>
                <a:ea typeface="微软雅黑" panose="020B0503020204020204" pitchFamily="34" charset="-122"/>
              </a:rPr>
              <a:t>P</a:t>
            </a:r>
            <a:endParaRPr kumimoji="1" lang="zh-CN" altLang="en-US" dirty="0">
              <a:latin typeface="微软雅黑" panose="020B0503020204020204" pitchFamily="34" charset="-122"/>
              <a:ea typeface="微软雅黑" panose="020B0503020204020204" pitchFamily="34" charset="-122"/>
            </a:endParaRPr>
          </a:p>
        </p:txBody>
      </p:sp>
      <p:cxnSp>
        <p:nvCxnSpPr>
          <p:cNvPr id="14" name="直线箭头连接符 13"/>
          <p:cNvCxnSpPr/>
          <p:nvPr/>
        </p:nvCxnSpPr>
        <p:spPr>
          <a:xfrm>
            <a:off x="3250810" y="4792453"/>
            <a:ext cx="45016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函数依赖的定义</a:t>
                </a:r>
                <a:endParaRPr kumimoji="1" lang="en-US" altLang="zh-CN" sz="2400" dirty="0"/>
              </a:p>
              <a:p>
                <a:pPr lvl="1"/>
                <a:r>
                  <a:rPr lang="zh-CN" altLang="en-US" dirty="0"/>
                  <a:t>定义</a:t>
                </a:r>
                <a:r>
                  <a:rPr lang="en-US" altLang="zh-CN" dirty="0"/>
                  <a:t>4.4</a:t>
                </a:r>
                <a:r>
                  <a:rPr lang="zh-CN" altLang="en-US" dirty="0"/>
                  <a:t>：设</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zh-CN" altLang="en-US"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𝑌</m:t>
                    </m:r>
                    <m:r>
                      <a:rPr lang="zh-CN" altLang="en-US"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𝑍</m:t>
                    </m:r>
                  </m:oMath>
                </a14:m>
                <a:r>
                  <a:rPr lang="zh-CN" altLang="en-US" dirty="0"/>
                  <a:t>是</a:t>
                </a:r>
                <a14:m>
                  <m:oMath xmlns:m="http://schemas.openxmlformats.org/officeDocument/2006/math">
                    <m:r>
                      <a:rPr lang="en-US" altLang="zh-CN" i="1" dirty="0" smtClean="0">
                        <a:latin typeface="Cambria Math" panose="02040503050406030204" pitchFamily="18" charset="0"/>
                      </a:rPr>
                      <m:t>𝑅</m:t>
                    </m:r>
                  </m:oMath>
                </a14:m>
                <a:r>
                  <a:rPr lang="zh-CN" altLang="en-US" dirty="0"/>
                  <a:t>上的不同属性集合，如果有</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en-US" altLang="zh-CN"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𝑌</m:t>
                    </m:r>
                    <m:r>
                      <a:rPr lang="zh-CN" altLang="en-US"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𝑌</m:t>
                    </m:r>
                    <m:r>
                      <a:rPr lang="en-US" altLang="zh-CN"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𝑍</m:t>
                    </m:r>
                  </m:oMath>
                </a14:m>
                <a:r>
                  <a:rPr lang="zh-CN" altLang="en-US" dirty="0"/>
                  <a:t>成立且</a:t>
                </a:r>
                <a14:m>
                  <m:oMath xmlns:m="http://schemas.openxmlformats.org/officeDocument/2006/math">
                    <m:r>
                      <a:rPr lang="en-US" altLang="zh-CN" i="1" dirty="0" smtClean="0">
                        <a:latin typeface="Cambria Math" panose="02040503050406030204" pitchFamily="18" charset="0"/>
                        <a:ea typeface="黑体" panose="02010609060101010101" pitchFamily="49" charset="-122"/>
                      </a:rPr>
                      <m:t>𝑌</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黑体" panose="02010609060101010101" pitchFamily="49" charset="-122"/>
                      </a:rPr>
                      <m:t>𝑋</m:t>
                    </m:r>
                  </m:oMath>
                </a14:m>
                <a:r>
                  <a:rPr lang="zh-CN" altLang="en-US" dirty="0"/>
                  <a:t>，则称</a:t>
                </a:r>
                <a14:m>
                  <m:oMath xmlns:m="http://schemas.openxmlformats.org/officeDocument/2006/math">
                    <m:r>
                      <a:rPr lang="en-US" altLang="zh-CN" i="1" dirty="0">
                        <a:latin typeface="Cambria Math" panose="02040503050406030204" pitchFamily="18" charset="0"/>
                        <a:ea typeface="黑体" panose="02010609060101010101" pitchFamily="49" charset="-122"/>
                      </a:rPr>
                      <m:t>𝑍</m:t>
                    </m:r>
                  </m:oMath>
                </a14:m>
                <a:r>
                  <a:rPr lang="zh-CN" altLang="en-US" dirty="0"/>
                  <a:t>传递函数依赖于</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oMath>
                </a14:m>
                <a:endParaRPr lang="en-US" altLang="zh-CN" dirty="0"/>
              </a:p>
              <a:p>
                <a:pPr lvl="1"/>
                <a:r>
                  <a:rPr lang="zh-CN" altLang="en-US" dirty="0"/>
                  <a:t>条件</a:t>
                </a:r>
                <a14:m>
                  <m:oMath xmlns:m="http://schemas.openxmlformats.org/officeDocument/2006/math">
                    <m:r>
                      <a:rPr lang="en-US" altLang="zh-CN" i="1" dirty="0">
                        <a:latin typeface="Cambria Math" panose="02040503050406030204" pitchFamily="18" charset="0"/>
                        <a:ea typeface="黑体" panose="02010609060101010101" pitchFamily="49" charset="-122"/>
                      </a:rPr>
                      <m:t>𝑌</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黑体" panose="02010609060101010101" pitchFamily="49" charset="-122"/>
                      </a:rPr>
                      <m:t>𝑋</m:t>
                    </m:r>
                  </m:oMath>
                </a14:m>
                <a:r>
                  <a:rPr lang="zh-CN" altLang="en-US" dirty="0"/>
                  <a:t>非常重要，如果没有这个条件，那么</a:t>
                </a:r>
                <a14:m>
                  <m:oMath xmlns:m="http://schemas.openxmlformats.org/officeDocument/2006/math">
                    <m:r>
                      <a:rPr lang="en-US" altLang="zh-CN" i="1" dirty="0" smtClean="0">
                        <a:latin typeface="Cambria Math" panose="02040503050406030204" pitchFamily="18" charset="0"/>
                        <a:ea typeface="黑体" panose="02010609060101010101" pitchFamily="49" charset="-122"/>
                      </a:rPr>
                      <m:t>𝑋</m:t>
                    </m:r>
                  </m:oMath>
                </a14:m>
                <a:r>
                  <a:rPr lang="zh-CN" altLang="en-US" dirty="0"/>
                  <a:t>与</a:t>
                </a:r>
                <a14:m>
                  <m:oMath xmlns:m="http://schemas.openxmlformats.org/officeDocument/2006/math">
                    <m:r>
                      <a:rPr lang="en-US" altLang="zh-CN" i="1" dirty="0" smtClean="0">
                        <a:latin typeface="Cambria Math" panose="02040503050406030204" pitchFamily="18" charset="0"/>
                        <a:ea typeface="黑体" panose="02010609060101010101" pitchFamily="49" charset="-122"/>
                      </a:rPr>
                      <m:t>𝑌</m:t>
                    </m:r>
                  </m:oMath>
                </a14:m>
                <a:r>
                  <a:rPr lang="zh-CN" altLang="en-US" dirty="0"/>
                  <a:t>就是一一对应关系，从而</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en-US" altLang="zh-CN"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𝑍</m:t>
                    </m:r>
                  </m:oMath>
                </a14:m>
                <a:r>
                  <a:rPr lang="zh-CN" altLang="en-US" dirty="0"/>
                  <a:t>就是直接函数依赖</a:t>
                </a:r>
                <a:endParaRPr lang="en-US" altLang="zh-CN" sz="2800" dirty="0"/>
              </a:p>
              <a:p>
                <a:pPr lvl="1"/>
                <a:r>
                  <a:rPr lang="zh-CN" altLang="en-US" sz="2400" i="1" dirty="0"/>
                  <a:t>例</a:t>
                </a:r>
                <a:r>
                  <a:rPr lang="en-US" altLang="zh-CN" sz="2400" i="1" dirty="0"/>
                  <a:t>: </a:t>
                </a:r>
                <a:r>
                  <a:rPr lang="zh-CN" altLang="en-US" sz="2400" i="1" dirty="0"/>
                  <a:t>在关系</a:t>
                </a:r>
                <a14:m>
                  <m:oMath xmlns:m="http://schemas.openxmlformats.org/officeDocument/2006/math">
                    <m:r>
                      <a:rPr lang="en-US" altLang="zh-CN" sz="2400" i="1" dirty="0" smtClean="0">
                        <a:latin typeface="Cambria Math" panose="02040503050406030204" pitchFamily="18" charset="0"/>
                      </a:rPr>
                      <m:t>𝑆𝑡𝑑</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𝑆𝑛𝑜</m:t>
                    </m:r>
                    <m:r>
                      <a:rPr lang="en-US" altLang="zh-CN" sz="2400" i="1" dirty="0" smtClean="0">
                        <a:latin typeface="Cambria Math" panose="02040503050406030204" pitchFamily="18" charset="0"/>
                      </a:rPr>
                      <m:t>, </m:t>
                    </m:r>
                    <m:r>
                      <a:rPr lang="en-US" altLang="zh-CN" sz="2400" i="1" dirty="0" err="1">
                        <a:latin typeface="Cambria Math" panose="02040503050406030204" pitchFamily="18" charset="0"/>
                      </a:rPr>
                      <m:t>𝑆𝑑𝑒𝑝𝑡</m:t>
                    </m:r>
                    <m:r>
                      <a:rPr lang="en-US" altLang="zh-CN" sz="2400" i="1" dirty="0">
                        <a:latin typeface="Cambria Math" panose="02040503050406030204" pitchFamily="18" charset="0"/>
                      </a:rPr>
                      <m:t>, </m:t>
                    </m:r>
                    <m:r>
                      <a:rPr lang="en-US" altLang="zh-CN" sz="2400" i="1" dirty="0" err="1">
                        <a:latin typeface="Cambria Math" panose="02040503050406030204" pitchFamily="18" charset="0"/>
                      </a:rPr>
                      <m:t>𝑀𝑛𝑎𝑚𝑒</m:t>
                    </m:r>
                    <m:r>
                      <a:rPr lang="en-US" altLang="zh-CN" sz="2400" i="1" dirty="0">
                        <a:latin typeface="Cambria Math" panose="02040503050406030204" pitchFamily="18" charset="0"/>
                      </a:rPr>
                      <m:t>)</m:t>
                    </m:r>
                  </m:oMath>
                </a14:m>
                <a:r>
                  <a:rPr lang="zh-CN" altLang="en-US" sz="2400" i="1" dirty="0"/>
                  <a:t>中，有：</a:t>
                </a:r>
                <a:endParaRPr lang="zh-CN" altLang="en-US" sz="2400" i="1" dirty="0"/>
              </a:p>
              <a:p>
                <a:pPr>
                  <a:spcBef>
                    <a:spcPct val="20000"/>
                  </a:spcBef>
                  <a:buClr>
                    <a:schemeClr val="folHlink"/>
                  </a:buClr>
                  <a:buSzPct val="60000"/>
                  <a:buNone/>
                </a:pPr>
                <a:r>
                  <a:rPr lang="zh-CN" altLang="en-US" sz="2400" b="0" i="1" dirty="0"/>
                  <a:t>     </a:t>
                </a:r>
                <a:r>
                  <a:rPr lang="en-US" altLang="zh-CN" sz="2400" b="0" i="1" dirty="0"/>
                  <a:t>        </a:t>
                </a:r>
                <a14:m>
                  <m:oMath xmlns:m="http://schemas.openxmlformats.org/officeDocument/2006/math">
                    <m:r>
                      <a:rPr lang="en-US" altLang="zh-CN" sz="2400" b="0" i="1" dirty="0" smtClean="0">
                        <a:latin typeface="Cambria Math" panose="02040503050406030204" pitchFamily="18" charset="0"/>
                      </a:rPr>
                      <m:t>𝑆𝑛𝑜</m:t>
                    </m:r>
                    <m:r>
                      <a:rPr lang="en-US" altLang="zh-CN" sz="2400" b="0" i="1" dirty="0" smtClean="0">
                        <a:latin typeface="Cambria Math" panose="02040503050406030204" pitchFamily="18" charset="0"/>
                      </a:rPr>
                      <m:t> → </m:t>
                    </m:r>
                    <m:r>
                      <a:rPr lang="en-US" altLang="zh-CN" sz="2400" b="0" i="1" dirty="0" err="1">
                        <a:latin typeface="Cambria Math" panose="02040503050406030204" pitchFamily="18" charset="0"/>
                      </a:rPr>
                      <m:t>𝑆𝑑𝑒𝑝𝑡</m:t>
                    </m:r>
                  </m:oMath>
                </a14:m>
                <a:r>
                  <a:rPr lang="zh-CN" altLang="en-US" sz="2400" b="0" i="1" dirty="0"/>
                  <a:t>，</a:t>
                </a:r>
                <a14:m>
                  <m:oMath xmlns:m="http://schemas.openxmlformats.org/officeDocument/2006/math">
                    <m:r>
                      <a:rPr lang="en-US" altLang="zh-CN" sz="2400" b="0" i="1" dirty="0" smtClean="0">
                        <a:latin typeface="Cambria Math" panose="02040503050406030204" pitchFamily="18" charset="0"/>
                      </a:rPr>
                      <m:t>𝑆𝑑𝑒𝑝𝑡</m:t>
                    </m:r>
                    <m:r>
                      <a:rPr lang="en-US" altLang="zh-CN" sz="2400" b="0" i="1" dirty="0">
                        <a:latin typeface="Cambria Math" panose="02040503050406030204" pitchFamily="18" charset="0"/>
                      </a:rPr>
                      <m:t> → </m:t>
                    </m:r>
                    <m:r>
                      <a:rPr lang="en-US" altLang="zh-CN" sz="2400" b="0" i="1" dirty="0" err="1">
                        <a:latin typeface="Cambria Math" panose="02040503050406030204" pitchFamily="18" charset="0"/>
                      </a:rPr>
                      <m:t>𝑀𝑛𝑎𝑚𝑒</m:t>
                    </m:r>
                  </m:oMath>
                </a14:m>
                <a:endParaRPr lang="en-US" altLang="zh-CN" sz="2400" b="0" i="1" dirty="0"/>
              </a:p>
              <a:p>
                <a:pPr>
                  <a:spcBef>
                    <a:spcPct val="20000"/>
                  </a:spcBef>
                  <a:buClr>
                    <a:schemeClr val="folHlink"/>
                  </a:buClr>
                  <a:buSzPct val="60000"/>
                  <a:buNone/>
                </a:pPr>
                <a:r>
                  <a:rPr lang="en-US" altLang="zh-CN" sz="2400" b="0" i="1" dirty="0"/>
                  <a:t>             </a:t>
                </a:r>
                <a:r>
                  <a:rPr lang="zh-CN" altLang="en-US" sz="2400" b="0" i="1" dirty="0"/>
                  <a:t>因此，</a:t>
                </a:r>
                <a14:m>
                  <m:oMath xmlns:m="http://schemas.openxmlformats.org/officeDocument/2006/math">
                    <m:r>
                      <a:rPr lang="en-US" altLang="zh-CN" sz="2400" b="0" i="1" dirty="0" smtClean="0">
                        <a:latin typeface="Cambria Math" panose="02040503050406030204" pitchFamily="18" charset="0"/>
                      </a:rPr>
                      <m:t>𝑀𝑛𝑎𝑚𝑒</m:t>
                    </m:r>
                  </m:oMath>
                </a14:m>
                <a:r>
                  <a:rPr lang="zh-CN" altLang="en-US" sz="2400" b="0" i="1" dirty="0"/>
                  <a:t>传递函数依赖于</a:t>
                </a:r>
                <a14:m>
                  <m:oMath xmlns:m="http://schemas.openxmlformats.org/officeDocument/2006/math">
                    <m:r>
                      <a:rPr lang="en-US" altLang="zh-CN" sz="2400" b="0" i="1" dirty="0" smtClean="0">
                        <a:latin typeface="Cambria Math" panose="02040503050406030204" pitchFamily="18" charset="0"/>
                      </a:rPr>
                      <m:t>𝑆𝑛𝑜</m:t>
                    </m:r>
                  </m:oMath>
                </a14:m>
                <a:endParaRPr lang="en-US" altLang="zh-CN" sz="2400" b="0" i="1" dirty="0"/>
              </a:p>
              <a:p>
                <a:pPr lvl="1"/>
                <a:endParaRPr lang="zh-CN" altLang="en-US" dirty="0"/>
              </a:p>
              <a:p>
                <a:pPr lvl="1"/>
                <a:endParaRPr lang="en-US" altLang="zh-CN" sz="2800" dirty="0"/>
              </a:p>
              <a:p>
                <a:pPr lvl="1"/>
                <a:endParaRPr lang="zh-CN" altLang="en-US" b="0" dirty="0"/>
              </a:p>
              <a:p>
                <a:pPr marL="457200" lvl="1" indent="0">
                  <a:buNone/>
                </a:pPr>
                <a:endParaRPr lang="zh-CN" altLang="en-US" dirty="0">
                  <a:solidFill>
                    <a:srgbClr val="0000FF"/>
                  </a:solidFill>
                </a:endParaRPr>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2198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函数依赖的推理规则</a:t>
                </a:r>
                <a:endParaRPr kumimoji="1" lang="en-US" altLang="zh-CN" sz="2400" dirty="0"/>
              </a:p>
              <a:p>
                <a:pPr lvl="1">
                  <a:lnSpc>
                    <a:spcPct val="150000"/>
                  </a:lnSpc>
                </a:pPr>
                <a:r>
                  <a:rPr lang="zh-CN" altLang="en-US" dirty="0"/>
                  <a:t>设</a:t>
                </a:r>
                <a14:m>
                  <m:oMath xmlns:m="http://schemas.openxmlformats.org/officeDocument/2006/math">
                    <m:r>
                      <a:rPr lang="en-US" altLang="zh-CN" i="1" dirty="0" smtClean="0">
                        <a:latin typeface="Cambria Math" panose="02040503050406030204" pitchFamily="18" charset="0"/>
                      </a:rPr>
                      <m:t>𝑈</m:t>
                    </m:r>
                  </m:oMath>
                </a14:m>
                <a:r>
                  <a:rPr lang="zh-CN" altLang="en-US" dirty="0"/>
                  <a:t>是关系模式</a:t>
                </a:r>
                <a14:m>
                  <m:oMath xmlns:m="http://schemas.openxmlformats.org/officeDocument/2006/math">
                    <m:r>
                      <a:rPr lang="en-US" altLang="zh-CN" i="1" dirty="0" smtClean="0">
                        <a:latin typeface="Cambria Math" panose="02040503050406030204" pitchFamily="18" charset="0"/>
                      </a:rPr>
                      <m:t>𝑅</m:t>
                    </m:r>
                  </m:oMath>
                </a14:m>
                <a:r>
                  <a:rPr lang="zh-CN" altLang="en-US" dirty="0"/>
                  <a:t>的属性集，</a:t>
                </a:r>
                <a14:m>
                  <m:oMath xmlns:m="http://schemas.openxmlformats.org/officeDocument/2006/math">
                    <m:r>
                      <a:rPr lang="en-US" altLang="zh-CN" i="1" dirty="0" smtClean="0">
                        <a:latin typeface="Cambria Math" panose="02040503050406030204" pitchFamily="18" charset="0"/>
                      </a:rPr>
                      <m:t>𝐹</m:t>
                    </m:r>
                  </m:oMath>
                </a14:m>
                <a:r>
                  <a:rPr lang="zh-CN" altLang="en-US" dirty="0"/>
                  <a:t>是</a:t>
                </a:r>
                <a14:m>
                  <m:oMath xmlns:m="http://schemas.openxmlformats.org/officeDocument/2006/math">
                    <m:r>
                      <a:rPr lang="en-US" altLang="zh-CN" i="1" dirty="0" smtClean="0">
                        <a:latin typeface="Cambria Math" panose="02040503050406030204" pitchFamily="18" charset="0"/>
                      </a:rPr>
                      <m:t>𝑅</m:t>
                    </m:r>
                  </m:oMath>
                </a14:m>
                <a:r>
                  <a:rPr lang="zh-CN" altLang="en-US" dirty="0"/>
                  <a:t>上的函数依赖集，则有：</a:t>
                </a:r>
                <a:endParaRPr lang="en-US" altLang="zh-CN" dirty="0"/>
              </a:p>
              <a:p>
                <a:pPr lvl="2">
                  <a:lnSpc>
                    <a:spcPct val="150000"/>
                  </a:lnSpc>
                </a:pPr>
                <a:r>
                  <a:rPr lang="en-US" altLang="zh-CN" sz="2200" dirty="0"/>
                  <a:t>A1</a:t>
                </a:r>
                <a:r>
                  <a:rPr lang="zh-CN" altLang="en-US" sz="2200" dirty="0"/>
                  <a:t>（自反率）：如果</a:t>
                </a:r>
                <a14:m>
                  <m:oMath xmlns:m="http://schemas.openxmlformats.org/officeDocument/2006/math">
                    <m:r>
                      <a:rPr lang="en-US" altLang="zh-CN" sz="2200" b="0" i="1" smtClean="0">
                        <a:latin typeface="Cambria Math" panose="02040503050406030204" pitchFamily="18" charset="0"/>
                      </a:rPr>
                      <m:t>𝑌</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𝑋</m:t>
                    </m:r>
                    <m:r>
                      <a:rPr lang="en-US" altLang="zh-CN" sz="2200" i="1">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𝑈</m:t>
                    </m:r>
                  </m:oMath>
                </a14:m>
                <a:r>
                  <a:rPr lang="zh-CN" altLang="en-US" sz="2200" dirty="0"/>
                  <a:t>，则</a:t>
                </a:r>
                <a14:m>
                  <m:oMath xmlns:m="http://schemas.openxmlformats.org/officeDocument/2006/math">
                    <m:r>
                      <a:rPr lang="en-US" altLang="zh-CN" sz="2200" i="1" dirty="0">
                        <a:latin typeface="Cambria Math" panose="02040503050406030204" pitchFamily="18" charset="0"/>
                        <a:ea typeface="黑体" panose="02010609060101010101" pitchFamily="49" charset="-122"/>
                      </a:rPr>
                      <m:t>𝑋</m:t>
                    </m:r>
                    <m:r>
                      <a:rPr lang="en-US" altLang="zh-CN" sz="2200" i="1" dirty="0">
                        <a:latin typeface="Cambria Math" panose="02040503050406030204" pitchFamily="18" charset="0"/>
                        <a:ea typeface="黑体" panose="02010609060101010101" pitchFamily="49" charset="-122"/>
                      </a:rPr>
                      <m:t>→</m:t>
                    </m:r>
                    <m:r>
                      <a:rPr lang="en-US" altLang="zh-CN" sz="2200" i="1" dirty="0">
                        <a:latin typeface="Cambria Math" panose="02040503050406030204" pitchFamily="18" charset="0"/>
                        <a:ea typeface="黑体" panose="02010609060101010101" pitchFamily="49" charset="-122"/>
                      </a:rPr>
                      <m:t>𝑌</m:t>
                    </m:r>
                  </m:oMath>
                </a14:m>
                <a:r>
                  <a:rPr lang="zh-CN" altLang="en-US" sz="2200" dirty="0"/>
                  <a:t>成立</a:t>
                </a:r>
                <a:endParaRPr lang="en-US" altLang="zh-CN" sz="2200" dirty="0"/>
              </a:p>
              <a:p>
                <a:pPr lvl="2">
                  <a:lnSpc>
                    <a:spcPct val="150000"/>
                  </a:lnSpc>
                </a:pPr>
                <a:r>
                  <a:rPr lang="en-US" altLang="zh-CN" sz="2200" dirty="0"/>
                  <a:t>A2</a:t>
                </a:r>
                <a:r>
                  <a:rPr lang="zh-CN" altLang="en-US" sz="2200" dirty="0"/>
                  <a:t>（增广率）：如果</a:t>
                </a:r>
                <a14:m>
                  <m:oMath xmlns:m="http://schemas.openxmlformats.org/officeDocument/2006/math">
                    <m:r>
                      <a:rPr lang="en-US" altLang="zh-CN" sz="2200" i="1" dirty="0">
                        <a:latin typeface="Cambria Math" panose="02040503050406030204" pitchFamily="18" charset="0"/>
                        <a:ea typeface="黑体" panose="02010609060101010101" pitchFamily="49" charset="-122"/>
                      </a:rPr>
                      <m:t>𝑋</m:t>
                    </m:r>
                    <m:r>
                      <a:rPr lang="en-US" altLang="zh-CN" sz="2200" i="1" dirty="0">
                        <a:latin typeface="Cambria Math" panose="02040503050406030204" pitchFamily="18" charset="0"/>
                        <a:ea typeface="黑体" panose="02010609060101010101" pitchFamily="49" charset="-122"/>
                      </a:rPr>
                      <m:t>→</m:t>
                    </m:r>
                    <m:r>
                      <a:rPr lang="en-US" altLang="zh-CN" sz="2200" i="1" dirty="0">
                        <a:latin typeface="Cambria Math" panose="02040503050406030204" pitchFamily="18" charset="0"/>
                        <a:ea typeface="黑体" panose="02010609060101010101" pitchFamily="49" charset="-122"/>
                      </a:rPr>
                      <m:t>𝑌</m:t>
                    </m:r>
                  </m:oMath>
                </a14:m>
                <a:r>
                  <a:rPr lang="zh-CN" altLang="en-US" sz="2200" dirty="0"/>
                  <a:t>成立，且</a:t>
                </a:r>
                <a14:m>
                  <m:oMath xmlns:m="http://schemas.openxmlformats.org/officeDocument/2006/math">
                    <m:r>
                      <m:rPr>
                        <m:sty m:val="p"/>
                      </m:rPr>
                      <a:rPr lang="en-US" altLang="zh-CN" sz="2200" b="0" i="0" smtClean="0">
                        <a:latin typeface="Cambria Math" panose="02040503050406030204" pitchFamily="18" charset="0"/>
                        <a:ea typeface="Cambria Math" panose="02040503050406030204" pitchFamily="18" charset="0"/>
                      </a:rPr>
                      <m:t>Z</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𝑈</m:t>
                    </m:r>
                  </m:oMath>
                </a14:m>
                <a:r>
                  <a:rPr lang="zh-CN" altLang="en-US" sz="2200" dirty="0"/>
                  <a:t>，则</a:t>
                </a:r>
                <a14:m>
                  <m:oMath xmlns:m="http://schemas.openxmlformats.org/officeDocument/2006/math">
                    <m:r>
                      <a:rPr lang="en-US" altLang="zh-CN" sz="2200" i="1" dirty="0">
                        <a:latin typeface="Cambria Math" panose="02040503050406030204" pitchFamily="18" charset="0"/>
                        <a:ea typeface="黑体" panose="02010609060101010101" pitchFamily="49" charset="-122"/>
                      </a:rPr>
                      <m:t>𝑋</m:t>
                    </m:r>
                    <m:r>
                      <a:rPr lang="en-US" altLang="zh-CN" sz="2200" i="1" dirty="0">
                        <a:latin typeface="Cambria Math" panose="02040503050406030204" pitchFamily="18" charset="0"/>
                        <a:ea typeface="黑体" panose="02010609060101010101" pitchFamily="49" charset="-122"/>
                      </a:rPr>
                      <m:t>→</m:t>
                    </m:r>
                    <m:r>
                      <a:rPr lang="en-US" altLang="zh-CN" sz="2200" i="1" dirty="0">
                        <a:latin typeface="Cambria Math" panose="02040503050406030204" pitchFamily="18" charset="0"/>
                        <a:ea typeface="黑体" panose="02010609060101010101" pitchFamily="49" charset="-122"/>
                      </a:rPr>
                      <m:t>𝑌𝑍</m:t>
                    </m:r>
                  </m:oMath>
                </a14:m>
                <a:r>
                  <a:rPr lang="zh-CN" altLang="en-US" sz="2200" dirty="0"/>
                  <a:t>成立</a:t>
                </a:r>
                <a:endParaRPr lang="en-US" altLang="zh-CN" sz="2200" dirty="0"/>
              </a:p>
              <a:p>
                <a:pPr lvl="2">
                  <a:lnSpc>
                    <a:spcPct val="150000"/>
                  </a:lnSpc>
                </a:pPr>
                <a:r>
                  <a:rPr lang="en-US" altLang="zh-CN" sz="2200" dirty="0"/>
                  <a:t>A3</a:t>
                </a:r>
                <a:r>
                  <a:rPr lang="zh-CN" altLang="en-US" sz="2200" dirty="0"/>
                  <a:t>（传递率）：如果</a:t>
                </a:r>
                <a14:m>
                  <m:oMath xmlns:m="http://schemas.openxmlformats.org/officeDocument/2006/math">
                    <m:r>
                      <a:rPr lang="en-US" altLang="zh-CN" sz="2200" i="1" dirty="0">
                        <a:latin typeface="Cambria Math" panose="02040503050406030204" pitchFamily="18" charset="0"/>
                        <a:ea typeface="黑体" panose="02010609060101010101" pitchFamily="49" charset="-122"/>
                      </a:rPr>
                      <m:t>𝑋</m:t>
                    </m:r>
                    <m:r>
                      <a:rPr lang="en-US" altLang="zh-CN" sz="2200" i="1" dirty="0">
                        <a:latin typeface="Cambria Math" panose="02040503050406030204" pitchFamily="18" charset="0"/>
                        <a:ea typeface="黑体" panose="02010609060101010101" pitchFamily="49" charset="-122"/>
                      </a:rPr>
                      <m:t>→</m:t>
                    </m:r>
                    <m:r>
                      <a:rPr lang="en-US" altLang="zh-CN" sz="2200" i="1" dirty="0">
                        <a:latin typeface="Cambria Math" panose="02040503050406030204" pitchFamily="18" charset="0"/>
                        <a:ea typeface="黑体" panose="02010609060101010101" pitchFamily="49" charset="-122"/>
                      </a:rPr>
                      <m:t>𝑌</m:t>
                    </m:r>
                    <m:r>
                      <a:rPr lang="en-US" altLang="zh-CN" sz="2200" b="0" i="1" dirty="0" smtClean="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𝑌</m:t>
                    </m:r>
                    <m:r>
                      <a:rPr lang="en-US" altLang="zh-CN" sz="2200" i="1" dirty="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𝑍</m:t>
                    </m:r>
                  </m:oMath>
                </a14:m>
                <a:r>
                  <a:rPr lang="zh-CN" altLang="en-US" sz="2200" dirty="0"/>
                  <a:t>成立，则</a:t>
                </a:r>
                <a14:m>
                  <m:oMath xmlns:m="http://schemas.openxmlformats.org/officeDocument/2006/math">
                    <m:r>
                      <a:rPr lang="en-US" altLang="zh-CN" sz="2200" i="1" dirty="0">
                        <a:latin typeface="Cambria Math" panose="02040503050406030204" pitchFamily="18" charset="0"/>
                        <a:ea typeface="黑体" panose="02010609060101010101" pitchFamily="49" charset="-122"/>
                      </a:rPr>
                      <m:t>𝑋</m:t>
                    </m:r>
                    <m:r>
                      <a:rPr lang="en-US" altLang="zh-CN" sz="2200" i="1" dirty="0">
                        <a:latin typeface="Cambria Math" panose="02040503050406030204" pitchFamily="18" charset="0"/>
                        <a:ea typeface="黑体" panose="02010609060101010101" pitchFamily="49" charset="-122"/>
                      </a:rPr>
                      <m:t>→</m:t>
                    </m:r>
                    <m:r>
                      <a:rPr lang="en-US" altLang="zh-CN" sz="2200" i="1" dirty="0">
                        <a:latin typeface="Cambria Math" panose="02040503050406030204" pitchFamily="18" charset="0"/>
                        <a:ea typeface="黑体" panose="02010609060101010101" pitchFamily="49" charset="-122"/>
                      </a:rPr>
                      <m:t>𝑍</m:t>
                    </m:r>
                  </m:oMath>
                </a14:m>
                <a:r>
                  <a:rPr lang="zh-CN" altLang="en-US" sz="2200" dirty="0"/>
                  <a:t>成立</a:t>
                </a:r>
                <a:endParaRPr lang="zh-CN" altLang="en-US" sz="2200" dirty="0"/>
              </a:p>
              <a:p>
                <a:pPr lvl="1">
                  <a:lnSpc>
                    <a:spcPct val="150000"/>
                  </a:lnSpc>
                </a:pPr>
                <a:r>
                  <a:rPr lang="zh-CN" altLang="en-US" dirty="0"/>
                  <a:t>人们又把自反率（</a:t>
                </a:r>
                <a:r>
                  <a:rPr lang="en-US" altLang="zh-CN" dirty="0"/>
                  <a:t>A1</a:t>
                </a:r>
                <a:r>
                  <a:rPr lang="zh-CN" altLang="en-US" dirty="0"/>
                  <a:t>），增广率（</a:t>
                </a:r>
                <a:r>
                  <a:rPr lang="en-US" altLang="zh-CN" dirty="0"/>
                  <a:t>A2</a:t>
                </a:r>
                <a:r>
                  <a:rPr lang="zh-CN" altLang="en-US" dirty="0"/>
                  <a:t>）和传递率（</a:t>
                </a:r>
                <a:r>
                  <a:rPr lang="en-US" altLang="zh-CN" dirty="0"/>
                  <a:t>A3</a:t>
                </a:r>
                <a:r>
                  <a:rPr lang="zh-CN" altLang="en-US" dirty="0"/>
                  <a:t>）称为</a:t>
                </a:r>
                <a:r>
                  <a:rPr lang="en-US" altLang="zh-CN" dirty="0"/>
                  <a:t>Armstrong</a:t>
                </a:r>
                <a:r>
                  <a:rPr lang="zh-CN" altLang="en-US" b="0" dirty="0"/>
                  <a:t>公理</a:t>
                </a:r>
                <a:endParaRPr lang="zh-CN" altLang="en-US" b="0" dirty="0"/>
              </a:p>
              <a:p>
                <a:pPr marL="457200" lvl="1" indent="0">
                  <a:buNone/>
                </a:pPr>
                <a:endParaRPr lang="zh-CN" altLang="en-US" dirty="0">
                  <a:solidFill>
                    <a:srgbClr val="0000FF"/>
                  </a:solidFill>
                </a:endParaRPr>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fontScale="92500"/>
              </a:bodyPr>
              <a:lstStyle/>
              <a:p>
                <a:r>
                  <a:rPr kumimoji="1" lang="zh-CN" altLang="en-US" dirty="0"/>
                  <a:t>引理</a:t>
                </a:r>
                <a:r>
                  <a:rPr kumimoji="1" lang="en-US" altLang="zh-CN" dirty="0"/>
                  <a:t>4−1</a:t>
                </a:r>
                <a:r>
                  <a:rPr kumimoji="1" lang="zh-CN" altLang="en-US" dirty="0"/>
                  <a:t>：𝐴𝑟𝑚𝑠𝑡𝑟𝑜𝑛𝑔公理是正确的</a:t>
                </a:r>
                <a:endParaRPr kumimoji="1" lang="en-US" altLang="zh-CN" dirty="0">
                  <a:solidFill>
                    <a:srgbClr val="0000FF"/>
                  </a:solidFill>
                </a:endParaRPr>
              </a:p>
              <a:p>
                <a:pPr>
                  <a:lnSpc>
                    <a:spcPct val="150000"/>
                  </a:lnSpc>
                  <a:spcBef>
                    <a:spcPts val="600"/>
                  </a:spcBef>
                  <a:spcAft>
                    <a:spcPts val="600"/>
                  </a:spcAft>
                  <a:buClr>
                    <a:srgbClr val="E40000"/>
                  </a:buClr>
                  <a:buNone/>
                  <a:defRPr/>
                </a:pPr>
                <a:r>
                  <a:rPr lang="zh-CN" altLang="en-US" sz="2200" noProof="1">
                    <a:cs typeface="+mn-ea"/>
                  </a:rPr>
                  <a:t>    证：</a:t>
                </a:r>
                <a:r>
                  <a:rPr lang="en-GB" altLang="zh-CN" sz="2200" b="0" noProof="1">
                    <a:cs typeface="+mn-ea"/>
                  </a:rPr>
                  <a:t>A1</a:t>
                </a:r>
                <a:r>
                  <a:rPr lang="zh-CN" altLang="en-US" sz="2200" b="0" noProof="1">
                    <a:cs typeface="+mn-ea"/>
                  </a:rPr>
                  <a:t>中的</a:t>
                </a:r>
                <a14:m>
                  <m:oMath xmlns:m="http://schemas.openxmlformats.org/officeDocument/2006/math">
                    <m:r>
                      <a:rPr lang="zh-CN" altLang="en-US" sz="2200" b="0" i="1" noProof="1">
                        <a:latin typeface="Cambria Math" panose="02040503050406030204" pitchFamily="18" charset="0"/>
                        <a:cs typeface="+mn-ea"/>
                      </a:rPr>
                      <m:t>𝑋</m:t>
                    </m:r>
                    <m:r>
                      <a:rPr lang="zh-CN" altLang="en-US"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𝑌</m:t>
                    </m:r>
                  </m:oMath>
                </a14:m>
                <a:r>
                  <a:rPr lang="zh-CN" altLang="en-US" sz="2200" b="0" noProof="1">
                    <a:cs typeface="+mn-ea"/>
                  </a:rPr>
                  <a:t>其实就是平凡的函数依赖，我们仅对</a:t>
                </a:r>
                <a:r>
                  <a:rPr lang="en-GB" altLang="zh-CN" sz="2200" b="0" noProof="1">
                    <a:cs typeface="+mn-ea"/>
                  </a:rPr>
                  <a:t>A2</a:t>
                </a:r>
                <a:r>
                  <a:rPr lang="zh-CN" altLang="en-GB" sz="2200" b="0" noProof="1">
                    <a:cs typeface="+mn-ea"/>
                  </a:rPr>
                  <a:t>、</a:t>
                </a:r>
                <a:r>
                  <a:rPr lang="en-GB" altLang="zh-CN" sz="2200" b="0" noProof="1">
                    <a:cs typeface="+mn-ea"/>
                  </a:rPr>
                  <a:t>A3</a:t>
                </a:r>
                <a:r>
                  <a:rPr lang="zh-CN" altLang="en-US" sz="2200" b="0" noProof="1">
                    <a:cs typeface="+mn-ea"/>
                  </a:rPr>
                  <a:t>进行证明：</a:t>
                </a:r>
                <a:endParaRPr lang="zh-CN" altLang="en-US" sz="2200" b="0" noProof="1"/>
              </a:p>
              <a:p>
                <a:pPr marL="372745">
                  <a:lnSpc>
                    <a:spcPct val="150000"/>
                  </a:lnSpc>
                  <a:spcBef>
                    <a:spcPts val="600"/>
                  </a:spcBef>
                  <a:spcAft>
                    <a:spcPts val="600"/>
                  </a:spcAft>
                  <a:buClr>
                    <a:srgbClr val="E40000"/>
                  </a:buClr>
                  <a:buNone/>
                  <a:defRPr/>
                </a:pPr>
                <a:r>
                  <a:rPr lang="zh-CN" altLang="en-US" sz="2200" b="0" noProof="1">
                    <a:cs typeface="+mn-ea"/>
                  </a:rPr>
                  <a:t>  </a:t>
                </a:r>
                <a:r>
                  <a:rPr lang="en-GB" altLang="zh-CN" sz="2200" b="0" noProof="1">
                    <a:cs typeface="+mn-ea"/>
                  </a:rPr>
                  <a:t>A2</a:t>
                </a:r>
                <a:r>
                  <a:rPr lang="zh-CN" altLang="en-GB" sz="2200" b="0" noProof="1">
                    <a:cs typeface="+mn-ea"/>
                  </a:rPr>
                  <a:t>：</a:t>
                </a:r>
                <a:r>
                  <a:rPr lang="zh-CN" altLang="en-US" sz="2200" b="0" noProof="1">
                    <a:cs typeface="+mn-ea"/>
                  </a:rPr>
                  <a:t>设</a:t>
                </a:r>
                <a14:m>
                  <m:oMath xmlns:m="http://schemas.openxmlformats.org/officeDocument/2006/math">
                    <m:sSub>
                      <m:sSubPr>
                        <m:ctrlPr>
                          <a:rPr lang="en-US" altLang="zh-CN" sz="2200" b="0" i="1" noProof="1" smtClean="0">
                            <a:latin typeface="Cambria Math" panose="02040503050406030204" pitchFamily="18" charset="0"/>
                            <a:cs typeface="+mn-ea"/>
                          </a:rPr>
                        </m:ctrlPr>
                      </m:sSubPr>
                      <m:e>
                        <m:r>
                          <a:rPr lang="en-US" altLang="zh-CN" sz="2200" b="0" i="1" noProof="1" smtClean="0">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1</m:t>
                        </m:r>
                      </m:sub>
                    </m:sSub>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oMath>
                </a14:m>
                <a:r>
                  <a:rPr lang="zh-CN" altLang="en-US" sz="2200" b="0" noProof="1">
                    <a:cs typeface="+mn-ea"/>
                  </a:rPr>
                  <a:t>是关系模式</a:t>
                </a:r>
                <a14:m>
                  <m:oMath xmlns:m="http://schemas.openxmlformats.org/officeDocument/2006/math">
                    <m:r>
                      <a:rPr lang="en-GB" altLang="zh-CN" sz="2200" b="0" i="1" noProof="1" smtClean="0">
                        <a:latin typeface="Cambria Math" panose="02040503050406030204" pitchFamily="18" charset="0"/>
                        <a:cs typeface="+mn-ea"/>
                      </a:rPr>
                      <m:t>𝑅</m:t>
                    </m:r>
                  </m:oMath>
                </a14:m>
                <a:r>
                  <a:rPr lang="zh-CN" altLang="en-US" sz="2200" b="0" noProof="1">
                    <a:cs typeface="+mn-ea"/>
                  </a:rPr>
                  <a:t>的任一关系实例</a:t>
                </a:r>
                <a14:m>
                  <m:oMath xmlns:m="http://schemas.openxmlformats.org/officeDocument/2006/math">
                    <m:r>
                      <a:rPr lang="en-GB" altLang="zh-CN" sz="2200" b="0" i="1" noProof="1" smtClean="0">
                        <a:latin typeface="Cambria Math" panose="02040503050406030204" pitchFamily="18" charset="0"/>
                        <a:cs typeface="+mn-ea"/>
                      </a:rPr>
                      <m:t>𝑟</m:t>
                    </m:r>
                  </m:oMath>
                </a14:m>
                <a:r>
                  <a:rPr lang="zh-CN" altLang="en-US" sz="2200" b="0" noProof="1">
                    <a:cs typeface="+mn-ea"/>
                  </a:rPr>
                  <a:t>上的两个元组，如果</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1</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𝑋𝑍</m:t>
                    </m:r>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𝑋𝑍</m:t>
                    </m:r>
                    <m:r>
                      <a:rPr lang="en-US" altLang="zh-CN" sz="2200" b="0" i="1" noProof="1">
                        <a:latin typeface="Cambria Math" panose="02040503050406030204" pitchFamily="18" charset="0"/>
                        <a:cs typeface="+mn-ea"/>
                      </a:rPr>
                      <m:t>]</m:t>
                    </m:r>
                  </m:oMath>
                </a14:m>
                <a:r>
                  <a:rPr lang="zh-CN" altLang="en-US" sz="2200" b="0" noProof="1">
                    <a:cs typeface="+mn-ea"/>
                  </a:rPr>
                  <a:t>成立，则一定有</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1</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𝑋</m:t>
                    </m:r>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𝑋</m:t>
                    </m:r>
                    <m:r>
                      <a:rPr lang="en-US" altLang="zh-CN" sz="2200" b="0" i="1" noProof="1">
                        <a:latin typeface="Cambria Math" panose="02040503050406030204" pitchFamily="18" charset="0"/>
                        <a:cs typeface="+mn-ea"/>
                      </a:rPr>
                      <m:t>]</m:t>
                    </m:r>
                  </m:oMath>
                </a14:m>
                <a:r>
                  <a:rPr lang="zh-CN" altLang="en-US" sz="2200" b="0" noProof="1">
                    <a:cs typeface="+mn-ea"/>
                  </a:rPr>
                  <a:t>及</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1</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𝑍</m:t>
                    </m:r>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𝑍</m:t>
                    </m:r>
                    <m:r>
                      <a:rPr lang="en-US" altLang="zh-CN" sz="2200" b="0" i="1" noProof="1">
                        <a:latin typeface="Cambria Math" panose="02040503050406030204" pitchFamily="18" charset="0"/>
                        <a:cs typeface="+mn-ea"/>
                      </a:rPr>
                      <m:t>]</m:t>
                    </m:r>
                  </m:oMath>
                </a14:m>
                <a:r>
                  <a:rPr lang="zh-CN" altLang="en-US" sz="2200" b="0" noProof="1">
                    <a:cs typeface="+mn-ea"/>
                  </a:rPr>
                  <a:t>也成立。根据已知</a:t>
                </a:r>
                <a14:m>
                  <m:oMath xmlns:m="http://schemas.openxmlformats.org/officeDocument/2006/math">
                    <m:r>
                      <a:rPr lang="zh-CN" altLang="en-US" sz="2200" b="0" i="1" noProof="1">
                        <a:latin typeface="Cambria Math" panose="02040503050406030204" pitchFamily="18" charset="0"/>
                        <a:cs typeface="+mn-ea"/>
                      </a:rPr>
                      <m:t>𝑋</m:t>
                    </m:r>
                    <m:r>
                      <a:rPr lang="zh-CN" altLang="en-US"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𝑌</m:t>
                    </m:r>
                  </m:oMath>
                </a14:m>
                <a:r>
                  <a:rPr lang="zh-CN" altLang="en-US" sz="2200" b="0" noProof="1">
                    <a:cs typeface="+mn-ea"/>
                  </a:rPr>
                  <a:t>及</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1</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𝑋</m:t>
                    </m:r>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𝑋</m:t>
                    </m:r>
                    <m:r>
                      <a:rPr lang="en-US" altLang="zh-CN" sz="2200" b="0" i="1" noProof="1">
                        <a:latin typeface="Cambria Math" panose="02040503050406030204" pitchFamily="18" charset="0"/>
                        <a:cs typeface="+mn-ea"/>
                      </a:rPr>
                      <m:t>]</m:t>
                    </m:r>
                  </m:oMath>
                </a14:m>
                <a:r>
                  <a:rPr lang="zh-CN" altLang="en-US" sz="2200" b="0" noProof="1">
                    <a:cs typeface="+mn-ea"/>
                  </a:rPr>
                  <a:t>可得</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1</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𝑌</m:t>
                    </m:r>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𝑌</m:t>
                    </m:r>
                    <m:r>
                      <a:rPr lang="en-US" altLang="zh-CN" sz="2200" b="0" i="1" noProof="1">
                        <a:latin typeface="Cambria Math" panose="02040503050406030204" pitchFamily="18" charset="0"/>
                        <a:cs typeface="+mn-ea"/>
                      </a:rPr>
                      <m:t>]</m:t>
                    </m:r>
                  </m:oMath>
                </a14:m>
                <a:r>
                  <a:rPr lang="zh-CN" altLang="en-US" sz="2200" b="0" noProof="1">
                    <a:cs typeface="+mn-ea"/>
                  </a:rPr>
                  <a:t>，于是可知</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1</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𝑌</m:t>
                    </m:r>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𝑌</m:t>
                    </m:r>
                    <m:r>
                      <a:rPr lang="en-US" altLang="zh-CN" sz="2200" b="0" i="1" noProof="1">
                        <a:latin typeface="Cambria Math" panose="02040503050406030204" pitchFamily="18" charset="0"/>
                        <a:cs typeface="+mn-ea"/>
                      </a:rPr>
                      <m:t>]</m:t>
                    </m:r>
                  </m:oMath>
                </a14:m>
                <a:r>
                  <a:rPr lang="zh-CN" altLang="en-US" sz="2200" b="0" noProof="1">
                    <a:cs typeface="+mn-ea"/>
                  </a:rPr>
                  <a:t>与</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1</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𝑍</m:t>
                    </m:r>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𝑍</m:t>
                    </m:r>
                    <m:r>
                      <a:rPr lang="en-US" altLang="zh-CN" sz="2200" b="0" i="1" noProof="1">
                        <a:latin typeface="Cambria Math" panose="02040503050406030204" pitchFamily="18" charset="0"/>
                        <a:cs typeface="+mn-ea"/>
                      </a:rPr>
                      <m:t>]</m:t>
                    </m:r>
                  </m:oMath>
                </a14:m>
                <a:r>
                  <a:rPr lang="zh-CN" altLang="en-US" sz="2200" b="0" noProof="1">
                    <a:cs typeface="+mn-ea"/>
                  </a:rPr>
                  <a:t>同时成立，即</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1</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𝑌𝑍</m:t>
                    </m:r>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𝑌𝑍</m:t>
                    </m:r>
                    <m:r>
                      <a:rPr lang="en-US" altLang="zh-CN" sz="2200" b="0" i="1" noProof="1">
                        <a:latin typeface="Cambria Math" panose="02040503050406030204" pitchFamily="18" charset="0"/>
                        <a:cs typeface="+mn-ea"/>
                      </a:rPr>
                      <m:t>]</m:t>
                    </m:r>
                  </m:oMath>
                </a14:m>
                <a:r>
                  <a:rPr lang="zh-CN" altLang="en-US" sz="2200" b="0" noProof="1">
                    <a:cs typeface="+mn-ea"/>
                  </a:rPr>
                  <a:t>，由定义</a:t>
                </a:r>
                <a:r>
                  <a:rPr lang="en-US" altLang="zh-CN" sz="2200" b="0" noProof="1">
                    <a:cs typeface="+mn-ea"/>
                  </a:rPr>
                  <a:t>4-1</a:t>
                </a:r>
                <a:r>
                  <a:rPr lang="zh-CN" altLang="en-US" sz="2200" b="0" noProof="1">
                    <a:cs typeface="+mn-ea"/>
                  </a:rPr>
                  <a:t>易知</a:t>
                </a:r>
                <a14:m>
                  <m:oMath xmlns:m="http://schemas.openxmlformats.org/officeDocument/2006/math">
                    <m:r>
                      <a:rPr lang="zh-CN" altLang="en-US" sz="2200" b="0" i="1" noProof="1">
                        <a:latin typeface="Cambria Math" panose="02040503050406030204" pitchFamily="18" charset="0"/>
                        <a:cs typeface="+mn-ea"/>
                      </a:rPr>
                      <m:t>𝑋𝑍</m:t>
                    </m:r>
                    <m:r>
                      <a:rPr lang="zh-CN" altLang="en-US"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𝑌𝑍</m:t>
                    </m:r>
                  </m:oMath>
                </a14:m>
                <a:r>
                  <a:rPr lang="zh-CN" altLang="en-US" sz="2200" b="0" noProof="1">
                    <a:cs typeface="+mn-ea"/>
                  </a:rPr>
                  <a:t>成立。</a:t>
                </a:r>
                <a:endParaRPr lang="zh-CN" altLang="en-US" sz="2200" b="0" noProof="1"/>
              </a:p>
              <a:p>
                <a:pPr marL="372745">
                  <a:lnSpc>
                    <a:spcPct val="150000"/>
                  </a:lnSpc>
                  <a:spcBef>
                    <a:spcPts val="600"/>
                  </a:spcBef>
                  <a:spcAft>
                    <a:spcPts val="600"/>
                  </a:spcAft>
                  <a:buClr>
                    <a:srgbClr val="E40000"/>
                  </a:buClr>
                  <a:buNone/>
                  <a:defRPr/>
                </a:pPr>
                <a:r>
                  <a:rPr lang="zh-CN" altLang="en-US" sz="2200" b="0" noProof="1">
                    <a:cs typeface="+mn-ea"/>
                  </a:rPr>
                  <a:t>  </a:t>
                </a:r>
                <a:r>
                  <a:rPr lang="en-GB" altLang="zh-CN" sz="2200" b="0" noProof="1">
                    <a:cs typeface="+mn-ea"/>
                  </a:rPr>
                  <a:t>A3</a:t>
                </a:r>
                <a:r>
                  <a:rPr lang="zh-CN" altLang="en-GB" sz="2200" b="0" noProof="1">
                    <a:cs typeface="+mn-ea"/>
                  </a:rPr>
                  <a:t>：</a:t>
                </a:r>
                <a:r>
                  <a:rPr lang="zh-CN" altLang="en-US" sz="2200" b="0" noProof="1">
                    <a:cs typeface="+mn-ea"/>
                  </a:rPr>
                  <a:t>设</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1</m:t>
                        </m:r>
                      </m:sub>
                    </m:sSub>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2</m:t>
                        </m:r>
                      </m:sub>
                    </m:sSub>
                  </m:oMath>
                </a14:m>
                <a:r>
                  <a:rPr lang="zh-CN" altLang="en-US" sz="2200" b="0" noProof="1">
                    <a:cs typeface="+mn-ea"/>
                  </a:rPr>
                  <a:t>是关系模式</a:t>
                </a:r>
                <a14:m>
                  <m:oMath xmlns:m="http://schemas.openxmlformats.org/officeDocument/2006/math">
                    <m:r>
                      <a:rPr lang="zh-CN" altLang="en-US" sz="2200" b="0" i="1" noProof="1">
                        <a:latin typeface="Cambria Math" panose="02040503050406030204" pitchFamily="18" charset="0"/>
                        <a:cs typeface="+mn-ea"/>
                      </a:rPr>
                      <m:t>𝑅</m:t>
                    </m:r>
                  </m:oMath>
                </a14:m>
                <a:r>
                  <a:rPr lang="zh-CN" altLang="en-US" sz="2200" b="0" noProof="1">
                    <a:cs typeface="+mn-ea"/>
                  </a:rPr>
                  <a:t>的任一关系实例</a:t>
                </a:r>
                <a14:m>
                  <m:oMath xmlns:m="http://schemas.openxmlformats.org/officeDocument/2006/math">
                    <m:r>
                      <a:rPr lang="zh-CN" altLang="en-US" sz="2200" b="0" i="1" noProof="1">
                        <a:latin typeface="Cambria Math" panose="02040503050406030204" pitchFamily="18" charset="0"/>
                        <a:cs typeface="+mn-ea"/>
                      </a:rPr>
                      <m:t>𝑟</m:t>
                    </m:r>
                  </m:oMath>
                </a14:m>
                <a:r>
                  <a:rPr lang="zh-CN" altLang="en-US" sz="2200" b="0" noProof="1">
                    <a:cs typeface="+mn-ea"/>
                  </a:rPr>
                  <a:t>上的两个元组，如果</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1</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𝑋</m:t>
                    </m:r>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𝑋</m:t>
                    </m:r>
                    <m:r>
                      <a:rPr lang="en-US" altLang="zh-CN" sz="2200" b="0" i="1" noProof="1">
                        <a:latin typeface="Cambria Math" panose="02040503050406030204" pitchFamily="18" charset="0"/>
                        <a:cs typeface="+mn-ea"/>
                      </a:rPr>
                      <m:t>]</m:t>
                    </m:r>
                  </m:oMath>
                </a14:m>
                <a:r>
                  <a:rPr lang="zh-CN" altLang="en-US" sz="2200" b="0" noProof="1">
                    <a:cs typeface="+mn-ea"/>
                  </a:rPr>
                  <a:t>成立，则根据</a:t>
                </a:r>
                <a14:m>
                  <m:oMath xmlns:m="http://schemas.openxmlformats.org/officeDocument/2006/math">
                    <m:r>
                      <a:rPr lang="zh-CN" altLang="en-US" sz="2200" b="0" i="1" noProof="1">
                        <a:latin typeface="Cambria Math" panose="02040503050406030204" pitchFamily="18" charset="0"/>
                        <a:cs typeface="+mn-ea"/>
                      </a:rPr>
                      <m:t>𝑋</m:t>
                    </m:r>
                    <m:r>
                      <a:rPr lang="zh-CN" altLang="en-US"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𝑌</m:t>
                    </m:r>
                  </m:oMath>
                </a14:m>
                <a:r>
                  <a:rPr lang="zh-CN" altLang="en-US" sz="2200" b="0" noProof="1">
                    <a:cs typeface="+mn-ea"/>
                  </a:rPr>
                  <a:t>可得</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1</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𝑌</m:t>
                    </m:r>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𝑌</m:t>
                    </m:r>
                    <m:r>
                      <a:rPr lang="en-US" altLang="zh-CN" sz="2200" b="0" i="1" noProof="1">
                        <a:latin typeface="Cambria Math" panose="02040503050406030204" pitchFamily="18" charset="0"/>
                        <a:cs typeface="+mn-ea"/>
                      </a:rPr>
                      <m:t>]</m:t>
                    </m:r>
                  </m:oMath>
                </a14:m>
                <a:r>
                  <a:rPr lang="zh-CN" altLang="en-US" sz="2200" b="0" noProof="1">
                    <a:cs typeface="+mn-ea"/>
                  </a:rPr>
                  <a:t>，又因为</a:t>
                </a:r>
                <a14:m>
                  <m:oMath xmlns:m="http://schemas.openxmlformats.org/officeDocument/2006/math">
                    <m:r>
                      <a:rPr lang="zh-CN" altLang="en-US" sz="2200" b="0" i="1" noProof="1">
                        <a:latin typeface="Cambria Math" panose="02040503050406030204" pitchFamily="18" charset="0"/>
                        <a:cs typeface="+mn-ea"/>
                      </a:rPr>
                      <m:t>𝑌</m:t>
                    </m:r>
                    <m:r>
                      <a:rPr lang="zh-CN" altLang="en-US"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𝑍</m:t>
                    </m:r>
                  </m:oMath>
                </a14:m>
                <a:r>
                  <a:rPr lang="zh-CN" altLang="en-US" sz="2200" b="0" noProof="1">
                    <a:cs typeface="+mn-ea"/>
                  </a:rPr>
                  <a:t>也成立，所以有</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1</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𝑍</m:t>
                    </m:r>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𝑍</m:t>
                    </m:r>
                    <m:r>
                      <a:rPr lang="en-US" altLang="zh-CN" sz="2200" b="0" i="1" noProof="1">
                        <a:latin typeface="Cambria Math" panose="02040503050406030204" pitchFamily="18" charset="0"/>
                        <a:cs typeface="+mn-ea"/>
                      </a:rPr>
                      <m:t>]</m:t>
                    </m:r>
                  </m:oMath>
                </a14:m>
                <a:r>
                  <a:rPr lang="zh-CN" altLang="en-US" sz="2200" b="0" noProof="1">
                    <a:cs typeface="+mn-ea"/>
                  </a:rPr>
                  <a:t>，结合</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1</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𝑋</m:t>
                    </m:r>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𝑋</m:t>
                    </m:r>
                    <m:r>
                      <a:rPr lang="en-US" altLang="zh-CN" sz="2200" b="0" i="1" noProof="1">
                        <a:latin typeface="Cambria Math" panose="02040503050406030204" pitchFamily="18" charset="0"/>
                        <a:cs typeface="+mn-ea"/>
                      </a:rPr>
                      <m:t>]</m:t>
                    </m:r>
                  </m:oMath>
                </a14:m>
                <a:r>
                  <a:rPr lang="zh-CN" altLang="en-US" sz="2200" b="0" noProof="1">
                    <a:cs typeface="+mn-ea"/>
                  </a:rPr>
                  <a:t>，</a:t>
                </a:r>
                <a:r>
                  <a:rPr lang="en-US" altLang="zh-CN" sz="2200" b="0" noProof="1">
                    <a:cs typeface="+mn-ea"/>
                  </a:rPr>
                  <a:t> </a:t>
                </a:r>
                <a14:m>
                  <m:oMath xmlns:m="http://schemas.openxmlformats.org/officeDocument/2006/math">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a:latin typeface="Cambria Math" panose="02040503050406030204" pitchFamily="18" charset="0"/>
                            <a:cs typeface="+mn-ea"/>
                          </a:rPr>
                          <m:t>1</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𝑍</m:t>
                    </m:r>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m:t>
                    </m:r>
                    <m:sSub>
                      <m:sSubPr>
                        <m:ctrlPr>
                          <a:rPr lang="en-US" altLang="zh-CN" sz="2200" b="0" i="1" noProof="1">
                            <a:latin typeface="Cambria Math" panose="02040503050406030204" pitchFamily="18" charset="0"/>
                            <a:cs typeface="+mn-ea"/>
                          </a:rPr>
                        </m:ctrlPr>
                      </m:sSubPr>
                      <m:e>
                        <m:r>
                          <a:rPr lang="en-US" altLang="zh-CN" sz="2200" b="0" i="1" noProof="1">
                            <a:latin typeface="Cambria Math" panose="02040503050406030204" pitchFamily="18" charset="0"/>
                            <a:cs typeface="+mn-ea"/>
                          </a:rPr>
                          <m:t>𝑡</m:t>
                        </m:r>
                      </m:e>
                      <m:sub>
                        <m:r>
                          <a:rPr lang="en-US" altLang="zh-CN" sz="2200" b="0" i="1" noProof="1" smtClean="0">
                            <a:latin typeface="Cambria Math" panose="02040503050406030204" pitchFamily="18" charset="0"/>
                            <a:cs typeface="+mn-ea"/>
                          </a:rPr>
                          <m:t>2</m:t>
                        </m:r>
                      </m:sub>
                    </m:sSub>
                    <m:r>
                      <a:rPr lang="en-US" altLang="zh-CN"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𝑍</m:t>
                    </m:r>
                    <m:r>
                      <a:rPr lang="en-US" altLang="zh-CN" sz="2200" b="0" i="1" noProof="1">
                        <a:latin typeface="Cambria Math" panose="02040503050406030204" pitchFamily="18" charset="0"/>
                        <a:cs typeface="+mn-ea"/>
                      </a:rPr>
                      <m:t>]</m:t>
                    </m:r>
                  </m:oMath>
                </a14:m>
                <a:r>
                  <a:rPr lang="zh-CN" altLang="en-US" sz="2200" b="0" noProof="1">
                    <a:cs typeface="+mn-ea"/>
                  </a:rPr>
                  <a:t>及定义</a:t>
                </a:r>
                <a:r>
                  <a:rPr lang="en-US" altLang="zh-CN" sz="2200" b="0" noProof="1">
                    <a:cs typeface="+mn-ea"/>
                  </a:rPr>
                  <a:t>4-1</a:t>
                </a:r>
                <a:r>
                  <a:rPr lang="zh-CN" altLang="en-US" sz="2200" b="0" noProof="1">
                    <a:cs typeface="+mn-ea"/>
                  </a:rPr>
                  <a:t>可知</a:t>
                </a:r>
                <a14:m>
                  <m:oMath xmlns:m="http://schemas.openxmlformats.org/officeDocument/2006/math">
                    <m:r>
                      <a:rPr lang="zh-CN" altLang="en-US" sz="2200" b="0" i="1" noProof="1">
                        <a:latin typeface="Cambria Math" panose="02040503050406030204" pitchFamily="18" charset="0"/>
                        <a:cs typeface="+mn-ea"/>
                      </a:rPr>
                      <m:t>𝑋</m:t>
                    </m:r>
                    <m:r>
                      <a:rPr lang="zh-CN" altLang="en-US" sz="2200" b="0" i="1" noProof="1">
                        <a:latin typeface="Cambria Math" panose="02040503050406030204" pitchFamily="18" charset="0"/>
                        <a:cs typeface="+mn-ea"/>
                      </a:rPr>
                      <m:t>→</m:t>
                    </m:r>
                    <m:r>
                      <a:rPr lang="zh-CN" altLang="en-US" sz="2200" b="0" i="1" noProof="1">
                        <a:latin typeface="Cambria Math" panose="02040503050406030204" pitchFamily="18" charset="0"/>
                        <a:cs typeface="+mn-ea"/>
                      </a:rPr>
                      <m:t>𝑍</m:t>
                    </m:r>
                  </m:oMath>
                </a14:m>
                <a:r>
                  <a:rPr lang="zh-CN" altLang="en-US" sz="2200" b="0" noProof="1">
                    <a:cs typeface="+mn-ea"/>
                  </a:rPr>
                  <a:t>成立。</a:t>
                </a:r>
                <a:endParaRPr lang="zh-CN" altLang="en-US" sz="2200" b="0" noProof="1"/>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函数依赖的推理规则</a:t>
                </a:r>
                <a:endParaRPr kumimoji="1" lang="zh-CN" altLang="en-US" dirty="0"/>
              </a:p>
              <a:p>
                <a:pPr lvl="1">
                  <a:lnSpc>
                    <a:spcPct val="150000"/>
                  </a:lnSpc>
                </a:pPr>
                <a:r>
                  <a:rPr lang="zh-CN" altLang="en-US" dirty="0"/>
                  <a:t>由</a:t>
                </a:r>
                <a:r>
                  <a:rPr lang="en-US" altLang="zh-CN" dirty="0"/>
                  <a:t>A1</a:t>
                </a:r>
                <a:r>
                  <a:rPr lang="zh-CN" altLang="en-US" dirty="0"/>
                  <a:t>～</a:t>
                </a:r>
                <a:r>
                  <a:rPr lang="en-US" altLang="zh-CN" dirty="0"/>
                  <a:t>A3</a:t>
                </a:r>
                <a:r>
                  <a:rPr lang="zh-CN" altLang="en-US" dirty="0"/>
                  <a:t>易推出下面的三条推理规则也是正确的：</a:t>
                </a:r>
                <a:endParaRPr lang="en-US" altLang="zh-CN" dirty="0"/>
              </a:p>
              <a:p>
                <a:pPr lvl="2">
                  <a:lnSpc>
                    <a:spcPct val="150000"/>
                  </a:lnSpc>
                </a:pPr>
                <a:r>
                  <a:rPr lang="zh-CN" altLang="en-US" sz="2200" dirty="0"/>
                  <a:t>合并规则：若</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zh-CN" altLang="en-US" sz="2200" i="1" noProof="1">
                        <a:latin typeface="Cambria Math" panose="02040503050406030204" pitchFamily="18" charset="0"/>
                        <a:cs typeface="+mn-ea"/>
                      </a:rPr>
                      <m:t>𝑌</m:t>
                    </m:r>
                  </m:oMath>
                </a14:m>
                <a:r>
                  <a:rPr lang="zh-CN" altLang="en-US" sz="2200" dirty="0"/>
                  <a:t>，</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en-US" altLang="zh-CN" sz="2200" b="0" i="1" noProof="1" smtClean="0">
                        <a:latin typeface="Cambria Math" panose="02040503050406030204" pitchFamily="18" charset="0"/>
                        <a:cs typeface="+mn-ea"/>
                      </a:rPr>
                      <m:t>𝑍</m:t>
                    </m:r>
                  </m:oMath>
                </a14:m>
                <a:r>
                  <a:rPr lang="zh-CN" altLang="en-US" sz="2200" dirty="0"/>
                  <a:t>成立，则</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zh-CN" altLang="en-US" sz="2200" i="1" noProof="1">
                        <a:latin typeface="Cambria Math" panose="02040503050406030204" pitchFamily="18" charset="0"/>
                        <a:cs typeface="+mn-ea"/>
                      </a:rPr>
                      <m:t>𝑌</m:t>
                    </m:r>
                    <m:r>
                      <a:rPr lang="en-US" altLang="zh-CN" sz="2200" b="0" i="1" noProof="1" smtClean="0">
                        <a:latin typeface="Cambria Math" panose="02040503050406030204" pitchFamily="18" charset="0"/>
                        <a:cs typeface="+mn-ea"/>
                      </a:rPr>
                      <m:t>𝑍</m:t>
                    </m:r>
                  </m:oMath>
                </a14:m>
                <a:r>
                  <a:rPr lang="zh-CN" altLang="en-US" sz="2200" dirty="0"/>
                  <a:t>成立</a:t>
                </a:r>
                <a:endParaRPr lang="en-US" altLang="zh-CN" sz="2200" dirty="0"/>
              </a:p>
              <a:p>
                <a:pPr lvl="2">
                  <a:lnSpc>
                    <a:spcPct val="150000"/>
                  </a:lnSpc>
                </a:pPr>
                <a:r>
                  <a:rPr lang="zh-CN" altLang="en-US" sz="2200" dirty="0"/>
                  <a:t>伪传递规则：若</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zh-CN" altLang="en-US" sz="2200" i="1" noProof="1">
                        <a:latin typeface="Cambria Math" panose="02040503050406030204" pitchFamily="18" charset="0"/>
                        <a:cs typeface="+mn-ea"/>
                      </a:rPr>
                      <m:t>𝑌</m:t>
                    </m:r>
                  </m:oMath>
                </a14:m>
                <a:r>
                  <a:rPr lang="zh-CN" altLang="en-US" sz="2200" dirty="0"/>
                  <a:t>，</a:t>
                </a:r>
                <a14:m>
                  <m:oMath xmlns:m="http://schemas.openxmlformats.org/officeDocument/2006/math">
                    <m:r>
                      <m:rPr>
                        <m:sty m:val="p"/>
                      </m:rPr>
                      <a:rPr lang="en-US" altLang="zh-CN" sz="2200" b="0" i="0" noProof="1" smtClean="0">
                        <a:latin typeface="Cambria Math" panose="02040503050406030204" pitchFamily="18" charset="0"/>
                        <a:cs typeface="+mn-ea"/>
                      </a:rPr>
                      <m:t>WY</m:t>
                    </m:r>
                    <m:r>
                      <a:rPr lang="zh-CN" altLang="en-US" sz="2200" i="1" noProof="1">
                        <a:latin typeface="Cambria Math" panose="02040503050406030204" pitchFamily="18" charset="0"/>
                        <a:cs typeface="+mn-ea"/>
                      </a:rPr>
                      <m:t>→</m:t>
                    </m:r>
                    <m:r>
                      <a:rPr lang="en-US" altLang="zh-CN" sz="2200" i="1" noProof="1">
                        <a:latin typeface="Cambria Math" panose="02040503050406030204" pitchFamily="18" charset="0"/>
                        <a:cs typeface="+mn-ea"/>
                      </a:rPr>
                      <m:t>𝑍</m:t>
                    </m:r>
                  </m:oMath>
                </a14:m>
                <a:r>
                  <a:rPr lang="zh-CN" altLang="en-US" sz="2200" dirty="0"/>
                  <a:t>成立，则</a:t>
                </a:r>
                <a14:m>
                  <m:oMath xmlns:m="http://schemas.openxmlformats.org/officeDocument/2006/math">
                    <m:r>
                      <m:rPr>
                        <m:sty m:val="p"/>
                      </m:rPr>
                      <a:rPr lang="en-US" altLang="zh-CN" sz="2200" b="0" i="0" noProof="1" smtClean="0">
                        <a:latin typeface="Cambria Math" panose="02040503050406030204" pitchFamily="18" charset="0"/>
                        <a:cs typeface="+mn-ea"/>
                      </a:rPr>
                      <m:t>W</m:t>
                    </m:r>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en-US" altLang="zh-CN" sz="2200" i="1" noProof="1">
                        <a:latin typeface="Cambria Math" panose="02040503050406030204" pitchFamily="18" charset="0"/>
                        <a:cs typeface="+mn-ea"/>
                      </a:rPr>
                      <m:t>𝑍</m:t>
                    </m:r>
                  </m:oMath>
                </a14:m>
                <a:r>
                  <a:rPr lang="zh-CN" altLang="en-US" sz="2200" dirty="0"/>
                  <a:t>成立</a:t>
                </a:r>
                <a:endParaRPr lang="en-US" altLang="zh-CN" sz="2200" dirty="0"/>
              </a:p>
              <a:p>
                <a:pPr lvl="2">
                  <a:lnSpc>
                    <a:spcPct val="150000"/>
                  </a:lnSpc>
                </a:pPr>
                <a:r>
                  <a:rPr lang="zh-CN" altLang="en-US" sz="2200" dirty="0"/>
                  <a:t>分解规则：若</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zh-CN" altLang="en-US" sz="2200" i="1" noProof="1">
                        <a:latin typeface="Cambria Math" panose="02040503050406030204" pitchFamily="18" charset="0"/>
                        <a:cs typeface="+mn-ea"/>
                      </a:rPr>
                      <m:t>𝑌</m:t>
                    </m:r>
                  </m:oMath>
                </a14:m>
                <a:r>
                  <a:rPr lang="zh-CN" altLang="en-US" sz="2200" dirty="0"/>
                  <a:t>，且</a:t>
                </a:r>
                <a14:m>
                  <m:oMath xmlns:m="http://schemas.openxmlformats.org/officeDocument/2006/math">
                    <m:r>
                      <a:rPr lang="en-US" altLang="zh-CN" sz="2200" b="0" i="1" smtClean="0">
                        <a:latin typeface="Cambria Math" panose="02040503050406030204" pitchFamily="18" charset="0"/>
                      </a:rPr>
                      <m:t>𝑍</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rPr>
                      <m:t>𝑌</m:t>
                    </m:r>
                  </m:oMath>
                </a14:m>
                <a:r>
                  <a:rPr lang="zh-CN" altLang="en-US" sz="2200" dirty="0"/>
                  <a:t>，则</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en-US" altLang="zh-CN" sz="2200" i="1" noProof="1">
                        <a:latin typeface="Cambria Math" panose="02040503050406030204" pitchFamily="18" charset="0"/>
                        <a:cs typeface="+mn-ea"/>
                      </a:rPr>
                      <m:t>𝑍</m:t>
                    </m:r>
                  </m:oMath>
                </a14:m>
                <a:endParaRPr lang="en-US" altLang="zh-CN" sz="2200" dirty="0"/>
              </a:p>
              <a:p>
                <a:pPr lvl="1">
                  <a:lnSpc>
                    <a:spcPct val="150000"/>
                  </a:lnSpc>
                </a:pPr>
                <a:r>
                  <a:rPr lang="en-US" altLang="zh-CN" dirty="0"/>
                  <a:t>A2</a:t>
                </a:r>
                <a:r>
                  <a:rPr lang="zh-CN" altLang="en-US" dirty="0"/>
                  <a:t>可以由合并规则代替</a:t>
                </a:r>
                <a:endParaRPr lang="zh-CN" altLang="en-US" b="0" dirty="0"/>
              </a:p>
              <a:p>
                <a:pPr marL="457200" lvl="1" indent="0">
                  <a:buNone/>
                </a:pPr>
                <a:endParaRPr lang="zh-CN" altLang="en-US" dirty="0">
                  <a:solidFill>
                    <a:srgbClr val="0000FF"/>
                  </a:solidFill>
                </a:endParaRPr>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函数依赖的推理规则</a:t>
                </a:r>
                <a:endParaRPr kumimoji="1" lang="zh-CN" altLang="en-US" dirty="0"/>
              </a:p>
              <a:p>
                <a:pPr lvl="1">
                  <a:lnSpc>
                    <a:spcPct val="150000"/>
                  </a:lnSpc>
                </a:pPr>
                <a:r>
                  <a:rPr lang="zh-CN" altLang="en-US" dirty="0"/>
                  <a:t>引理</a:t>
                </a:r>
                <a:r>
                  <a:rPr lang="en-US" altLang="zh-CN" dirty="0"/>
                  <a:t>4.1</a:t>
                </a:r>
                <a:r>
                  <a:rPr lang="zh-CN" altLang="en-US" dirty="0"/>
                  <a:t>：</a:t>
                </a:r>
                <a:r>
                  <a:rPr lang="en-US" altLang="zh-CN" dirty="0"/>
                  <a:t>FD</a:t>
                </a:r>
                <a:r>
                  <a:rPr lang="zh-CN" altLang="en-US" dirty="0"/>
                  <a:t>推理规则</a:t>
                </a:r>
                <a:r>
                  <a:rPr lang="en-US" altLang="zh-CN" dirty="0"/>
                  <a:t>A1</a:t>
                </a:r>
                <a:r>
                  <a:rPr lang="zh-CN" altLang="en-US" dirty="0"/>
                  <a:t>、</a:t>
                </a:r>
                <a:r>
                  <a:rPr lang="en-US" altLang="zh-CN" dirty="0"/>
                  <a:t>A2</a:t>
                </a:r>
                <a:r>
                  <a:rPr lang="zh-CN" altLang="en-US" dirty="0"/>
                  <a:t>和</a:t>
                </a:r>
                <a:r>
                  <a:rPr lang="en-US" altLang="zh-CN" dirty="0"/>
                  <a:t>A3</a:t>
                </a:r>
                <a:r>
                  <a:rPr lang="zh-CN" altLang="en-US" dirty="0"/>
                  <a:t>是正确的</a:t>
                </a:r>
                <a:endParaRPr lang="en-US" altLang="zh-CN" dirty="0"/>
              </a:p>
              <a:p>
                <a:pPr lvl="1">
                  <a:lnSpc>
                    <a:spcPct val="150000"/>
                  </a:lnSpc>
                </a:pPr>
                <a:r>
                  <a:rPr lang="zh-CN" altLang="en-US" dirty="0">
                    <a:solidFill>
                      <a:schemeClr val="bg1">
                        <a:lumMod val="75000"/>
                      </a:schemeClr>
                    </a:solidFill>
                  </a:rPr>
                  <a:t>也就是，如果</a:t>
                </a:r>
                <a14:m>
                  <m:oMath xmlns:m="http://schemas.openxmlformats.org/officeDocument/2006/math">
                    <m:r>
                      <a:rPr lang="zh-CN" altLang="en-US" i="1" noProof="1">
                        <a:solidFill>
                          <a:schemeClr val="bg1">
                            <a:lumMod val="75000"/>
                          </a:schemeClr>
                        </a:solidFill>
                        <a:latin typeface="Cambria Math" panose="02040503050406030204" pitchFamily="18" charset="0"/>
                        <a:cs typeface="+mn-ea"/>
                      </a:rPr>
                      <m:t>𝑋</m:t>
                    </m:r>
                    <m:r>
                      <a:rPr lang="zh-CN" altLang="en-US" i="1" noProof="1">
                        <a:solidFill>
                          <a:schemeClr val="bg1">
                            <a:lumMod val="75000"/>
                          </a:schemeClr>
                        </a:solidFill>
                        <a:latin typeface="Cambria Math" panose="02040503050406030204" pitchFamily="18" charset="0"/>
                        <a:cs typeface="+mn-ea"/>
                      </a:rPr>
                      <m:t>→</m:t>
                    </m:r>
                    <m:r>
                      <a:rPr lang="zh-CN" altLang="en-US" i="1" noProof="1">
                        <a:solidFill>
                          <a:schemeClr val="bg1">
                            <a:lumMod val="75000"/>
                          </a:schemeClr>
                        </a:solidFill>
                        <a:latin typeface="Cambria Math" panose="02040503050406030204" pitchFamily="18" charset="0"/>
                        <a:cs typeface="+mn-ea"/>
                      </a:rPr>
                      <m:t>𝑌</m:t>
                    </m:r>
                  </m:oMath>
                </a14:m>
                <a:r>
                  <a:rPr lang="zh-CN" altLang="en-US" dirty="0">
                    <a:solidFill>
                      <a:schemeClr val="bg1">
                        <a:lumMod val="75000"/>
                      </a:schemeClr>
                    </a:solidFill>
                  </a:rPr>
                  <a:t>是从</a:t>
                </a:r>
                <a14:m>
                  <m:oMath xmlns:m="http://schemas.openxmlformats.org/officeDocument/2006/math">
                    <m:r>
                      <a:rPr lang="en-US" altLang="zh-CN" i="1" dirty="0">
                        <a:solidFill>
                          <a:schemeClr val="bg1">
                            <a:lumMod val="75000"/>
                          </a:schemeClr>
                        </a:solidFill>
                        <a:latin typeface="Cambria Math" panose="02040503050406030204" pitchFamily="18" charset="0"/>
                      </a:rPr>
                      <m:t>𝐹</m:t>
                    </m:r>
                  </m:oMath>
                </a14:m>
                <a:r>
                  <a:rPr lang="zh-CN" altLang="en-US" dirty="0">
                    <a:solidFill>
                      <a:schemeClr val="bg1">
                        <a:lumMod val="75000"/>
                      </a:schemeClr>
                    </a:solidFill>
                  </a:rPr>
                  <a:t>用推理规则导出，那么</a:t>
                </a:r>
                <a14:m>
                  <m:oMath xmlns:m="http://schemas.openxmlformats.org/officeDocument/2006/math">
                    <m:r>
                      <a:rPr lang="zh-CN" altLang="en-US" i="1" noProof="1">
                        <a:solidFill>
                          <a:schemeClr val="bg1">
                            <a:lumMod val="75000"/>
                          </a:schemeClr>
                        </a:solidFill>
                        <a:latin typeface="Cambria Math" panose="02040503050406030204" pitchFamily="18" charset="0"/>
                        <a:cs typeface="+mn-ea"/>
                      </a:rPr>
                      <m:t>𝑋</m:t>
                    </m:r>
                    <m:r>
                      <a:rPr lang="zh-CN" altLang="en-US" i="1" noProof="1">
                        <a:solidFill>
                          <a:schemeClr val="bg1">
                            <a:lumMod val="75000"/>
                          </a:schemeClr>
                        </a:solidFill>
                        <a:latin typeface="Cambria Math" panose="02040503050406030204" pitchFamily="18" charset="0"/>
                        <a:cs typeface="+mn-ea"/>
                      </a:rPr>
                      <m:t>→</m:t>
                    </m:r>
                    <m:r>
                      <a:rPr lang="zh-CN" altLang="en-US" i="1" noProof="1">
                        <a:solidFill>
                          <a:schemeClr val="bg1">
                            <a:lumMod val="75000"/>
                          </a:schemeClr>
                        </a:solidFill>
                        <a:latin typeface="Cambria Math" panose="02040503050406030204" pitchFamily="18" charset="0"/>
                        <a:cs typeface="+mn-ea"/>
                      </a:rPr>
                      <m:t>𝑌</m:t>
                    </m:r>
                  </m:oMath>
                </a14:m>
                <a:r>
                  <a:rPr lang="zh-CN" altLang="en-US" dirty="0">
                    <a:solidFill>
                      <a:schemeClr val="bg1">
                        <a:lumMod val="75000"/>
                      </a:schemeClr>
                    </a:solidFill>
                  </a:rPr>
                  <a:t>在</a:t>
                </a:r>
                <a14:m>
                  <m:oMath xmlns:m="http://schemas.openxmlformats.org/officeDocument/2006/math">
                    <m:sSup>
                      <m:sSupPr>
                        <m:ctrlPr>
                          <a:rPr lang="en-US" altLang="zh-CN" i="1" dirty="0" smtClean="0">
                            <a:solidFill>
                              <a:schemeClr val="bg1">
                                <a:lumMod val="75000"/>
                              </a:schemeClr>
                            </a:solidFill>
                            <a:latin typeface="Cambria Math" panose="02040503050406030204" pitchFamily="18" charset="0"/>
                          </a:rPr>
                        </m:ctrlPr>
                      </m:sSupPr>
                      <m:e>
                        <m:r>
                          <a:rPr lang="en-US" altLang="zh-CN" b="0" i="1" dirty="0" smtClean="0">
                            <a:solidFill>
                              <a:schemeClr val="bg1">
                                <a:lumMod val="75000"/>
                              </a:schemeClr>
                            </a:solidFill>
                            <a:latin typeface="Cambria Math" panose="02040503050406030204" pitchFamily="18" charset="0"/>
                          </a:rPr>
                          <m:t>𝐹</m:t>
                        </m:r>
                      </m:e>
                      <m:sup>
                        <m:r>
                          <a:rPr lang="en-US" altLang="zh-CN" i="1" dirty="0" smtClean="0">
                            <a:solidFill>
                              <a:schemeClr val="bg1">
                                <a:lumMod val="75000"/>
                              </a:schemeClr>
                            </a:solidFill>
                            <a:latin typeface="Cambria Math" panose="02040503050406030204" pitchFamily="18" charset="0"/>
                            <a:ea typeface="Cambria Math" panose="02040503050406030204" pitchFamily="18" charset="0"/>
                          </a:rPr>
                          <m:t>+</m:t>
                        </m:r>
                      </m:sup>
                    </m:sSup>
                  </m:oMath>
                </a14:m>
                <a:r>
                  <a:rPr lang="zh-CN" altLang="en-US" dirty="0">
                    <a:solidFill>
                      <a:schemeClr val="bg1">
                        <a:lumMod val="75000"/>
                      </a:schemeClr>
                    </a:solidFill>
                  </a:rPr>
                  <a:t>（*）</a:t>
                </a:r>
                <a:endParaRPr lang="en-US" altLang="zh-CN" dirty="0">
                  <a:solidFill>
                    <a:schemeClr val="bg1">
                      <a:lumMod val="75000"/>
                    </a:schemeClr>
                  </a:solidFill>
                </a:endParaRPr>
              </a:p>
              <a:p>
                <a:pPr lvl="1">
                  <a:lnSpc>
                    <a:spcPct val="150000"/>
                  </a:lnSpc>
                </a:pPr>
                <a:r>
                  <a:rPr lang="zh-CN" altLang="en-US" dirty="0"/>
                  <a:t>由</a:t>
                </a:r>
                <a:r>
                  <a:rPr lang="en-US" altLang="zh-CN" dirty="0"/>
                  <a:t>A1</a:t>
                </a:r>
                <a:r>
                  <a:rPr lang="zh-CN" altLang="en-US" dirty="0"/>
                  <a:t>～</a:t>
                </a:r>
                <a:r>
                  <a:rPr lang="en-US" altLang="zh-CN" dirty="0"/>
                  <a:t>A3</a:t>
                </a:r>
                <a:r>
                  <a:rPr lang="zh-CN" altLang="en-US" dirty="0"/>
                  <a:t>易推出下面的三条推理规则也是正确的：</a:t>
                </a:r>
                <a:endParaRPr lang="en-US" altLang="zh-CN" dirty="0"/>
              </a:p>
              <a:p>
                <a:pPr lvl="2">
                  <a:lnSpc>
                    <a:spcPct val="150000"/>
                  </a:lnSpc>
                </a:pPr>
                <a:r>
                  <a:rPr lang="zh-CN" altLang="en-US" sz="2200" dirty="0"/>
                  <a:t>合并规则：若</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zh-CN" altLang="en-US" sz="2200" i="1" noProof="1">
                        <a:latin typeface="Cambria Math" panose="02040503050406030204" pitchFamily="18" charset="0"/>
                        <a:cs typeface="+mn-ea"/>
                      </a:rPr>
                      <m:t>𝑌</m:t>
                    </m:r>
                  </m:oMath>
                </a14:m>
                <a:r>
                  <a:rPr lang="zh-CN" altLang="en-US" sz="2200" dirty="0"/>
                  <a:t>，</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en-US" altLang="zh-CN" sz="2200" i="1" noProof="1">
                        <a:latin typeface="Cambria Math" panose="02040503050406030204" pitchFamily="18" charset="0"/>
                        <a:cs typeface="+mn-ea"/>
                      </a:rPr>
                      <m:t>𝑍</m:t>
                    </m:r>
                  </m:oMath>
                </a14:m>
                <a:r>
                  <a:rPr lang="zh-CN" altLang="en-US" sz="2200" dirty="0"/>
                  <a:t>成立，则</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zh-CN" altLang="en-US" sz="2200" i="1" noProof="1">
                        <a:latin typeface="Cambria Math" panose="02040503050406030204" pitchFamily="18" charset="0"/>
                        <a:cs typeface="+mn-ea"/>
                      </a:rPr>
                      <m:t>𝑌</m:t>
                    </m:r>
                    <m:r>
                      <a:rPr lang="en-US" altLang="zh-CN" sz="2200" i="1" noProof="1">
                        <a:latin typeface="Cambria Math" panose="02040503050406030204" pitchFamily="18" charset="0"/>
                        <a:cs typeface="+mn-ea"/>
                      </a:rPr>
                      <m:t>𝑍</m:t>
                    </m:r>
                  </m:oMath>
                </a14:m>
                <a:r>
                  <a:rPr lang="zh-CN" altLang="en-US" sz="2200" dirty="0"/>
                  <a:t>成立</a:t>
                </a:r>
                <a:endParaRPr lang="en-US" altLang="zh-CN" sz="2200" dirty="0"/>
              </a:p>
              <a:p>
                <a:pPr lvl="2">
                  <a:lnSpc>
                    <a:spcPct val="150000"/>
                  </a:lnSpc>
                </a:pPr>
                <a:r>
                  <a:rPr lang="zh-CN" altLang="en-US" sz="2200" dirty="0"/>
                  <a:t>伪传递规则：若</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zh-CN" altLang="en-US" sz="2200" i="1" noProof="1">
                        <a:latin typeface="Cambria Math" panose="02040503050406030204" pitchFamily="18" charset="0"/>
                        <a:cs typeface="+mn-ea"/>
                      </a:rPr>
                      <m:t>𝑌</m:t>
                    </m:r>
                  </m:oMath>
                </a14:m>
                <a:r>
                  <a:rPr lang="zh-CN" altLang="en-US" sz="2200" dirty="0"/>
                  <a:t>，</a:t>
                </a:r>
                <a14:m>
                  <m:oMath xmlns:m="http://schemas.openxmlformats.org/officeDocument/2006/math">
                    <m:r>
                      <m:rPr>
                        <m:sty m:val="p"/>
                      </m:rPr>
                      <a:rPr lang="en-US" altLang="zh-CN" sz="2200" noProof="1">
                        <a:latin typeface="Cambria Math" panose="02040503050406030204" pitchFamily="18" charset="0"/>
                        <a:cs typeface="+mn-ea"/>
                      </a:rPr>
                      <m:t>WY</m:t>
                    </m:r>
                    <m:r>
                      <a:rPr lang="zh-CN" altLang="en-US" sz="2200" i="1" noProof="1">
                        <a:latin typeface="Cambria Math" panose="02040503050406030204" pitchFamily="18" charset="0"/>
                        <a:cs typeface="+mn-ea"/>
                      </a:rPr>
                      <m:t>→</m:t>
                    </m:r>
                    <m:r>
                      <a:rPr lang="en-US" altLang="zh-CN" sz="2200" i="1" noProof="1">
                        <a:latin typeface="Cambria Math" panose="02040503050406030204" pitchFamily="18" charset="0"/>
                        <a:cs typeface="+mn-ea"/>
                      </a:rPr>
                      <m:t>𝑍</m:t>
                    </m:r>
                  </m:oMath>
                </a14:m>
                <a:r>
                  <a:rPr lang="zh-CN" altLang="en-US" sz="2200" dirty="0"/>
                  <a:t>成立，则</a:t>
                </a:r>
                <a14:m>
                  <m:oMath xmlns:m="http://schemas.openxmlformats.org/officeDocument/2006/math">
                    <m:r>
                      <m:rPr>
                        <m:sty m:val="p"/>
                      </m:rPr>
                      <a:rPr lang="en-US" altLang="zh-CN" sz="2200" noProof="1">
                        <a:latin typeface="Cambria Math" panose="02040503050406030204" pitchFamily="18" charset="0"/>
                        <a:cs typeface="+mn-ea"/>
                      </a:rPr>
                      <m:t>W</m:t>
                    </m:r>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en-US" altLang="zh-CN" sz="2200" i="1" noProof="1">
                        <a:latin typeface="Cambria Math" panose="02040503050406030204" pitchFamily="18" charset="0"/>
                        <a:cs typeface="+mn-ea"/>
                      </a:rPr>
                      <m:t>𝑍</m:t>
                    </m:r>
                  </m:oMath>
                </a14:m>
                <a:r>
                  <a:rPr lang="zh-CN" altLang="en-US" sz="2200" dirty="0"/>
                  <a:t>成立</a:t>
                </a:r>
                <a:endParaRPr lang="en-US" altLang="zh-CN" sz="2200" dirty="0"/>
              </a:p>
              <a:p>
                <a:pPr lvl="2">
                  <a:lnSpc>
                    <a:spcPct val="150000"/>
                  </a:lnSpc>
                </a:pPr>
                <a:r>
                  <a:rPr lang="zh-CN" altLang="en-US" sz="2200" dirty="0"/>
                  <a:t>分解规则：若</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zh-CN" altLang="en-US" sz="2200" i="1" noProof="1">
                        <a:latin typeface="Cambria Math" panose="02040503050406030204" pitchFamily="18" charset="0"/>
                        <a:cs typeface="+mn-ea"/>
                      </a:rPr>
                      <m:t>𝑌</m:t>
                    </m:r>
                  </m:oMath>
                </a14:m>
                <a:r>
                  <a:rPr lang="zh-CN" altLang="en-US" sz="2200" dirty="0"/>
                  <a:t>，且</a:t>
                </a:r>
                <a14:m>
                  <m:oMath xmlns:m="http://schemas.openxmlformats.org/officeDocument/2006/math">
                    <m:r>
                      <a:rPr lang="en-US" altLang="zh-CN" sz="2200" i="1">
                        <a:latin typeface="Cambria Math" panose="02040503050406030204" pitchFamily="18" charset="0"/>
                      </a:rPr>
                      <m:t>𝑍</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rPr>
                      <m:t>𝑌</m:t>
                    </m:r>
                  </m:oMath>
                </a14:m>
                <a:r>
                  <a:rPr lang="zh-CN" altLang="en-US" sz="2200" dirty="0"/>
                  <a:t>，则</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en-US" altLang="zh-CN" sz="2200" i="1" noProof="1">
                        <a:latin typeface="Cambria Math" panose="02040503050406030204" pitchFamily="18" charset="0"/>
                        <a:cs typeface="+mn-ea"/>
                      </a:rPr>
                      <m:t>𝑍</m:t>
                    </m:r>
                  </m:oMath>
                </a14:m>
                <a:endParaRPr lang="en-US" altLang="zh-CN" sz="2200" dirty="0"/>
              </a:p>
              <a:p>
                <a:pPr lvl="1">
                  <a:lnSpc>
                    <a:spcPct val="150000"/>
                  </a:lnSpc>
                </a:pPr>
                <a:r>
                  <a:rPr lang="en-US" altLang="zh-CN" dirty="0"/>
                  <a:t>A2</a:t>
                </a:r>
                <a:r>
                  <a:rPr lang="zh-CN" altLang="en-US" dirty="0"/>
                  <a:t>可以由合并规则代替</a:t>
                </a: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函数依赖的逻辑导出</a:t>
                </a:r>
                <a:endParaRPr kumimoji="1" lang="zh-CN" altLang="en-US" dirty="0"/>
              </a:p>
              <a:p>
                <a:pPr lvl="1">
                  <a:lnSpc>
                    <a:spcPct val="150000"/>
                  </a:lnSpc>
                </a:pPr>
                <a:r>
                  <a:rPr lang="zh-CN" altLang="en-US" dirty="0"/>
                  <a:t>定义</a:t>
                </a:r>
                <a:r>
                  <a:rPr lang="en-US" altLang="zh-CN" dirty="0"/>
                  <a:t>4.7</a:t>
                </a:r>
                <a:r>
                  <a:rPr lang="zh-CN" altLang="en-US" dirty="0"/>
                  <a:t>：给定关系模式</a:t>
                </a:r>
                <a14:m>
                  <m:oMath xmlns:m="http://schemas.openxmlformats.org/officeDocument/2006/math">
                    <m:r>
                      <a:rPr lang="en-US" altLang="zh-CN" b="0" i="1" smtClean="0">
                        <a:latin typeface="Cambria Math" panose="02040503050406030204" pitchFamily="18" charset="0"/>
                      </a:rPr>
                      <m:t>𝑅</m:t>
                    </m:r>
                    <m:r>
                      <a:rPr lang="en-US" altLang="zh-CN" b="0" i="1" smtClean="0">
                        <a:latin typeface="Cambria Math" panose="02040503050406030204" pitchFamily="18" charset="0"/>
                      </a:rPr>
                      <m:t>&lt;</m:t>
                    </m:r>
                    <m:r>
                      <a:rPr lang="en-US" altLang="zh-CN" b="0" i="1" smtClean="0">
                        <a:latin typeface="Cambria Math" panose="02040503050406030204" pitchFamily="18" charset="0"/>
                      </a:rPr>
                      <m:t>𝑈</m:t>
                    </m:r>
                    <m:r>
                      <a:rPr lang="en-US" altLang="zh-CN" b="0" i="1" smtClean="0">
                        <a:latin typeface="Cambria Math" panose="02040503050406030204" pitchFamily="18" charset="0"/>
                      </a:rPr>
                      <m:t>,</m:t>
                    </m:r>
                    <m:r>
                      <a:rPr lang="en-US" altLang="zh-CN" b="0" i="1" smtClean="0">
                        <a:latin typeface="Cambria Math" panose="02040503050406030204" pitchFamily="18" charset="0"/>
                      </a:rPr>
                      <m:t>𝐹</m:t>
                    </m:r>
                    <m:r>
                      <a:rPr lang="en-US" altLang="zh-CN" b="0" i="1" smtClean="0">
                        <a:latin typeface="Cambria Math" panose="02040503050406030204" pitchFamily="18" charset="0"/>
                      </a:rPr>
                      <m:t>&gt;</m:t>
                    </m:r>
                  </m:oMath>
                </a14:m>
                <a:r>
                  <a:rPr lang="zh-CN" altLang="en-US" dirty="0"/>
                  <a:t>，如果能由</a:t>
                </a:r>
                <a14:m>
                  <m:oMath xmlns:m="http://schemas.openxmlformats.org/officeDocument/2006/math">
                    <m:r>
                      <a:rPr lang="en-US" altLang="zh-CN" i="1">
                        <a:latin typeface="Cambria Math" panose="02040503050406030204" pitchFamily="18" charset="0"/>
                      </a:rPr>
                      <m:t>𝐹</m:t>
                    </m:r>
                  </m:oMath>
                </a14:m>
                <a:r>
                  <a:rPr lang="zh-CN" altLang="en-US" dirty="0"/>
                  <a:t>根据</a:t>
                </a:r>
                <a:r>
                  <a:rPr lang="en-US" altLang="zh-CN" dirty="0"/>
                  <a:t>Armstrong</a:t>
                </a:r>
                <a:r>
                  <a:rPr lang="zh-CN" altLang="en-US" dirty="0"/>
                  <a:t>公理导出</a:t>
                </a:r>
                <a14:m>
                  <m:oMath xmlns:m="http://schemas.openxmlformats.org/officeDocument/2006/math">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zh-CN" altLang="en-US" i="1" noProof="1">
                        <a:latin typeface="Cambria Math" panose="02040503050406030204" pitchFamily="18" charset="0"/>
                        <a:cs typeface="+mn-ea"/>
                      </a:rPr>
                      <m:t>𝑌</m:t>
                    </m:r>
                  </m:oMath>
                </a14:m>
                <a:r>
                  <a:rPr lang="zh-CN" altLang="en-US" dirty="0"/>
                  <a:t>，则称</a:t>
                </a:r>
                <a14:m>
                  <m:oMath xmlns:m="http://schemas.openxmlformats.org/officeDocument/2006/math">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zh-CN" altLang="en-US" i="1" noProof="1">
                        <a:latin typeface="Cambria Math" panose="02040503050406030204" pitchFamily="18" charset="0"/>
                        <a:cs typeface="+mn-ea"/>
                      </a:rPr>
                      <m:t>𝑌</m:t>
                    </m:r>
                  </m:oMath>
                </a14:m>
                <a:r>
                  <a:rPr lang="zh-CN" altLang="en-US" dirty="0"/>
                  <a:t>是</a:t>
                </a:r>
                <a14:m>
                  <m:oMath xmlns:m="http://schemas.openxmlformats.org/officeDocument/2006/math">
                    <m:r>
                      <a:rPr lang="en-US" altLang="zh-CN" i="1">
                        <a:latin typeface="Cambria Math" panose="02040503050406030204" pitchFamily="18" charset="0"/>
                      </a:rPr>
                      <m:t>𝐹</m:t>
                    </m:r>
                  </m:oMath>
                </a14:m>
                <a:r>
                  <a:rPr lang="zh-CN" altLang="en-US" dirty="0"/>
                  <a:t>的逻辑导出，记为</a:t>
                </a:r>
                <a14:m>
                  <m:oMath xmlns:m="http://schemas.openxmlformats.org/officeDocument/2006/math">
                    <m:r>
                      <a:rPr lang="en-US" altLang="zh-CN" b="0" i="1" smtClean="0">
                        <a:latin typeface="Cambria Math" panose="02040503050406030204" pitchFamily="18" charset="0"/>
                      </a:rPr>
                      <m:t>𝐹</m:t>
                    </m:r>
                    <m:r>
                      <a:rPr lang="en-US" altLang="zh-CN" b="0" i="1" smtClean="0">
                        <a:latin typeface="Cambria Math" panose="02040503050406030204" pitchFamily="18" charset="0"/>
                        <a:ea typeface="Cambria Math" panose="02040503050406030204" pitchFamily="18" charset="0"/>
                      </a:rPr>
                      <m:t>⟹</m:t>
                    </m:r>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zh-CN" altLang="en-US" i="1" noProof="1">
                        <a:latin typeface="Cambria Math" panose="02040503050406030204" pitchFamily="18" charset="0"/>
                        <a:cs typeface="+mn-ea"/>
                      </a:rPr>
                      <m:t>𝑌</m:t>
                    </m:r>
                  </m:oMath>
                </a14:m>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1077"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函数依赖的逻辑导出</a:t>
                </a:r>
                <a:endParaRPr kumimoji="1" lang="zh-CN" altLang="en-US" dirty="0"/>
              </a:p>
              <a:p>
                <a:pPr lvl="1">
                  <a:lnSpc>
                    <a:spcPct val="150000"/>
                  </a:lnSpc>
                </a:pPr>
                <a:r>
                  <a:rPr lang="zh-CN" altLang="en-US" dirty="0"/>
                  <a:t>定义</a:t>
                </a:r>
                <a:r>
                  <a:rPr lang="en-US" altLang="zh-CN" dirty="0"/>
                  <a:t>4.5</a:t>
                </a:r>
                <a:r>
                  <a:rPr lang="zh-CN" altLang="en-US" dirty="0"/>
                  <a:t>：设</a:t>
                </a:r>
                <a14:m>
                  <m:oMath xmlns:m="http://schemas.openxmlformats.org/officeDocument/2006/math">
                    <m:r>
                      <a:rPr lang="en-US" altLang="zh-CN" i="1">
                        <a:latin typeface="Cambria Math" panose="02040503050406030204" pitchFamily="18" charset="0"/>
                      </a:rPr>
                      <m:t>𝐹</m:t>
                    </m:r>
                  </m:oMath>
                </a14:m>
                <a:r>
                  <a:rPr lang="zh-CN" altLang="en-US" dirty="0"/>
                  <a:t>是在关系模式</a:t>
                </a:r>
                <a14:m>
                  <m:oMath xmlns:m="http://schemas.openxmlformats.org/officeDocument/2006/math">
                    <m:r>
                      <a:rPr lang="en-US" altLang="zh-CN" b="0" i="1" smtClean="0">
                        <a:latin typeface="Cambria Math" panose="02040503050406030204" pitchFamily="18" charset="0"/>
                      </a:rPr>
                      <m:t>𝑅</m:t>
                    </m:r>
                  </m:oMath>
                </a14:m>
                <a:r>
                  <a:rPr lang="zh-CN" altLang="en-US" dirty="0"/>
                  <a:t>上成立的函数依赖的集合，</a:t>
                </a:r>
                <a14:m>
                  <m:oMath xmlns:m="http://schemas.openxmlformats.org/officeDocument/2006/math">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zh-CN" altLang="en-US" i="1" noProof="1">
                        <a:latin typeface="Cambria Math" panose="02040503050406030204" pitchFamily="18" charset="0"/>
                        <a:cs typeface="+mn-ea"/>
                      </a:rPr>
                      <m:t>𝑌</m:t>
                    </m:r>
                  </m:oMath>
                </a14:m>
                <a:r>
                  <a:rPr lang="zh-CN" altLang="en-US" dirty="0"/>
                  <a:t>是一个函数依赖，如果对于</a:t>
                </a:r>
                <a14:m>
                  <m:oMath xmlns:m="http://schemas.openxmlformats.org/officeDocument/2006/math">
                    <m:r>
                      <a:rPr lang="en-US" altLang="zh-CN" i="1">
                        <a:latin typeface="Cambria Math" panose="02040503050406030204" pitchFamily="18" charset="0"/>
                      </a:rPr>
                      <m:t>𝑅</m:t>
                    </m:r>
                  </m:oMath>
                </a14:m>
                <a:r>
                  <a:rPr lang="zh-CN" altLang="en-US" dirty="0"/>
                  <a:t>的每个满足</a:t>
                </a:r>
                <a14:m>
                  <m:oMath xmlns:m="http://schemas.openxmlformats.org/officeDocument/2006/math">
                    <m:r>
                      <a:rPr lang="en-US" altLang="zh-CN" b="0" i="1" smtClean="0">
                        <a:latin typeface="Cambria Math" panose="02040503050406030204" pitchFamily="18" charset="0"/>
                      </a:rPr>
                      <m:t>𝐹</m:t>
                    </m:r>
                  </m:oMath>
                </a14:m>
                <a:r>
                  <a:rPr lang="zh-CN" altLang="en-US" dirty="0"/>
                  <a:t>的关系</a:t>
                </a:r>
                <a14:m>
                  <m:oMath xmlns:m="http://schemas.openxmlformats.org/officeDocument/2006/math">
                    <m:r>
                      <a:rPr lang="en-US" altLang="zh-CN" b="0" i="1" smtClean="0">
                        <a:latin typeface="Cambria Math" panose="02040503050406030204" pitchFamily="18" charset="0"/>
                      </a:rPr>
                      <m:t>𝑟</m:t>
                    </m:r>
                  </m:oMath>
                </a14:m>
                <a:r>
                  <a:rPr lang="zh-CN" altLang="en-US" dirty="0"/>
                  <a:t>也满足</a:t>
                </a:r>
                <a14:m>
                  <m:oMath xmlns:m="http://schemas.openxmlformats.org/officeDocument/2006/math">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zh-CN" altLang="en-US" i="1" noProof="1">
                        <a:latin typeface="Cambria Math" panose="02040503050406030204" pitchFamily="18" charset="0"/>
                        <a:cs typeface="+mn-ea"/>
                      </a:rPr>
                      <m:t>𝑌</m:t>
                    </m:r>
                  </m:oMath>
                </a14:m>
                <a:r>
                  <a:rPr lang="zh-CN" altLang="en-US" dirty="0"/>
                  <a:t>，那么称</a:t>
                </a:r>
                <a14:m>
                  <m:oMath xmlns:m="http://schemas.openxmlformats.org/officeDocument/2006/math">
                    <m:r>
                      <a:rPr lang="en-US" altLang="zh-CN" i="1">
                        <a:latin typeface="Cambria Math" panose="02040503050406030204" pitchFamily="18" charset="0"/>
                      </a:rPr>
                      <m:t>𝐹</m:t>
                    </m:r>
                  </m:oMath>
                </a14:m>
                <a:r>
                  <a:rPr lang="zh-CN" altLang="en-US" dirty="0"/>
                  <a:t>逻辑蕴含</a:t>
                </a:r>
                <a14:m>
                  <m:oMath xmlns:m="http://schemas.openxmlformats.org/officeDocument/2006/math">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zh-CN" altLang="en-US" i="1" noProof="1">
                        <a:latin typeface="Cambria Math" panose="02040503050406030204" pitchFamily="18" charset="0"/>
                        <a:cs typeface="+mn-ea"/>
                      </a:rPr>
                      <m:t>𝑌</m:t>
                    </m:r>
                  </m:oMath>
                </a14:m>
                <a:r>
                  <a:rPr lang="zh-CN" altLang="en-US" dirty="0"/>
                  <a:t>，记为</a:t>
                </a:r>
                <a14:m>
                  <m:oMath xmlns:m="http://schemas.openxmlformats.org/officeDocument/2006/math">
                    <m:r>
                      <a:rPr lang="en-US" altLang="zh-CN" b="0" i="1" smtClean="0">
                        <a:latin typeface="Cambria Math" panose="02040503050406030204" pitchFamily="18" charset="0"/>
                      </a:rPr>
                      <m:t>𝐹</m:t>
                    </m:r>
                    <m:r>
                      <a:rPr lang="en-US" altLang="zh-CN" i="1">
                        <a:latin typeface="Cambria Math" panose="02040503050406030204" pitchFamily="18" charset="0"/>
                        <a:ea typeface="Cambria Math" panose="02040503050406030204" pitchFamily="18" charset="0"/>
                      </a:rPr>
                      <m:t>⊨</m:t>
                    </m:r>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zh-CN" altLang="en-US" i="1" noProof="1">
                        <a:latin typeface="Cambria Math" panose="02040503050406030204" pitchFamily="18" charset="0"/>
                        <a:cs typeface="+mn-ea"/>
                      </a:rPr>
                      <m:t>𝑌</m:t>
                    </m:r>
                  </m:oMath>
                </a14:m>
                <a:endParaRPr lang="en-US" altLang="zh-CN" dirty="0"/>
              </a:p>
              <a:p>
                <a:pPr lvl="1">
                  <a:lnSpc>
                    <a:spcPct val="150000"/>
                  </a:lnSpc>
                </a:pPr>
                <a:r>
                  <a:rPr lang="zh-CN" altLang="en-US" dirty="0"/>
                  <a:t>例如：</a:t>
                </a:r>
                <a14:m>
                  <m:oMath xmlns:m="http://schemas.openxmlformats.org/officeDocument/2006/math">
                    <m:r>
                      <a:rPr lang="en-US" altLang="zh-CN" b="0" i="1" smtClean="0">
                        <a:latin typeface="Cambria Math" panose="02040503050406030204" pitchFamily="18" charset="0"/>
                      </a:rPr>
                      <m:t>{</m:t>
                    </m:r>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zh-CN" altLang="en-US" i="1" noProof="1">
                        <a:latin typeface="Cambria Math" panose="02040503050406030204" pitchFamily="18" charset="0"/>
                        <a:cs typeface="+mn-ea"/>
                      </a:rPr>
                      <m:t>𝑌</m:t>
                    </m:r>
                    <m:r>
                      <a:rPr lang="en-US" altLang="zh-CN" b="0" i="0" noProof="1" smtClean="0">
                        <a:latin typeface="Cambria Math" panose="02040503050406030204" pitchFamily="18" charset="0"/>
                        <a:cs typeface="+mn-ea"/>
                      </a:rPr>
                      <m:t>,</m:t>
                    </m:r>
                    <m:r>
                      <a:rPr lang="en-US" altLang="zh-CN" b="0" i="1" noProof="1" smtClean="0">
                        <a:latin typeface="Cambria Math" panose="02040503050406030204" pitchFamily="18" charset="0"/>
                        <a:cs typeface="+mn-ea"/>
                      </a:rPr>
                      <m:t>𝑌</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𝑍</m:t>
                    </m:r>
                    <m:r>
                      <a:rPr lang="en-US" altLang="zh-CN" b="0" i="1" smtClean="0">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𝑍</m:t>
                    </m:r>
                  </m:oMath>
                </a14:m>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738"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函数依赖集合的闭包</a:t>
                </a:r>
                <a:endParaRPr kumimoji="1" lang="zh-CN" altLang="en-US" dirty="0"/>
              </a:p>
              <a:p>
                <a:pPr lvl="1">
                  <a:lnSpc>
                    <a:spcPct val="150000"/>
                  </a:lnSpc>
                </a:pPr>
                <a:r>
                  <a:rPr lang="zh-CN" altLang="en-US" dirty="0"/>
                  <a:t>定义</a:t>
                </a:r>
                <a:r>
                  <a:rPr lang="en-US" altLang="zh-CN" dirty="0"/>
                  <a:t>4.6</a:t>
                </a:r>
                <a:r>
                  <a:rPr lang="zh-CN" altLang="en-US" dirty="0"/>
                  <a:t>：由函数依赖集合</a:t>
                </a:r>
                <a14:m>
                  <m:oMath xmlns:m="http://schemas.openxmlformats.org/officeDocument/2006/math">
                    <m:r>
                      <a:rPr lang="en-US" altLang="zh-CN" i="1">
                        <a:latin typeface="Cambria Math" panose="02040503050406030204" pitchFamily="18" charset="0"/>
                      </a:rPr>
                      <m:t>𝐹</m:t>
                    </m:r>
                  </m:oMath>
                </a14:m>
                <a:r>
                  <a:rPr lang="zh-CN" altLang="en-US" dirty="0"/>
                  <a:t>所逻辑蕴涵的全部函数依赖所构成的集合称之为</a:t>
                </a:r>
                <a14:m>
                  <m:oMath xmlns:m="http://schemas.openxmlformats.org/officeDocument/2006/math">
                    <m:r>
                      <a:rPr lang="en-US" altLang="zh-CN" i="1">
                        <a:latin typeface="Cambria Math" panose="02040503050406030204" pitchFamily="18" charset="0"/>
                      </a:rPr>
                      <m:t>𝐹</m:t>
                    </m:r>
                  </m:oMath>
                </a14:m>
                <a:r>
                  <a:rPr lang="zh-CN" altLang="en-US" dirty="0"/>
                  <a:t>的闭包（</a:t>
                </a:r>
                <a:r>
                  <a:rPr lang="en-US" altLang="zh-CN" dirty="0"/>
                  <a:t>closure</a:t>
                </a:r>
                <a:r>
                  <a:rPr lang="zh-CN" altLang="en-US" dirty="0"/>
                  <a:t>），记作</a:t>
                </a:r>
                <a14:m>
                  <m:oMath xmlns:m="http://schemas.openxmlformats.org/officeDocument/2006/math">
                    <m:sSup>
                      <m:sSupPr>
                        <m:ctrlPr>
                          <a:rPr lang="en-US" altLang="zh-CN" i="1" dirty="0" smtClean="0">
                            <a:solidFill>
                              <a:schemeClr val="tx1"/>
                            </a:solidFill>
                            <a:latin typeface="Cambria Math" panose="02040503050406030204" pitchFamily="18" charset="0"/>
                          </a:rPr>
                        </m:ctrlPr>
                      </m:sSupPr>
                      <m:e>
                        <m:r>
                          <a:rPr lang="en-US" altLang="zh-CN" i="1" dirty="0">
                            <a:solidFill>
                              <a:schemeClr val="tx1"/>
                            </a:solidFill>
                            <a:latin typeface="Cambria Math" panose="02040503050406030204" pitchFamily="18" charset="0"/>
                          </a:rPr>
                          <m:t>𝐹</m:t>
                        </m:r>
                      </m:e>
                      <m:sup>
                        <m:r>
                          <a:rPr lang="en-US" altLang="zh-CN" i="1" dirty="0">
                            <a:solidFill>
                              <a:schemeClr val="tx1"/>
                            </a:solidFill>
                            <a:latin typeface="Cambria Math" panose="02040503050406030204" pitchFamily="18" charset="0"/>
                            <a:ea typeface="Cambria Math" panose="02040503050406030204" pitchFamily="18" charset="0"/>
                          </a:rPr>
                          <m:t>+</m:t>
                        </m:r>
                      </m:sup>
                    </m:sSup>
                  </m:oMath>
                </a14:m>
                <a:r>
                  <a:rPr lang="zh-CN" altLang="en-US" dirty="0"/>
                  <a:t>，即</a:t>
                </a:r>
                <a14:m>
                  <m:oMath xmlns:m="http://schemas.openxmlformats.org/officeDocument/2006/math">
                    <m:sSup>
                      <m:sSupPr>
                        <m:ctrlPr>
                          <a:rPr lang="en-US" altLang="zh-CN" i="1" dirty="0" smtClean="0">
                            <a:latin typeface="Cambria Math" panose="02040503050406030204" pitchFamily="18" charset="0"/>
                          </a:rPr>
                        </m:ctrlPr>
                      </m:sSupPr>
                      <m:e>
                        <m:r>
                          <a:rPr lang="en-US" altLang="zh-CN" i="1" dirty="0">
                            <a:latin typeface="Cambria Math" panose="02040503050406030204" pitchFamily="18" charset="0"/>
                          </a:rPr>
                          <m:t>𝐹</m:t>
                        </m:r>
                      </m:e>
                      <m:sup>
                        <m:r>
                          <a:rPr lang="en-US" altLang="zh-CN" i="1" dirty="0">
                            <a:latin typeface="Cambria Math" panose="02040503050406030204" pitchFamily="18" charset="0"/>
                            <a:ea typeface="Cambria Math" panose="02040503050406030204" pitchFamily="18" charset="0"/>
                          </a:rPr>
                          <m:t>+</m:t>
                        </m:r>
                      </m:sup>
                    </m:sSup>
                    <m:r>
                      <a:rPr lang="en-US" altLang="zh-CN" b="0" i="1" dirty="0" smtClean="0">
                        <a:latin typeface="Cambria Math" panose="02040503050406030204" pitchFamily="18" charset="0"/>
                        <a:ea typeface="Cambria Math" panose="02040503050406030204" pitchFamily="18" charset="0"/>
                      </a:rPr>
                      <m:t>=</m:t>
                    </m:r>
                    <m:d>
                      <m:dPr>
                        <m:begChr m:val="{"/>
                        <m:endChr m:val="}"/>
                        <m:ctrlPr>
                          <a:rPr lang="en-US" altLang="zh-CN" b="0" i="1" noProof="1" dirty="0" smtClean="0">
                            <a:latin typeface="Cambria Math" panose="02040503050406030204" pitchFamily="18" charset="0"/>
                            <a:ea typeface="Cambria Math" panose="02040503050406030204" pitchFamily="18" charset="0"/>
                            <a:cs typeface="+mn-ea"/>
                          </a:rPr>
                        </m:ctrlPr>
                      </m:dPr>
                      <m:e>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zh-CN" altLang="en-US" i="1" noProof="1">
                            <a:latin typeface="Cambria Math" panose="02040503050406030204" pitchFamily="18" charset="0"/>
                            <a:cs typeface="+mn-ea"/>
                          </a:rPr>
                          <m:t>𝑌</m:t>
                        </m:r>
                      </m:e>
                      <m:e>
                        <m:r>
                          <a:rPr lang="en-US" altLang="zh-CN" b="0" i="1" noProof="1" smtClean="0">
                            <a:latin typeface="Cambria Math" panose="02040503050406030204" pitchFamily="18" charset="0"/>
                            <a:cs typeface="+mn-ea"/>
                          </a:rPr>
                          <m:t>𝐹</m:t>
                        </m:r>
                        <m:r>
                          <a:rPr lang="en-US" altLang="zh-CN" i="1">
                            <a:latin typeface="Cambria Math" panose="02040503050406030204" pitchFamily="18" charset="0"/>
                            <a:ea typeface="Cambria Math" panose="02040503050406030204" pitchFamily="18" charset="0"/>
                          </a:rPr>
                          <m:t>⊨</m:t>
                        </m:r>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𝑌</m:t>
                        </m:r>
                      </m:e>
                    </m:d>
                  </m:oMath>
                </a14:m>
                <a:endParaRPr lang="en-US" altLang="zh-CN" b="0" dirty="0">
                  <a:ea typeface="Cambria Math" panose="02040503050406030204" pitchFamily="18" charset="0"/>
                </a:endParaRPr>
              </a:p>
              <a:p>
                <a:pPr lvl="1">
                  <a:lnSpc>
                    <a:spcPct val="150000"/>
                  </a:lnSpc>
                </a:pPr>
                <a:r>
                  <a:rPr lang="zh-CN" altLang="en-US" dirty="0"/>
                  <a:t>据定义</a:t>
                </a:r>
                <a:r>
                  <a:rPr lang="en-US" altLang="zh-CN" dirty="0"/>
                  <a:t>4.6</a:t>
                </a:r>
                <a:r>
                  <a:rPr lang="zh-CN" altLang="en-US" dirty="0"/>
                  <a:t>易知，函数依赖集的闭包</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𝐹</m:t>
                        </m:r>
                      </m:e>
                      <m:sup>
                        <m:r>
                          <a:rPr lang="en-US" altLang="zh-CN" i="1" dirty="0">
                            <a:latin typeface="Cambria Math" panose="02040503050406030204" pitchFamily="18" charset="0"/>
                            <a:ea typeface="Cambria Math" panose="02040503050406030204" pitchFamily="18" charset="0"/>
                          </a:rPr>
                          <m:t>+</m:t>
                        </m:r>
                      </m:sup>
                    </m:sSup>
                  </m:oMath>
                </a14:m>
                <a:r>
                  <a:rPr lang="zh-CN" altLang="en-US" dirty="0"/>
                  <a:t>具有以下特点：</a:t>
                </a:r>
                <a:endParaRPr lang="en-US" altLang="zh-CN" dirty="0"/>
              </a:p>
              <a:p>
                <a:pPr lvl="2">
                  <a:lnSpc>
                    <a:spcPct val="150000"/>
                  </a:lnSpc>
                </a:pPr>
                <a14:m>
                  <m:oMath xmlns:m="http://schemas.openxmlformats.org/officeDocument/2006/math">
                    <m:sSup>
                      <m:sSupPr>
                        <m:ctrlPr>
                          <a:rPr lang="en-US" altLang="zh-CN" sz="2200" i="1" dirty="0">
                            <a:latin typeface="Cambria Math" panose="02040503050406030204" pitchFamily="18" charset="0"/>
                          </a:rPr>
                        </m:ctrlPr>
                      </m:sSupPr>
                      <m:e>
                        <m:r>
                          <a:rPr lang="en-US" altLang="zh-CN" sz="2200" b="0" i="1" dirty="0" smtClean="0">
                            <a:latin typeface="Cambria Math" panose="02040503050406030204" pitchFamily="18" charset="0"/>
                          </a:rPr>
                          <m:t>𝐹</m:t>
                        </m:r>
                        <m:r>
                          <a:rPr lang="en-US" altLang="zh-CN" sz="2200" b="0" i="1" dirty="0" smtClean="0">
                            <a:latin typeface="Cambria Math" panose="02040503050406030204" pitchFamily="18" charset="0"/>
                            <a:ea typeface="Cambria Math" panose="02040503050406030204" pitchFamily="18" charset="0"/>
                          </a:rPr>
                          <m:t>⊆</m:t>
                        </m:r>
                        <m:r>
                          <a:rPr lang="en-US" altLang="zh-CN" sz="2200" i="1" dirty="0">
                            <a:latin typeface="Cambria Math" panose="02040503050406030204" pitchFamily="18" charset="0"/>
                          </a:rPr>
                          <m:t>𝐹</m:t>
                        </m:r>
                      </m:e>
                      <m:sup>
                        <m:r>
                          <a:rPr lang="en-US" altLang="zh-CN" sz="2200" i="1" dirty="0">
                            <a:latin typeface="Cambria Math" panose="02040503050406030204" pitchFamily="18" charset="0"/>
                            <a:ea typeface="Cambria Math" panose="02040503050406030204" pitchFamily="18" charset="0"/>
                          </a:rPr>
                          <m:t>+</m:t>
                        </m:r>
                      </m:sup>
                    </m:sSup>
                  </m:oMath>
                </a14:m>
                <a:r>
                  <a:rPr lang="zh-CN" altLang="en-US" sz="2200" dirty="0"/>
                  <a:t>，这是因为根据闭包的定义</a:t>
                </a:r>
                <a14:m>
                  <m:oMath xmlns:m="http://schemas.openxmlformats.org/officeDocument/2006/math">
                    <m:r>
                      <a:rPr lang="en-US" altLang="zh-CN" sz="2200" i="1">
                        <a:latin typeface="Cambria Math" panose="02040503050406030204" pitchFamily="18" charset="0"/>
                      </a:rPr>
                      <m:t>𝐹</m:t>
                    </m:r>
                  </m:oMath>
                </a14:m>
                <a:r>
                  <a:rPr lang="zh-CN" altLang="en-US" sz="2200" dirty="0"/>
                  <a:t>中的每个函数依赖必定也在</a:t>
                </a:r>
                <a14:m>
                  <m:oMath xmlns:m="http://schemas.openxmlformats.org/officeDocument/2006/math">
                    <m:sSup>
                      <m:sSupPr>
                        <m:ctrlPr>
                          <a:rPr lang="en-US" altLang="zh-CN" sz="2200" i="1" dirty="0">
                            <a:latin typeface="Cambria Math" panose="02040503050406030204" pitchFamily="18" charset="0"/>
                          </a:rPr>
                        </m:ctrlPr>
                      </m:sSupPr>
                      <m:e>
                        <m:r>
                          <a:rPr lang="en-US" altLang="zh-CN" sz="2200" i="1" dirty="0">
                            <a:latin typeface="Cambria Math" panose="02040503050406030204" pitchFamily="18" charset="0"/>
                          </a:rPr>
                          <m:t>𝐹</m:t>
                        </m:r>
                      </m:e>
                      <m:sup>
                        <m:r>
                          <a:rPr lang="en-US" altLang="zh-CN" sz="2200" i="1" dirty="0">
                            <a:latin typeface="Cambria Math" panose="02040503050406030204" pitchFamily="18" charset="0"/>
                            <a:ea typeface="Cambria Math" panose="02040503050406030204" pitchFamily="18" charset="0"/>
                          </a:rPr>
                          <m:t>+</m:t>
                        </m:r>
                      </m:sup>
                    </m:sSup>
                  </m:oMath>
                </a14:m>
                <a:r>
                  <a:rPr lang="zh-CN" altLang="en-US" sz="2200" dirty="0"/>
                  <a:t>中；</a:t>
                </a:r>
                <a:endParaRPr lang="en-US" altLang="zh-CN" sz="2200" dirty="0"/>
              </a:p>
              <a:p>
                <a:pPr lvl="2">
                  <a:lnSpc>
                    <a:spcPct val="150000"/>
                  </a:lnSpc>
                </a:pPr>
                <a14:m>
                  <m:oMath xmlns:m="http://schemas.openxmlformats.org/officeDocument/2006/math">
                    <m:sSup>
                      <m:sSupPr>
                        <m:ctrlPr>
                          <a:rPr lang="en-US" altLang="zh-CN" sz="2200" i="1" dirty="0">
                            <a:latin typeface="Cambria Math" panose="02040503050406030204" pitchFamily="18" charset="0"/>
                          </a:rPr>
                        </m:ctrlPr>
                      </m:sSupPr>
                      <m:e>
                        <m:r>
                          <a:rPr lang="en-US" altLang="zh-CN" sz="2200" b="0" i="1" dirty="0" smtClean="0">
                            <a:latin typeface="Cambria Math" panose="02040503050406030204" pitchFamily="18" charset="0"/>
                          </a:rPr>
                          <m:t>(</m:t>
                        </m:r>
                        <m:r>
                          <a:rPr lang="en-US" altLang="zh-CN" sz="2200" i="1" dirty="0">
                            <a:latin typeface="Cambria Math" panose="02040503050406030204" pitchFamily="18" charset="0"/>
                          </a:rPr>
                          <m:t>𝐹</m:t>
                        </m:r>
                      </m:e>
                      <m:sup>
                        <m:r>
                          <a:rPr lang="en-US" altLang="zh-CN" sz="2200" i="1" dirty="0">
                            <a:latin typeface="Cambria Math" panose="02040503050406030204" pitchFamily="18" charset="0"/>
                            <a:ea typeface="Cambria Math" panose="02040503050406030204" pitchFamily="18" charset="0"/>
                          </a:rPr>
                          <m:t>+</m:t>
                        </m:r>
                      </m:sup>
                    </m:sSup>
                    <m:r>
                      <a:rPr lang="en-US" altLang="zh-CN" sz="2200" b="0" i="0" dirty="0" smtClean="0">
                        <a:latin typeface="Cambria Math" panose="02040503050406030204" pitchFamily="18" charset="0"/>
                        <a:ea typeface="Cambria Math" panose="02040503050406030204" pitchFamily="18" charset="0"/>
                      </a:rPr>
                      <m:t>)  =</m:t>
                    </m:r>
                    <m:sSup>
                      <m:sSupPr>
                        <m:ctrlPr>
                          <a:rPr lang="en-US" altLang="zh-CN" sz="2200" i="1" dirty="0">
                            <a:latin typeface="Cambria Math" panose="02040503050406030204" pitchFamily="18" charset="0"/>
                          </a:rPr>
                        </m:ctrlPr>
                      </m:sSupPr>
                      <m:e>
                        <m:r>
                          <a:rPr lang="en-US" altLang="zh-CN" sz="2200" i="1" dirty="0">
                            <a:latin typeface="Cambria Math" panose="02040503050406030204" pitchFamily="18" charset="0"/>
                          </a:rPr>
                          <m:t>𝐹</m:t>
                        </m:r>
                      </m:e>
                      <m:sup>
                        <m:r>
                          <a:rPr lang="en-US" altLang="zh-CN" sz="2200" i="1" dirty="0">
                            <a:latin typeface="Cambria Math" panose="02040503050406030204" pitchFamily="18" charset="0"/>
                            <a:ea typeface="Cambria Math" panose="02040503050406030204" pitchFamily="18" charset="0"/>
                          </a:rPr>
                          <m:t>+</m:t>
                        </m:r>
                      </m:sup>
                    </m:sSup>
                  </m:oMath>
                </a14:m>
                <a:r>
                  <a:rPr lang="zh-CN" altLang="en-US" sz="2200" dirty="0"/>
                  <a:t>，该性质说明闭包运算是幂等（</a:t>
                </a:r>
                <a:r>
                  <a:rPr lang="en-US" altLang="zh-CN" sz="2200" dirty="0"/>
                  <a:t>idempotence</a:t>
                </a:r>
                <a:r>
                  <a:rPr lang="zh-CN" altLang="en-US" sz="2200" dirty="0"/>
                  <a:t>）的，即</a:t>
                </a:r>
                <a14:m>
                  <m:oMath xmlns:m="http://schemas.openxmlformats.org/officeDocument/2006/math">
                    <m:r>
                      <a:rPr lang="en-US" altLang="zh-CN" sz="2200" i="1" noProof="1">
                        <a:latin typeface="Cambria Math" panose="02040503050406030204" pitchFamily="18" charset="0"/>
                        <a:cs typeface="+mn-ea"/>
                      </a:rPr>
                      <m:t>𝐹</m:t>
                    </m:r>
                  </m:oMath>
                </a14:m>
                <a:r>
                  <a:rPr lang="zh-CN" altLang="en-US" sz="2200" dirty="0"/>
                  <a:t>经过任意多次闭包运算后其结果依然等于</a:t>
                </a:r>
                <a14:m>
                  <m:oMath xmlns:m="http://schemas.openxmlformats.org/officeDocument/2006/math">
                    <m:sSup>
                      <m:sSupPr>
                        <m:ctrlPr>
                          <a:rPr lang="en-US" altLang="zh-CN" sz="2200" i="1" dirty="0">
                            <a:latin typeface="Cambria Math" panose="02040503050406030204" pitchFamily="18" charset="0"/>
                          </a:rPr>
                        </m:ctrlPr>
                      </m:sSupPr>
                      <m:e>
                        <m:r>
                          <a:rPr lang="en-US" altLang="zh-CN" sz="2200" i="1" dirty="0">
                            <a:latin typeface="Cambria Math" panose="02040503050406030204" pitchFamily="18" charset="0"/>
                          </a:rPr>
                          <m:t>𝐹</m:t>
                        </m:r>
                      </m:e>
                      <m:sup>
                        <m:r>
                          <a:rPr lang="en-US" altLang="zh-CN" sz="2200" i="1" dirty="0">
                            <a:latin typeface="Cambria Math" panose="02040503050406030204" pitchFamily="18" charset="0"/>
                            <a:ea typeface="Cambria Math" panose="02040503050406030204" pitchFamily="18" charset="0"/>
                          </a:rPr>
                          <m:t>+</m:t>
                        </m:r>
                      </m:sup>
                    </m:sSup>
                  </m:oMath>
                </a14:m>
                <a:r>
                  <a:rPr lang="zh-CN" altLang="en-US" sz="2200" dirty="0"/>
                  <a:t>；</a:t>
                </a:r>
                <a:endParaRPr lang="en-US" altLang="zh-CN" sz="2200" dirty="0"/>
              </a:p>
              <a:p>
                <a:pPr lvl="2">
                  <a:lnSpc>
                    <a:spcPct val="150000"/>
                  </a:lnSpc>
                </a:pPr>
                <a:r>
                  <a:rPr lang="zh-CN" altLang="en-US" sz="2200" dirty="0"/>
                  <a:t>如果</a:t>
                </a:r>
                <a14:m>
                  <m:oMath xmlns:m="http://schemas.openxmlformats.org/officeDocument/2006/math">
                    <m:sSup>
                      <m:sSupPr>
                        <m:ctrlPr>
                          <a:rPr lang="en-US" altLang="zh-CN" sz="2200" i="1" dirty="0">
                            <a:latin typeface="Cambria Math" panose="02040503050406030204" pitchFamily="18" charset="0"/>
                          </a:rPr>
                        </m:ctrlPr>
                      </m:sSupPr>
                      <m:e>
                        <m:r>
                          <a:rPr lang="en-US" altLang="zh-CN" sz="2200" b="0" i="1" dirty="0" smtClean="0">
                            <a:latin typeface="Cambria Math" panose="02040503050406030204" pitchFamily="18" charset="0"/>
                          </a:rPr>
                          <m:t>𝐹</m:t>
                        </m:r>
                        <m:r>
                          <a:rPr lang="en-US" altLang="zh-CN" sz="2200" b="0" i="1" dirty="0" smtClean="0">
                            <a:latin typeface="Cambria Math" panose="02040503050406030204" pitchFamily="18" charset="0"/>
                          </a:rPr>
                          <m:t>=</m:t>
                        </m:r>
                        <m:r>
                          <a:rPr lang="en-US" altLang="zh-CN" sz="2200" i="1" dirty="0">
                            <a:latin typeface="Cambria Math" panose="02040503050406030204" pitchFamily="18" charset="0"/>
                          </a:rPr>
                          <m:t>𝐹</m:t>
                        </m:r>
                      </m:e>
                      <m:sup>
                        <m:r>
                          <a:rPr lang="en-US" altLang="zh-CN" sz="2200" i="1" dirty="0">
                            <a:latin typeface="Cambria Math" panose="02040503050406030204" pitchFamily="18" charset="0"/>
                            <a:ea typeface="Cambria Math" panose="02040503050406030204" pitchFamily="18" charset="0"/>
                          </a:rPr>
                          <m:t>+</m:t>
                        </m:r>
                      </m:sup>
                    </m:sSup>
                  </m:oMath>
                </a14:m>
                <a:r>
                  <a:rPr lang="zh-CN" altLang="en-US" sz="2200" dirty="0"/>
                  <a:t>，则称</a:t>
                </a:r>
                <a14:m>
                  <m:oMath xmlns:m="http://schemas.openxmlformats.org/officeDocument/2006/math">
                    <m:r>
                      <a:rPr lang="en-US" altLang="zh-CN" sz="2200" i="1" dirty="0">
                        <a:latin typeface="Cambria Math" panose="02040503050406030204" pitchFamily="18" charset="0"/>
                      </a:rPr>
                      <m:t>𝐹</m:t>
                    </m:r>
                  </m:oMath>
                </a14:m>
                <a:r>
                  <a:rPr lang="zh-CN" altLang="en-US" sz="2200" dirty="0"/>
                  <a:t>是完备的。</a:t>
                </a:r>
                <a:endParaRPr lang="en-US" altLang="zh-CN" sz="2200"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2096086" y="4203993"/>
            <a:ext cx="520505" cy="369332"/>
          </a:xfrm>
          <a:prstGeom prst="rect">
            <a:avLst/>
          </a:prstGeom>
          <a:noFill/>
        </p:spPr>
        <p:txBody>
          <a:bodyPr wrap="square" rtlCol="0">
            <a:spAutoFit/>
          </a:bodyPr>
          <a:lstStyle/>
          <a:p>
            <a:r>
              <a:rPr kumimoji="1" lang="en-US" altLang="zh-CN" dirty="0"/>
              <a:t>+</a:t>
            </a:r>
            <a:endParaRPr kumimoji="1"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函数依赖集合的闭包</a:t>
                </a:r>
                <a:endParaRPr kumimoji="1" lang="en-US" altLang="zh-CN" dirty="0"/>
              </a:p>
              <a:p>
                <a:pPr lvl="1"/>
                <a:r>
                  <a:rPr kumimoji="1" lang="zh-CN" altLang="en-US" dirty="0"/>
                  <a:t>例</a:t>
                </a:r>
                <a:r>
                  <a:rPr kumimoji="1" lang="en-US" altLang="zh-CN" dirty="0"/>
                  <a:t>4.1.</a:t>
                </a:r>
                <a:r>
                  <a:rPr kumimoji="1" lang="zh-CN" altLang="en-US" dirty="0"/>
                  <a:t> 计算</a:t>
                </a:r>
                <a14:m>
                  <m:oMath xmlns:m="http://schemas.openxmlformats.org/officeDocument/2006/math">
                    <m:r>
                      <a:rPr kumimoji="1" lang="en-US" altLang="zh-CN" b="0" i="1" smtClean="0">
                        <a:latin typeface="Cambria Math" panose="02040503050406030204" pitchFamily="18" charset="0"/>
                      </a:rPr>
                      <m:t>𝑅</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𝐵</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𝐶</m:t>
                    </m:r>
                    <m:r>
                      <a:rPr kumimoji="1" lang="en-US" altLang="zh-CN" b="0" i="1" smtClean="0">
                        <a:latin typeface="Cambria Math" panose="02040503050406030204" pitchFamily="18" charset="0"/>
                      </a:rPr>
                      <m:t>)</m:t>
                    </m:r>
                  </m:oMath>
                </a14:m>
                <a:r>
                  <a:rPr kumimoji="1" lang="zh-CN" altLang="en-US" dirty="0"/>
                  <a:t>上的函数依赖集合</a:t>
                </a:r>
                <a14:m>
                  <m:oMath xmlns:m="http://schemas.openxmlformats.org/officeDocument/2006/math">
                    <m:r>
                      <a:rPr kumimoji="1" lang="en-US" altLang="zh-CN" b="0" i="1" smtClean="0">
                        <a:latin typeface="Cambria Math" panose="02040503050406030204" pitchFamily="18" charset="0"/>
                      </a:rPr>
                      <m:t>𝐹</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𝐴</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𝐵</m:t>
                    </m:r>
                    <m:r>
                      <a:rPr lang="en-US" altLang="zh-CN" b="0" i="1" noProof="1" smtClean="0">
                        <a:latin typeface="Cambria Math" panose="02040503050406030204" pitchFamily="18" charset="0"/>
                        <a:cs typeface="+mn-ea"/>
                      </a:rPr>
                      <m:t>,</m:t>
                    </m:r>
                    <m:r>
                      <a:rPr lang="en-US" altLang="zh-CN" b="0" i="1" noProof="1" smtClean="0">
                        <a:latin typeface="Cambria Math" panose="02040503050406030204" pitchFamily="18" charset="0"/>
                        <a:cs typeface="+mn-ea"/>
                      </a:rPr>
                      <m:t>𝐵</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𝐶</m:t>
                    </m:r>
                    <m:r>
                      <a:rPr kumimoji="1" lang="en-US" altLang="zh-CN" b="0" i="1" smtClean="0">
                        <a:latin typeface="Cambria Math" panose="02040503050406030204" pitchFamily="18" charset="0"/>
                      </a:rPr>
                      <m:t>}</m:t>
                    </m:r>
                  </m:oMath>
                </a14:m>
                <a:r>
                  <a:rPr kumimoji="1" lang="zh-CN" altLang="en-US" dirty="0"/>
                  <a:t>的闭包：</a:t>
                </a:r>
                <a:endParaRPr kumimoji="1" lang="en-US" altLang="zh-CN" dirty="0"/>
              </a:p>
              <a:p>
                <a:pPr lvl="1"/>
                <a:endParaRPr kumimoji="1" lang="en-US" altLang="zh-CN" dirty="0"/>
              </a:p>
              <a:p>
                <a:pPr marL="457200" lvl="1" indent="0">
                  <a:buNone/>
                </a:pPr>
                <a14:m>
                  <m:oMathPara xmlns:m="http://schemas.openxmlformats.org/officeDocument/2006/math">
                    <m:oMathParaPr>
                      <m:jc m:val="centerGroup"/>
                    </m:oMathParaPr>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𝐹</m:t>
                          </m:r>
                        </m:e>
                        <m:sup>
                          <m:r>
                            <a:rPr lang="en-US" altLang="zh-CN" i="1" dirty="0">
                              <a:latin typeface="Cambria Math" panose="02040503050406030204" pitchFamily="18" charset="0"/>
                              <a:ea typeface="Cambria Math" panose="02040503050406030204" pitchFamily="18" charset="0"/>
                            </a:rPr>
                            <m:t>+</m:t>
                          </m:r>
                        </m:sup>
                      </m:sSup>
                      <m:r>
                        <a:rPr lang="en-US" altLang="zh-CN" b="0" i="1" dirty="0" smtClean="0">
                          <a:latin typeface="Cambria Math" panose="02040503050406030204" pitchFamily="18" charset="0"/>
                          <a:ea typeface="Cambria Math" panose="02040503050406030204" pitchFamily="18" charset="0"/>
                        </a:rPr>
                        <m:t>=</m:t>
                      </m:r>
                      <m:d>
                        <m:dPr>
                          <m:begChr m:val="{"/>
                          <m:endChr m:val="}"/>
                          <m:ctrlPr>
                            <a:rPr lang="en-US" altLang="zh-CN" b="0" i="1" dirty="0" smtClean="0">
                              <a:latin typeface="Cambria Math" panose="02040503050406030204" pitchFamily="18" charset="0"/>
                              <a:ea typeface="Cambria Math" panose="02040503050406030204" pitchFamily="18" charset="0"/>
                            </a:rPr>
                          </m:ctrlPr>
                        </m:dPr>
                        <m:e>
                          <m:eqArr>
                            <m:eqArrPr>
                              <m:ctrlPr>
                                <a:rPr lang="en-US" altLang="zh-CN" b="0" i="1" dirty="0" smtClean="0">
                                  <a:latin typeface="Cambria Math" panose="02040503050406030204" pitchFamily="18" charset="0"/>
                                  <a:ea typeface="Cambria Math" panose="02040503050406030204" pitchFamily="18" charset="0"/>
                                </a:rPr>
                              </m:ctrlPr>
                            </m:eqArrPr>
                            <m:e>
                              <m:r>
                                <a:rPr kumimoji="1" lang="en-US" altLang="zh-CN" i="1">
                                  <a:latin typeface="Cambria Math" panose="02040503050406030204" pitchFamily="18" charset="0"/>
                                </a:rPr>
                                <m:t>𝐴</m:t>
                              </m:r>
                              <m:r>
                                <a:rPr lang="zh-CN" altLang="en-US" i="1" noProof="1">
                                  <a:latin typeface="Cambria Math" panose="02040503050406030204" pitchFamily="18" charset="0"/>
                                  <a:cs typeface="+mn-ea"/>
                                </a:rPr>
                                <m:t>→</m:t>
                              </m:r>
                              <m:r>
                                <a:rPr lang="en-US" altLang="zh-CN" i="1" noProof="1">
                                  <a:latin typeface="Cambria Math" panose="02040503050406030204" pitchFamily="18" charset="0"/>
                                  <a:cs typeface="+mn-ea"/>
                                </a:rPr>
                                <m:t>𝐵</m:t>
                              </m:r>
                              <m:r>
                                <a:rPr lang="en-US" altLang="zh-CN" b="0" i="1" noProof="1" smtClean="0">
                                  <a:latin typeface="Cambria Math" panose="02040503050406030204" pitchFamily="18" charset="0"/>
                                  <a:cs typeface="+mn-ea"/>
                                </a:rPr>
                                <m:t>,</m:t>
                              </m:r>
                              <m:r>
                                <a:rPr lang="en-US" altLang="zh-CN" b="0" i="1" noProof="1" smtClean="0">
                                  <a:latin typeface="Cambria Math" panose="02040503050406030204" pitchFamily="18" charset="0"/>
                                  <a:cs typeface="+mn-ea"/>
                                </a:rPr>
                                <m:t>𝐵</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𝐶</m:t>
                              </m:r>
                              <m:r>
                                <a:rPr lang="en-US" altLang="zh-CN" b="0" i="1" noProof="1" smtClean="0">
                                  <a:latin typeface="Cambria Math" panose="02040503050406030204" pitchFamily="18" charset="0"/>
                                  <a:cs typeface="+mn-ea"/>
                                </a:rPr>
                                <m:t>,</m:t>
                              </m:r>
                              <m:r>
                                <a:rPr kumimoji="1" lang="en-US" altLang="zh-CN" i="1">
                                  <a:latin typeface="Cambria Math" panose="02040503050406030204" pitchFamily="18" charset="0"/>
                                </a:rPr>
                                <m:t>𝐴</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𝐶</m:t>
                              </m:r>
                            </m:e>
                            <m:e>
                              <m:r>
                                <a:rPr kumimoji="1" lang="en-US" altLang="zh-CN" i="1">
                                  <a:latin typeface="Cambria Math" panose="02040503050406030204" pitchFamily="18" charset="0"/>
                                </a:rPr>
                                <m:t>𝐴</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𝐴</m:t>
                              </m:r>
                              <m:r>
                                <a:rPr lang="en-US" altLang="zh-CN" b="0" i="1" noProof="1" smtClean="0">
                                  <a:latin typeface="Cambria Math" panose="02040503050406030204" pitchFamily="18" charset="0"/>
                                  <a:cs typeface="+mn-ea"/>
                                </a:rPr>
                                <m:t>,</m:t>
                              </m:r>
                              <m:r>
                                <a:rPr lang="en-US" altLang="zh-CN" b="0" i="1" noProof="1" smtClean="0">
                                  <a:latin typeface="Cambria Math" panose="02040503050406030204" pitchFamily="18" charset="0"/>
                                  <a:cs typeface="+mn-ea"/>
                                </a:rPr>
                                <m:t>𝐵</m:t>
                              </m:r>
                              <m:r>
                                <a:rPr lang="zh-CN" altLang="en-US" i="1" noProof="1">
                                  <a:latin typeface="Cambria Math" panose="02040503050406030204" pitchFamily="18" charset="0"/>
                                  <a:cs typeface="+mn-ea"/>
                                </a:rPr>
                                <m:t>→</m:t>
                              </m:r>
                              <m:r>
                                <a:rPr lang="en-US" altLang="zh-CN" i="1" noProof="1">
                                  <a:latin typeface="Cambria Math" panose="02040503050406030204" pitchFamily="18" charset="0"/>
                                  <a:cs typeface="+mn-ea"/>
                                </a:rPr>
                                <m:t>𝐵</m:t>
                              </m:r>
                              <m:r>
                                <a:rPr lang="en-US" altLang="zh-CN" b="0" i="1" noProof="1" smtClean="0">
                                  <a:latin typeface="Cambria Math" panose="02040503050406030204" pitchFamily="18" charset="0"/>
                                  <a:cs typeface="+mn-ea"/>
                                </a:rPr>
                                <m:t>,</m:t>
                              </m:r>
                              <m:r>
                                <a:rPr lang="en-US" altLang="zh-CN" b="0" i="1" noProof="1" smtClean="0">
                                  <a:latin typeface="Cambria Math" panose="02040503050406030204" pitchFamily="18" charset="0"/>
                                  <a:cs typeface="+mn-ea"/>
                                </a:rPr>
                                <m:t>𝐶</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𝐶</m:t>
                              </m:r>
                            </m:e>
                            <m:e>
                              <m:r>
                                <a:rPr kumimoji="1" lang="en-US" altLang="zh-CN" i="1">
                                  <a:latin typeface="Cambria Math" panose="02040503050406030204" pitchFamily="18" charset="0"/>
                                </a:rPr>
                                <m:t>𝐴</m:t>
                              </m:r>
                              <m:r>
                                <a:rPr kumimoji="1" lang="en-US" altLang="zh-CN" b="0" i="1" smtClean="0">
                                  <a:latin typeface="Cambria Math" panose="02040503050406030204" pitchFamily="18" charset="0"/>
                                </a:rPr>
                                <m:t>𝐵</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𝐴</m:t>
                              </m:r>
                              <m:r>
                                <a:rPr lang="en-US" altLang="zh-CN" b="0" i="1" noProof="1" smtClean="0">
                                  <a:latin typeface="Cambria Math" panose="02040503050406030204" pitchFamily="18" charset="0"/>
                                  <a:cs typeface="+mn-ea"/>
                                </a:rPr>
                                <m:t>,</m:t>
                              </m:r>
                              <m:r>
                                <a:rPr kumimoji="1" lang="en-US" altLang="zh-CN" i="1">
                                  <a:latin typeface="Cambria Math" panose="02040503050406030204" pitchFamily="18" charset="0"/>
                                </a:rPr>
                                <m:t>𝐴</m:t>
                              </m:r>
                              <m:r>
                                <a:rPr kumimoji="1" lang="en-US" altLang="zh-CN" b="0" i="1" smtClean="0">
                                  <a:latin typeface="Cambria Math" panose="02040503050406030204" pitchFamily="18" charset="0"/>
                                </a:rPr>
                                <m:t>𝐵</m:t>
                              </m:r>
                              <m:r>
                                <a:rPr lang="zh-CN" altLang="en-US" i="1" noProof="1">
                                  <a:latin typeface="Cambria Math" panose="02040503050406030204" pitchFamily="18" charset="0"/>
                                  <a:cs typeface="+mn-ea"/>
                                </a:rPr>
                                <m:t>→</m:t>
                              </m:r>
                              <m:r>
                                <a:rPr lang="en-US" altLang="zh-CN" i="1" noProof="1">
                                  <a:latin typeface="Cambria Math" panose="02040503050406030204" pitchFamily="18" charset="0"/>
                                  <a:cs typeface="+mn-ea"/>
                                </a:rPr>
                                <m:t>𝐵</m:t>
                              </m:r>
                              <m:r>
                                <a:rPr lang="en-US" altLang="zh-CN" b="0" i="1" noProof="1" smtClean="0">
                                  <a:latin typeface="Cambria Math" panose="02040503050406030204" pitchFamily="18" charset="0"/>
                                  <a:cs typeface="+mn-ea"/>
                                </a:rPr>
                                <m:t>,</m:t>
                              </m:r>
                              <m:r>
                                <a:rPr kumimoji="1" lang="en-US" altLang="zh-CN" i="1">
                                  <a:latin typeface="Cambria Math" panose="02040503050406030204" pitchFamily="18" charset="0"/>
                                </a:rPr>
                                <m:t>𝐴</m:t>
                              </m:r>
                              <m:r>
                                <a:rPr kumimoji="1" lang="en-US" altLang="zh-CN" b="0" i="1" smtClean="0">
                                  <a:latin typeface="Cambria Math" panose="02040503050406030204" pitchFamily="18" charset="0"/>
                                </a:rPr>
                                <m:t>𝐵</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𝐴</m:t>
                              </m:r>
                              <m:r>
                                <a:rPr lang="en-US" altLang="zh-CN" i="1" noProof="1">
                                  <a:latin typeface="Cambria Math" panose="02040503050406030204" pitchFamily="18" charset="0"/>
                                  <a:cs typeface="+mn-ea"/>
                                </a:rPr>
                                <m:t>𝐵</m:t>
                              </m:r>
                              <m:r>
                                <a:rPr lang="en-US" altLang="zh-CN" b="0" i="1" noProof="1" smtClean="0">
                                  <a:latin typeface="Cambria Math" panose="02040503050406030204" pitchFamily="18" charset="0"/>
                                  <a:cs typeface="+mn-ea"/>
                                </a:rPr>
                                <m:t>…</m:t>
                              </m:r>
                            </m:e>
                          </m:eqArr>
                        </m:e>
                      </m:d>
                    </m:oMath>
                  </m:oMathPara>
                </a14:m>
                <a:endParaRPr kumimoji="1" lang="en-US" altLang="zh-CN" dirty="0"/>
              </a:p>
              <a:p>
                <a:pPr marL="457200" lvl="1" indent="0">
                  <a:buNone/>
                </a:pPr>
                <a:endParaRPr kumimoji="1" lang="en-US" altLang="zh-CN" dirty="0"/>
              </a:p>
              <a:p>
                <a:pPr lvl="1"/>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𝐹</m:t>
                        </m:r>
                      </m:e>
                      <m:sup>
                        <m:r>
                          <a:rPr lang="en-US" altLang="zh-CN" i="1" dirty="0">
                            <a:latin typeface="Cambria Math" panose="02040503050406030204" pitchFamily="18" charset="0"/>
                            <a:ea typeface="Cambria Math" panose="02040503050406030204" pitchFamily="18" charset="0"/>
                          </a:rPr>
                          <m:t>+</m:t>
                        </m:r>
                      </m:sup>
                    </m:sSup>
                  </m:oMath>
                </a14:m>
                <a:r>
                  <a:rPr kumimoji="1" lang="zh-CN" altLang="en-US" dirty="0"/>
                  <a:t>的计算是一个</a:t>
                </a:r>
                <a:r>
                  <a:rPr kumimoji="1" lang="en-US" altLang="zh-CN" dirty="0"/>
                  <a:t>NP</a:t>
                </a:r>
                <a:r>
                  <a:rPr kumimoji="1" lang="zh-CN" altLang="en-US" dirty="0"/>
                  <a:t>完全问题</a:t>
                </a:r>
                <a:endParaRPr kumimoji="1"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属性集合的闭包</a:t>
                </a:r>
                <a:endParaRPr kumimoji="1" lang="en-US" altLang="zh-CN" dirty="0"/>
              </a:p>
              <a:p>
                <a:pPr lvl="1">
                  <a:lnSpc>
                    <a:spcPct val="150000"/>
                  </a:lnSpc>
                </a:pPr>
                <a:r>
                  <a:rPr kumimoji="1" lang="zh-CN" altLang="en-US" dirty="0"/>
                  <a:t>定义</a:t>
                </a:r>
                <a:r>
                  <a:rPr kumimoji="1" lang="en-US" altLang="zh-CN" dirty="0"/>
                  <a:t>4.8</a:t>
                </a:r>
                <a:r>
                  <a:rPr kumimoji="1" lang="zh-CN" altLang="en-US" dirty="0"/>
                  <a:t>：属性集</a:t>
                </a:r>
                <a14:m>
                  <m:oMath xmlns:m="http://schemas.openxmlformats.org/officeDocument/2006/math">
                    <m:r>
                      <a:rPr kumimoji="1" lang="en-US" altLang="zh-CN" b="0" i="1" smtClean="0">
                        <a:latin typeface="Cambria Math" panose="02040503050406030204" pitchFamily="18" charset="0"/>
                      </a:rPr>
                      <m:t>𝑋</m:t>
                    </m:r>
                  </m:oMath>
                </a14:m>
                <a:r>
                  <a:rPr kumimoji="1" lang="zh-CN" altLang="en-US" dirty="0"/>
                  <a:t>关于</a:t>
                </a:r>
                <a14:m>
                  <m:oMath xmlns:m="http://schemas.openxmlformats.org/officeDocument/2006/math">
                    <m:r>
                      <a:rPr kumimoji="1" lang="en-US" altLang="zh-CN" b="0" i="1" dirty="0" smtClean="0">
                        <a:latin typeface="Cambria Math" panose="02040503050406030204" pitchFamily="18" charset="0"/>
                      </a:rPr>
                      <m:t>𝑅</m:t>
                    </m:r>
                    <m:r>
                      <a:rPr kumimoji="1" lang="en-US" altLang="zh-CN" b="0" i="1" dirty="0" smtClean="0">
                        <a:latin typeface="Cambria Math" panose="02040503050406030204" pitchFamily="18" charset="0"/>
                      </a:rPr>
                      <m:t>(</m:t>
                    </m:r>
                    <m:r>
                      <a:rPr kumimoji="1" lang="en-US" altLang="zh-CN" b="0" i="1" dirty="0" smtClean="0">
                        <a:latin typeface="Cambria Math" panose="02040503050406030204" pitchFamily="18" charset="0"/>
                      </a:rPr>
                      <m:t>𝑈</m:t>
                    </m:r>
                    <m:r>
                      <a:rPr kumimoji="1" lang="en-US" altLang="zh-CN" b="0" i="1" dirty="0" smtClean="0">
                        <a:latin typeface="Cambria Math" panose="02040503050406030204" pitchFamily="18" charset="0"/>
                      </a:rPr>
                      <m:t>,</m:t>
                    </m:r>
                    <m:r>
                      <a:rPr kumimoji="1" lang="en-US" altLang="zh-CN" b="0" i="1" dirty="0" smtClean="0">
                        <a:latin typeface="Cambria Math" panose="02040503050406030204" pitchFamily="18" charset="0"/>
                      </a:rPr>
                      <m:t>𝐹</m:t>
                    </m:r>
                    <m:r>
                      <a:rPr kumimoji="1" lang="en-US" altLang="zh-CN" b="0" i="1" dirty="0" smtClean="0">
                        <a:latin typeface="Cambria Math" panose="02040503050406030204" pitchFamily="18" charset="0"/>
                      </a:rPr>
                      <m:t>)</m:t>
                    </m:r>
                  </m:oMath>
                </a14:m>
                <a:r>
                  <a:rPr kumimoji="1" lang="zh-CN" altLang="en-US" dirty="0"/>
                  <a:t>上的函数依赖集合</a:t>
                </a:r>
                <a14:m>
                  <m:oMath xmlns:m="http://schemas.openxmlformats.org/officeDocument/2006/math">
                    <m:r>
                      <a:rPr kumimoji="1" lang="en-US" altLang="zh-CN" b="0" i="1" smtClean="0">
                        <a:latin typeface="Cambria Math" panose="02040503050406030204" pitchFamily="18" charset="0"/>
                      </a:rPr>
                      <m:t>𝐹</m:t>
                    </m:r>
                  </m:oMath>
                </a14:m>
                <a:r>
                  <a:rPr kumimoji="1" lang="zh-CN" altLang="en-US" dirty="0"/>
                  <a:t>的闭包</a:t>
                </a:r>
                <a14:m>
                  <m:oMath xmlns:m="http://schemas.openxmlformats.org/officeDocument/2006/math">
                    <m:sSup>
                      <m:sSupPr>
                        <m:ctrlPr>
                          <a:rPr kumimoji="1" lang="en-US" altLang="zh-CN" i="1" smtClean="0">
                            <a:latin typeface="Cambria Math" panose="02040503050406030204" pitchFamily="18" charset="0"/>
                          </a:rPr>
                        </m:ctrlPr>
                      </m:sSupPr>
                      <m:e>
                        <m:sSub>
                          <m:sSubPr>
                            <m:ctrlPr>
                              <a:rPr kumimoji="1" lang="en-US" altLang="zh-CN" i="1" smtClean="0">
                                <a:latin typeface="Cambria Math" panose="02040503050406030204" pitchFamily="18" charset="0"/>
                              </a:rPr>
                            </m:ctrlPr>
                          </m:sSubPr>
                          <m:e>
                            <m:r>
                              <a:rPr kumimoji="1" lang="en-US" altLang="zh-CN" b="0" i="1" smtClean="0">
                                <a:latin typeface="Cambria Math" panose="02040503050406030204" pitchFamily="18" charset="0"/>
                              </a:rPr>
                              <m:t>𝑋</m:t>
                            </m:r>
                          </m:e>
                          <m:sub>
                            <m:r>
                              <a:rPr kumimoji="1" lang="en-US" altLang="zh-CN" b="0" i="1" smtClean="0">
                                <a:latin typeface="Cambria Math" panose="02040503050406030204" pitchFamily="18" charset="0"/>
                              </a:rPr>
                              <m:t>𝐹</m:t>
                            </m:r>
                          </m:sub>
                        </m:sSub>
                      </m:e>
                      <m:sup>
                        <m:r>
                          <a:rPr kumimoji="1" lang="en-US" altLang="zh-CN" b="0" i="1" smtClean="0">
                            <a:latin typeface="Cambria Math" panose="02040503050406030204" pitchFamily="18" charset="0"/>
                          </a:rPr>
                          <m:t>+</m:t>
                        </m:r>
                      </m:sup>
                    </m:sSup>
                  </m:oMath>
                </a14:m>
                <a:r>
                  <a:rPr kumimoji="1" lang="zh-CN" altLang="en-US" dirty="0"/>
                  <a:t>定义为</a:t>
                </a:r>
                <a14:m>
                  <m:oMath xmlns:m="http://schemas.openxmlformats.org/officeDocument/2006/math">
                    <m:sSup>
                      <m:sSupPr>
                        <m:ctrlPr>
                          <a:rPr kumimoji="1" lang="en-US" altLang="zh-CN" i="1">
                            <a:latin typeface="Cambria Math" panose="02040503050406030204" pitchFamily="18" charset="0"/>
                          </a:rPr>
                        </m:ctrlPr>
                      </m:sSup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𝑋</m:t>
                            </m:r>
                          </m:e>
                          <m:sub>
                            <m:r>
                              <a:rPr kumimoji="1" lang="en-US" altLang="zh-CN" i="1">
                                <a:latin typeface="Cambria Math" panose="02040503050406030204" pitchFamily="18" charset="0"/>
                              </a:rPr>
                              <m:t>𝐹</m:t>
                            </m:r>
                          </m:sub>
                        </m:sSub>
                      </m:e>
                      <m:sup>
                        <m:r>
                          <a:rPr kumimoji="1" lang="en-US" altLang="zh-CN" i="1">
                            <a:latin typeface="Cambria Math" panose="02040503050406030204" pitchFamily="18" charset="0"/>
                          </a:rPr>
                          <m:t>+</m:t>
                        </m:r>
                      </m:sup>
                    </m:sSup>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𝑈</m:t>
                    </m:r>
                    <m:r>
                      <a:rPr kumimoji="1" lang="en-US" altLang="zh-CN" b="0" i="1" smtClean="0">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𝐹</m:t>
                    </m:r>
                    <m:r>
                      <a:rPr lang="en-US" altLang="zh-CN" i="1">
                        <a:latin typeface="Cambria Math" panose="02040503050406030204" pitchFamily="18" charset="0"/>
                        <a:ea typeface="Cambria Math" panose="02040503050406030204" pitchFamily="18" charset="0"/>
                      </a:rPr>
                      <m:t>⟹</m:t>
                    </m:r>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𝐴</m:t>
                    </m:r>
                    <m:r>
                      <a:rPr kumimoji="1" lang="en-US" altLang="zh-CN" b="0" i="1" smtClean="0">
                        <a:latin typeface="Cambria Math" panose="02040503050406030204" pitchFamily="18" charset="0"/>
                      </a:rPr>
                      <m:t>}</m:t>
                    </m:r>
                  </m:oMath>
                </a14:m>
                <a:r>
                  <a:rPr kumimoji="1" lang="zh-CN" altLang="en-US" dirty="0"/>
                  <a:t>。</a:t>
                </a:r>
                <a:endParaRPr kumimoji="1" lang="en-US" altLang="zh-CN" dirty="0"/>
              </a:p>
              <a:p>
                <a:pPr lvl="1">
                  <a:lnSpc>
                    <a:spcPct val="150000"/>
                  </a:lnSpc>
                </a:pPr>
                <a:r>
                  <a:rPr kumimoji="1" lang="zh-CN" altLang="en-US" dirty="0"/>
                  <a:t>根据</a:t>
                </a:r>
                <a:r>
                  <a:rPr kumimoji="1" lang="en-US" altLang="zh-CN" dirty="0"/>
                  <a:t>A1</a:t>
                </a:r>
                <a:r>
                  <a:rPr kumimoji="1" lang="zh-CN" altLang="en-US" dirty="0"/>
                  <a:t>（自反率）可知对于任一属性集</a:t>
                </a:r>
                <a14:m>
                  <m:oMath xmlns:m="http://schemas.openxmlformats.org/officeDocument/2006/math">
                    <m:r>
                      <a:rPr kumimoji="1" lang="en-US" altLang="zh-CN" i="1">
                        <a:latin typeface="Cambria Math" panose="02040503050406030204" pitchFamily="18" charset="0"/>
                      </a:rPr>
                      <m:t>𝑋</m:t>
                    </m:r>
                  </m:oMath>
                </a14:m>
                <a:r>
                  <a:rPr kumimoji="1" lang="zh-CN" altLang="en-US" dirty="0"/>
                  <a:t>一定有</a:t>
                </a:r>
                <a14:m>
                  <m:oMath xmlns:m="http://schemas.openxmlformats.org/officeDocument/2006/math">
                    <m:r>
                      <a:rPr kumimoji="1" lang="en-US" altLang="zh-CN" b="0" i="1" smtClean="0">
                        <a:latin typeface="Cambria Math" panose="02040503050406030204" pitchFamily="18" charset="0"/>
                      </a:rPr>
                      <m:t>𝑋</m:t>
                    </m:r>
                    <m:r>
                      <a:rPr kumimoji="1" lang="en-US" altLang="zh-CN" b="0" i="1" smtClean="0">
                        <a:latin typeface="Cambria Math" panose="02040503050406030204" pitchFamily="18" charset="0"/>
                        <a:ea typeface="Cambria Math" panose="02040503050406030204" pitchFamily="18" charset="0"/>
                      </a:rPr>
                      <m:t>⊆</m:t>
                    </m:r>
                    <m:sSup>
                      <m:sSupPr>
                        <m:ctrlPr>
                          <a:rPr kumimoji="1" lang="en-US" altLang="zh-CN" i="1">
                            <a:latin typeface="Cambria Math" panose="02040503050406030204" pitchFamily="18" charset="0"/>
                          </a:rPr>
                        </m:ctrlPr>
                      </m:sSup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𝑋</m:t>
                            </m:r>
                          </m:e>
                          <m:sub>
                            <m:r>
                              <a:rPr kumimoji="1" lang="en-US" altLang="zh-CN" i="1">
                                <a:latin typeface="Cambria Math" panose="02040503050406030204" pitchFamily="18" charset="0"/>
                              </a:rPr>
                              <m:t>𝐹</m:t>
                            </m:r>
                          </m:sub>
                        </m:sSub>
                      </m:e>
                      <m:sup>
                        <m:r>
                          <a:rPr kumimoji="1" lang="en-US" altLang="zh-CN" i="1">
                            <a:latin typeface="Cambria Math" panose="02040503050406030204" pitchFamily="18" charset="0"/>
                          </a:rPr>
                          <m:t>+</m:t>
                        </m:r>
                      </m:sup>
                    </m:sSup>
                  </m:oMath>
                </a14:m>
                <a:r>
                  <a:rPr kumimoji="1" lang="zh-CN" altLang="en-US" dirty="0"/>
                  <a:t>，此外，计算</a:t>
                </a:r>
                <a14:m>
                  <m:oMath xmlns:m="http://schemas.openxmlformats.org/officeDocument/2006/math">
                    <m:sSup>
                      <m:sSupPr>
                        <m:ctrlPr>
                          <a:rPr kumimoji="1" lang="en-US" altLang="zh-CN" i="1">
                            <a:latin typeface="Cambria Math" panose="02040503050406030204" pitchFamily="18" charset="0"/>
                          </a:rPr>
                        </m:ctrlPr>
                      </m:sSup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𝑋</m:t>
                            </m:r>
                          </m:e>
                          <m:sub>
                            <m:r>
                              <a:rPr kumimoji="1" lang="en-US" altLang="zh-CN" i="1">
                                <a:latin typeface="Cambria Math" panose="02040503050406030204" pitchFamily="18" charset="0"/>
                              </a:rPr>
                              <m:t>𝐹</m:t>
                            </m:r>
                          </m:sub>
                        </m:sSub>
                      </m:e>
                      <m:sup>
                        <m:r>
                          <a:rPr kumimoji="1" lang="en-US" altLang="zh-CN" i="1">
                            <a:latin typeface="Cambria Math" panose="02040503050406030204" pitchFamily="18" charset="0"/>
                          </a:rPr>
                          <m:t>+</m:t>
                        </m:r>
                      </m:sup>
                    </m:sSup>
                  </m:oMath>
                </a14:m>
                <a:r>
                  <a:rPr kumimoji="1" lang="zh-CN" altLang="en-US" dirty="0"/>
                  <a:t>的工作量应该远远小于计算</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𝐹</m:t>
                        </m:r>
                      </m:e>
                      <m:sup>
                        <m:r>
                          <a:rPr lang="en-US" altLang="zh-CN" i="1" dirty="0">
                            <a:latin typeface="Cambria Math" panose="02040503050406030204" pitchFamily="18" charset="0"/>
                            <a:ea typeface="Cambria Math" panose="02040503050406030204" pitchFamily="18" charset="0"/>
                          </a:rPr>
                          <m:t>+</m:t>
                        </m:r>
                      </m:sup>
                    </m:sSup>
                  </m:oMath>
                </a14:m>
                <a:r>
                  <a:rPr kumimoji="1" lang="zh-CN" altLang="en-US" dirty="0"/>
                  <a:t>的工作量，因为</a:t>
                </a:r>
                <a14:m>
                  <m:oMath xmlns:m="http://schemas.openxmlformats.org/officeDocument/2006/math">
                    <m:sSup>
                      <m:sSupPr>
                        <m:ctrlPr>
                          <a:rPr kumimoji="1" lang="en-US" altLang="zh-CN" i="1">
                            <a:latin typeface="Cambria Math" panose="02040503050406030204" pitchFamily="18" charset="0"/>
                          </a:rPr>
                        </m:ctrlPr>
                      </m:sSup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𝑋</m:t>
                            </m:r>
                          </m:e>
                          <m:sub>
                            <m:r>
                              <a:rPr kumimoji="1" lang="en-US" altLang="zh-CN" i="1">
                                <a:latin typeface="Cambria Math" panose="02040503050406030204" pitchFamily="18" charset="0"/>
                              </a:rPr>
                              <m:t>𝐹</m:t>
                            </m:r>
                          </m:sub>
                        </m:sSub>
                      </m:e>
                      <m:sup>
                        <m:r>
                          <a:rPr kumimoji="1" lang="en-US" altLang="zh-CN" i="1">
                            <a:latin typeface="Cambria Math" panose="02040503050406030204" pitchFamily="18" charset="0"/>
                          </a:rPr>
                          <m:t>+</m:t>
                        </m:r>
                      </m:sup>
                    </m:sSup>
                  </m:oMath>
                </a14:m>
                <a:r>
                  <a:rPr kumimoji="1" lang="zh-CN" altLang="en-US" dirty="0"/>
                  <a:t>中的属性一定是可数的，最多就是属性全集</a:t>
                </a:r>
                <a14:m>
                  <m:oMath xmlns:m="http://schemas.openxmlformats.org/officeDocument/2006/math">
                    <m:r>
                      <a:rPr kumimoji="1" lang="en-US" altLang="zh-CN" i="1" dirty="0">
                        <a:latin typeface="Cambria Math" panose="02040503050406030204" pitchFamily="18" charset="0"/>
                      </a:rPr>
                      <m:t>𝑈</m:t>
                    </m:r>
                  </m:oMath>
                </a14:m>
                <a:r>
                  <a:rPr kumimoji="1" lang="zh-CN" altLang="en-US" dirty="0"/>
                  <a:t>而已。</a:t>
                </a:r>
                <a:endParaRPr kumimoji="1"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lnSpcReduction="10000"/>
              </a:bodyPr>
              <a:lstStyle/>
              <a:p>
                <a:r>
                  <a:rPr kumimoji="1" lang="zh-CN" altLang="en-US" dirty="0"/>
                  <a:t>属性集合的闭包</a:t>
                </a:r>
                <a:endParaRPr kumimoji="1" lang="en-US" altLang="zh-CN" dirty="0"/>
              </a:p>
              <a:p>
                <a:pPr lvl="1">
                  <a:lnSpc>
                    <a:spcPct val="150000"/>
                  </a:lnSpc>
                </a:pPr>
                <a:r>
                  <a:rPr kumimoji="1" lang="zh-CN" altLang="en-US" dirty="0"/>
                  <a:t>引理</a:t>
                </a:r>
                <a:r>
                  <a:rPr kumimoji="1" lang="en-US" altLang="zh-CN" dirty="0"/>
                  <a:t>4.2</a:t>
                </a:r>
                <a:r>
                  <a:rPr kumimoji="1" lang="zh-CN" altLang="en-US" dirty="0"/>
                  <a:t>：</a:t>
                </a:r>
                <a14:m>
                  <m:oMath xmlns:m="http://schemas.openxmlformats.org/officeDocument/2006/math">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𝑌</m:t>
                    </m:r>
                  </m:oMath>
                </a14:m>
                <a:r>
                  <a:rPr kumimoji="1" lang="zh-CN" altLang="en-US" dirty="0"/>
                  <a:t>可由</a:t>
                </a:r>
                <a:r>
                  <a:rPr kumimoji="1" lang="en-US" altLang="zh-CN" dirty="0"/>
                  <a:t>Armstrong</a:t>
                </a:r>
                <a:r>
                  <a:rPr kumimoji="1" lang="zh-CN" altLang="en-US" dirty="0"/>
                  <a:t>公理推出的充分必要条件是</a:t>
                </a:r>
                <a14:m>
                  <m:oMath xmlns:m="http://schemas.openxmlformats.org/officeDocument/2006/math">
                    <m:r>
                      <a:rPr kumimoji="1" lang="en-US" altLang="zh-CN" b="0" i="1" smtClean="0">
                        <a:latin typeface="Cambria Math" panose="02040503050406030204" pitchFamily="18" charset="0"/>
                      </a:rPr>
                      <m:t>𝑌</m:t>
                    </m:r>
                  </m:oMath>
                </a14:m>
                <a:r>
                  <a:rPr kumimoji="1" lang="en-US" altLang="zh-CN" dirty="0">
                    <a:ea typeface="Cambria Math" panose="02040503050406030204" pitchFamily="18" charset="0"/>
                  </a:rPr>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sSup>
                      <m:sSupPr>
                        <m:ctrlPr>
                          <a:rPr kumimoji="1" lang="en-US" altLang="zh-CN" i="1">
                            <a:latin typeface="Cambria Math" panose="02040503050406030204" pitchFamily="18" charset="0"/>
                          </a:rPr>
                        </m:ctrlPr>
                      </m:sSup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𝑋</m:t>
                            </m:r>
                          </m:e>
                          <m:sub>
                            <m:r>
                              <a:rPr kumimoji="1" lang="en-US" altLang="zh-CN" i="1">
                                <a:latin typeface="Cambria Math" panose="02040503050406030204" pitchFamily="18" charset="0"/>
                              </a:rPr>
                              <m:t>𝐹</m:t>
                            </m:r>
                          </m:sub>
                        </m:sSub>
                      </m:e>
                      <m:sup>
                        <m:r>
                          <a:rPr kumimoji="1" lang="en-US" altLang="zh-CN" i="1">
                            <a:latin typeface="Cambria Math" panose="02040503050406030204" pitchFamily="18" charset="0"/>
                          </a:rPr>
                          <m:t>+</m:t>
                        </m:r>
                      </m:sup>
                    </m:sSup>
                  </m:oMath>
                </a14:m>
                <a:r>
                  <a:rPr kumimoji="1" lang="zh-CN" altLang="en-US" dirty="0"/>
                  <a:t>。</a:t>
                </a:r>
                <a:endParaRPr kumimoji="1" lang="en-US" altLang="zh-CN" dirty="0"/>
              </a:p>
              <a:p>
                <a:pPr marL="457200" lvl="1" indent="0">
                  <a:lnSpc>
                    <a:spcPct val="150000"/>
                  </a:lnSpc>
                  <a:buNone/>
                </a:pPr>
                <a:r>
                  <a:rPr kumimoji="1" lang="zh-CN" altLang="en-US" dirty="0"/>
                  <a:t> </a:t>
                </a:r>
                <a:r>
                  <a:rPr kumimoji="1" lang="zh-CN" altLang="en-US" dirty="0">
                    <a:solidFill>
                      <a:srgbClr val="C00000"/>
                    </a:solidFill>
                  </a:rPr>
                  <a:t>证：</a:t>
                </a:r>
                <a:endParaRPr kumimoji="1" lang="en-US" altLang="zh-CN" dirty="0">
                  <a:solidFill>
                    <a:srgbClr val="C00000"/>
                  </a:solidFill>
                </a:endParaRPr>
              </a:p>
              <a:p>
                <a:pPr marL="528955" lvl="1" indent="0">
                  <a:lnSpc>
                    <a:spcPct val="150000"/>
                  </a:lnSpc>
                  <a:buNone/>
                </a:pPr>
                <a:r>
                  <a:rPr kumimoji="1" lang="zh-CN" altLang="en-US" sz="2200" b="1" dirty="0"/>
                  <a:t>充分性：</a:t>
                </a:r>
                <a:r>
                  <a:rPr kumimoji="1" lang="zh-CN" altLang="en-US" sz="2200" dirty="0"/>
                  <a:t>已知</a:t>
                </a:r>
                <a14:m>
                  <m:oMath xmlns:m="http://schemas.openxmlformats.org/officeDocument/2006/math">
                    <m:r>
                      <a:rPr kumimoji="1" lang="en-US" altLang="zh-CN" sz="2200" i="1">
                        <a:latin typeface="Cambria Math" panose="02040503050406030204" pitchFamily="18" charset="0"/>
                      </a:rPr>
                      <m:t>𝑌</m:t>
                    </m:r>
                  </m:oMath>
                </a14:m>
                <a:r>
                  <a:rPr kumimoji="1" lang="en-US" altLang="zh-CN" sz="2200" dirty="0">
                    <a:ea typeface="Cambria Math" panose="02040503050406030204" pitchFamily="18" charset="0"/>
                  </a:rPr>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sSup>
                      <m:sSupPr>
                        <m:ctrlPr>
                          <a:rPr kumimoji="1" lang="en-US" altLang="zh-CN" sz="2200" i="1">
                            <a:latin typeface="Cambria Math" panose="02040503050406030204" pitchFamily="18" charset="0"/>
                          </a:rPr>
                        </m:ctrlPr>
                      </m:sSupPr>
                      <m:e>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𝑋</m:t>
                            </m:r>
                          </m:e>
                          <m:sub>
                            <m:r>
                              <a:rPr kumimoji="1" lang="en-US" altLang="zh-CN" sz="2200" i="1">
                                <a:latin typeface="Cambria Math" panose="02040503050406030204" pitchFamily="18" charset="0"/>
                              </a:rPr>
                              <m:t>𝐹</m:t>
                            </m:r>
                          </m:sub>
                        </m:sSub>
                      </m:e>
                      <m:sup>
                        <m:r>
                          <a:rPr kumimoji="1" lang="en-US" altLang="zh-CN" sz="2200" i="1">
                            <a:latin typeface="Cambria Math" panose="02040503050406030204" pitchFamily="18" charset="0"/>
                          </a:rPr>
                          <m:t>+</m:t>
                        </m:r>
                      </m:sup>
                    </m:sSup>
                  </m:oMath>
                </a14:m>
                <a:r>
                  <a:rPr kumimoji="1" lang="zh-CN" altLang="en-US" sz="2200" dirty="0"/>
                  <a:t>成立，要证</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en-US" altLang="zh-CN" sz="2200" i="1" noProof="1">
                        <a:latin typeface="Cambria Math" panose="02040503050406030204" pitchFamily="18" charset="0"/>
                        <a:cs typeface="+mn-ea"/>
                      </a:rPr>
                      <m:t>𝑌</m:t>
                    </m:r>
                  </m:oMath>
                </a14:m>
                <a:r>
                  <a:rPr kumimoji="1" lang="zh-CN" altLang="en-US" sz="2200" dirty="0"/>
                  <a:t>可由</a:t>
                </a:r>
                <a:r>
                  <a:rPr kumimoji="1" lang="en-US" altLang="zh-CN" sz="2200" dirty="0"/>
                  <a:t>Armstrong</a:t>
                </a:r>
                <a:r>
                  <a:rPr kumimoji="1" lang="zh-CN" altLang="en-US" sz="2200" dirty="0"/>
                  <a:t>公理推出。设</a:t>
                </a:r>
                <a14:m>
                  <m:oMath xmlns:m="http://schemas.openxmlformats.org/officeDocument/2006/math">
                    <m:r>
                      <a:rPr kumimoji="1" lang="en-US" altLang="zh-CN" sz="2200" b="0" i="1" smtClean="0">
                        <a:latin typeface="Cambria Math" panose="02040503050406030204" pitchFamily="18" charset="0"/>
                      </a:rPr>
                      <m:t>𝑌</m:t>
                    </m:r>
                    <m:r>
                      <a:rPr kumimoji="1" lang="en-US" altLang="zh-CN" sz="2200" b="0" i="1" smtClean="0">
                        <a:latin typeface="Cambria Math" panose="02040503050406030204" pitchFamily="18" charset="0"/>
                      </a:rPr>
                      <m:t>=</m:t>
                    </m:r>
                    <m:sSub>
                      <m:sSubPr>
                        <m:ctrlPr>
                          <a:rPr kumimoji="1" lang="en-US" altLang="zh-CN" sz="2200" b="0" i="1" smtClean="0">
                            <a:latin typeface="Cambria Math" panose="02040503050406030204" pitchFamily="18" charset="0"/>
                          </a:rPr>
                        </m:ctrlPr>
                      </m:sSubPr>
                      <m:e>
                        <m:r>
                          <a:rPr kumimoji="1" lang="en-US" altLang="zh-CN" sz="2200" b="0" i="1" smtClean="0">
                            <a:latin typeface="Cambria Math" panose="02040503050406030204" pitchFamily="18" charset="0"/>
                          </a:rPr>
                          <m:t>𝐵</m:t>
                        </m:r>
                      </m:e>
                      <m:sub>
                        <m:r>
                          <a:rPr kumimoji="1" lang="en-US" altLang="zh-CN" sz="2200" b="0" i="1" smtClean="0">
                            <a:latin typeface="Cambria Math" panose="02040503050406030204" pitchFamily="18" charset="0"/>
                          </a:rPr>
                          <m:t>1</m:t>
                        </m:r>
                      </m:sub>
                    </m:sSub>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𝐵</m:t>
                        </m:r>
                      </m:e>
                      <m:sub>
                        <m:r>
                          <a:rPr kumimoji="1" lang="en-US" altLang="zh-CN" sz="2200" b="0" i="1" smtClean="0">
                            <a:latin typeface="Cambria Math" panose="02040503050406030204" pitchFamily="18" charset="0"/>
                          </a:rPr>
                          <m:t>2</m:t>
                        </m:r>
                      </m:sub>
                    </m:sSub>
                    <m:sSub>
                      <m:sSubPr>
                        <m:ctrlPr>
                          <a:rPr kumimoji="1" lang="en-US" altLang="zh-CN" sz="2200" i="1">
                            <a:latin typeface="Cambria Math" panose="02040503050406030204" pitchFamily="18" charset="0"/>
                          </a:rPr>
                        </m:ctrlPr>
                      </m:sSubPr>
                      <m:e>
                        <m:r>
                          <a:rPr kumimoji="1" lang="en-US" altLang="zh-CN" sz="2200" b="0" i="1" smtClean="0">
                            <a:latin typeface="Cambria Math" panose="02040503050406030204" pitchFamily="18" charset="0"/>
                          </a:rPr>
                          <m:t>…</m:t>
                        </m:r>
                        <m:r>
                          <a:rPr kumimoji="1" lang="en-US" altLang="zh-CN" sz="2200" i="1">
                            <a:latin typeface="Cambria Math" panose="02040503050406030204" pitchFamily="18" charset="0"/>
                          </a:rPr>
                          <m:t>𝐵</m:t>
                        </m:r>
                      </m:e>
                      <m:sub>
                        <m:r>
                          <a:rPr kumimoji="1" lang="en-US" altLang="zh-CN" sz="2200" b="0" i="1" smtClean="0">
                            <a:latin typeface="Cambria Math" panose="02040503050406030204" pitchFamily="18" charset="0"/>
                          </a:rPr>
                          <m:t>𝑛</m:t>
                        </m:r>
                      </m:sub>
                    </m:sSub>
                  </m:oMath>
                </a14:m>
                <a:r>
                  <a:rPr kumimoji="1" lang="zh-CN" altLang="en-US" sz="2200" dirty="0"/>
                  <a:t>，则有</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𝐵</m:t>
                        </m:r>
                      </m:e>
                      <m:sub>
                        <m:r>
                          <a:rPr kumimoji="1" lang="en-US" altLang="zh-CN" sz="2200" i="1">
                            <a:latin typeface="Cambria Math" panose="02040503050406030204" pitchFamily="18" charset="0"/>
                          </a:rPr>
                          <m:t>1</m:t>
                        </m:r>
                      </m:sub>
                    </m:sSub>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𝐵</m:t>
                        </m:r>
                      </m:e>
                      <m:sub>
                        <m:r>
                          <a:rPr kumimoji="1" lang="en-US" altLang="zh-CN" sz="2200" i="1">
                            <a:latin typeface="Cambria Math" panose="02040503050406030204" pitchFamily="18" charset="0"/>
                          </a:rPr>
                          <m:t>2</m:t>
                        </m:r>
                      </m:sub>
                    </m:sSub>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m:t>
                        </m:r>
                        <m:r>
                          <a:rPr kumimoji="1" lang="en-US" altLang="zh-CN" sz="2200" i="1">
                            <a:latin typeface="Cambria Math" panose="02040503050406030204" pitchFamily="18" charset="0"/>
                          </a:rPr>
                          <m:t>𝐵</m:t>
                        </m:r>
                      </m:e>
                      <m:sub>
                        <m:r>
                          <a:rPr kumimoji="1" lang="en-US" altLang="zh-CN" sz="2200" i="1">
                            <a:latin typeface="Cambria Math" panose="02040503050406030204" pitchFamily="18" charset="0"/>
                          </a:rPr>
                          <m:t>𝑛</m:t>
                        </m:r>
                      </m:sub>
                    </m:sSub>
                  </m:oMath>
                </a14:m>
                <a:r>
                  <a:rPr kumimoji="1" lang="en-US" altLang="zh-CN" sz="2200" dirty="0">
                    <a:ea typeface="Cambria Math" panose="02040503050406030204" pitchFamily="18" charset="0"/>
                  </a:rPr>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sSup>
                      <m:sSupPr>
                        <m:ctrlPr>
                          <a:rPr kumimoji="1" lang="en-US" altLang="zh-CN" sz="2200" i="1">
                            <a:latin typeface="Cambria Math" panose="02040503050406030204" pitchFamily="18" charset="0"/>
                          </a:rPr>
                        </m:ctrlPr>
                      </m:sSupPr>
                      <m:e>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𝑋</m:t>
                            </m:r>
                          </m:e>
                          <m:sub>
                            <m:r>
                              <a:rPr kumimoji="1" lang="en-US" altLang="zh-CN" sz="2200" i="1">
                                <a:latin typeface="Cambria Math" panose="02040503050406030204" pitchFamily="18" charset="0"/>
                              </a:rPr>
                              <m:t>𝐹</m:t>
                            </m:r>
                          </m:sub>
                        </m:sSub>
                      </m:e>
                      <m:sup>
                        <m:r>
                          <a:rPr kumimoji="1" lang="en-US" altLang="zh-CN" sz="2200" i="1">
                            <a:latin typeface="Cambria Math" panose="02040503050406030204" pitchFamily="18" charset="0"/>
                          </a:rPr>
                          <m:t>+</m:t>
                        </m:r>
                      </m:sup>
                    </m:sSup>
                  </m:oMath>
                </a14:m>
                <a:r>
                  <a:rPr kumimoji="1" lang="zh-CN" altLang="en-US" sz="2200" dirty="0"/>
                  <a:t>，于是有</a:t>
                </a:r>
                <a14:m>
                  <m:oMath xmlns:m="http://schemas.openxmlformats.org/officeDocument/2006/math">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𝐵</m:t>
                        </m:r>
                      </m:e>
                      <m:sub>
                        <m:r>
                          <a:rPr kumimoji="1" lang="en-US" altLang="zh-CN" sz="2200" b="0" i="1" smtClean="0">
                            <a:latin typeface="Cambria Math" panose="02040503050406030204" pitchFamily="18" charset="0"/>
                          </a:rPr>
                          <m:t>𝑖</m:t>
                        </m:r>
                      </m:sub>
                    </m:sSub>
                  </m:oMath>
                </a14:m>
                <a:r>
                  <a:rPr kumimoji="1" lang="en-US" altLang="zh-CN" sz="2200" dirty="0">
                    <a:ea typeface="Cambria Math" panose="02040503050406030204" pitchFamily="18" charset="0"/>
                  </a:rPr>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sSup>
                      <m:sSupPr>
                        <m:ctrlPr>
                          <a:rPr kumimoji="1" lang="en-US" altLang="zh-CN" sz="2200" i="1">
                            <a:latin typeface="Cambria Math" panose="02040503050406030204" pitchFamily="18" charset="0"/>
                          </a:rPr>
                        </m:ctrlPr>
                      </m:sSupPr>
                      <m:e>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𝑋</m:t>
                            </m:r>
                          </m:e>
                          <m:sub>
                            <m:r>
                              <a:rPr kumimoji="1" lang="en-US" altLang="zh-CN" sz="2200" i="1">
                                <a:latin typeface="Cambria Math" panose="02040503050406030204" pitchFamily="18" charset="0"/>
                              </a:rPr>
                              <m:t>𝐹</m:t>
                            </m:r>
                          </m:sub>
                        </m:sSub>
                      </m:e>
                      <m:sup>
                        <m:r>
                          <a:rPr kumimoji="1" lang="en-US" altLang="zh-CN" sz="2200" i="1">
                            <a:latin typeface="Cambria Math" panose="02040503050406030204" pitchFamily="18" charset="0"/>
                          </a:rPr>
                          <m:t>+</m:t>
                        </m:r>
                      </m:sup>
                    </m:sSup>
                    <m:r>
                      <a:rPr kumimoji="1" lang="en-US" altLang="zh-CN" sz="2200" b="0" i="1" smtClean="0">
                        <a:latin typeface="Cambria Math" panose="02040503050406030204" pitchFamily="18" charset="0"/>
                      </a:rPr>
                      <m:t>(</m:t>
                    </m:r>
                    <m:r>
                      <a:rPr kumimoji="1" lang="en-US" altLang="zh-CN" sz="2200" b="0" i="1" smtClean="0">
                        <a:latin typeface="Cambria Math" panose="02040503050406030204" pitchFamily="18" charset="0"/>
                      </a:rPr>
                      <m:t>1</m:t>
                    </m:r>
                    <m:r>
                      <a:rPr kumimoji="1" lang="en-US" altLang="zh-CN" sz="2200" b="0" i="1" smtClean="0">
                        <a:latin typeface="Cambria Math" panose="02040503050406030204" pitchFamily="18" charset="0"/>
                        <a:ea typeface="Cambria Math" panose="02040503050406030204" pitchFamily="18" charset="0"/>
                      </a:rPr>
                      <m:t>≤</m:t>
                    </m:r>
                    <m:r>
                      <a:rPr kumimoji="1" lang="en-US" altLang="zh-CN" sz="2200" b="0" i="1" smtClean="0">
                        <a:latin typeface="Cambria Math" panose="02040503050406030204" pitchFamily="18" charset="0"/>
                        <a:ea typeface="Cambria Math" panose="02040503050406030204" pitchFamily="18" charset="0"/>
                      </a:rPr>
                      <m:t>𝑖</m:t>
                    </m:r>
                    <m:r>
                      <a:rPr kumimoji="1" lang="en-US" altLang="zh-CN" sz="2200" b="0" i="1" smtClean="0">
                        <a:latin typeface="Cambria Math" panose="02040503050406030204" pitchFamily="18" charset="0"/>
                        <a:ea typeface="Cambria Math" panose="02040503050406030204" pitchFamily="18" charset="0"/>
                      </a:rPr>
                      <m:t>≤</m:t>
                    </m:r>
                    <m:r>
                      <a:rPr kumimoji="1" lang="en-US" altLang="zh-CN" sz="2200" b="0" i="1" smtClean="0">
                        <a:latin typeface="Cambria Math" panose="02040503050406030204" pitchFamily="18" charset="0"/>
                        <a:ea typeface="Cambria Math" panose="02040503050406030204" pitchFamily="18" charset="0"/>
                      </a:rPr>
                      <m:t>𝑛</m:t>
                    </m:r>
                    <m:r>
                      <a:rPr kumimoji="1" lang="en-US" altLang="zh-CN" sz="2200" b="0" i="1" smtClean="0">
                        <a:latin typeface="Cambria Math" panose="02040503050406030204" pitchFamily="18" charset="0"/>
                      </a:rPr>
                      <m:t>)</m:t>
                    </m:r>
                  </m:oMath>
                </a14:m>
                <a:r>
                  <a:rPr kumimoji="1" lang="zh-CN" altLang="en-US" sz="2200" dirty="0"/>
                  <a:t>，按照定义</a:t>
                </a:r>
                <a:r>
                  <a:rPr kumimoji="1" lang="en-US" altLang="zh-CN" sz="2200" dirty="0"/>
                  <a:t>4.6</a:t>
                </a:r>
                <a:r>
                  <a:rPr kumimoji="1" lang="zh-CN" altLang="en-US" sz="2200" dirty="0"/>
                  <a:t>可知</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𝐵</m:t>
                        </m:r>
                      </m:e>
                      <m:sub>
                        <m:r>
                          <a:rPr kumimoji="1" lang="en-US" altLang="zh-CN" sz="2200" i="1">
                            <a:latin typeface="Cambria Math" panose="02040503050406030204" pitchFamily="18" charset="0"/>
                          </a:rPr>
                          <m:t>𝑖</m:t>
                        </m:r>
                      </m:sub>
                    </m:sSub>
                  </m:oMath>
                </a14:m>
                <a:r>
                  <a:rPr kumimoji="1" lang="zh-CN" altLang="en-US" sz="2200" dirty="0"/>
                  <a:t>可由</a:t>
                </a:r>
                <a:r>
                  <a:rPr kumimoji="1" lang="en-US" altLang="zh-CN" sz="2200" dirty="0"/>
                  <a:t>Armstrong</a:t>
                </a:r>
                <a:r>
                  <a:rPr kumimoji="1" lang="zh-CN" altLang="en-US" sz="2200" dirty="0"/>
                  <a:t>公理推出，再根据合并规则及</a:t>
                </a:r>
                <a14:m>
                  <m:oMath xmlns:m="http://schemas.openxmlformats.org/officeDocument/2006/math">
                    <m:r>
                      <a:rPr kumimoji="1" lang="en-US" altLang="zh-CN" sz="2200" b="0" i="1" smtClean="0">
                        <a:latin typeface="Cambria Math" panose="02040503050406030204" pitchFamily="18" charset="0"/>
                      </a:rPr>
                      <m:t>𝑖</m:t>
                    </m:r>
                  </m:oMath>
                </a14:m>
                <a:r>
                  <a:rPr kumimoji="1" lang="zh-CN" altLang="en-US" sz="2200" dirty="0"/>
                  <a:t>的任意性可得</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𝐵</m:t>
                        </m:r>
                      </m:e>
                      <m:sub>
                        <m:r>
                          <a:rPr kumimoji="1" lang="en-US" altLang="zh-CN" sz="2200" i="1">
                            <a:latin typeface="Cambria Math" panose="02040503050406030204" pitchFamily="18" charset="0"/>
                          </a:rPr>
                          <m:t>1</m:t>
                        </m:r>
                      </m:sub>
                    </m:sSub>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𝐵</m:t>
                        </m:r>
                      </m:e>
                      <m:sub>
                        <m:r>
                          <a:rPr kumimoji="1" lang="en-US" altLang="zh-CN" sz="2200" i="1">
                            <a:latin typeface="Cambria Math" panose="02040503050406030204" pitchFamily="18" charset="0"/>
                          </a:rPr>
                          <m:t>2</m:t>
                        </m:r>
                      </m:sub>
                    </m:sSub>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m:t>
                        </m:r>
                        <m:r>
                          <a:rPr kumimoji="1" lang="en-US" altLang="zh-CN" sz="2200" i="1">
                            <a:latin typeface="Cambria Math" panose="02040503050406030204" pitchFamily="18" charset="0"/>
                          </a:rPr>
                          <m:t>𝐵</m:t>
                        </m:r>
                      </m:e>
                      <m:sub>
                        <m:r>
                          <a:rPr kumimoji="1" lang="en-US" altLang="zh-CN" sz="2200" i="1">
                            <a:latin typeface="Cambria Math" panose="02040503050406030204" pitchFamily="18" charset="0"/>
                          </a:rPr>
                          <m:t>𝑛</m:t>
                        </m:r>
                      </m:sub>
                    </m:sSub>
                  </m:oMath>
                </a14:m>
                <a:r>
                  <a:rPr kumimoji="1" lang="zh-CN" altLang="en-US" sz="2200" dirty="0"/>
                  <a:t>可由</a:t>
                </a:r>
                <a:r>
                  <a:rPr kumimoji="1" lang="en-US" altLang="zh-CN" sz="2200" dirty="0"/>
                  <a:t>Armstrong</a:t>
                </a:r>
                <a:r>
                  <a:rPr kumimoji="1" lang="zh-CN" altLang="en-US" sz="2200" dirty="0"/>
                  <a:t>公理推出，即</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en-US" altLang="zh-CN" sz="2200" i="1" noProof="1">
                        <a:latin typeface="Cambria Math" panose="02040503050406030204" pitchFamily="18" charset="0"/>
                        <a:cs typeface="+mn-ea"/>
                      </a:rPr>
                      <m:t>𝑌</m:t>
                    </m:r>
                  </m:oMath>
                </a14:m>
                <a:r>
                  <a:rPr kumimoji="1" lang="zh-CN" altLang="en-US" sz="2200" dirty="0"/>
                  <a:t>可由</a:t>
                </a:r>
                <a:r>
                  <a:rPr kumimoji="1" lang="en-US" altLang="zh-CN" sz="2200" dirty="0"/>
                  <a:t>Armstrong</a:t>
                </a:r>
                <a:r>
                  <a:rPr kumimoji="1" lang="zh-CN" altLang="en-US" sz="2200" dirty="0"/>
                  <a:t>公理推出；</a:t>
                </a:r>
                <a:endParaRPr kumimoji="1" lang="en-US" altLang="zh-CN" sz="2200" dirty="0"/>
              </a:p>
              <a:p>
                <a:pPr marL="528955" lvl="1" indent="0">
                  <a:lnSpc>
                    <a:spcPct val="150000"/>
                  </a:lnSpc>
                  <a:buNone/>
                </a:pPr>
                <a:r>
                  <a:rPr kumimoji="1" lang="zh-CN" altLang="en-US" sz="2200" b="1" dirty="0"/>
                  <a:t>必要性：</a:t>
                </a:r>
                <a:r>
                  <a:rPr kumimoji="1" lang="zh-CN" altLang="en-US" sz="2200" dirty="0"/>
                  <a:t>已知</a:t>
                </a:r>
                <a14:m>
                  <m:oMath xmlns:m="http://schemas.openxmlformats.org/officeDocument/2006/math">
                    <m:r>
                      <a:rPr lang="zh-CN" altLang="en-US" sz="2200" i="1" noProof="1">
                        <a:latin typeface="Cambria Math" panose="02040503050406030204" pitchFamily="18" charset="0"/>
                        <a:cs typeface="+mn-ea"/>
                      </a:rPr>
                      <m:t>𝑋</m:t>
                    </m:r>
                    <m:r>
                      <a:rPr lang="zh-CN" altLang="en-US" sz="2200" i="1" noProof="1">
                        <a:latin typeface="Cambria Math" panose="02040503050406030204" pitchFamily="18" charset="0"/>
                        <a:cs typeface="+mn-ea"/>
                      </a:rPr>
                      <m:t>→</m:t>
                    </m:r>
                    <m:r>
                      <a:rPr lang="en-US" altLang="zh-CN" sz="2200" i="1" noProof="1">
                        <a:latin typeface="Cambria Math" panose="02040503050406030204" pitchFamily="18" charset="0"/>
                        <a:cs typeface="+mn-ea"/>
                      </a:rPr>
                      <m:t>𝑌</m:t>
                    </m:r>
                  </m:oMath>
                </a14:m>
                <a:r>
                  <a:rPr kumimoji="1" lang="zh-CN" altLang="en-US" sz="2200" dirty="0"/>
                  <a:t>可由</a:t>
                </a:r>
                <a:r>
                  <a:rPr kumimoji="1" lang="en-US" altLang="zh-CN" sz="2200" dirty="0"/>
                  <a:t>Armstrong</a:t>
                </a:r>
                <a:r>
                  <a:rPr kumimoji="1" lang="zh-CN" altLang="en-US" sz="2200" dirty="0"/>
                  <a:t>公理推出，要证</a:t>
                </a:r>
                <a14:m>
                  <m:oMath xmlns:m="http://schemas.openxmlformats.org/officeDocument/2006/math">
                    <m:r>
                      <a:rPr kumimoji="1" lang="en-US" altLang="zh-CN" sz="2200" i="1">
                        <a:latin typeface="Cambria Math" panose="02040503050406030204" pitchFamily="18" charset="0"/>
                      </a:rPr>
                      <m:t>𝑌</m:t>
                    </m:r>
                  </m:oMath>
                </a14:m>
                <a:r>
                  <a:rPr kumimoji="1" lang="en-US" altLang="zh-CN" sz="2200" dirty="0">
                    <a:ea typeface="Cambria Math" panose="02040503050406030204" pitchFamily="18" charset="0"/>
                  </a:rPr>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sSup>
                      <m:sSupPr>
                        <m:ctrlPr>
                          <a:rPr kumimoji="1" lang="en-US" altLang="zh-CN" sz="2200" i="1">
                            <a:latin typeface="Cambria Math" panose="02040503050406030204" pitchFamily="18" charset="0"/>
                          </a:rPr>
                        </m:ctrlPr>
                      </m:sSupPr>
                      <m:e>
                        <m:sSub>
                          <m:sSubPr>
                            <m:ctrlPr>
                              <a:rPr kumimoji="1" lang="en-US" altLang="zh-CN" sz="2200" i="1">
                                <a:latin typeface="Cambria Math" panose="02040503050406030204" pitchFamily="18" charset="0"/>
                              </a:rPr>
                            </m:ctrlPr>
                          </m:sSubPr>
                          <m:e>
                            <m:r>
                              <a:rPr kumimoji="1" lang="en-US" altLang="zh-CN" sz="2200" i="1">
                                <a:latin typeface="Cambria Math" panose="02040503050406030204" pitchFamily="18" charset="0"/>
                              </a:rPr>
                              <m:t>𝑋</m:t>
                            </m:r>
                          </m:e>
                          <m:sub>
                            <m:r>
                              <a:rPr kumimoji="1" lang="en-US" altLang="zh-CN" sz="2200" i="1">
                                <a:latin typeface="Cambria Math" panose="02040503050406030204" pitchFamily="18" charset="0"/>
                              </a:rPr>
                              <m:t>𝐹</m:t>
                            </m:r>
                          </m:sub>
                        </m:sSub>
                      </m:e>
                      <m:sup>
                        <m:r>
                          <a:rPr kumimoji="1" lang="en-US" altLang="zh-CN" sz="2200" i="1">
                            <a:latin typeface="Cambria Math" panose="02040503050406030204" pitchFamily="18" charset="0"/>
                          </a:rPr>
                          <m:t>+</m:t>
                        </m:r>
                      </m:sup>
                    </m:sSup>
                  </m:oMath>
                </a14:m>
                <a:r>
                  <a:rPr kumimoji="1" lang="zh-CN" altLang="en-US" sz="2200" dirty="0"/>
                  <a:t>。类似于充分性的证明，利用分解规则可证。</a:t>
                </a:r>
                <a:endParaRPr kumimoji="1" lang="zh-CN" altLang="en-US" sz="2200"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lnSpcReduction="10000"/>
              </a:bodyPr>
              <a:lstStyle/>
              <a:p>
                <a:r>
                  <a:rPr kumimoji="1" lang="zh-CN" altLang="en-US" dirty="0"/>
                  <a:t>属性集的闭包</a:t>
                </a:r>
                <a:endParaRPr kumimoji="1" lang="en-US" altLang="zh-CN" dirty="0"/>
              </a:p>
              <a:p>
                <a:pPr lvl="1"/>
                <a:r>
                  <a:rPr kumimoji="1" lang="zh-CN" altLang="en-US" dirty="0"/>
                  <a:t>算法</a:t>
                </a:r>
                <a:r>
                  <a:rPr kumimoji="1" lang="en-US" altLang="zh-CN" dirty="0"/>
                  <a:t>4.1</a:t>
                </a:r>
                <a:r>
                  <a:rPr kumimoji="1" lang="zh-CN" altLang="en-US" dirty="0"/>
                  <a:t>：求属性集</a:t>
                </a:r>
                <a14:m>
                  <m:oMath xmlns:m="http://schemas.openxmlformats.org/officeDocument/2006/math">
                    <m:r>
                      <a:rPr kumimoji="1" lang="en-US" altLang="zh-CN" b="0" i="1" smtClean="0">
                        <a:latin typeface="Cambria Math" panose="02040503050406030204" pitchFamily="18" charset="0"/>
                      </a:rPr>
                      <m:t>𝑋</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𝑋</m:t>
                    </m:r>
                    <m:r>
                      <a:rPr kumimoji="1" lang="en-US" altLang="zh-CN" b="0" i="1" smtClean="0">
                        <a:latin typeface="Cambria Math" panose="02040503050406030204" pitchFamily="18" charset="0"/>
                        <a:ea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𝑈</m:t>
                    </m:r>
                    <m:r>
                      <a:rPr kumimoji="1" lang="en-US" altLang="zh-CN" b="0" i="1" smtClean="0">
                        <a:latin typeface="Cambria Math" panose="02040503050406030204" pitchFamily="18" charset="0"/>
                      </a:rPr>
                      <m:t>)</m:t>
                    </m:r>
                  </m:oMath>
                </a14:m>
                <a:r>
                  <a:rPr kumimoji="1" lang="zh-CN" altLang="en-US" dirty="0"/>
                  <a:t>关于</a:t>
                </a:r>
                <a14:m>
                  <m:oMath xmlns:m="http://schemas.openxmlformats.org/officeDocument/2006/math">
                    <m:r>
                      <a:rPr kumimoji="1" lang="en-US" altLang="zh-CN" b="0" i="1" dirty="0" smtClean="0">
                        <a:latin typeface="Cambria Math" panose="02040503050406030204" pitchFamily="18" charset="0"/>
                      </a:rPr>
                      <m:t>𝑈</m:t>
                    </m:r>
                    <m:r>
                      <a:rPr kumimoji="1" lang="en-US" altLang="zh-CN" b="0" i="1" dirty="0" smtClean="0">
                        <a:latin typeface="Cambria Math" panose="02040503050406030204" pitchFamily="18" charset="0"/>
                      </a:rPr>
                      <m:t> </m:t>
                    </m:r>
                  </m:oMath>
                </a14:m>
                <a:r>
                  <a:rPr kumimoji="1" lang="zh-CN" altLang="en-US" dirty="0"/>
                  <a:t>上的函数依赖集</a:t>
                </a:r>
                <a14:m>
                  <m:oMath xmlns:m="http://schemas.openxmlformats.org/officeDocument/2006/math">
                    <m:r>
                      <a:rPr kumimoji="1" lang="en-US" altLang="zh-CN" b="0" i="1" smtClean="0">
                        <a:latin typeface="Cambria Math" panose="02040503050406030204" pitchFamily="18" charset="0"/>
                      </a:rPr>
                      <m:t>𝐹</m:t>
                    </m:r>
                  </m:oMath>
                </a14:m>
                <a:r>
                  <a:rPr kumimoji="1" lang="zh-CN" altLang="en-US" dirty="0"/>
                  <a:t>的闭包</a:t>
                </a:r>
                <a14:m>
                  <m:oMath xmlns:m="http://schemas.openxmlformats.org/officeDocument/2006/math">
                    <m:sSup>
                      <m:sSupPr>
                        <m:ctrlPr>
                          <a:rPr kumimoji="1" lang="en-US" altLang="zh-CN" i="1" smtClean="0">
                            <a:latin typeface="Cambria Math" panose="02040503050406030204" pitchFamily="18" charset="0"/>
                          </a:rPr>
                        </m:ctrlPr>
                      </m:sSupPr>
                      <m:e>
                        <m:sSub>
                          <m:sSubPr>
                            <m:ctrlPr>
                              <a:rPr kumimoji="1" lang="en-US" altLang="zh-CN" i="1" smtClean="0">
                                <a:latin typeface="Cambria Math" panose="02040503050406030204" pitchFamily="18" charset="0"/>
                              </a:rPr>
                            </m:ctrlPr>
                          </m:sSubPr>
                          <m:e>
                            <m:r>
                              <a:rPr kumimoji="1" lang="en-US" altLang="zh-CN" b="0" i="1" smtClean="0">
                                <a:latin typeface="Cambria Math" panose="02040503050406030204" pitchFamily="18" charset="0"/>
                              </a:rPr>
                              <m:t>𝑋</m:t>
                            </m:r>
                          </m:e>
                          <m:sub>
                            <m:r>
                              <a:rPr kumimoji="1" lang="en-US" altLang="zh-CN" b="0" i="1" smtClean="0">
                                <a:latin typeface="Cambria Math" panose="02040503050406030204" pitchFamily="18" charset="0"/>
                              </a:rPr>
                              <m:t>𝐹</m:t>
                            </m:r>
                          </m:sub>
                        </m:sSub>
                      </m:e>
                      <m:sup>
                        <m:r>
                          <a:rPr kumimoji="1" lang="en-US" altLang="zh-CN" b="0" i="1" smtClean="0">
                            <a:latin typeface="Cambria Math" panose="02040503050406030204" pitchFamily="18" charset="0"/>
                          </a:rPr>
                          <m:t>+</m:t>
                        </m:r>
                      </m:sup>
                    </m:sSup>
                  </m:oMath>
                </a14:m>
                <a:endParaRPr kumimoji="1" lang="en-US" altLang="zh-CN" dirty="0"/>
              </a:p>
              <a:p>
                <a:pPr lvl="2"/>
                <a:r>
                  <a:rPr kumimoji="1" lang="zh-CN" altLang="en-US" dirty="0"/>
                  <a:t>输入：</a:t>
                </a:r>
                <a:r>
                  <a:rPr kumimoji="1" lang="en-US" altLang="zh-CN" dirty="0"/>
                  <a:t> </a:t>
                </a:r>
                <a14:m>
                  <m:oMath xmlns:m="http://schemas.openxmlformats.org/officeDocument/2006/math">
                    <m:r>
                      <a:rPr kumimoji="1" lang="en-US" altLang="zh-CN" i="1">
                        <a:latin typeface="Cambria Math" panose="02040503050406030204" pitchFamily="18" charset="0"/>
                      </a:rPr>
                      <m:t>𝑋</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𝐹</m:t>
                    </m:r>
                  </m:oMath>
                </a14:m>
                <a:endParaRPr kumimoji="1" lang="en-US" altLang="zh-CN" dirty="0"/>
              </a:p>
              <a:p>
                <a:pPr lvl="2"/>
                <a:r>
                  <a:rPr kumimoji="1" lang="zh-CN" altLang="en-US" dirty="0"/>
                  <a:t>输出</a:t>
                </a:r>
                <a14:m>
                  <m:oMath xmlns:m="http://schemas.openxmlformats.org/officeDocument/2006/math">
                    <m:sSup>
                      <m:sSupPr>
                        <m:ctrlPr>
                          <a:rPr kumimoji="1" lang="en-US" altLang="zh-CN" i="1">
                            <a:latin typeface="Cambria Math" panose="02040503050406030204" pitchFamily="18" charset="0"/>
                          </a:rPr>
                        </m:ctrlPr>
                      </m:sSup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𝑋</m:t>
                            </m:r>
                          </m:e>
                          <m:sub>
                            <m:r>
                              <a:rPr kumimoji="1" lang="en-US" altLang="zh-CN" i="1">
                                <a:latin typeface="Cambria Math" panose="02040503050406030204" pitchFamily="18" charset="0"/>
                              </a:rPr>
                              <m:t>𝐹</m:t>
                            </m:r>
                          </m:sub>
                        </m:sSub>
                      </m:e>
                      <m:sup>
                        <m:r>
                          <a:rPr kumimoji="1" lang="en-US" altLang="zh-CN" i="1">
                            <a:latin typeface="Cambria Math" panose="02040503050406030204" pitchFamily="18" charset="0"/>
                          </a:rPr>
                          <m:t>+</m:t>
                        </m:r>
                      </m:sup>
                    </m:sSup>
                  </m:oMath>
                </a14:m>
                <a:endParaRPr kumimoji="1" lang="en-US" altLang="zh-CN" dirty="0"/>
              </a:p>
              <a:p>
                <a:pPr lvl="2"/>
                <a:r>
                  <a:rPr kumimoji="1" lang="zh-CN" altLang="en-US" dirty="0"/>
                  <a:t>步骤：</a:t>
                </a:r>
                <a:endParaRPr kumimoji="1" lang="en-US" altLang="zh-CN" dirty="0"/>
              </a:p>
              <a:p>
                <a:pPr marL="914400" lvl="2" indent="0">
                  <a:buNone/>
                </a:pPr>
                <a:r>
                  <a:rPr kumimoji="1" lang="zh-CN" altLang="en-US" dirty="0"/>
                  <a:t>   </a:t>
                </a:r>
                <a:r>
                  <a:rPr kumimoji="1" lang="en-US" altLang="zh-CN" dirty="0"/>
                  <a:t>1</a:t>
                </a:r>
                <a:r>
                  <a:rPr kumimoji="1" lang="zh-CN" altLang="en-US" dirty="0"/>
                  <a:t>）令</a:t>
                </a:r>
                <a14:m>
                  <m:oMath xmlns:m="http://schemas.openxmlformats.org/officeDocument/2006/math">
                    <m:r>
                      <a:rPr kumimoji="1" lang="en-US" altLang="zh-CN" b="0" i="1" smtClean="0">
                        <a:latin typeface="Cambria Math" panose="02040503050406030204" pitchFamily="18" charset="0"/>
                      </a:rPr>
                      <m:t>𝑋</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0</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𝑋</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0</m:t>
                    </m:r>
                  </m:oMath>
                </a14:m>
                <a:endParaRPr kumimoji="1" lang="en-US" altLang="zh-CN" dirty="0"/>
              </a:p>
              <a:p>
                <a:pPr marL="914400" lvl="2" indent="0">
                  <a:buNone/>
                </a:pPr>
                <a:r>
                  <a:rPr kumimoji="1" lang="zh-CN" altLang="en-US" dirty="0"/>
                  <a:t>   </a:t>
                </a:r>
                <a:r>
                  <a:rPr kumimoji="1" lang="en-US" altLang="zh-CN" dirty="0"/>
                  <a:t>2</a:t>
                </a:r>
                <a:r>
                  <a:rPr kumimoji="1" lang="zh-CN" altLang="en-US" dirty="0"/>
                  <a:t>）求</a:t>
                </a:r>
                <a14:m>
                  <m:oMath xmlns:m="http://schemas.openxmlformats.org/officeDocument/2006/math">
                    <m:r>
                      <a:rPr kumimoji="1" lang="en-US" altLang="zh-CN" b="0" i="1" smtClean="0">
                        <a:latin typeface="Cambria Math" panose="02040503050406030204" pitchFamily="18" charset="0"/>
                      </a:rPr>
                      <m:t>𝐵</m:t>
                    </m:r>
                    <m:r>
                      <a:rPr kumimoji="1" lang="en-US" altLang="zh-CN" b="0" i="1" smtClean="0">
                        <a:latin typeface="Cambria Math" panose="02040503050406030204" pitchFamily="18" charset="0"/>
                      </a:rPr>
                      <m:t>=</m:t>
                    </m:r>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e>
                      <m:e>
                        <m:d>
                          <m:dPr>
                            <m:ctrlPr>
                              <a:rPr kumimoji="1" lang="en-US" altLang="zh-CN" b="0" i="1" smtClean="0">
                                <a:latin typeface="Cambria Math" panose="02040503050406030204" pitchFamily="18" charset="0"/>
                              </a:rPr>
                            </m:ctrlPr>
                          </m:dPr>
                          <m:e>
                            <m:r>
                              <a:rPr kumimoji="1" lang="zh-CN" altLang="en-US" i="1">
                                <a:latin typeface="Cambria Math" panose="02040503050406030204" pitchFamily="18" charset="0"/>
                              </a:rPr>
                              <m:t>存在</m:t>
                            </m:r>
                            <m:r>
                              <a:rPr kumimoji="1" lang="en-US" altLang="zh-CN" b="0" i="1" smtClean="0">
                                <a:latin typeface="Cambria Math" panose="02040503050406030204" pitchFamily="18" charset="0"/>
                              </a:rPr>
                              <m:t>𝑉</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𝑊</m:t>
                            </m:r>
                          </m:e>
                        </m:d>
                        <m:d>
                          <m:dPr>
                            <m:ctrlPr>
                              <a:rPr kumimoji="1" lang="en-US" altLang="zh-CN" b="0" i="1" noProof="1" smtClean="0">
                                <a:latin typeface="Cambria Math" panose="02040503050406030204" pitchFamily="18" charset="0"/>
                                <a:cs typeface="+mn-ea"/>
                              </a:rPr>
                            </m:ctrlPr>
                          </m:dPr>
                          <m:e>
                            <m:r>
                              <a:rPr kumimoji="1" lang="en-US" altLang="zh-CN" i="1">
                                <a:latin typeface="Cambria Math" panose="02040503050406030204" pitchFamily="18" charset="0"/>
                              </a:rPr>
                              <m:t>𝑉</m:t>
                            </m:r>
                            <m:r>
                              <a:rPr lang="zh-CN" altLang="en-US" i="1" noProof="1">
                                <a:latin typeface="Cambria Math" panose="02040503050406030204" pitchFamily="18" charset="0"/>
                                <a:cs typeface="+mn-ea"/>
                              </a:rPr>
                              <m:t>→</m:t>
                            </m:r>
                            <m:r>
                              <a:rPr lang="en-US" altLang="zh-CN" i="1" noProof="1">
                                <a:latin typeface="Cambria Math" panose="02040503050406030204" pitchFamily="18" charset="0"/>
                                <a:cs typeface="+mn-ea"/>
                              </a:rPr>
                              <m:t>𝑊</m:t>
                            </m:r>
                            <m:r>
                              <a:rPr lang="en-US" altLang="zh-CN" i="1" noProof="1" smtClean="0">
                                <a:latin typeface="Cambria Math" panose="02040503050406030204" pitchFamily="18" charset="0"/>
                                <a:ea typeface="Cambria Math" panose="02040503050406030204" pitchFamily="18" charset="0"/>
                                <a:cs typeface="+mn-ea"/>
                              </a:rPr>
                              <m:t>∈</m:t>
                            </m:r>
                            <m:r>
                              <a:rPr lang="en-US" altLang="zh-CN" b="0" i="1" noProof="1" smtClean="0">
                                <a:latin typeface="Cambria Math" panose="02040503050406030204" pitchFamily="18" charset="0"/>
                                <a:ea typeface="Cambria Math" panose="02040503050406030204" pitchFamily="18" charset="0"/>
                                <a:cs typeface="+mn-ea"/>
                              </a:rPr>
                              <m:t>𝐹</m:t>
                            </m:r>
                            <m:r>
                              <a:rPr lang="en-US" altLang="zh-CN" b="0" i="1" noProof="1" smtClean="0">
                                <a:latin typeface="Cambria Math" panose="02040503050406030204" pitchFamily="18" charset="0"/>
                                <a:ea typeface="Cambria Math" panose="02040503050406030204" pitchFamily="18" charset="0"/>
                                <a:cs typeface="+mn-ea"/>
                              </a:rPr>
                              <m:t>∧</m:t>
                            </m:r>
                            <m:r>
                              <a:rPr lang="en-US" altLang="zh-CN" b="0" i="1" noProof="1" smtClean="0">
                                <a:latin typeface="Cambria Math" panose="02040503050406030204" pitchFamily="18" charset="0"/>
                                <a:ea typeface="Cambria Math" panose="02040503050406030204" pitchFamily="18" charset="0"/>
                                <a:cs typeface="+mn-ea"/>
                              </a:rPr>
                              <m:t>𝑉</m:t>
                            </m:r>
                            <m:r>
                              <a:rPr lang="en-US" altLang="zh-CN" b="0" i="1" noProof="1" smtClean="0">
                                <a:latin typeface="Cambria Math" panose="02040503050406030204" pitchFamily="18" charset="0"/>
                                <a:ea typeface="Cambria Math" panose="02040503050406030204" pitchFamily="18" charset="0"/>
                                <a:cs typeface="+mn-ea"/>
                              </a:rPr>
                              <m:t>⊆</m:t>
                            </m:r>
                            <m:r>
                              <a:rPr lang="en-US" altLang="zh-CN" b="0" i="1" noProof="1" smtClean="0">
                                <a:latin typeface="Cambria Math" panose="02040503050406030204" pitchFamily="18" charset="0"/>
                                <a:ea typeface="Cambria Math" panose="02040503050406030204" pitchFamily="18" charset="0"/>
                                <a:cs typeface="+mn-ea"/>
                              </a:rPr>
                              <m:t>𝑋</m:t>
                            </m:r>
                            <m:d>
                              <m:dPr>
                                <m:ctrlPr>
                                  <a:rPr lang="en-US" altLang="zh-CN" b="0" i="1" noProof="1" smtClean="0">
                                    <a:latin typeface="Cambria Math" panose="02040503050406030204" pitchFamily="18" charset="0"/>
                                    <a:ea typeface="Cambria Math" panose="02040503050406030204" pitchFamily="18" charset="0"/>
                                    <a:cs typeface="+mn-ea"/>
                                  </a:rPr>
                                </m:ctrlPr>
                              </m:dPr>
                              <m:e>
                                <m:r>
                                  <a:rPr lang="en-US" altLang="zh-CN" b="0" i="1" noProof="1" smtClean="0">
                                    <a:latin typeface="Cambria Math" panose="02040503050406030204" pitchFamily="18" charset="0"/>
                                    <a:ea typeface="Cambria Math" panose="02040503050406030204" pitchFamily="18" charset="0"/>
                                    <a:cs typeface="+mn-ea"/>
                                  </a:rPr>
                                  <m:t>𝑖</m:t>
                                </m:r>
                              </m:e>
                            </m:d>
                            <m:r>
                              <a:rPr lang="en-US" altLang="zh-CN" i="1" noProof="1">
                                <a:latin typeface="Cambria Math" panose="02040503050406030204" pitchFamily="18" charset="0"/>
                                <a:ea typeface="Cambria Math" panose="02040503050406030204" pitchFamily="18" charset="0"/>
                                <a:cs typeface="+mn-ea"/>
                              </a:rPr>
                              <m:t>∧</m:t>
                            </m:r>
                            <m:r>
                              <a:rPr lang="en-US" altLang="zh-CN" b="0" i="1" noProof="1" smtClean="0">
                                <a:latin typeface="Cambria Math" panose="02040503050406030204" pitchFamily="18" charset="0"/>
                                <a:ea typeface="Cambria Math" panose="02040503050406030204" pitchFamily="18" charset="0"/>
                                <a:cs typeface="+mn-ea"/>
                              </a:rPr>
                              <m:t>𝐴</m:t>
                            </m:r>
                            <m:r>
                              <a:rPr lang="en-US" altLang="zh-CN" i="1" noProof="1">
                                <a:latin typeface="Cambria Math" panose="02040503050406030204" pitchFamily="18" charset="0"/>
                                <a:ea typeface="Cambria Math" panose="02040503050406030204" pitchFamily="18" charset="0"/>
                                <a:cs typeface="+mn-ea"/>
                              </a:rPr>
                              <m:t>∈</m:t>
                            </m:r>
                            <m:r>
                              <a:rPr lang="en-US" altLang="zh-CN" b="0" i="1" noProof="1" smtClean="0">
                                <a:latin typeface="Cambria Math" panose="02040503050406030204" pitchFamily="18" charset="0"/>
                                <a:ea typeface="Cambria Math" panose="02040503050406030204" pitchFamily="18" charset="0"/>
                                <a:cs typeface="+mn-ea"/>
                              </a:rPr>
                              <m:t>𝑊</m:t>
                            </m:r>
                          </m:e>
                        </m:d>
                      </m:e>
                    </m:d>
                    <m:r>
                      <a:rPr kumimoji="1" lang="en-US" altLang="zh-CN" b="0" i="1" smtClean="0">
                        <a:latin typeface="Cambria Math" panose="02040503050406030204" pitchFamily="18" charset="0"/>
                      </a:rPr>
                      <m:t>;</m:t>
                    </m:r>
                  </m:oMath>
                </a14:m>
                <a:endParaRPr kumimoji="1" lang="en-US" altLang="zh-CN" dirty="0"/>
              </a:p>
              <a:p>
                <a:pPr marL="914400" lvl="2" indent="0">
                  <a:buNone/>
                </a:pPr>
                <a:r>
                  <a:rPr kumimoji="1" lang="zh-CN" altLang="en-US" dirty="0"/>
                  <a:t>   </a:t>
                </a:r>
                <a:r>
                  <a:rPr kumimoji="1" lang="en-US" altLang="zh-CN" dirty="0"/>
                  <a:t>3</a:t>
                </a:r>
                <a:r>
                  <a:rPr kumimoji="1" lang="zh-CN" altLang="en-US" dirty="0"/>
                  <a:t>）更新</a:t>
                </a:r>
                <a14:m>
                  <m:oMath xmlns:m="http://schemas.openxmlformats.org/officeDocument/2006/math">
                    <m:r>
                      <a:rPr kumimoji="1" lang="en-US" altLang="zh-CN" b="0" i="1" smtClean="0">
                        <a:latin typeface="Cambria Math" panose="02040503050406030204" pitchFamily="18" charset="0"/>
                      </a:rPr>
                      <m:t>𝑋</m:t>
                    </m:r>
                    <m:d>
                      <m:dPr>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1</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𝑋</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𝐵</m:t>
                    </m:r>
                  </m:oMath>
                </a14:m>
                <a:endParaRPr kumimoji="1" lang="en-US" altLang="zh-CN" dirty="0"/>
              </a:p>
              <a:p>
                <a:pPr marL="914400" lvl="2" indent="0">
                  <a:buNone/>
                </a:pPr>
                <a:r>
                  <a:rPr kumimoji="1" lang="en-US" altLang="zh-CN" dirty="0"/>
                  <a:t>   4</a:t>
                </a:r>
                <a:r>
                  <a:rPr kumimoji="1" lang="zh-CN" altLang="en-US" dirty="0"/>
                  <a:t>）判断</a:t>
                </a:r>
                <a14:m>
                  <m:oMath xmlns:m="http://schemas.openxmlformats.org/officeDocument/2006/math">
                    <m:r>
                      <a:rPr kumimoji="1" lang="en-US" altLang="zh-CN" i="1">
                        <a:latin typeface="Cambria Math" panose="02040503050406030204" pitchFamily="18" charset="0"/>
                      </a:rPr>
                      <m:t>𝑋</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𝑖</m:t>
                        </m:r>
                        <m:r>
                          <a:rPr kumimoji="1" lang="en-US" altLang="zh-CN" i="1">
                            <a:latin typeface="Cambria Math" panose="02040503050406030204" pitchFamily="18" charset="0"/>
                          </a:rPr>
                          <m:t>+</m:t>
                        </m:r>
                        <m:r>
                          <a:rPr kumimoji="1" lang="en-US" altLang="zh-CN" i="1">
                            <a:latin typeface="Cambria Math" panose="02040503050406030204" pitchFamily="18" charset="0"/>
                          </a:rPr>
                          <m:t>1</m:t>
                        </m:r>
                      </m:e>
                    </m:d>
                    <m:r>
                      <a:rPr kumimoji="1" lang="en-US" altLang="zh-CN" i="1">
                        <a:latin typeface="Cambria Math" panose="02040503050406030204" pitchFamily="18" charset="0"/>
                      </a:rPr>
                      <m:t>=</m:t>
                    </m:r>
                    <m:r>
                      <a:rPr kumimoji="1" lang="en-US" altLang="zh-CN" i="1">
                        <a:latin typeface="Cambria Math" panose="02040503050406030204" pitchFamily="18" charset="0"/>
                      </a:rPr>
                      <m:t>𝑋</m:t>
                    </m:r>
                    <m:r>
                      <a:rPr kumimoji="1" lang="en-US" altLang="zh-CN" i="1">
                        <a:latin typeface="Cambria Math" panose="02040503050406030204" pitchFamily="18" charset="0"/>
                      </a:rPr>
                      <m:t>(</m:t>
                    </m:r>
                    <m:r>
                      <a:rPr kumimoji="1" lang="en-US" altLang="zh-CN" i="1">
                        <a:latin typeface="Cambria Math" panose="02040503050406030204" pitchFamily="18" charset="0"/>
                      </a:rPr>
                      <m:t>𝑖</m:t>
                    </m:r>
                    <m:r>
                      <a:rPr kumimoji="1" lang="en-US" altLang="zh-CN" i="1">
                        <a:latin typeface="Cambria Math" panose="02040503050406030204" pitchFamily="18" charset="0"/>
                      </a:rPr>
                      <m:t>)</m:t>
                    </m:r>
                  </m:oMath>
                </a14:m>
                <a:r>
                  <a:rPr kumimoji="1" lang="zh-CN" altLang="en-US" dirty="0"/>
                  <a:t>吗？</a:t>
                </a:r>
                <a:endParaRPr kumimoji="1" lang="en-US" altLang="zh-CN" dirty="0"/>
              </a:p>
              <a:p>
                <a:pPr marL="914400" lvl="2" indent="0">
                  <a:buNone/>
                </a:pPr>
                <a:r>
                  <a:rPr kumimoji="1" lang="zh-CN" altLang="en-US" dirty="0"/>
                  <a:t>   </a:t>
                </a:r>
                <a:r>
                  <a:rPr kumimoji="1" lang="en-US" altLang="zh-CN" dirty="0"/>
                  <a:t>5</a:t>
                </a:r>
                <a:r>
                  <a:rPr kumimoji="1" lang="zh-CN" altLang="en-US" dirty="0"/>
                  <a:t>）若相等或</a:t>
                </a:r>
                <a14:m>
                  <m:oMath xmlns:m="http://schemas.openxmlformats.org/officeDocument/2006/math">
                    <m:r>
                      <a:rPr kumimoji="1" lang="en-US" altLang="zh-CN" i="1">
                        <a:latin typeface="Cambria Math" panose="02040503050406030204" pitchFamily="18" charset="0"/>
                      </a:rPr>
                      <m:t>𝑋</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𝑖</m:t>
                        </m:r>
                      </m:e>
                    </m:d>
                    <m:r>
                      <a:rPr kumimoji="1" lang="en-US" altLang="zh-CN" b="0" i="1" smtClean="0">
                        <a:latin typeface="Cambria Math" panose="02040503050406030204" pitchFamily="18" charset="0"/>
                      </a:rPr>
                      <m:t>=</m:t>
                    </m:r>
                    <m:r>
                      <a:rPr kumimoji="1" lang="en-US" altLang="zh-CN" i="1">
                        <a:latin typeface="Cambria Math" panose="02040503050406030204" pitchFamily="18" charset="0"/>
                        <a:ea typeface="Cambria Math" panose="02040503050406030204" pitchFamily="18" charset="0"/>
                      </a:rPr>
                      <m:t>𝑈</m:t>
                    </m:r>
                  </m:oMath>
                </a14:m>
                <a:r>
                  <a:rPr kumimoji="1" lang="zh-CN" altLang="en-US" dirty="0"/>
                  <a:t>，则</a:t>
                </a:r>
                <a14:m>
                  <m:oMath xmlns:m="http://schemas.openxmlformats.org/officeDocument/2006/math">
                    <m:r>
                      <a:rPr kumimoji="1" lang="en-US" altLang="zh-CN" i="1">
                        <a:latin typeface="Cambria Math" panose="02040503050406030204" pitchFamily="18" charset="0"/>
                      </a:rPr>
                      <m:t>𝑋</m:t>
                    </m:r>
                    <m:d>
                      <m:dPr>
                        <m:ctrlPr>
                          <a:rPr kumimoji="1" lang="en-US" altLang="zh-CN" i="1">
                            <a:latin typeface="Cambria Math" panose="02040503050406030204" pitchFamily="18" charset="0"/>
                          </a:rPr>
                        </m:ctrlPr>
                      </m:dPr>
                      <m:e>
                        <m:r>
                          <a:rPr kumimoji="1" lang="en-US" altLang="zh-CN" i="1">
                            <a:latin typeface="Cambria Math" panose="02040503050406030204" pitchFamily="18" charset="0"/>
                          </a:rPr>
                          <m:t>𝑖</m:t>
                        </m:r>
                      </m:e>
                    </m:d>
                  </m:oMath>
                </a14:m>
                <a:r>
                  <a:rPr kumimoji="1" lang="zh-CN" altLang="en-US" dirty="0"/>
                  <a:t>就是</a:t>
                </a:r>
                <a14:m>
                  <m:oMath xmlns:m="http://schemas.openxmlformats.org/officeDocument/2006/math">
                    <m:sSup>
                      <m:sSupPr>
                        <m:ctrlPr>
                          <a:rPr kumimoji="1" lang="en-US" altLang="zh-CN" i="1">
                            <a:latin typeface="Cambria Math" panose="02040503050406030204" pitchFamily="18" charset="0"/>
                          </a:rPr>
                        </m:ctrlPr>
                      </m:sSup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𝑋</m:t>
                            </m:r>
                          </m:e>
                          <m:sub>
                            <m:r>
                              <a:rPr kumimoji="1" lang="en-US" altLang="zh-CN" i="1">
                                <a:latin typeface="Cambria Math" panose="02040503050406030204" pitchFamily="18" charset="0"/>
                              </a:rPr>
                              <m:t>𝐹</m:t>
                            </m:r>
                          </m:sub>
                        </m:sSub>
                      </m:e>
                      <m:sup>
                        <m:r>
                          <a:rPr kumimoji="1" lang="en-US" altLang="zh-CN" i="1">
                            <a:latin typeface="Cambria Math" panose="02040503050406030204" pitchFamily="18" charset="0"/>
                          </a:rPr>
                          <m:t>+</m:t>
                        </m:r>
                      </m:sup>
                    </m:sSup>
                  </m:oMath>
                </a14:m>
                <a:r>
                  <a:rPr kumimoji="1" lang="zh-CN" altLang="en-US" dirty="0"/>
                  <a:t>，算法终止。</a:t>
                </a:r>
                <a:endParaRPr kumimoji="1" lang="en-US" altLang="zh-CN" dirty="0"/>
              </a:p>
              <a:p>
                <a:pPr marL="914400" lvl="2" indent="0">
                  <a:buNone/>
                </a:pPr>
                <a:r>
                  <a:rPr kumimoji="1" lang="zh-CN" altLang="en-US" dirty="0"/>
                  <a:t>   </a:t>
                </a:r>
                <a:r>
                  <a:rPr kumimoji="1" lang="en-US" altLang="zh-CN" dirty="0"/>
                  <a:t>6</a:t>
                </a:r>
                <a:r>
                  <a:rPr kumimoji="1" lang="zh-CN" altLang="en-US" dirty="0"/>
                  <a:t>）否则</a:t>
                </a:r>
                <a14:m>
                  <m:oMath xmlns:m="http://schemas.openxmlformats.org/officeDocument/2006/math">
                    <m: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𝑖</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1</m:t>
                    </m:r>
                  </m:oMath>
                </a14:m>
                <a:r>
                  <a:rPr kumimoji="1" lang="zh-CN" altLang="en-US" dirty="0"/>
                  <a:t>，返回第</a:t>
                </a:r>
                <a:r>
                  <a:rPr kumimoji="1" lang="en-US" altLang="zh-CN" dirty="0"/>
                  <a:t>2</a:t>
                </a:r>
                <a:r>
                  <a:rPr kumimoji="1" lang="zh-CN" altLang="en-US" dirty="0"/>
                  <a:t>）步。</a:t>
                </a:r>
                <a:endParaRPr kumimoji="1"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fontScale="85000" lnSpcReduction="20000"/>
              </a:bodyPr>
              <a:lstStyle/>
              <a:p>
                <a:r>
                  <a:rPr kumimoji="1" lang="zh-CN" altLang="en-US" sz="3300" dirty="0"/>
                  <a:t>属性集的闭包</a:t>
                </a:r>
                <a:endParaRPr kumimoji="1" lang="en-US" altLang="zh-CN" sz="3300" dirty="0"/>
              </a:p>
              <a:p>
                <a:pPr marL="635000" lvl="1" indent="-177800">
                  <a:lnSpc>
                    <a:spcPct val="140000"/>
                  </a:lnSpc>
                </a:pPr>
                <a:r>
                  <a:rPr lang="zh-CN" altLang="en-US" dirty="0"/>
                  <a:t>例</a:t>
                </a:r>
                <a:r>
                  <a:rPr lang="en-US" altLang="zh-CN" dirty="0"/>
                  <a:t>4.2:</a:t>
                </a:r>
                <a:r>
                  <a:rPr lang="zh-CN" altLang="en-US" dirty="0"/>
                  <a:t>已知关系模式</a:t>
                </a:r>
                <a14:m>
                  <m:oMath xmlns:m="http://schemas.openxmlformats.org/officeDocument/2006/math">
                    <m:r>
                      <a:rPr lang="en-US" altLang="zh-CN" b="0" i="1" dirty="0" smtClean="0">
                        <a:latin typeface="Cambria Math" panose="02040503050406030204" pitchFamily="18" charset="0"/>
                      </a:rPr>
                      <m:t>𝑅</m:t>
                    </m:r>
                    <m:r>
                      <a:rPr lang="en-US" altLang="zh-CN" b="0" i="1" dirty="0" smtClean="0">
                        <a:latin typeface="Cambria Math" panose="02040503050406030204" pitchFamily="18" charset="0"/>
                      </a:rPr>
                      <m:t>&lt;</m:t>
                    </m:r>
                    <m:r>
                      <a:rPr lang="en-US" altLang="zh-CN" b="0" i="1" dirty="0" smtClean="0">
                        <a:latin typeface="Cambria Math" panose="02040503050406030204" pitchFamily="18" charset="0"/>
                      </a:rPr>
                      <m:t>𝑈</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𝐹</m:t>
                    </m:r>
                    <m:r>
                      <a:rPr lang="en-US" altLang="zh-CN" b="0" i="1" dirty="0" smtClean="0">
                        <a:latin typeface="Cambria Math" panose="02040503050406030204" pitchFamily="18" charset="0"/>
                      </a:rPr>
                      <m:t>&gt;</m:t>
                    </m:r>
                  </m:oMath>
                </a14:m>
                <a:r>
                  <a:rPr lang="en-US" altLang="zh-CN" dirty="0"/>
                  <a:t>, </a:t>
                </a:r>
                <a:r>
                  <a:rPr lang="zh-CN" altLang="en-US" dirty="0"/>
                  <a:t>其中</a:t>
                </a:r>
                <a:r>
                  <a:rPr lang="en-US" altLang="zh-CN" dirty="0"/>
                  <a:t>:</a:t>
                </a:r>
                <a14:m>
                  <m:oMath xmlns:m="http://schemas.openxmlformats.org/officeDocument/2006/math">
                    <m:r>
                      <a:rPr lang="en-US" altLang="zh-CN" b="0" i="1" dirty="0">
                        <a:latin typeface="Cambria Math" panose="02040503050406030204" pitchFamily="18" charset="0"/>
                      </a:rPr>
                      <m:t>𝑈</m:t>
                    </m:r>
                    <m:r>
                      <a:rPr lang="en-US" altLang="zh-CN" b="0" i="1" dirty="0">
                        <a:latin typeface="Cambria Math" panose="02040503050406030204" pitchFamily="18" charset="0"/>
                      </a:rPr>
                      <m:t>={</m:t>
                    </m:r>
                    <m:r>
                      <a:rPr lang="en-US" altLang="zh-CN" b="0" i="1" dirty="0">
                        <a:latin typeface="Cambria Math" panose="02040503050406030204" pitchFamily="18" charset="0"/>
                      </a:rPr>
                      <m:t>𝐴</m:t>
                    </m:r>
                    <m:r>
                      <a:rPr lang="en-US" altLang="zh-CN" b="0" i="1" dirty="0">
                        <a:latin typeface="Cambria Math" panose="02040503050406030204" pitchFamily="18" charset="0"/>
                      </a:rPr>
                      <m:t>,</m:t>
                    </m:r>
                    <m:r>
                      <a:rPr lang="en-US" altLang="zh-CN" b="0" i="1" dirty="0">
                        <a:latin typeface="Cambria Math" panose="02040503050406030204" pitchFamily="18" charset="0"/>
                      </a:rPr>
                      <m:t>𝐵</m:t>
                    </m:r>
                    <m:r>
                      <a:rPr lang="en-US" altLang="zh-CN" b="0" i="1" dirty="0">
                        <a:latin typeface="Cambria Math" panose="02040503050406030204" pitchFamily="18" charset="0"/>
                      </a:rPr>
                      <m:t>,</m:t>
                    </m:r>
                    <m:r>
                      <a:rPr lang="en-US" altLang="zh-CN" b="0" i="1" dirty="0">
                        <a:latin typeface="Cambria Math" panose="02040503050406030204" pitchFamily="18" charset="0"/>
                      </a:rPr>
                      <m:t>𝐶</m:t>
                    </m:r>
                    <m:r>
                      <a:rPr lang="en-US" altLang="zh-CN" b="0" i="1" dirty="0">
                        <a:latin typeface="Cambria Math" panose="02040503050406030204" pitchFamily="18" charset="0"/>
                      </a:rPr>
                      <m:t>,</m:t>
                    </m:r>
                    <m:r>
                      <a:rPr lang="en-US" altLang="zh-CN" b="0" i="1" dirty="0">
                        <a:latin typeface="Cambria Math" panose="02040503050406030204" pitchFamily="18" charset="0"/>
                      </a:rPr>
                      <m:t>𝐷</m:t>
                    </m:r>
                    <m:r>
                      <a:rPr lang="en-US" altLang="zh-CN" b="0" i="1" dirty="0">
                        <a:latin typeface="Cambria Math" panose="02040503050406030204" pitchFamily="18" charset="0"/>
                      </a:rPr>
                      <m:t>,</m:t>
                    </m:r>
                    <m:r>
                      <a:rPr lang="en-US" altLang="zh-CN" b="0" i="1" dirty="0">
                        <a:latin typeface="Cambria Math" panose="02040503050406030204" pitchFamily="18" charset="0"/>
                      </a:rPr>
                      <m:t>𝐸</m:t>
                    </m:r>
                    <m:r>
                      <a:rPr lang="en-US" altLang="zh-CN" b="0" i="1" dirty="0">
                        <a:latin typeface="Cambria Math" panose="02040503050406030204" pitchFamily="18" charset="0"/>
                      </a:rPr>
                      <m:t>}</m:t>
                    </m:r>
                  </m:oMath>
                </a14:m>
                <a:r>
                  <a:rPr lang="zh-CN" altLang="en-US" dirty="0"/>
                  <a:t>；</a:t>
                </a:r>
                <a14:m>
                  <m:oMath xmlns:m="http://schemas.openxmlformats.org/officeDocument/2006/math">
                    <m:r>
                      <a:rPr lang="en-US" altLang="zh-CN" b="0" i="1" dirty="0">
                        <a:latin typeface="Cambria Math" panose="02040503050406030204" pitchFamily="18" charset="0"/>
                      </a:rPr>
                      <m:t>𝐹</m:t>
                    </m:r>
                    <m:r>
                      <a:rPr lang="en-US" altLang="zh-CN" b="0" i="1" dirty="0">
                        <a:latin typeface="Cambria Math" panose="02040503050406030204" pitchFamily="18" charset="0"/>
                      </a:rPr>
                      <m:t>={</m:t>
                    </m:r>
                    <m:r>
                      <a:rPr lang="en-US" altLang="zh-CN" b="0" i="1" dirty="0">
                        <a:latin typeface="Cambria Math" panose="02040503050406030204" pitchFamily="18" charset="0"/>
                      </a:rPr>
                      <m:t>𝐴𝐵</m:t>
                    </m:r>
                    <m:r>
                      <a:rPr lang="en-US" altLang="zh-CN" b="0" i="1" dirty="0">
                        <a:latin typeface="Cambria Math" panose="02040503050406030204" pitchFamily="18" charset="0"/>
                      </a:rPr>
                      <m:t>→</m:t>
                    </m:r>
                    <m:r>
                      <a:rPr lang="en-US" altLang="zh-CN" b="0" i="1" dirty="0">
                        <a:latin typeface="Cambria Math" panose="02040503050406030204" pitchFamily="18" charset="0"/>
                      </a:rPr>
                      <m:t>𝐶</m:t>
                    </m:r>
                    <m:r>
                      <a:rPr lang="zh-CN" altLang="en-US" b="0" i="1" dirty="0">
                        <a:latin typeface="Cambria Math" panose="02040503050406030204" pitchFamily="18" charset="0"/>
                      </a:rPr>
                      <m:t>，</m:t>
                    </m:r>
                    <m:r>
                      <a:rPr lang="en-US" altLang="zh-CN" b="0" i="1" dirty="0">
                        <a:latin typeface="Cambria Math" panose="02040503050406030204" pitchFamily="18" charset="0"/>
                      </a:rPr>
                      <m:t>𝐵</m:t>
                    </m:r>
                    <m:r>
                      <a:rPr lang="en-US" altLang="zh-CN" b="0" i="1" dirty="0">
                        <a:latin typeface="Cambria Math" panose="02040503050406030204" pitchFamily="18" charset="0"/>
                      </a:rPr>
                      <m:t>→</m:t>
                    </m:r>
                    <m:r>
                      <a:rPr lang="en-US" altLang="zh-CN" b="0" i="1" dirty="0">
                        <a:latin typeface="Cambria Math" panose="02040503050406030204" pitchFamily="18" charset="0"/>
                      </a:rPr>
                      <m:t>𝐷</m:t>
                    </m:r>
                    <m:r>
                      <a:rPr lang="zh-CN" altLang="en-US" b="0" i="1" dirty="0">
                        <a:latin typeface="Cambria Math" panose="02040503050406030204" pitchFamily="18" charset="0"/>
                      </a:rPr>
                      <m:t>，</m:t>
                    </m:r>
                    <m:r>
                      <a:rPr lang="en-US" altLang="zh-CN" b="0" i="1" dirty="0">
                        <a:latin typeface="Cambria Math" panose="02040503050406030204" pitchFamily="18" charset="0"/>
                      </a:rPr>
                      <m:t>𝐶</m:t>
                    </m:r>
                    <m:r>
                      <a:rPr lang="en-US" altLang="zh-CN" b="0" i="1" dirty="0">
                        <a:latin typeface="Cambria Math" panose="02040503050406030204" pitchFamily="18" charset="0"/>
                      </a:rPr>
                      <m:t>→</m:t>
                    </m:r>
                    <m:r>
                      <a:rPr lang="en-US" altLang="zh-CN" b="0" i="1" dirty="0">
                        <a:latin typeface="Cambria Math" panose="02040503050406030204" pitchFamily="18" charset="0"/>
                      </a:rPr>
                      <m:t>𝐸</m:t>
                    </m:r>
                    <m:r>
                      <a:rPr lang="zh-CN" altLang="en-US" b="0" i="1" dirty="0">
                        <a:latin typeface="Cambria Math" panose="02040503050406030204" pitchFamily="18" charset="0"/>
                      </a:rPr>
                      <m:t>，</m:t>
                    </m:r>
                    <m:r>
                      <a:rPr lang="en-US" altLang="zh-CN" b="0" i="1" dirty="0">
                        <a:latin typeface="Cambria Math" panose="02040503050406030204" pitchFamily="18" charset="0"/>
                      </a:rPr>
                      <m:t>𝐸𝐶</m:t>
                    </m:r>
                    <m:r>
                      <a:rPr lang="en-US" altLang="zh-CN" b="0" i="1" dirty="0">
                        <a:latin typeface="Cambria Math" panose="02040503050406030204" pitchFamily="18" charset="0"/>
                      </a:rPr>
                      <m:t>→</m:t>
                    </m:r>
                    <m:r>
                      <a:rPr lang="en-US" altLang="zh-CN" b="0" i="1" dirty="0">
                        <a:latin typeface="Cambria Math" panose="02040503050406030204" pitchFamily="18" charset="0"/>
                      </a:rPr>
                      <m:t>𝐵</m:t>
                    </m:r>
                    <m:r>
                      <a:rPr lang="zh-CN" altLang="en-US" b="0" i="1" dirty="0">
                        <a:latin typeface="Cambria Math" panose="02040503050406030204" pitchFamily="18" charset="0"/>
                      </a:rPr>
                      <m:t>，</m:t>
                    </m:r>
                    <m:r>
                      <a:rPr lang="en-US" altLang="zh-CN" b="0" i="1" dirty="0">
                        <a:latin typeface="Cambria Math" panose="02040503050406030204" pitchFamily="18" charset="0"/>
                      </a:rPr>
                      <m:t>𝐴𝐶</m:t>
                    </m:r>
                    <m:r>
                      <a:rPr lang="en-US" altLang="zh-CN" b="0" i="1" dirty="0">
                        <a:latin typeface="Cambria Math" panose="02040503050406030204" pitchFamily="18" charset="0"/>
                      </a:rPr>
                      <m:t>→</m:t>
                    </m:r>
                    <m:r>
                      <a:rPr lang="en-US" altLang="zh-CN" b="0" i="1" dirty="0">
                        <a:latin typeface="Cambria Math" panose="02040503050406030204" pitchFamily="18" charset="0"/>
                      </a:rPr>
                      <m:t>𝐵</m:t>
                    </m:r>
                    <m:r>
                      <a:rPr lang="en-US" altLang="zh-CN" b="0" i="1" dirty="0">
                        <a:latin typeface="Cambria Math" panose="02040503050406030204" pitchFamily="18" charset="0"/>
                      </a:rPr>
                      <m:t>}</m:t>
                    </m:r>
                  </m:oMath>
                </a14:m>
                <a:r>
                  <a:rPr lang="zh-CN" altLang="en-US" dirty="0"/>
                  <a:t>，</a:t>
                </a:r>
                <a:r>
                  <a:rPr lang="zh-CN" altLang="en-US" dirty="0">
                    <a:solidFill>
                      <a:srgbClr val="C00000"/>
                    </a:solidFill>
                  </a:rPr>
                  <a:t>求 </a:t>
                </a:r>
                <a14:m>
                  <m:oMath xmlns:m="http://schemas.openxmlformats.org/officeDocument/2006/math">
                    <m:r>
                      <a:rPr lang="en-US" altLang="zh-CN" b="0" i="1" dirty="0">
                        <a:solidFill>
                          <a:srgbClr val="C00000"/>
                        </a:solidFill>
                        <a:latin typeface="Cambria Math" panose="02040503050406030204" pitchFamily="18" charset="0"/>
                      </a:rPr>
                      <m:t>(</m:t>
                    </m:r>
                    <m:r>
                      <a:rPr lang="en-US" altLang="zh-CN" b="0" i="1" dirty="0">
                        <a:solidFill>
                          <a:srgbClr val="C00000"/>
                        </a:solidFill>
                        <a:latin typeface="Cambria Math" panose="02040503050406030204" pitchFamily="18" charset="0"/>
                      </a:rPr>
                      <m:t>𝐴𝐵</m:t>
                    </m:r>
                    <m:r>
                      <a:rPr lang="en-US" altLang="zh-CN" b="0" i="1" dirty="0">
                        <a:solidFill>
                          <a:srgbClr val="C00000"/>
                        </a:solidFill>
                        <a:latin typeface="Cambria Math" panose="02040503050406030204" pitchFamily="18" charset="0"/>
                      </a:rPr>
                      <m:t>)+</m:t>
                    </m:r>
                    <m:r>
                      <a:rPr lang="en-US" altLang="zh-CN" b="0" i="1" dirty="0">
                        <a:solidFill>
                          <a:srgbClr val="C00000"/>
                        </a:solidFill>
                        <a:latin typeface="Cambria Math" panose="02040503050406030204" pitchFamily="18" charset="0"/>
                      </a:rPr>
                      <m:t>𝐹</m:t>
                    </m:r>
                    <m:r>
                      <a:rPr lang="en-US" altLang="zh-CN" b="0" i="1" dirty="0">
                        <a:solidFill>
                          <a:srgbClr val="C00000"/>
                        </a:solidFill>
                        <a:latin typeface="Cambria Math" panose="02040503050406030204" pitchFamily="18" charset="0"/>
                      </a:rPr>
                      <m:t> </m:t>
                    </m:r>
                  </m:oMath>
                </a14:m>
                <a:r>
                  <a:rPr lang="zh-CN" altLang="en-US" dirty="0"/>
                  <a:t>。 </a:t>
                </a:r>
                <a:endParaRPr lang="en-US" altLang="zh-CN" dirty="0"/>
              </a:p>
              <a:p>
                <a:pPr marL="635000" lvl="1" indent="-177800">
                  <a:lnSpc>
                    <a:spcPct val="140000"/>
                  </a:lnSpc>
                </a:pPr>
                <a:r>
                  <a:rPr lang="zh-CN" altLang="en-US" dirty="0"/>
                  <a:t>解：由算法，</a:t>
                </a:r>
                <a14:m>
                  <m:oMath xmlns:m="http://schemas.openxmlformats.org/officeDocument/2006/math">
                    <m:r>
                      <a:rPr lang="en-US" altLang="zh-CN" b="0" i="1" dirty="0">
                        <a:latin typeface="Cambria Math" panose="02040503050406030204" pitchFamily="18" charset="0"/>
                      </a:rPr>
                      <m:t>𝑋</m:t>
                    </m:r>
                    <m:r>
                      <a:rPr lang="en-US" altLang="zh-CN" b="0" i="1" dirty="0">
                        <a:latin typeface="Cambria Math" panose="02040503050406030204" pitchFamily="18" charset="0"/>
                      </a:rPr>
                      <m:t>(</m:t>
                    </m:r>
                    <m:r>
                      <a:rPr lang="en-US" altLang="zh-CN" b="0" i="1" dirty="0">
                        <a:latin typeface="Cambria Math" panose="02040503050406030204" pitchFamily="18" charset="0"/>
                      </a:rPr>
                      <m:t>0</m:t>
                    </m:r>
                    <m:r>
                      <a:rPr lang="en-US" altLang="zh-CN" b="0" i="1" dirty="0">
                        <a:latin typeface="Cambria Math" panose="02040503050406030204" pitchFamily="18" charset="0"/>
                      </a:rPr>
                      <m:t>)=</m:t>
                    </m:r>
                    <m:r>
                      <a:rPr lang="en-US" altLang="zh-CN" b="0" i="1" dirty="0">
                        <a:latin typeface="Cambria Math" panose="02040503050406030204" pitchFamily="18" charset="0"/>
                      </a:rPr>
                      <m:t>𝐴𝐵</m:t>
                    </m:r>
                  </m:oMath>
                </a14:m>
                <a:r>
                  <a:rPr lang="zh-CN" altLang="en-US" dirty="0"/>
                  <a:t>；计算</a:t>
                </a:r>
                <a14:m>
                  <m:oMath xmlns:m="http://schemas.openxmlformats.org/officeDocument/2006/math">
                    <m:r>
                      <a:rPr lang="en-US" altLang="zh-CN" b="0" i="1" dirty="0">
                        <a:latin typeface="Cambria Math" panose="02040503050406030204" pitchFamily="18" charset="0"/>
                      </a:rPr>
                      <m:t>𝑋</m:t>
                    </m:r>
                    <m:r>
                      <a:rPr lang="en-US" altLang="zh-CN" b="0" i="1" dirty="0">
                        <a:latin typeface="Cambria Math" panose="02040503050406030204" pitchFamily="18" charset="0"/>
                      </a:rPr>
                      <m:t>(</m:t>
                    </m:r>
                    <m:r>
                      <a:rPr lang="en-US" altLang="zh-CN" b="0" i="1" dirty="0">
                        <a:latin typeface="Cambria Math" panose="02040503050406030204" pitchFamily="18" charset="0"/>
                      </a:rPr>
                      <m:t>1</m:t>
                    </m:r>
                    <m:r>
                      <a:rPr lang="en-US" altLang="zh-CN" b="0" i="1" dirty="0">
                        <a:latin typeface="Cambria Math" panose="02040503050406030204" pitchFamily="18" charset="0"/>
                      </a:rPr>
                      <m:t>)</m:t>
                    </m:r>
                  </m:oMath>
                </a14:m>
                <a:r>
                  <a:rPr lang="zh-CN" altLang="en-US" dirty="0"/>
                  <a:t>； 逐一的扫描</a:t>
                </a:r>
                <a14:m>
                  <m:oMath xmlns:m="http://schemas.openxmlformats.org/officeDocument/2006/math">
                    <m:r>
                      <a:rPr lang="en-US" altLang="zh-CN" b="0" i="1" dirty="0">
                        <a:latin typeface="Cambria Math" panose="02040503050406030204" pitchFamily="18" charset="0"/>
                      </a:rPr>
                      <m:t>𝐹</m:t>
                    </m:r>
                  </m:oMath>
                </a14:m>
                <a:r>
                  <a:rPr lang="zh-CN" altLang="en-US" dirty="0"/>
                  <a:t>集合中各个函数依赖</a:t>
                </a:r>
                <a:r>
                  <a:rPr lang="en-US" altLang="zh-CN" dirty="0"/>
                  <a:t>,</a:t>
                </a:r>
                <a:r>
                  <a:rPr lang="zh-CN" altLang="en-US" dirty="0"/>
                  <a:t>找左部为</a:t>
                </a:r>
                <a14:m>
                  <m:oMath xmlns:m="http://schemas.openxmlformats.org/officeDocument/2006/math">
                    <m:r>
                      <a:rPr lang="en-US" altLang="zh-CN" b="0" i="1" dirty="0">
                        <a:latin typeface="Cambria Math" panose="02040503050406030204" pitchFamily="18" charset="0"/>
                      </a:rPr>
                      <m:t>𝐴</m:t>
                    </m:r>
                    <m:r>
                      <a:rPr lang="en-US" altLang="zh-CN" b="0" i="1" dirty="0">
                        <a:latin typeface="Cambria Math" panose="02040503050406030204" pitchFamily="18" charset="0"/>
                      </a:rPr>
                      <m:t>,</m:t>
                    </m:r>
                    <m:r>
                      <a:rPr lang="en-US" altLang="zh-CN" b="0" i="1" dirty="0">
                        <a:latin typeface="Cambria Math" panose="02040503050406030204" pitchFamily="18" charset="0"/>
                      </a:rPr>
                      <m:t>𝐵</m:t>
                    </m:r>
                    <m:r>
                      <a:rPr lang="en-US" altLang="zh-CN" b="0" i="1" dirty="0">
                        <a:latin typeface="Cambria Math" panose="02040503050406030204" pitchFamily="18" charset="0"/>
                      </a:rPr>
                      <m:t>,</m:t>
                    </m:r>
                  </m:oMath>
                </a14:m>
                <a:r>
                  <a:rPr lang="zh-CN" altLang="en-US" dirty="0"/>
                  <a:t>或</a:t>
                </a:r>
                <a14:m>
                  <m:oMath xmlns:m="http://schemas.openxmlformats.org/officeDocument/2006/math">
                    <m:r>
                      <a:rPr lang="en-US" altLang="zh-CN" b="0" i="1" dirty="0">
                        <a:latin typeface="Cambria Math" panose="02040503050406030204" pitchFamily="18" charset="0"/>
                      </a:rPr>
                      <m:t>𝐴𝐵</m:t>
                    </m:r>
                  </m:oMath>
                </a14:m>
                <a:r>
                  <a:rPr lang="zh-CN" altLang="en-US" dirty="0"/>
                  <a:t>的函数依赖。得到两个：</a:t>
                </a:r>
                <a14:m>
                  <m:oMath xmlns:m="http://schemas.openxmlformats.org/officeDocument/2006/math">
                    <m:r>
                      <a:rPr lang="en-US" altLang="zh-CN" b="0" i="1" dirty="0">
                        <a:latin typeface="Cambria Math" panose="02040503050406030204" pitchFamily="18" charset="0"/>
                      </a:rPr>
                      <m:t>𝐴𝐵</m:t>
                    </m:r>
                    <m:r>
                      <a:rPr lang="en-US" altLang="zh-CN" b="0" i="1" dirty="0">
                        <a:latin typeface="Cambria Math" panose="02040503050406030204" pitchFamily="18" charset="0"/>
                      </a:rPr>
                      <m:t>→</m:t>
                    </m:r>
                    <m:r>
                      <a:rPr lang="en-US" altLang="zh-CN" b="0" i="1" dirty="0">
                        <a:latin typeface="Cambria Math" panose="02040503050406030204" pitchFamily="18" charset="0"/>
                      </a:rPr>
                      <m:t>𝐶</m:t>
                    </m:r>
                    <m:r>
                      <a:rPr lang="zh-CN" altLang="en-US" b="0" i="1" dirty="0">
                        <a:latin typeface="Cambria Math" panose="02040503050406030204" pitchFamily="18" charset="0"/>
                      </a:rPr>
                      <m:t>，</m:t>
                    </m:r>
                    <m:r>
                      <a:rPr lang="en-US" altLang="zh-CN" b="0" i="1" dirty="0">
                        <a:latin typeface="Cambria Math" panose="02040503050406030204" pitchFamily="18" charset="0"/>
                      </a:rPr>
                      <m:t>𝐵</m:t>
                    </m:r>
                    <m:r>
                      <a:rPr lang="en-US" altLang="zh-CN" b="0" i="1" dirty="0">
                        <a:latin typeface="Cambria Math" panose="02040503050406030204" pitchFamily="18" charset="0"/>
                      </a:rPr>
                      <m:t>→</m:t>
                    </m:r>
                    <m:r>
                      <a:rPr lang="en-US" altLang="zh-CN" b="0" i="1" dirty="0">
                        <a:latin typeface="Cambria Math" panose="02040503050406030204" pitchFamily="18" charset="0"/>
                      </a:rPr>
                      <m:t>𝐷</m:t>
                    </m:r>
                  </m:oMath>
                </a14:m>
                <a:r>
                  <a:rPr lang="zh-CN" altLang="en-US" dirty="0"/>
                  <a:t>。于是</a:t>
                </a:r>
                <a14:m>
                  <m:oMath xmlns:m="http://schemas.openxmlformats.org/officeDocument/2006/math">
                    <m:r>
                      <a:rPr lang="en-US" altLang="zh-CN" b="0" i="1" dirty="0">
                        <a:latin typeface="Cambria Math" panose="02040503050406030204" pitchFamily="18" charset="0"/>
                      </a:rPr>
                      <m:t>𝑋</m:t>
                    </m:r>
                    <m:r>
                      <a:rPr lang="en-US" altLang="zh-CN" b="0" i="1" dirty="0">
                        <a:latin typeface="Cambria Math" panose="02040503050406030204" pitchFamily="18" charset="0"/>
                      </a:rPr>
                      <m:t>(</m:t>
                    </m:r>
                    <m:r>
                      <a:rPr lang="en-US" altLang="zh-CN" b="0" i="1" dirty="0">
                        <a:latin typeface="Cambria Math" panose="02040503050406030204" pitchFamily="18" charset="0"/>
                      </a:rPr>
                      <m:t>1</m:t>
                    </m:r>
                    <m:r>
                      <a:rPr lang="en-US" altLang="zh-CN" b="0" i="1" dirty="0">
                        <a:latin typeface="Cambria Math" panose="02040503050406030204" pitchFamily="18" charset="0"/>
                      </a:rPr>
                      <m:t>)=</m:t>
                    </m:r>
                    <m:r>
                      <a:rPr lang="en-US" altLang="zh-CN" b="0" i="1" dirty="0">
                        <a:latin typeface="Cambria Math" panose="02040503050406030204" pitchFamily="18" charset="0"/>
                      </a:rPr>
                      <m:t>𝐴𝐵</m:t>
                    </m:r>
                    <m:r>
                      <a:rPr lang="en-US" altLang="zh-CN" b="0" i="1" dirty="0">
                        <a:latin typeface="Cambria Math" panose="02040503050406030204" pitchFamily="18" charset="0"/>
                      </a:rPr>
                      <m:t>∪</m:t>
                    </m:r>
                    <m:r>
                      <a:rPr lang="en-US" altLang="zh-CN" b="0" i="1" dirty="0">
                        <a:latin typeface="Cambria Math" panose="02040503050406030204" pitchFamily="18" charset="0"/>
                      </a:rPr>
                      <m:t>𝐶𝐷</m:t>
                    </m:r>
                    <m:r>
                      <a:rPr lang="en-US" altLang="zh-CN" b="0" i="1" dirty="0">
                        <a:latin typeface="Cambria Math" panose="02040503050406030204" pitchFamily="18" charset="0"/>
                      </a:rPr>
                      <m:t>=</m:t>
                    </m:r>
                    <m:r>
                      <a:rPr lang="en-US" altLang="zh-CN" b="0" i="1" dirty="0">
                        <a:latin typeface="Cambria Math" panose="02040503050406030204" pitchFamily="18" charset="0"/>
                      </a:rPr>
                      <m:t>𝐴𝐵𝐶𝐷</m:t>
                    </m:r>
                  </m:oMath>
                </a14:m>
                <a:r>
                  <a:rPr lang="zh-CN" altLang="en-US" dirty="0"/>
                  <a:t>。</a:t>
                </a:r>
                <a:endParaRPr lang="zh-CN" altLang="en-US" dirty="0"/>
              </a:p>
              <a:p>
                <a:pPr marL="681990" indent="-177800" algn="l">
                  <a:lnSpc>
                    <a:spcPct val="140000"/>
                  </a:lnSpc>
                  <a:buNone/>
                </a:pPr>
                <a:r>
                  <a:rPr lang="zh-CN" altLang="en-US" sz="2400" b="0" dirty="0"/>
                  <a:t> 因为 </a:t>
                </a:r>
                <a14:m>
                  <m:oMath xmlns:m="http://schemas.openxmlformats.org/officeDocument/2006/math">
                    <m:r>
                      <a:rPr lang="en-US" altLang="zh-CN" sz="2400" b="0" i="1" dirty="0">
                        <a:latin typeface="Cambria Math" panose="02040503050406030204" pitchFamily="18" charset="0"/>
                      </a:rPr>
                      <m:t>𝑋</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0</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𝑋</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1</m:t>
                    </m:r>
                    <m:r>
                      <a:rPr lang="en-US" altLang="zh-CN" sz="2400" b="0" i="1" dirty="0">
                        <a:latin typeface="Cambria Math" panose="02040503050406030204" pitchFamily="18" charset="0"/>
                      </a:rPr>
                      <m:t>)</m:t>
                    </m:r>
                  </m:oMath>
                </a14:m>
                <a:r>
                  <a:rPr lang="zh-CN" altLang="en-US" sz="2400" b="0" dirty="0"/>
                  <a:t>，所以再找出左部为</a:t>
                </a:r>
                <a14:m>
                  <m:oMath xmlns:m="http://schemas.openxmlformats.org/officeDocument/2006/math">
                    <m:r>
                      <a:rPr lang="en-US" altLang="zh-CN" sz="2400" b="0" i="1" dirty="0">
                        <a:latin typeface="Cambria Math" panose="02040503050406030204" pitchFamily="18" charset="0"/>
                      </a:rPr>
                      <m:t>𝐴𝐵𝐶𝐷</m:t>
                    </m:r>
                  </m:oMath>
                </a14:m>
                <a:r>
                  <a:rPr lang="zh-CN" altLang="en-US" sz="2400" b="0" dirty="0"/>
                  <a:t>子集的那些函数依赖，又得到</a:t>
                </a:r>
                <a14:m>
                  <m:oMath xmlns:m="http://schemas.openxmlformats.org/officeDocument/2006/math">
                    <m:r>
                      <a:rPr lang="en-US" altLang="zh-CN" sz="2400" b="0" i="1" dirty="0">
                        <a:latin typeface="Cambria Math" panose="02040503050406030204" pitchFamily="18" charset="0"/>
                      </a:rPr>
                      <m:t>𝐶</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𝐸</m:t>
                    </m:r>
                    <m:r>
                      <a:rPr lang="zh-CN" altLang="en-US" sz="2400" b="0" i="1" dirty="0">
                        <a:latin typeface="Cambria Math" panose="02040503050406030204" pitchFamily="18" charset="0"/>
                      </a:rPr>
                      <m:t>，</m:t>
                    </m:r>
                    <m:r>
                      <a:rPr lang="en-US" altLang="zh-CN" sz="2400" b="0" i="1" dirty="0">
                        <a:latin typeface="Cambria Math" panose="02040503050406030204" pitchFamily="18" charset="0"/>
                      </a:rPr>
                      <m:t>𝐴𝐶</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𝐵</m:t>
                    </m:r>
                  </m:oMath>
                </a14:m>
                <a:r>
                  <a:rPr lang="zh-CN" altLang="en-US" sz="2400" b="0" dirty="0"/>
                  <a:t>，于是</a:t>
                </a:r>
                <a14:m>
                  <m:oMath xmlns:m="http://schemas.openxmlformats.org/officeDocument/2006/math">
                    <m:r>
                      <a:rPr lang="en-US" altLang="zh-CN" sz="2400" b="0" i="1" dirty="0">
                        <a:latin typeface="Cambria Math" panose="02040503050406030204" pitchFamily="18" charset="0"/>
                      </a:rPr>
                      <m:t>𝑋</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2</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𝑋</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1</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𝐵𝐸</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𝐴𝐵𝐶𝐷𝐸</m:t>
                    </m:r>
                  </m:oMath>
                </a14:m>
                <a:r>
                  <a:rPr lang="zh-CN" altLang="en-US" sz="2400" b="0" dirty="0"/>
                  <a:t>。 </a:t>
                </a:r>
                <a:endParaRPr lang="en-US" altLang="zh-CN" sz="2400" b="0" dirty="0"/>
              </a:p>
              <a:p>
                <a:pPr marL="681990" indent="-177800" algn="l">
                  <a:lnSpc>
                    <a:spcPct val="140000"/>
                  </a:lnSpc>
                  <a:buNone/>
                </a:pPr>
                <a:r>
                  <a:rPr lang="zh-CN" altLang="en-US" sz="2400" b="0" dirty="0"/>
                  <a:t> 因为</a:t>
                </a:r>
                <a14:m>
                  <m:oMath xmlns:m="http://schemas.openxmlformats.org/officeDocument/2006/math">
                    <m:r>
                      <a:rPr lang="en-US" altLang="zh-CN" sz="2400" b="0" i="1" dirty="0">
                        <a:latin typeface="Cambria Math" panose="02040503050406030204" pitchFamily="18" charset="0"/>
                      </a:rPr>
                      <m:t>𝑋</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2</m:t>
                    </m:r>
                    <m:r>
                      <a:rPr lang="en-US" altLang="zh-CN" sz="2400" b="0" i="1" dirty="0">
                        <a:latin typeface="Cambria Math" panose="02040503050406030204" pitchFamily="18" charset="0"/>
                      </a:rPr>
                      <m:t>)</m:t>
                    </m:r>
                  </m:oMath>
                </a14:m>
                <a:r>
                  <a:rPr lang="en-US" altLang="zh-CN" sz="2400" b="0" dirty="0"/>
                  <a:t> </a:t>
                </a:r>
                <a:r>
                  <a:rPr lang="zh-CN" altLang="en-US" sz="2400" b="0" dirty="0"/>
                  <a:t>已等于全部属性集合</a:t>
                </a:r>
                <a:r>
                  <a:rPr lang="en-US" altLang="zh-CN" sz="2400" b="0" dirty="0"/>
                  <a:t>,</a:t>
                </a:r>
                <a:r>
                  <a:rPr lang="zh-CN" altLang="en-US" sz="2400" b="0" dirty="0"/>
                  <a:t>所以</a:t>
                </a:r>
                <a14:m>
                  <m:oMath xmlns:m="http://schemas.openxmlformats.org/officeDocument/2006/math">
                    <m:r>
                      <a:rPr lang="en-US" altLang="zh-CN" sz="2400" b="0" i="1" dirty="0">
                        <a:latin typeface="Cambria Math" panose="02040503050406030204" pitchFamily="18" charset="0"/>
                      </a:rPr>
                      <m:t>(</m:t>
                    </m:r>
                    <m:r>
                      <a:rPr lang="en-US" altLang="zh-CN" sz="2400" b="0" i="1" dirty="0">
                        <a:latin typeface="Cambria Math" panose="02040503050406030204" pitchFamily="18" charset="0"/>
                      </a:rPr>
                      <m:t>𝐴𝐵</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𝐹</m:t>
                    </m:r>
                    <m:r>
                      <a:rPr lang="en-US" altLang="zh-CN" sz="2400" b="0" i="1" dirty="0">
                        <a:latin typeface="Cambria Math" panose="02040503050406030204" pitchFamily="18" charset="0"/>
                      </a:rPr>
                      <m:t> =</m:t>
                    </m:r>
                    <m:r>
                      <a:rPr lang="en-US" altLang="zh-CN" sz="2400" b="0" i="1" dirty="0">
                        <a:latin typeface="Cambria Math" panose="02040503050406030204" pitchFamily="18" charset="0"/>
                      </a:rPr>
                      <m:t>𝐴𝐵𝐶𝐷𝐸</m:t>
                    </m:r>
                  </m:oMath>
                </a14:m>
                <a:endParaRPr lang="zh-CN" altLang="en-US" sz="2400" b="0" dirty="0"/>
              </a:p>
              <a:p>
                <a:pPr marL="177800" indent="-177800">
                  <a:lnSpc>
                    <a:spcPct val="140000"/>
                  </a:lnSpc>
                  <a:buNone/>
                </a:pPr>
                <a:r>
                  <a:rPr lang="en-US" altLang="zh-CN" sz="2400" b="0" dirty="0"/>
                  <a:t> 	</a:t>
                </a:r>
                <a:r>
                  <a:rPr lang="zh-CN" altLang="en-US" sz="2400" b="0" dirty="0"/>
                  <a:t>      </a:t>
                </a:r>
                <a14:m>
                  <m:oMath xmlns:m="http://schemas.openxmlformats.org/officeDocument/2006/math">
                    <m:r>
                      <a:rPr lang="en-US" altLang="zh-CN" sz="2400" b="0" i="1" dirty="0">
                        <a:latin typeface="Cambria Math" panose="02040503050406030204" pitchFamily="18" charset="0"/>
                      </a:rPr>
                      <m:t>(</m:t>
                    </m:r>
                    <m:r>
                      <a:rPr lang="en-US" altLang="zh-CN" sz="2400" b="0" i="1" dirty="0">
                        <a:latin typeface="Cambria Math" panose="02040503050406030204" pitchFamily="18" charset="0"/>
                      </a:rPr>
                      <m:t>𝐵𝐶</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𝐹</m:t>
                    </m:r>
                    <m:r>
                      <a:rPr lang="en-US" altLang="zh-CN" sz="2400" b="0" i="1" dirty="0">
                        <a:latin typeface="Cambria Math" panose="02040503050406030204" pitchFamily="18" charset="0"/>
                      </a:rPr>
                      <m:t> =?  (</m:t>
                    </m:r>
                    <m:r>
                      <a:rPr lang="en-US" altLang="zh-CN" sz="2400" b="0" i="1" dirty="0">
                        <a:latin typeface="Cambria Math" panose="02040503050406030204" pitchFamily="18" charset="0"/>
                      </a:rPr>
                      <m:t>𝐴𝐶</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𝐹</m:t>
                    </m:r>
                    <m:r>
                      <a:rPr lang="en-US" altLang="zh-CN" sz="2400" b="0" i="1" dirty="0">
                        <a:latin typeface="Cambria Math" panose="02040503050406030204" pitchFamily="18" charset="0"/>
                      </a:rPr>
                      <m:t> =?</m:t>
                    </m:r>
                  </m:oMath>
                </a14:m>
                <a:endParaRPr lang="zh-CN" altLang="en-US" sz="2400" b="0" dirty="0"/>
              </a:p>
              <a:p>
                <a:pPr marL="635000" lvl="1" indent="-177800">
                  <a:lnSpc>
                    <a:spcPct val="140000"/>
                  </a:lnSpc>
                </a:pPr>
                <a:r>
                  <a:rPr lang="zh-CN" altLang="en-US" b="0" dirty="0"/>
                  <a:t>注意：对于算法</a:t>
                </a:r>
                <a:r>
                  <a:rPr lang="en-US" altLang="zh-CN" b="0" dirty="0"/>
                  <a:t>1.1</a:t>
                </a:r>
                <a:r>
                  <a:rPr lang="zh-CN" altLang="en-US" b="0" dirty="0"/>
                  <a:t>， 令</a:t>
                </a:r>
                <a14:m>
                  <m:oMath xmlns:m="http://schemas.openxmlformats.org/officeDocument/2006/math">
                    <m:r>
                      <a:rPr lang="en-US" altLang="zh-CN" b="0" i="1" dirty="0">
                        <a:latin typeface="Cambria Math" panose="02040503050406030204" pitchFamily="18" charset="0"/>
                      </a:rPr>
                      <m:t>𝑎𝑖</m:t>
                    </m:r>
                    <m:r>
                      <a:rPr lang="en-US" altLang="zh-CN" b="0" i="1" dirty="0">
                        <a:latin typeface="Cambria Math" panose="02040503050406030204" pitchFamily="18" charset="0"/>
                      </a:rPr>
                      <m:t>=|</m:t>
                    </m:r>
                    <m:r>
                      <a:rPr lang="en-US" altLang="zh-CN" b="0" i="1" dirty="0">
                        <a:latin typeface="Cambria Math" panose="02040503050406030204" pitchFamily="18" charset="0"/>
                      </a:rPr>
                      <m:t>𝑋</m:t>
                    </m:r>
                    <m:r>
                      <a:rPr lang="en-US" altLang="zh-CN" b="0" i="1" dirty="0">
                        <a:latin typeface="Cambria Math" panose="02040503050406030204" pitchFamily="18" charset="0"/>
                      </a:rPr>
                      <m:t>(</m:t>
                    </m:r>
                    <m:r>
                      <a:rPr lang="en-US" altLang="zh-CN" b="0" i="1" dirty="0" err="1">
                        <a:latin typeface="Cambria Math" panose="02040503050406030204" pitchFamily="18" charset="0"/>
                      </a:rPr>
                      <m:t>𝑖</m:t>
                    </m:r>
                    <m:r>
                      <a:rPr lang="en-US" altLang="zh-CN" b="0" i="1" dirty="0">
                        <a:latin typeface="Cambria Math" panose="02040503050406030204" pitchFamily="18" charset="0"/>
                      </a:rPr>
                      <m:t>)|</m:t>
                    </m:r>
                  </m:oMath>
                </a14:m>
                <a:r>
                  <a:rPr lang="en-US" altLang="zh-CN" b="0" dirty="0"/>
                  <a:t>,</a:t>
                </a:r>
                <a14:m>
                  <m:oMath xmlns:m="http://schemas.openxmlformats.org/officeDocument/2006/math">
                    <m:r>
                      <a:rPr lang="en-US" altLang="zh-CN" b="0" i="1" dirty="0">
                        <a:latin typeface="Cambria Math" panose="02040503050406030204" pitchFamily="18" charset="0"/>
                      </a:rPr>
                      <m:t>{</m:t>
                    </m:r>
                    <m:r>
                      <a:rPr lang="en-US" altLang="zh-CN" b="0" i="1" dirty="0">
                        <a:latin typeface="Cambria Math" panose="02040503050406030204" pitchFamily="18" charset="0"/>
                      </a:rPr>
                      <m:t>𝑎𝑖</m:t>
                    </m:r>
                    <m:r>
                      <a:rPr lang="en-US" altLang="zh-CN" b="0" i="1" dirty="0">
                        <a:latin typeface="Cambria Math" panose="02040503050406030204" pitchFamily="18" charset="0"/>
                      </a:rPr>
                      <m:t> }</m:t>
                    </m:r>
                  </m:oMath>
                </a14:m>
                <a:r>
                  <a:rPr lang="zh-CN" altLang="en-US" b="0" dirty="0"/>
                  <a:t>形成一个步长大于</a:t>
                </a:r>
                <a:r>
                  <a:rPr lang="en-US" altLang="zh-CN" b="0" dirty="0"/>
                  <a:t>1</a:t>
                </a:r>
                <a:r>
                  <a:rPr lang="zh-CN" altLang="en-US" b="0" dirty="0"/>
                  <a:t>的严格递增的序列</a:t>
                </a:r>
                <a:r>
                  <a:rPr lang="en-US" altLang="zh-CN" b="0" dirty="0"/>
                  <a:t>,</a:t>
                </a:r>
                <a:r>
                  <a:rPr lang="zh-CN" altLang="en-US" b="0" dirty="0"/>
                  <a:t>序列的上界是</a:t>
                </a:r>
                <a14:m>
                  <m:oMath xmlns:m="http://schemas.openxmlformats.org/officeDocument/2006/math">
                    <m:r>
                      <a:rPr lang="en-US" altLang="zh-CN" b="0" i="1" dirty="0">
                        <a:latin typeface="Cambria Math" panose="02040503050406030204" pitchFamily="18" charset="0"/>
                      </a:rPr>
                      <m:t>|</m:t>
                    </m:r>
                    <m:r>
                      <a:rPr lang="en-US" altLang="zh-CN" b="0" i="1" dirty="0">
                        <a:latin typeface="Cambria Math" panose="02040503050406030204" pitchFamily="18" charset="0"/>
                      </a:rPr>
                      <m:t>𝑈</m:t>
                    </m:r>
                    <m:r>
                      <a:rPr lang="en-US" altLang="zh-CN" b="0" i="1" dirty="0">
                        <a:latin typeface="Cambria Math" panose="02040503050406030204" pitchFamily="18" charset="0"/>
                      </a:rPr>
                      <m:t>|</m:t>
                    </m:r>
                  </m:oMath>
                </a14:m>
                <a:r>
                  <a:rPr lang="en-US" altLang="zh-CN" b="0" dirty="0"/>
                  <a:t>,</a:t>
                </a:r>
                <a:r>
                  <a:rPr lang="zh-CN" altLang="en-US" b="0" dirty="0"/>
                  <a:t>因此该算法最多</a:t>
                </a:r>
                <a14:m>
                  <m:oMath xmlns:m="http://schemas.openxmlformats.org/officeDocument/2006/math">
                    <m:r>
                      <a:rPr lang="en-US" altLang="zh-CN" b="0" i="1" dirty="0">
                        <a:latin typeface="Cambria Math" panose="02040503050406030204" pitchFamily="18" charset="0"/>
                      </a:rPr>
                      <m:t>|</m:t>
                    </m:r>
                    <m:r>
                      <a:rPr lang="en-US" altLang="zh-CN" b="0" i="1" dirty="0">
                        <a:latin typeface="Cambria Math" panose="02040503050406030204" pitchFamily="18" charset="0"/>
                      </a:rPr>
                      <m:t>𝑈</m:t>
                    </m:r>
                    <m:r>
                      <a:rPr lang="en-US" altLang="zh-CN" b="0" i="1" dirty="0">
                        <a:latin typeface="Cambria Math" panose="02040503050406030204" pitchFamily="18" charset="0"/>
                      </a:rPr>
                      <m:t>|−|</m:t>
                    </m:r>
                    <m:r>
                      <a:rPr lang="en-US" altLang="zh-CN" b="0" i="1" dirty="0">
                        <a:latin typeface="Cambria Math" panose="02040503050406030204" pitchFamily="18" charset="0"/>
                      </a:rPr>
                      <m:t>𝑋</m:t>
                    </m:r>
                    <m:r>
                      <a:rPr lang="en-US" altLang="zh-CN" b="0" i="1" dirty="0">
                        <a:latin typeface="Cambria Math" panose="02040503050406030204" pitchFamily="18" charset="0"/>
                      </a:rPr>
                      <m:t>|</m:t>
                    </m:r>
                  </m:oMath>
                </a14:m>
                <a:r>
                  <a:rPr lang="zh-CN" altLang="en-US" b="0" dirty="0"/>
                  <a:t>次循环就会终止。</a:t>
                </a:r>
                <a:endParaRPr lang="zh-CN" altLang="en-US" b="0"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属性集的闭包</a:t>
                </a:r>
                <a:endParaRPr kumimoji="1" lang="en-US" altLang="zh-CN" dirty="0"/>
              </a:p>
              <a:p>
                <a:pPr marL="635000" lvl="1" indent="-177800">
                  <a:lnSpc>
                    <a:spcPct val="140000"/>
                  </a:lnSpc>
                </a:pPr>
                <a:r>
                  <a:rPr lang="zh-CN" altLang="en-US" dirty="0"/>
                  <a:t>例</a:t>
                </a:r>
                <a:r>
                  <a:rPr lang="en-US" altLang="zh-CN" dirty="0"/>
                  <a:t>4.3: </a:t>
                </a:r>
                <a:r>
                  <a:rPr lang="zh-CN" altLang="en-US" dirty="0"/>
                  <a:t>属性集</a:t>
                </a:r>
                <a14:m>
                  <m:oMath xmlns:m="http://schemas.openxmlformats.org/officeDocument/2006/math">
                    <m:r>
                      <a:rPr lang="en-US" altLang="zh-CN" b="0" i="1" dirty="0">
                        <a:latin typeface="Cambria Math" panose="02040503050406030204" pitchFamily="18" charset="0"/>
                      </a:rPr>
                      <m:t>𝑈</m:t>
                    </m:r>
                  </m:oMath>
                </a14:m>
                <a:r>
                  <a:rPr lang="zh-CN" altLang="en-US" dirty="0"/>
                  <a:t>为</a:t>
                </a:r>
                <a14:m>
                  <m:oMath xmlns:m="http://schemas.openxmlformats.org/officeDocument/2006/math">
                    <m:r>
                      <a:rPr lang="en-US" altLang="zh-CN" b="0" i="1" dirty="0">
                        <a:latin typeface="Cambria Math" panose="02040503050406030204" pitchFamily="18" charset="0"/>
                      </a:rPr>
                      <m:t>𝐴𝐵𝐶𝐷</m:t>
                    </m:r>
                  </m:oMath>
                </a14:m>
                <a:r>
                  <a:rPr lang="zh-CN" altLang="en-US" dirty="0"/>
                  <a:t>，</a:t>
                </a:r>
                <a14:m>
                  <m:oMath xmlns:m="http://schemas.openxmlformats.org/officeDocument/2006/math">
                    <m:r>
                      <a:rPr lang="en-US" altLang="zh-CN" b="0" i="1" dirty="0" smtClean="0">
                        <a:latin typeface="Cambria Math" panose="02040503050406030204" pitchFamily="18" charset="0"/>
                      </a:rPr>
                      <m:t>𝐹𝐷</m:t>
                    </m:r>
                  </m:oMath>
                </a14:m>
                <a:r>
                  <a:rPr lang="zh-CN" altLang="en-US" dirty="0"/>
                  <a:t>集为</a:t>
                </a:r>
                <a14:m>
                  <m:oMath xmlns:m="http://schemas.openxmlformats.org/officeDocument/2006/math">
                    <m:r>
                      <a:rPr lang="zh-CN" altLang="en-US" b="0" i="1" dirty="0">
                        <a:latin typeface="Cambria Math" panose="02040503050406030204" pitchFamily="18" charset="0"/>
                      </a:rPr>
                      <m:t>｛</m:t>
                    </m:r>
                    <m:r>
                      <a:rPr lang="en-US" altLang="zh-CN" b="0" i="1" dirty="0">
                        <a:latin typeface="Cambria Math" panose="02040503050406030204" pitchFamily="18" charset="0"/>
                      </a:rPr>
                      <m:t>𝐴</m:t>
                    </m:r>
                    <m:r>
                      <a:rPr lang="en-US" altLang="zh-CN" b="0" i="1" dirty="0">
                        <a:latin typeface="Cambria Math" panose="02040503050406030204" pitchFamily="18" charset="0"/>
                      </a:rPr>
                      <m:t>→</m:t>
                    </m:r>
                    <m:r>
                      <a:rPr lang="en-US" altLang="zh-CN" b="0" i="1" dirty="0">
                        <a:latin typeface="Cambria Math" panose="02040503050406030204" pitchFamily="18" charset="0"/>
                      </a:rPr>
                      <m:t>𝐵</m:t>
                    </m:r>
                    <m:r>
                      <a:rPr lang="zh-CN" altLang="en-US" b="0" i="1" dirty="0">
                        <a:latin typeface="Cambria Math" panose="02040503050406030204" pitchFamily="18" charset="0"/>
                      </a:rPr>
                      <m:t>，</m:t>
                    </m:r>
                    <m:r>
                      <a:rPr lang="en-US" altLang="zh-CN" b="0" i="1" dirty="0">
                        <a:latin typeface="Cambria Math" panose="02040503050406030204" pitchFamily="18" charset="0"/>
                      </a:rPr>
                      <m:t>𝐵</m:t>
                    </m:r>
                    <m:r>
                      <a:rPr lang="en-US" altLang="zh-CN" b="0" i="1" dirty="0">
                        <a:latin typeface="Cambria Math" panose="02040503050406030204" pitchFamily="18" charset="0"/>
                      </a:rPr>
                      <m:t>→</m:t>
                    </m:r>
                    <m:r>
                      <a:rPr lang="en-US" altLang="zh-CN" b="0" i="1" dirty="0">
                        <a:latin typeface="Cambria Math" panose="02040503050406030204" pitchFamily="18" charset="0"/>
                      </a:rPr>
                      <m:t>𝐶</m:t>
                    </m:r>
                    <m:r>
                      <a:rPr lang="zh-CN" altLang="en-US" b="0" i="1" dirty="0">
                        <a:latin typeface="Cambria Math" panose="02040503050406030204" pitchFamily="18" charset="0"/>
                      </a:rPr>
                      <m:t>，</m:t>
                    </m:r>
                    <m:r>
                      <a:rPr lang="en-US" altLang="zh-CN" b="0" i="1" dirty="0">
                        <a:latin typeface="Cambria Math" panose="02040503050406030204" pitchFamily="18" charset="0"/>
                      </a:rPr>
                      <m:t>𝐷</m:t>
                    </m:r>
                    <m:r>
                      <a:rPr lang="en-US" altLang="zh-CN" b="0" i="1" dirty="0">
                        <a:latin typeface="Cambria Math" panose="02040503050406030204" pitchFamily="18" charset="0"/>
                      </a:rPr>
                      <m:t>→</m:t>
                    </m:r>
                    <m:r>
                      <a:rPr lang="en-US" altLang="zh-CN" b="0" i="1" dirty="0">
                        <a:latin typeface="Cambria Math" panose="02040503050406030204" pitchFamily="18" charset="0"/>
                      </a:rPr>
                      <m:t>𝐵</m:t>
                    </m:r>
                    <m:r>
                      <a:rPr lang="zh-CN" altLang="en-US" b="0" i="1" dirty="0">
                        <a:latin typeface="Cambria Math" panose="02040503050406030204" pitchFamily="18" charset="0"/>
                      </a:rPr>
                      <m:t>｝</m:t>
                    </m:r>
                  </m:oMath>
                </a14:m>
                <a:endParaRPr lang="en-US" altLang="zh-CN" dirty="0"/>
              </a:p>
              <a:p>
                <a:pPr marL="635000" lvl="1" indent="-177800">
                  <a:lnSpc>
                    <a:spcPct val="140000"/>
                  </a:lnSpc>
                </a:pPr>
                <a:r>
                  <a:rPr lang="zh-CN" altLang="en-US" dirty="0"/>
                  <a:t>则用上述算法，可求出</a:t>
                </a:r>
                <a:r>
                  <a:rPr lang="en-US" altLang="zh-CN" dirty="0"/>
                  <a:t>:</a:t>
                </a:r>
                <a:endParaRPr lang="en-US" altLang="zh-CN" dirty="0"/>
              </a:p>
              <a:p>
                <a:pPr marL="635000" lvl="1" indent="-177800">
                  <a:lnSpc>
                    <a:spcPct val="140000"/>
                  </a:lnSpc>
                </a:pPr>
                <a14:m>
                  <m:oMath xmlns:m="http://schemas.openxmlformats.org/officeDocument/2006/math">
                    <m:r>
                      <a:rPr lang="en-US" altLang="zh-CN" b="0" i="1" dirty="0">
                        <a:latin typeface="Cambria Math" panose="02040503050406030204" pitchFamily="18" charset="0"/>
                      </a:rPr>
                      <m:t>𝐴</m:t>
                    </m:r>
                    <m:r>
                      <a:rPr lang="en-US" altLang="zh-CN" b="0" i="1" baseline="30000" dirty="0">
                        <a:latin typeface="Cambria Math" panose="02040503050406030204" pitchFamily="18" charset="0"/>
                      </a:rPr>
                      <m:t>+</m:t>
                    </m:r>
                    <m:r>
                      <a:rPr lang="en-US" altLang="zh-CN" b="0" i="1" dirty="0">
                        <a:latin typeface="Cambria Math" panose="02040503050406030204" pitchFamily="18" charset="0"/>
                      </a:rPr>
                      <m:t>=</m:t>
                    </m:r>
                    <m:r>
                      <a:rPr lang="en-US" altLang="zh-CN" b="0" i="1" dirty="0">
                        <a:latin typeface="Cambria Math" panose="02040503050406030204" pitchFamily="18" charset="0"/>
                      </a:rPr>
                      <m:t>𝐴𝐵𝐶</m:t>
                    </m:r>
                  </m:oMath>
                </a14:m>
                <a:r>
                  <a:rPr lang="zh-CN" altLang="en-US" dirty="0"/>
                  <a:t>，</a:t>
                </a:r>
                <a:endParaRPr lang="zh-CN" altLang="en-US" dirty="0"/>
              </a:p>
              <a:p>
                <a:pPr>
                  <a:buNone/>
                </a:pPr>
                <a:r>
                  <a:rPr lang="zh-CN" altLang="en-US" sz="2400" b="0" dirty="0"/>
                  <a:t>       </a:t>
                </a:r>
                <a14:m>
                  <m:oMath xmlns:m="http://schemas.openxmlformats.org/officeDocument/2006/math">
                    <m:r>
                      <a:rPr lang="en-US" altLang="zh-CN" sz="2400" b="0" i="1" dirty="0">
                        <a:latin typeface="Cambria Math" panose="02040503050406030204" pitchFamily="18" charset="0"/>
                      </a:rPr>
                      <m:t>𝐴𝐷</m:t>
                    </m:r>
                    <m:r>
                      <a:rPr lang="en-US" altLang="zh-CN" sz="2400" b="0" i="1" baseline="24000" dirty="0">
                        <a:latin typeface="Cambria Math" panose="02040503050406030204" pitchFamily="18" charset="0"/>
                      </a:rPr>
                      <m:t>+</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𝐴𝐵𝐶𝐷</m:t>
                    </m:r>
                  </m:oMath>
                </a14:m>
                <a:endParaRPr lang="en-US" altLang="zh-CN" sz="2400" b="0" dirty="0"/>
              </a:p>
              <a:p>
                <a:pPr>
                  <a:buNone/>
                </a:pPr>
                <a:r>
                  <a:rPr lang="zh-CN" altLang="en-US" sz="2400" b="0" dirty="0"/>
                  <a:t>       </a:t>
                </a:r>
                <a14:m>
                  <m:oMath xmlns:m="http://schemas.openxmlformats.org/officeDocument/2006/math">
                    <m:r>
                      <a:rPr lang="en-US" altLang="zh-CN" sz="2400" b="0" i="1" dirty="0">
                        <a:latin typeface="Cambria Math" panose="02040503050406030204" pitchFamily="18" charset="0"/>
                      </a:rPr>
                      <m:t>𝐵𝐷</m:t>
                    </m:r>
                    <m:r>
                      <a:rPr lang="en-US" altLang="zh-CN" sz="2400" b="0" i="1" baseline="30000" dirty="0">
                        <a:latin typeface="Cambria Math" panose="02040503050406030204" pitchFamily="18" charset="0"/>
                      </a:rPr>
                      <m:t>+</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𝐵𝐶𝐷</m:t>
                    </m:r>
                  </m:oMath>
                </a14:m>
                <a:endParaRPr lang="en-US" altLang="zh-CN" sz="2400" b="0" dirty="0"/>
              </a:p>
              <a:p>
                <a:pPr>
                  <a:buNone/>
                </a:pPr>
                <a:r>
                  <a:rPr lang="zh-CN" altLang="en-US" sz="2400" b="0" dirty="0"/>
                  <a:t>       等等</a:t>
                </a:r>
                <a:endParaRPr lang="zh-CN" altLang="en-US" sz="2400" b="0" dirty="0"/>
              </a:p>
              <a:p>
                <a:pPr marL="635000" lvl="1" indent="-177800">
                  <a:lnSpc>
                    <a:spcPct val="140000"/>
                  </a:lnSpc>
                </a:pPr>
                <a:endParaRPr lang="zh-CN" altLang="en-US" b="0"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en-GB" altLang="zh-CN" dirty="0"/>
                  <a:t>Armstrong</a:t>
                </a:r>
                <a:r>
                  <a:rPr kumimoji="1" lang="zh-CN" altLang="en-US" dirty="0"/>
                  <a:t>公理的正确性和完备性</a:t>
                </a:r>
                <a:endParaRPr lang="en-US" altLang="zh-CN" dirty="0"/>
              </a:p>
              <a:p>
                <a:pPr marL="635000" lvl="1" indent="-177800">
                  <a:lnSpc>
                    <a:spcPct val="140000"/>
                  </a:lnSpc>
                </a:pPr>
                <a:r>
                  <a:rPr lang="en-US" altLang="zh-CN" dirty="0"/>
                  <a:t>Armstrong</a:t>
                </a:r>
                <a:r>
                  <a:rPr lang="zh-CN" altLang="en-US" dirty="0"/>
                  <a:t>公理的正确性是指“使用推理规则从</a:t>
                </a:r>
                <a14:m>
                  <m:oMath xmlns:m="http://schemas.openxmlformats.org/officeDocument/2006/math">
                    <m:r>
                      <a:rPr lang="en-US" altLang="zh-CN" i="1" dirty="0" smtClean="0">
                        <a:latin typeface="Cambria Math" panose="02040503050406030204" pitchFamily="18" charset="0"/>
                      </a:rPr>
                      <m:t>𝐹𝐷</m:t>
                    </m:r>
                  </m:oMath>
                </a14:m>
                <a:r>
                  <a:rPr lang="zh-CN" altLang="en-US" dirty="0"/>
                  <a:t>集</a:t>
                </a:r>
                <a14:m>
                  <m:oMath xmlns:m="http://schemas.openxmlformats.org/officeDocument/2006/math">
                    <m:r>
                      <a:rPr lang="en-US" altLang="zh-CN" i="1" dirty="0">
                        <a:latin typeface="Cambria Math" panose="02040503050406030204" pitchFamily="18" charset="0"/>
                      </a:rPr>
                      <m:t>𝐹</m:t>
                    </m:r>
                  </m:oMath>
                </a14:m>
                <a:r>
                  <a:rPr lang="zh-CN" altLang="en-US" dirty="0"/>
                  <a:t>推出的</a:t>
                </a:r>
                <a14:m>
                  <m:oMath xmlns:m="http://schemas.openxmlformats.org/officeDocument/2006/math">
                    <m:r>
                      <a:rPr lang="en-US" altLang="zh-CN" i="1" dirty="0">
                        <a:latin typeface="Cambria Math" panose="02040503050406030204" pitchFamily="18" charset="0"/>
                      </a:rPr>
                      <m:t>𝐹𝐷</m:t>
                    </m:r>
                  </m:oMath>
                </a14:m>
                <a:r>
                  <a:rPr lang="zh-CN" altLang="en-US" dirty="0"/>
                  <a:t>必定在</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𝐹</m:t>
                        </m:r>
                      </m:e>
                      <m:sup>
                        <m:r>
                          <a:rPr lang="en-US" altLang="zh-CN" i="1" dirty="0">
                            <a:latin typeface="Cambria Math" panose="02040503050406030204" pitchFamily="18" charset="0"/>
                            <a:ea typeface="Cambria Math" panose="02040503050406030204" pitchFamily="18" charset="0"/>
                          </a:rPr>
                          <m:t>+</m:t>
                        </m:r>
                      </m:sup>
                    </m:sSup>
                  </m:oMath>
                </a14:m>
                <a:r>
                  <a:rPr lang="zh-CN" altLang="en-US" dirty="0"/>
                  <a:t>中”即，如果</a:t>
                </a:r>
                <a14:m>
                  <m:oMath xmlns:m="http://schemas.openxmlformats.org/officeDocument/2006/math">
                    <m:r>
                      <a:rPr kumimoji="1" lang="en-US" altLang="zh-CN" i="1" smtClean="0">
                        <a:latin typeface="Cambria Math" panose="02040503050406030204" pitchFamily="18" charset="0"/>
                        <a:ea typeface="Cambria Math" panose="02040503050406030204" pitchFamily="18" charset="0"/>
                      </a:rPr>
                      <m:t>𝐹</m:t>
                    </m:r>
                    <m:r>
                      <a:rPr lang="en-US" altLang="zh-CN" i="1">
                        <a:latin typeface="Cambria Math" panose="02040503050406030204" pitchFamily="18" charset="0"/>
                        <a:ea typeface="Cambria Math" panose="02040503050406030204" pitchFamily="18" charset="0"/>
                      </a:rPr>
                      <m:t>⟹</m:t>
                    </m:r>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𝑌</m:t>
                    </m:r>
                  </m:oMath>
                </a14:m>
                <a:r>
                  <a:rPr lang="zh-CN" altLang="en-US" dirty="0">
                    <a:sym typeface="Wingdings" panose="05000000000000000000" pitchFamily="2" charset="2"/>
                  </a:rPr>
                  <a:t>，则</a:t>
                </a:r>
                <a14:m>
                  <m:oMath xmlns:m="http://schemas.openxmlformats.org/officeDocument/2006/math">
                    <m:r>
                      <a:rPr lang="en-US" altLang="zh-CN" i="1" dirty="0">
                        <a:latin typeface="Cambria Math" panose="02040503050406030204" pitchFamily="18" charset="0"/>
                      </a:rPr>
                      <m:t>𝐹</m:t>
                    </m:r>
                    <m:r>
                      <a:rPr lang="en-US" altLang="zh-CN" i="1">
                        <a:latin typeface="Cambria Math" panose="02040503050406030204" pitchFamily="18" charset="0"/>
                        <a:ea typeface="Cambria Math" panose="02040503050406030204" pitchFamily="18" charset="0"/>
                      </a:rPr>
                      <m:t>⊨</m:t>
                    </m:r>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𝑌</m:t>
                    </m:r>
                  </m:oMath>
                </a14:m>
                <a:endParaRPr lang="en-US" altLang="zh-CN" dirty="0">
                  <a:sym typeface="Wingdings" panose="05000000000000000000" pitchFamily="2" charset="2"/>
                </a:endParaRPr>
              </a:p>
              <a:p>
                <a:pPr marL="635000" lvl="1" indent="-177800">
                  <a:lnSpc>
                    <a:spcPct val="140000"/>
                  </a:lnSpc>
                </a:pPr>
                <a:r>
                  <a:rPr lang="en-US" altLang="zh-CN" dirty="0"/>
                  <a:t>Armstrong</a:t>
                </a:r>
                <a:r>
                  <a:rPr lang="zh-CN" altLang="en-US" dirty="0"/>
                  <a:t>公理的完备性是指“</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𝐹</m:t>
                        </m:r>
                      </m:e>
                      <m:sup>
                        <m:r>
                          <a:rPr lang="en-US" altLang="zh-CN" i="1" dirty="0">
                            <a:latin typeface="Cambria Math" panose="02040503050406030204" pitchFamily="18" charset="0"/>
                            <a:ea typeface="Cambria Math" panose="02040503050406030204" pitchFamily="18" charset="0"/>
                          </a:rPr>
                          <m:t>+</m:t>
                        </m:r>
                      </m:sup>
                    </m:sSup>
                  </m:oMath>
                </a14:m>
                <a:r>
                  <a:rPr lang="zh-CN" altLang="en-US" dirty="0"/>
                  <a:t>中的</a:t>
                </a:r>
                <a14:m>
                  <m:oMath xmlns:m="http://schemas.openxmlformats.org/officeDocument/2006/math">
                    <m:r>
                      <a:rPr lang="en-US" altLang="zh-CN" i="1" dirty="0">
                        <a:latin typeface="Cambria Math" panose="02040503050406030204" pitchFamily="18" charset="0"/>
                      </a:rPr>
                      <m:t>𝐹𝐷</m:t>
                    </m:r>
                  </m:oMath>
                </a14:m>
                <a:r>
                  <a:rPr lang="zh-CN" altLang="en-US" dirty="0"/>
                  <a:t>都能从</a:t>
                </a:r>
                <a14:m>
                  <m:oMath xmlns:m="http://schemas.openxmlformats.org/officeDocument/2006/math">
                    <m:r>
                      <a:rPr lang="en-US" altLang="zh-CN" i="1" dirty="0">
                        <a:latin typeface="Cambria Math" panose="02040503050406030204" pitchFamily="18" charset="0"/>
                      </a:rPr>
                      <m:t>𝐹</m:t>
                    </m:r>
                  </m:oMath>
                </a14:m>
                <a:r>
                  <a:rPr lang="zh-CN" altLang="en-US" dirty="0"/>
                  <a:t>集使用推理规则集导出”</a:t>
                </a:r>
                <a:r>
                  <a:rPr lang="en-US" altLang="zh-CN" dirty="0"/>
                  <a:t>   </a:t>
                </a:r>
                <a:r>
                  <a:rPr lang="zh-CN" altLang="en-US" dirty="0"/>
                  <a:t>即，如果</a:t>
                </a:r>
                <a14:m>
                  <m:oMath xmlns:m="http://schemas.openxmlformats.org/officeDocument/2006/math">
                    <m:r>
                      <a:rPr lang="en-US" altLang="zh-CN" i="1" dirty="0">
                        <a:latin typeface="Cambria Math" panose="02040503050406030204" pitchFamily="18" charset="0"/>
                      </a:rPr>
                      <m:t>𝐹</m:t>
                    </m:r>
                    <m:r>
                      <a:rPr lang="en-US" altLang="zh-CN" i="1">
                        <a:latin typeface="Cambria Math" panose="02040503050406030204" pitchFamily="18" charset="0"/>
                        <a:ea typeface="Cambria Math" panose="02040503050406030204" pitchFamily="18" charset="0"/>
                      </a:rPr>
                      <m:t>⊨</m:t>
                    </m:r>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i="1" noProof="1">
                        <a:latin typeface="Cambria Math" panose="02040503050406030204" pitchFamily="18" charset="0"/>
                        <a:cs typeface="+mn-ea"/>
                      </a:rPr>
                      <m:t>𝑌</m:t>
                    </m:r>
                  </m:oMath>
                </a14:m>
                <a:r>
                  <a:rPr lang="zh-CN" altLang="en-US" dirty="0">
                    <a:sym typeface="Wingdings" panose="05000000000000000000" pitchFamily="2" charset="2"/>
                  </a:rPr>
                  <a:t>，则 </a:t>
                </a:r>
                <a14:m>
                  <m:oMath xmlns:m="http://schemas.openxmlformats.org/officeDocument/2006/math">
                    <m:r>
                      <a:rPr kumimoji="1" lang="en-US" altLang="zh-CN" i="1">
                        <a:latin typeface="Cambria Math" panose="02040503050406030204" pitchFamily="18" charset="0"/>
                        <a:ea typeface="Cambria Math" panose="02040503050406030204" pitchFamily="18" charset="0"/>
                      </a:rPr>
                      <m:t>𝐹</m:t>
                    </m:r>
                    <m:r>
                      <a:rPr lang="en-US" altLang="zh-CN" i="1">
                        <a:latin typeface="Cambria Math" panose="02040503050406030204" pitchFamily="18" charset="0"/>
                        <a:ea typeface="Cambria Math" panose="02040503050406030204" pitchFamily="18" charset="0"/>
                      </a:rPr>
                      <m:t>⟹</m:t>
                    </m:r>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i="1" noProof="1">
                        <a:latin typeface="Cambria Math" panose="02040503050406030204" pitchFamily="18" charset="0"/>
                        <a:cs typeface="+mn-ea"/>
                      </a:rPr>
                      <m:t>𝑌</m:t>
                    </m:r>
                    <m:r>
                      <a:rPr lang="en-US" altLang="zh-CN" i="1" noProof="1">
                        <a:latin typeface="Cambria Math" panose="02040503050406030204" pitchFamily="18" charset="0"/>
                        <a:cs typeface="+mn-ea"/>
                      </a:rPr>
                      <m:t> </m:t>
                    </m:r>
                  </m:oMath>
                </a14:m>
                <a:endParaRPr lang="en-US" altLang="zh-CN" dirty="0"/>
              </a:p>
              <a:p>
                <a:pPr marL="635000" lvl="1" indent="-177800">
                  <a:lnSpc>
                    <a:spcPct val="140000"/>
                  </a:lnSpc>
                </a:pPr>
                <a:r>
                  <a:rPr lang="en-US" altLang="zh-CN" dirty="0"/>
                  <a:t>Armstrong</a:t>
                </a:r>
                <a:r>
                  <a:rPr lang="zh-CN" altLang="en-US" dirty="0"/>
                  <a:t>公理的正确性和完备性保证了</a:t>
                </a:r>
                <a14:m>
                  <m:oMath xmlns:m="http://schemas.openxmlformats.org/officeDocument/2006/math">
                    <m:r>
                      <a:rPr lang="en-US" altLang="zh-CN" i="1" dirty="0">
                        <a:latin typeface="Cambria Math" panose="02040503050406030204" pitchFamily="18" charset="0"/>
                      </a:rPr>
                      <m:t>𝐹𝐷</m:t>
                    </m:r>
                  </m:oMath>
                </a14:m>
                <a:r>
                  <a:rPr lang="zh-CN" altLang="en-US" dirty="0"/>
                  <a:t>推导过程的有效性和可靠性</a:t>
                </a:r>
                <a:endParaRPr lang="zh-CN" altLang="en-US" dirty="0"/>
              </a:p>
              <a:p>
                <a:pPr marL="635000" lvl="1" indent="-177800">
                  <a:lnSpc>
                    <a:spcPct val="140000"/>
                  </a:lnSpc>
                </a:pPr>
                <a:endParaRPr lang="zh-CN" altLang="en-US" b="0"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en-GB" altLang="zh-CN" dirty="0"/>
                  <a:t>Armstrong</a:t>
                </a:r>
                <a:r>
                  <a:rPr kumimoji="1" lang="zh-CN" altLang="en-US" dirty="0"/>
                  <a:t>公理的正确性和完备性</a:t>
                </a:r>
                <a:endParaRPr lang="en-US" altLang="zh-CN" dirty="0"/>
              </a:p>
              <a:p>
                <a:pPr lvl="1">
                  <a:buClr>
                    <a:schemeClr val="tx1"/>
                  </a:buClr>
                </a:pPr>
                <a:r>
                  <a:rPr lang="zh-CN" altLang="en-US" dirty="0"/>
                  <a:t>定理</a:t>
                </a:r>
                <a:r>
                  <a:rPr lang="en-US" altLang="zh-CN" dirty="0"/>
                  <a:t>4.1: Armstrong</a:t>
                </a:r>
                <a:r>
                  <a:rPr lang="zh-CN" altLang="en-US" dirty="0"/>
                  <a:t>公理是完备的 </a:t>
                </a:r>
                <a:endParaRPr lang="zh-CN" altLang="en-US" dirty="0"/>
              </a:p>
              <a:p>
                <a:pPr lvl="1">
                  <a:buClr>
                    <a:schemeClr val="tx1"/>
                  </a:buClr>
                </a:pPr>
                <a:r>
                  <a:rPr lang="zh-CN" altLang="en-US" dirty="0"/>
                  <a:t>证明：我们证明完备性的逆否命题，即若函数依赖</a:t>
                </a:r>
                <a14:m>
                  <m:oMath xmlns:m="http://schemas.openxmlformats.org/officeDocument/2006/math">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i="1" noProof="1">
                        <a:latin typeface="Cambria Math" panose="02040503050406030204" pitchFamily="18" charset="0"/>
                        <a:cs typeface="+mn-ea"/>
                      </a:rPr>
                      <m:t>𝑌</m:t>
                    </m:r>
                  </m:oMath>
                </a14:m>
                <a:r>
                  <a:rPr lang="zh-CN" altLang="en-US" dirty="0"/>
                  <a:t>不能由</a:t>
                </a:r>
                <a14:m>
                  <m:oMath xmlns:m="http://schemas.openxmlformats.org/officeDocument/2006/math">
                    <m:r>
                      <a:rPr lang="en-US" altLang="zh-CN" i="1" dirty="0">
                        <a:latin typeface="Cambria Math" panose="02040503050406030204" pitchFamily="18" charset="0"/>
                      </a:rPr>
                      <m:t>𝐹</m:t>
                    </m:r>
                  </m:oMath>
                </a14:m>
                <a:r>
                  <a:rPr lang="zh-CN" altLang="en-US" dirty="0"/>
                  <a:t>从</a:t>
                </a:r>
                <a:r>
                  <a:rPr lang="en-US" altLang="zh-CN" dirty="0"/>
                  <a:t>Armstrong</a:t>
                </a:r>
                <a:r>
                  <a:rPr lang="zh-CN" altLang="en-US" dirty="0"/>
                  <a:t>公理导出，那么它必然不为</a:t>
                </a:r>
                <a14:m>
                  <m:oMath xmlns:m="http://schemas.openxmlformats.org/officeDocument/2006/math">
                    <m:r>
                      <a:rPr lang="en-US" altLang="zh-CN" i="1" dirty="0">
                        <a:latin typeface="Cambria Math" panose="02040503050406030204" pitchFamily="18" charset="0"/>
                      </a:rPr>
                      <m:t>𝐹</m:t>
                    </m:r>
                  </m:oMath>
                </a14:m>
                <a:r>
                  <a:rPr lang="zh-CN" altLang="en-US" dirty="0"/>
                  <a:t>所蕴含，其证明分三步： </a:t>
                </a:r>
                <a:endParaRPr lang="en-US" altLang="zh-CN" dirty="0"/>
              </a:p>
              <a:p>
                <a:pPr marL="457200" lvl="1" indent="0">
                  <a:buClr>
                    <a:schemeClr val="tx1"/>
                  </a:buClr>
                  <a:buNone/>
                </a:pPr>
                <a:r>
                  <a:rPr lang="en-US" altLang="zh-CN" dirty="0"/>
                  <a:t>1</a:t>
                </a:r>
                <a:r>
                  <a:rPr lang="zh-CN" altLang="en-US" dirty="0"/>
                  <a:t>）如果</a:t>
                </a:r>
                <a14:m>
                  <m:oMath xmlns:m="http://schemas.openxmlformats.org/officeDocument/2006/math">
                    <m:r>
                      <m:rPr>
                        <m:sty m:val="p"/>
                      </m:rPr>
                      <a:rPr lang="en-US" altLang="zh-CN" noProof="1" dirty="0">
                        <a:latin typeface="Cambria Math" panose="02040503050406030204" pitchFamily="18" charset="0"/>
                        <a:cs typeface="+mn-ea"/>
                      </a:rPr>
                      <m:t>V</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𝑊</m:t>
                    </m:r>
                    <m:r>
                      <a:rPr lang="en-US" altLang="zh-CN" b="0" i="1" noProof="1" smtClean="0">
                        <a:latin typeface="Cambria Math" panose="02040503050406030204" pitchFamily="18" charset="0"/>
                        <a:ea typeface="Cambria Math" panose="02040503050406030204" pitchFamily="18" charset="0"/>
                        <a:cs typeface="+mn-ea"/>
                      </a:rPr>
                      <m:t>∈</m:t>
                    </m:r>
                    <m:r>
                      <a:rPr lang="en-US" altLang="zh-CN" b="0" i="1" noProof="1" smtClean="0">
                        <a:latin typeface="Cambria Math" panose="02040503050406030204" pitchFamily="18" charset="0"/>
                        <a:ea typeface="Cambria Math" panose="02040503050406030204" pitchFamily="18" charset="0"/>
                        <a:cs typeface="+mn-ea"/>
                      </a:rPr>
                      <m:t>𝐹</m:t>
                    </m:r>
                  </m:oMath>
                </a14:m>
                <a:r>
                  <a:rPr lang="zh-CN" altLang="en-US" dirty="0"/>
                  <a:t>，且</a:t>
                </a:r>
                <a14:m>
                  <m:oMath xmlns:m="http://schemas.openxmlformats.org/officeDocument/2006/math">
                    <m:r>
                      <m:rPr>
                        <m:sty m:val="p"/>
                      </m:rPr>
                      <a:rPr lang="en-US" altLang="zh-CN" noProof="1" dirty="0">
                        <a:latin typeface="Cambria Math" panose="02040503050406030204" pitchFamily="18" charset="0"/>
                        <a:cs typeface="+mn-ea"/>
                      </a:rPr>
                      <m:t>V</m:t>
                    </m:r>
                    <m:r>
                      <a:rPr lang="en-US" altLang="zh-CN" i="1" noProof="1" dirty="0">
                        <a:latin typeface="Cambria Math" panose="02040503050406030204" pitchFamily="18" charset="0"/>
                        <a:cs typeface="+mn-ea"/>
                      </a:rPr>
                      <m:t> </m:t>
                    </m:r>
                    <m:r>
                      <a:rPr lang="en-US" altLang="zh-CN" i="1" noProof="1" dirty="0" smtClean="0">
                        <a:latin typeface="Cambria Math" panose="02040503050406030204" pitchFamily="18" charset="0"/>
                        <a:ea typeface="Cambria Math" panose="02040503050406030204" pitchFamily="18" charset="0"/>
                        <a:cs typeface="+mn-ea"/>
                      </a:rPr>
                      <m:t>⊆</m:t>
                    </m:r>
                  </m:oMath>
                </a14:m>
                <a:r>
                  <a:rPr kumimoji="1" lang="en-US" altLang="zh-CN" dirty="0"/>
                  <a:t> </a:t>
                </a:r>
                <a14:m>
                  <m:oMath xmlns:m="http://schemas.openxmlformats.org/officeDocument/2006/math">
                    <m:sSup>
                      <m:sSupPr>
                        <m:ctrlPr>
                          <a:rPr kumimoji="1" lang="en-US" altLang="zh-CN" i="1">
                            <a:latin typeface="Cambria Math" panose="02040503050406030204" pitchFamily="18" charset="0"/>
                          </a:rPr>
                        </m:ctrlPr>
                      </m:sSup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𝑋</m:t>
                            </m:r>
                          </m:e>
                          <m:sub>
                            <m:r>
                              <a:rPr kumimoji="1" lang="en-US" altLang="zh-CN" i="1">
                                <a:latin typeface="Cambria Math" panose="02040503050406030204" pitchFamily="18" charset="0"/>
                              </a:rPr>
                              <m:t>𝐹</m:t>
                            </m:r>
                          </m:sub>
                        </m:sSub>
                      </m:e>
                      <m:sup>
                        <m:r>
                          <a:rPr kumimoji="1" lang="en-US" altLang="zh-CN" i="1">
                            <a:latin typeface="Cambria Math" panose="02040503050406030204" pitchFamily="18" charset="0"/>
                          </a:rPr>
                          <m:t>+</m:t>
                        </m:r>
                      </m:sup>
                    </m:sSup>
                    <m:r>
                      <a:rPr kumimoji="1" lang="en-US" altLang="zh-CN" i="1">
                        <a:latin typeface="Cambria Math" panose="02040503050406030204" pitchFamily="18" charset="0"/>
                      </a:rPr>
                      <m:t> </m:t>
                    </m:r>
                  </m:oMath>
                </a14:m>
                <a:r>
                  <a:rPr lang="zh-CN" altLang="en-US" dirty="0"/>
                  <a:t>，则</a:t>
                </a:r>
                <a14:m>
                  <m:oMath xmlns:m="http://schemas.openxmlformats.org/officeDocument/2006/math">
                    <m:r>
                      <a:rPr lang="en-US" altLang="zh-CN" i="1" noProof="1">
                        <a:latin typeface="Cambria Math" panose="02040503050406030204" pitchFamily="18" charset="0"/>
                        <a:cs typeface="+mn-ea"/>
                      </a:rPr>
                      <m:t>𝑊</m:t>
                    </m:r>
                    <m:r>
                      <a:rPr lang="en-US" altLang="zh-CN" i="1" noProof="1" dirty="0">
                        <a:latin typeface="Cambria Math" panose="02040503050406030204" pitchFamily="18" charset="0"/>
                        <a:cs typeface="+mn-ea"/>
                      </a:rPr>
                      <m:t> </m:t>
                    </m:r>
                    <m:r>
                      <a:rPr lang="en-US" altLang="zh-CN" i="1" noProof="1" dirty="0">
                        <a:latin typeface="Cambria Math" panose="02040503050406030204" pitchFamily="18" charset="0"/>
                        <a:ea typeface="Cambria Math" panose="02040503050406030204" pitchFamily="18" charset="0"/>
                        <a:cs typeface="+mn-ea"/>
                      </a:rPr>
                      <m:t>⊆</m:t>
                    </m:r>
                  </m:oMath>
                </a14:m>
                <a:r>
                  <a:rPr kumimoji="1" lang="en-US" altLang="zh-CN" dirty="0"/>
                  <a:t> </a:t>
                </a:r>
                <a14:m>
                  <m:oMath xmlns:m="http://schemas.openxmlformats.org/officeDocument/2006/math">
                    <m:sSup>
                      <m:sSupPr>
                        <m:ctrlPr>
                          <a:rPr kumimoji="1" lang="en-US" altLang="zh-CN" i="1">
                            <a:latin typeface="Cambria Math" panose="02040503050406030204" pitchFamily="18" charset="0"/>
                          </a:rPr>
                        </m:ctrlPr>
                      </m:sSup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𝑋</m:t>
                            </m:r>
                          </m:e>
                          <m:sub>
                            <m:r>
                              <a:rPr kumimoji="1" lang="en-US" altLang="zh-CN" i="1">
                                <a:latin typeface="Cambria Math" panose="02040503050406030204" pitchFamily="18" charset="0"/>
                              </a:rPr>
                              <m:t>𝐹</m:t>
                            </m:r>
                          </m:sub>
                        </m:sSub>
                      </m:e>
                      <m:sup>
                        <m:r>
                          <a:rPr kumimoji="1" lang="en-US" altLang="zh-CN" i="1">
                            <a:latin typeface="Cambria Math" panose="02040503050406030204" pitchFamily="18" charset="0"/>
                          </a:rPr>
                          <m:t>+</m:t>
                        </m:r>
                      </m:sup>
                    </m:sSup>
                  </m:oMath>
                </a14:m>
                <a:r>
                  <a:rPr lang="zh-CN" altLang="en-US" dirty="0"/>
                  <a:t>。这是因为</a:t>
                </a:r>
                <a14:m>
                  <m:oMath xmlns:m="http://schemas.openxmlformats.org/officeDocument/2006/math">
                    <m:r>
                      <a:rPr lang="en-US" altLang="zh-CN" i="1" noProof="1">
                        <a:latin typeface="Cambria Math" panose="02040503050406030204" pitchFamily="18" charset="0"/>
                        <a:cs typeface="+mn-ea"/>
                      </a:rPr>
                      <m:t>𝑊</m:t>
                    </m:r>
                  </m:oMath>
                </a14:m>
                <a:r>
                  <a:rPr lang="en-US" altLang="zh-CN" dirty="0"/>
                  <a:t>,</a:t>
                </a:r>
                <a:r>
                  <a:rPr lang="zh-CN" altLang="en-US" dirty="0"/>
                  <a:t>所以</a:t>
                </a:r>
                <a14:m>
                  <m:oMath xmlns:m="http://schemas.openxmlformats.org/officeDocument/2006/math">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𝑉</m:t>
                    </m:r>
                  </m:oMath>
                </a14:m>
                <a:r>
                  <a:rPr lang="zh-CN" altLang="en-US" dirty="0"/>
                  <a:t>成立；由</a:t>
                </a:r>
                <a:r>
                  <a:rPr lang="en-US" altLang="zh-CN" dirty="0"/>
                  <a:t>A3</a:t>
                </a:r>
                <a:r>
                  <a:rPr lang="zh-CN" altLang="en-US" dirty="0"/>
                  <a:t>规则有</a:t>
                </a:r>
                <a14:m>
                  <m:oMath xmlns:m="http://schemas.openxmlformats.org/officeDocument/2006/math">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b="0" i="1" noProof="1" smtClean="0">
                        <a:latin typeface="Cambria Math" panose="02040503050406030204" pitchFamily="18" charset="0"/>
                        <a:cs typeface="+mn-ea"/>
                      </a:rPr>
                      <m:t>𝑊</m:t>
                    </m:r>
                  </m:oMath>
                </a14:m>
                <a:r>
                  <a:rPr lang="zh-CN" altLang="en-US" dirty="0"/>
                  <a:t>成立，所以</a:t>
                </a:r>
                <a14:m>
                  <m:oMath xmlns:m="http://schemas.openxmlformats.org/officeDocument/2006/math">
                    <m:r>
                      <a:rPr lang="en-US" altLang="zh-CN" i="1" noProof="1">
                        <a:latin typeface="Cambria Math" panose="02040503050406030204" pitchFamily="18" charset="0"/>
                        <a:cs typeface="+mn-ea"/>
                      </a:rPr>
                      <m:t>𝑊</m:t>
                    </m:r>
                    <m:r>
                      <a:rPr lang="en-US" altLang="zh-CN" i="1" noProof="1" dirty="0">
                        <a:latin typeface="Cambria Math" panose="02040503050406030204" pitchFamily="18" charset="0"/>
                        <a:cs typeface="+mn-ea"/>
                      </a:rPr>
                      <m:t> </m:t>
                    </m:r>
                    <m:r>
                      <a:rPr lang="en-US" altLang="zh-CN" i="1" noProof="1" dirty="0">
                        <a:latin typeface="Cambria Math" panose="02040503050406030204" pitchFamily="18" charset="0"/>
                        <a:ea typeface="Cambria Math" panose="02040503050406030204" pitchFamily="18" charset="0"/>
                        <a:cs typeface="+mn-ea"/>
                      </a:rPr>
                      <m:t>⊆</m:t>
                    </m:r>
                  </m:oMath>
                </a14:m>
                <a:r>
                  <a:rPr kumimoji="1" lang="en-US" altLang="zh-CN" dirty="0"/>
                  <a:t> </a:t>
                </a:r>
                <a14:m>
                  <m:oMath xmlns:m="http://schemas.openxmlformats.org/officeDocument/2006/math">
                    <m:sSup>
                      <m:sSupPr>
                        <m:ctrlPr>
                          <a:rPr kumimoji="1" lang="en-US" altLang="zh-CN" i="1">
                            <a:latin typeface="Cambria Math" panose="02040503050406030204" pitchFamily="18" charset="0"/>
                          </a:rPr>
                        </m:ctrlPr>
                      </m:sSup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𝑋</m:t>
                            </m:r>
                          </m:e>
                          <m:sub>
                            <m:r>
                              <a:rPr kumimoji="1" lang="en-US" altLang="zh-CN" i="1">
                                <a:latin typeface="Cambria Math" panose="02040503050406030204" pitchFamily="18" charset="0"/>
                              </a:rPr>
                              <m:t>𝐹</m:t>
                            </m:r>
                          </m:sub>
                        </m:sSub>
                      </m:e>
                      <m:sup>
                        <m:r>
                          <a:rPr kumimoji="1" lang="en-US" altLang="zh-CN" i="1">
                            <a:latin typeface="Cambria Math" panose="02040503050406030204" pitchFamily="18" charset="0"/>
                          </a:rPr>
                          <m:t>+</m:t>
                        </m:r>
                      </m:sup>
                    </m:sSup>
                  </m:oMath>
                </a14:m>
                <a:endParaRPr lang="zh-CN" altLang="en-US" dirty="0"/>
              </a:p>
              <a:p>
                <a:pPr marL="457200" lvl="1" indent="0">
                  <a:lnSpc>
                    <a:spcPct val="140000"/>
                  </a:lnSpc>
                  <a:buNone/>
                </a:pPr>
                <a:endParaRPr lang="zh-CN" altLang="en-US" b="0"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fontScale="85000" lnSpcReduction="10000"/>
              </a:bodyPr>
              <a:lstStyle/>
              <a:p>
                <a:r>
                  <a:rPr kumimoji="1" lang="en-GB" altLang="zh-CN" dirty="0"/>
                  <a:t>Armstrong</a:t>
                </a:r>
                <a:r>
                  <a:rPr kumimoji="1" lang="zh-CN" altLang="en-US" dirty="0"/>
                  <a:t>公理的正确性和完备性</a:t>
                </a:r>
                <a:endParaRPr kumimoji="1" lang="en-US" altLang="zh-CN" dirty="0"/>
              </a:p>
              <a:p>
                <a:pPr marL="457200" lvl="1" indent="0">
                  <a:buNone/>
                </a:pPr>
                <a:r>
                  <a:rPr lang="en-US" altLang="zh-CN" sz="2800" dirty="0"/>
                  <a:t>2)</a:t>
                </a:r>
                <a:r>
                  <a:rPr lang="zh-CN" altLang="en-US" sz="2800" dirty="0"/>
                  <a:t>由下列两个元组构成的二维表，必是</a:t>
                </a:r>
                <a14:m>
                  <m:oMath xmlns:m="http://schemas.openxmlformats.org/officeDocument/2006/math">
                    <m:r>
                      <a:rPr lang="en-US" altLang="zh-CN" sz="2800" i="1" dirty="0" smtClean="0">
                        <a:latin typeface="Cambria Math" panose="02040503050406030204" pitchFamily="18" charset="0"/>
                      </a:rPr>
                      <m:t>𝑅</m:t>
                    </m:r>
                    <m:r>
                      <a:rPr lang="en-US" altLang="zh-CN" sz="2800" i="1" dirty="0" smtClean="0">
                        <a:latin typeface="Cambria Math" panose="02040503050406030204" pitchFamily="18" charset="0"/>
                      </a:rPr>
                      <m:t>&lt;</m:t>
                    </m:r>
                    <m:r>
                      <a:rPr lang="en-US" altLang="zh-CN" sz="2800" i="1" dirty="0" smtClean="0">
                        <a:latin typeface="Cambria Math" panose="02040503050406030204" pitchFamily="18" charset="0"/>
                      </a:rPr>
                      <m:t>𝑈</m:t>
                    </m:r>
                    <m:r>
                      <a:rPr lang="en-US" altLang="zh-CN" sz="2800" i="1" dirty="0" smtClean="0">
                        <a:latin typeface="Cambria Math" panose="02040503050406030204" pitchFamily="18" charset="0"/>
                      </a:rPr>
                      <m:t>,</m:t>
                    </m:r>
                    <m:r>
                      <a:rPr lang="en-US" altLang="zh-CN" sz="2800" i="1" dirty="0" smtClean="0">
                        <a:latin typeface="Cambria Math" panose="02040503050406030204" pitchFamily="18" charset="0"/>
                      </a:rPr>
                      <m:t>𝐹</m:t>
                    </m:r>
                    <m:r>
                      <a:rPr lang="en-US" altLang="zh-CN" sz="2800" i="1" dirty="0" smtClean="0">
                        <a:latin typeface="Cambria Math" panose="02040503050406030204" pitchFamily="18" charset="0"/>
                      </a:rPr>
                      <m:t>&gt;</m:t>
                    </m:r>
                  </m:oMath>
                </a14:m>
                <a:r>
                  <a:rPr lang="zh-CN" altLang="en-US" sz="2800" dirty="0"/>
                  <a:t>的一个关系</a:t>
                </a:r>
                <a14:m>
                  <m:oMath xmlns:m="http://schemas.openxmlformats.org/officeDocument/2006/math">
                    <m:r>
                      <a:rPr lang="en-US" altLang="zh-CN" sz="2800" i="1" dirty="0" smtClean="0">
                        <a:latin typeface="Cambria Math" panose="02040503050406030204" pitchFamily="18" charset="0"/>
                      </a:rPr>
                      <m:t>𝑟</m:t>
                    </m:r>
                  </m:oMath>
                </a14:m>
                <a:r>
                  <a:rPr lang="zh-CN" altLang="en-US" sz="2800" dirty="0"/>
                  <a:t>，即满足</a:t>
                </a:r>
                <a14:m>
                  <m:oMath xmlns:m="http://schemas.openxmlformats.org/officeDocument/2006/math">
                    <m:r>
                      <a:rPr lang="en-US" altLang="zh-CN" sz="2800" i="1" dirty="0" smtClean="0">
                        <a:latin typeface="Cambria Math" panose="02040503050406030204" pitchFamily="18" charset="0"/>
                      </a:rPr>
                      <m:t>𝐹</m:t>
                    </m:r>
                  </m:oMath>
                </a14:m>
                <a:r>
                  <a:rPr lang="zh-CN" altLang="en-US" sz="2800" dirty="0"/>
                  <a:t>中的全部函数依赖。</a:t>
                </a:r>
                <a:endParaRPr lang="zh-CN" altLang="en-US" sz="2800" dirty="0"/>
              </a:p>
              <a:p>
                <a:pPr marL="609600" indent="-609600">
                  <a:buFontTx/>
                  <a:buAutoNum type="arabicParenR" startAt="2"/>
                </a:pPr>
                <a:endParaRPr lang="zh-CN" altLang="en-US" sz="2600" b="0" dirty="0"/>
              </a:p>
              <a:p>
                <a:pPr marL="0" indent="0">
                  <a:buNone/>
                </a:pPr>
                <a:endParaRPr lang="en-US" altLang="zh-CN" sz="2600" b="0" dirty="0"/>
              </a:p>
              <a:p>
                <a:pPr marL="0" indent="0">
                  <a:buNone/>
                </a:pPr>
                <a:endParaRPr lang="zh-CN" altLang="en-US" sz="2600" b="0" dirty="0"/>
              </a:p>
              <a:p>
                <a:pPr marL="609600" indent="-609600">
                  <a:buNone/>
                </a:pPr>
                <a:r>
                  <a:rPr lang="zh-CN" altLang="en-US" sz="2600" b="0" dirty="0"/>
                  <a:t>    </a:t>
                </a:r>
                <a:r>
                  <a:rPr lang="en-US" altLang="zh-CN" sz="2600" b="0" dirty="0"/>
                  <a:t>    </a:t>
                </a:r>
                <a:r>
                  <a:rPr lang="zh-CN" altLang="en-US" sz="2600" b="0" dirty="0"/>
                  <a:t>若</a:t>
                </a:r>
                <a14:m>
                  <m:oMath xmlns:m="http://schemas.openxmlformats.org/officeDocument/2006/math">
                    <m:r>
                      <a:rPr lang="en-US" altLang="zh-CN" sz="2600" i="1" dirty="0">
                        <a:latin typeface="Cambria Math" panose="02040503050406030204" pitchFamily="18" charset="0"/>
                      </a:rPr>
                      <m:t>𝑟</m:t>
                    </m:r>
                  </m:oMath>
                </a14:m>
                <a:r>
                  <a:rPr lang="zh-CN" altLang="en-US" sz="2600" b="0" dirty="0"/>
                  <a:t>不是</a:t>
                </a:r>
                <a14:m>
                  <m:oMath xmlns:m="http://schemas.openxmlformats.org/officeDocument/2006/math">
                    <m:r>
                      <a:rPr lang="en-US" altLang="zh-CN" sz="2600" i="1" dirty="0">
                        <a:latin typeface="Cambria Math" panose="02040503050406030204" pitchFamily="18" charset="0"/>
                      </a:rPr>
                      <m:t>𝑅</m:t>
                    </m:r>
                    <m:r>
                      <a:rPr lang="en-US" altLang="zh-CN" sz="2600" i="1" dirty="0">
                        <a:latin typeface="Cambria Math" panose="02040503050406030204" pitchFamily="18" charset="0"/>
                      </a:rPr>
                      <m:t>&lt;</m:t>
                    </m:r>
                    <m:r>
                      <a:rPr lang="en-US" altLang="zh-CN" sz="2600" i="1" dirty="0">
                        <a:latin typeface="Cambria Math" panose="02040503050406030204" pitchFamily="18" charset="0"/>
                      </a:rPr>
                      <m:t>𝑈</m:t>
                    </m:r>
                    <m:r>
                      <a:rPr lang="en-US" altLang="zh-CN" sz="2600" i="1" dirty="0">
                        <a:latin typeface="Cambria Math" panose="02040503050406030204" pitchFamily="18" charset="0"/>
                      </a:rPr>
                      <m:t>,</m:t>
                    </m:r>
                    <m:r>
                      <a:rPr lang="en-US" altLang="zh-CN" sz="2600" i="1" dirty="0">
                        <a:latin typeface="Cambria Math" panose="02040503050406030204" pitchFamily="18" charset="0"/>
                      </a:rPr>
                      <m:t>𝐹</m:t>
                    </m:r>
                    <m:r>
                      <a:rPr lang="en-US" altLang="zh-CN" sz="2600" i="1" dirty="0">
                        <a:latin typeface="Cambria Math" panose="02040503050406030204" pitchFamily="18" charset="0"/>
                      </a:rPr>
                      <m:t>&gt;</m:t>
                    </m:r>
                  </m:oMath>
                </a14:m>
                <a:r>
                  <a:rPr lang="zh-CN" altLang="en-US" sz="2600" b="0" dirty="0"/>
                  <a:t>的关系，则必由于</a:t>
                </a:r>
                <a14:m>
                  <m:oMath xmlns:m="http://schemas.openxmlformats.org/officeDocument/2006/math">
                    <m:r>
                      <a:rPr lang="en-US" altLang="zh-CN" sz="2600" i="1" dirty="0">
                        <a:latin typeface="Cambria Math" panose="02040503050406030204" pitchFamily="18" charset="0"/>
                      </a:rPr>
                      <m:t>𝐹</m:t>
                    </m:r>
                  </m:oMath>
                </a14:m>
                <a:r>
                  <a:rPr lang="zh-CN" altLang="en-US" sz="2600" b="0" dirty="0"/>
                  <a:t>中有函数依赖</a:t>
                </a:r>
                <a14:m>
                  <m:oMath xmlns:m="http://schemas.openxmlformats.org/officeDocument/2006/math">
                    <m:r>
                      <m:rPr>
                        <m:sty m:val="p"/>
                      </m:rPr>
                      <a:rPr lang="en-US" altLang="zh-CN" sz="2600" noProof="1" dirty="0">
                        <a:latin typeface="Cambria Math" panose="02040503050406030204" pitchFamily="18" charset="0"/>
                        <a:cs typeface="+mn-ea"/>
                      </a:rPr>
                      <m:t>V</m:t>
                    </m:r>
                    <m:r>
                      <a:rPr lang="zh-CN" altLang="en-US" sz="2600" i="1" noProof="1">
                        <a:latin typeface="Cambria Math" panose="02040503050406030204" pitchFamily="18" charset="0"/>
                        <a:cs typeface="+mn-ea"/>
                      </a:rPr>
                      <m:t>→</m:t>
                    </m:r>
                    <m:r>
                      <a:rPr lang="en-US" altLang="zh-CN" sz="2600" b="0" i="1" noProof="1">
                        <a:latin typeface="Cambria Math" panose="02040503050406030204" pitchFamily="18" charset="0"/>
                        <a:cs typeface="+mn-ea"/>
                      </a:rPr>
                      <m:t>𝑊</m:t>
                    </m:r>
                  </m:oMath>
                </a14:m>
                <a:r>
                  <a:rPr lang="zh-CN" altLang="en-US" sz="2600" b="0" dirty="0"/>
                  <a:t>在</a:t>
                </a:r>
                <a14:m>
                  <m:oMath xmlns:m="http://schemas.openxmlformats.org/officeDocument/2006/math">
                    <m:r>
                      <a:rPr lang="en-US" altLang="zh-CN" sz="2600" i="1" dirty="0">
                        <a:latin typeface="Cambria Math" panose="02040503050406030204" pitchFamily="18" charset="0"/>
                      </a:rPr>
                      <m:t>𝑟</m:t>
                    </m:r>
                  </m:oMath>
                </a14:m>
                <a:r>
                  <a:rPr lang="zh-CN" altLang="en-US" sz="2600" b="0" dirty="0"/>
                  <a:t>上不成立所致</a:t>
                </a:r>
                <a:r>
                  <a:rPr lang="en-US" altLang="zh-CN" sz="2600" b="0" dirty="0"/>
                  <a:t>,</a:t>
                </a:r>
                <a:r>
                  <a:rPr lang="zh-CN" altLang="en-US" sz="2600" b="0" dirty="0"/>
                  <a:t>由</a:t>
                </a:r>
                <a14:m>
                  <m:oMath xmlns:m="http://schemas.openxmlformats.org/officeDocument/2006/math">
                    <m:r>
                      <a:rPr lang="en-US" altLang="zh-CN" sz="2600" i="1" dirty="0">
                        <a:latin typeface="Cambria Math" panose="02040503050406030204" pitchFamily="18" charset="0"/>
                      </a:rPr>
                      <m:t>𝑟</m:t>
                    </m:r>
                  </m:oMath>
                </a14:m>
                <a:r>
                  <a:rPr lang="zh-CN" altLang="en-US" sz="2600" b="0" dirty="0"/>
                  <a:t>的构成可知，</a:t>
                </a:r>
                <a:r>
                  <a:rPr lang="en-US" altLang="zh-CN" sz="2600" noProof="1">
                    <a:cs typeface="+mn-ea"/>
                  </a:rPr>
                  <a:t> </a:t>
                </a:r>
                <a14:m>
                  <m:oMath xmlns:m="http://schemas.openxmlformats.org/officeDocument/2006/math">
                    <m:r>
                      <m:rPr>
                        <m:sty m:val="p"/>
                      </m:rPr>
                      <a:rPr lang="en-US" altLang="zh-CN" sz="2600" noProof="1" dirty="0">
                        <a:latin typeface="Cambria Math" panose="02040503050406030204" pitchFamily="18" charset="0"/>
                        <a:cs typeface="+mn-ea"/>
                      </a:rPr>
                      <m:t>V</m:t>
                    </m:r>
                  </m:oMath>
                </a14:m>
                <a:r>
                  <a:rPr lang="zh-CN" altLang="en-US" sz="2600" b="0" dirty="0"/>
                  <a:t>必定是</a:t>
                </a:r>
                <a14:m>
                  <m:oMath xmlns:m="http://schemas.openxmlformats.org/officeDocument/2006/math">
                    <m:sSup>
                      <m:sSupPr>
                        <m:ctrlPr>
                          <a:rPr kumimoji="1" lang="en-US" altLang="zh-CN" sz="2600" i="1">
                            <a:latin typeface="Cambria Math" panose="02040503050406030204" pitchFamily="18" charset="0"/>
                          </a:rPr>
                        </m:ctrlPr>
                      </m:sSupPr>
                      <m:e>
                        <m:sSub>
                          <m:sSubPr>
                            <m:ctrlPr>
                              <a:rPr kumimoji="1" lang="en-US" altLang="zh-CN" sz="2600" i="1">
                                <a:latin typeface="Cambria Math" panose="02040503050406030204" pitchFamily="18" charset="0"/>
                              </a:rPr>
                            </m:ctrlPr>
                          </m:sSubPr>
                          <m:e>
                            <m:r>
                              <a:rPr kumimoji="1" lang="en-US" altLang="zh-CN" sz="2600" i="1">
                                <a:latin typeface="Cambria Math" panose="02040503050406030204" pitchFamily="18" charset="0"/>
                              </a:rPr>
                              <m:t>𝑋</m:t>
                            </m:r>
                          </m:e>
                          <m:sub>
                            <m:r>
                              <a:rPr kumimoji="1" lang="en-US" altLang="zh-CN" sz="2600" i="1">
                                <a:latin typeface="Cambria Math" panose="02040503050406030204" pitchFamily="18" charset="0"/>
                              </a:rPr>
                              <m:t>𝐹</m:t>
                            </m:r>
                          </m:sub>
                        </m:sSub>
                      </m:e>
                      <m:sup>
                        <m:r>
                          <a:rPr kumimoji="1" lang="en-US" altLang="zh-CN" sz="2600" i="1">
                            <a:latin typeface="Cambria Math" panose="02040503050406030204" pitchFamily="18" charset="0"/>
                          </a:rPr>
                          <m:t>+</m:t>
                        </m:r>
                      </m:sup>
                    </m:sSup>
                  </m:oMath>
                </a14:m>
                <a:r>
                  <a:rPr lang="zh-CN" altLang="en-US" sz="2600" b="0" dirty="0"/>
                  <a:t>的子集，而</a:t>
                </a:r>
                <a14:m>
                  <m:oMath xmlns:m="http://schemas.openxmlformats.org/officeDocument/2006/math">
                    <m:r>
                      <a:rPr lang="en-US" altLang="zh-CN" sz="2600" b="0" i="1" noProof="1">
                        <a:latin typeface="Cambria Math" panose="02040503050406030204" pitchFamily="18" charset="0"/>
                        <a:cs typeface="+mn-ea"/>
                      </a:rPr>
                      <m:t>𝑊</m:t>
                    </m:r>
                  </m:oMath>
                </a14:m>
                <a:r>
                  <a:rPr lang="zh-CN" altLang="en-US" sz="2600" b="0" dirty="0"/>
                  <a:t>不是</a:t>
                </a:r>
                <a14:m>
                  <m:oMath xmlns:m="http://schemas.openxmlformats.org/officeDocument/2006/math">
                    <m:sSup>
                      <m:sSupPr>
                        <m:ctrlPr>
                          <a:rPr kumimoji="1" lang="en-US" altLang="zh-CN" sz="2600" i="1">
                            <a:latin typeface="Cambria Math" panose="02040503050406030204" pitchFamily="18" charset="0"/>
                          </a:rPr>
                        </m:ctrlPr>
                      </m:sSupPr>
                      <m:e>
                        <m:sSub>
                          <m:sSubPr>
                            <m:ctrlPr>
                              <a:rPr kumimoji="1" lang="en-US" altLang="zh-CN" sz="2600" i="1">
                                <a:latin typeface="Cambria Math" panose="02040503050406030204" pitchFamily="18" charset="0"/>
                              </a:rPr>
                            </m:ctrlPr>
                          </m:sSubPr>
                          <m:e>
                            <m:r>
                              <a:rPr kumimoji="1" lang="en-US" altLang="zh-CN" sz="2600" i="1">
                                <a:latin typeface="Cambria Math" panose="02040503050406030204" pitchFamily="18" charset="0"/>
                              </a:rPr>
                              <m:t>𝑋</m:t>
                            </m:r>
                          </m:e>
                          <m:sub>
                            <m:r>
                              <a:rPr kumimoji="1" lang="en-US" altLang="zh-CN" sz="2600" i="1">
                                <a:latin typeface="Cambria Math" panose="02040503050406030204" pitchFamily="18" charset="0"/>
                              </a:rPr>
                              <m:t>𝐹</m:t>
                            </m:r>
                          </m:sub>
                        </m:sSub>
                      </m:e>
                      <m:sup>
                        <m:r>
                          <a:rPr kumimoji="1" lang="en-US" altLang="zh-CN" sz="2600" i="1">
                            <a:latin typeface="Cambria Math" panose="02040503050406030204" pitchFamily="18" charset="0"/>
                          </a:rPr>
                          <m:t>+</m:t>
                        </m:r>
                      </m:sup>
                    </m:sSup>
                  </m:oMath>
                </a14:m>
                <a:r>
                  <a:rPr lang="zh-CN" altLang="en-US" sz="2600" b="0" dirty="0"/>
                  <a:t>的子集，但是由</a:t>
                </a:r>
                <a:r>
                  <a:rPr lang="en-US" altLang="zh-CN" sz="2600" b="0" dirty="0"/>
                  <a:t> 1)</a:t>
                </a:r>
                <a:r>
                  <a:rPr lang="en-US" altLang="zh-CN" sz="2600" noProof="1">
                    <a:cs typeface="+mn-ea"/>
                  </a:rPr>
                  <a:t> </a:t>
                </a:r>
                <a14:m>
                  <m:oMath xmlns:m="http://schemas.openxmlformats.org/officeDocument/2006/math">
                    <m:r>
                      <a:rPr lang="en-US" altLang="zh-CN" sz="2600" i="1" noProof="1">
                        <a:latin typeface="Cambria Math" panose="02040503050406030204" pitchFamily="18" charset="0"/>
                        <a:cs typeface="+mn-ea"/>
                      </a:rPr>
                      <m:t>𝑊</m:t>
                    </m:r>
                    <m:r>
                      <a:rPr lang="en-US" altLang="zh-CN" sz="2600" i="1" noProof="1" dirty="0">
                        <a:latin typeface="Cambria Math" panose="02040503050406030204" pitchFamily="18" charset="0"/>
                        <a:cs typeface="+mn-ea"/>
                      </a:rPr>
                      <m:t> </m:t>
                    </m:r>
                    <m:r>
                      <a:rPr lang="en-US" altLang="zh-CN" sz="2600" i="1" noProof="1" dirty="0">
                        <a:latin typeface="Cambria Math" panose="02040503050406030204" pitchFamily="18" charset="0"/>
                        <a:ea typeface="Cambria Math" panose="02040503050406030204" pitchFamily="18" charset="0"/>
                        <a:cs typeface="+mn-ea"/>
                      </a:rPr>
                      <m:t>⊆</m:t>
                    </m:r>
                  </m:oMath>
                </a14:m>
                <a:r>
                  <a:rPr kumimoji="1" lang="en-US" altLang="zh-CN" sz="2600" dirty="0"/>
                  <a:t> </a:t>
                </a:r>
                <a14:m>
                  <m:oMath xmlns:m="http://schemas.openxmlformats.org/officeDocument/2006/math">
                    <m:sSup>
                      <m:sSupPr>
                        <m:ctrlPr>
                          <a:rPr kumimoji="1" lang="en-US" altLang="zh-CN" sz="2600" i="1">
                            <a:latin typeface="Cambria Math" panose="02040503050406030204" pitchFamily="18" charset="0"/>
                          </a:rPr>
                        </m:ctrlPr>
                      </m:sSupPr>
                      <m:e>
                        <m:sSub>
                          <m:sSubPr>
                            <m:ctrlPr>
                              <a:rPr kumimoji="1" lang="en-US" altLang="zh-CN" sz="2600" i="1">
                                <a:latin typeface="Cambria Math" panose="02040503050406030204" pitchFamily="18" charset="0"/>
                              </a:rPr>
                            </m:ctrlPr>
                          </m:sSubPr>
                          <m:e>
                            <m:r>
                              <a:rPr kumimoji="1" lang="en-US" altLang="zh-CN" sz="2600" i="1">
                                <a:latin typeface="Cambria Math" panose="02040503050406030204" pitchFamily="18" charset="0"/>
                              </a:rPr>
                              <m:t>𝑋</m:t>
                            </m:r>
                          </m:e>
                          <m:sub>
                            <m:r>
                              <a:rPr kumimoji="1" lang="en-US" altLang="zh-CN" sz="2600" i="1">
                                <a:latin typeface="Cambria Math" panose="02040503050406030204" pitchFamily="18" charset="0"/>
                              </a:rPr>
                              <m:t>𝐹</m:t>
                            </m:r>
                          </m:sub>
                        </m:sSub>
                      </m:e>
                      <m:sup>
                        <m:r>
                          <a:rPr kumimoji="1" lang="en-US" altLang="zh-CN" sz="2600" i="1">
                            <a:latin typeface="Cambria Math" panose="02040503050406030204" pitchFamily="18" charset="0"/>
                          </a:rPr>
                          <m:t>+</m:t>
                        </m:r>
                      </m:sup>
                    </m:sSup>
                    <m:r>
                      <a:rPr kumimoji="1" lang="en-US" altLang="zh-CN" sz="2600" i="1">
                        <a:latin typeface="Cambria Math" panose="02040503050406030204" pitchFamily="18" charset="0"/>
                      </a:rPr>
                      <m:t> </m:t>
                    </m:r>
                  </m:oMath>
                </a14:m>
                <a:r>
                  <a:rPr lang="zh-CN" altLang="en-US" sz="2600" b="0" dirty="0"/>
                  <a:t>，矛盾</a:t>
                </a:r>
                <a:r>
                  <a:rPr lang="en-US" altLang="zh-CN" sz="2600" b="0" dirty="0"/>
                  <a:t>!</a:t>
                </a:r>
                <a:r>
                  <a:rPr lang="zh-CN" altLang="en-US" sz="2600" b="0" dirty="0"/>
                  <a:t>所以</a:t>
                </a:r>
                <a14:m>
                  <m:oMath xmlns:m="http://schemas.openxmlformats.org/officeDocument/2006/math">
                    <m:r>
                      <a:rPr lang="en-US" altLang="zh-CN" sz="2600" i="1" dirty="0">
                        <a:latin typeface="Cambria Math" panose="02040503050406030204" pitchFamily="18" charset="0"/>
                      </a:rPr>
                      <m:t>𝑟</m:t>
                    </m:r>
                  </m:oMath>
                </a14:m>
                <a:r>
                  <a:rPr lang="zh-CN" altLang="en-US" sz="2600" b="0" dirty="0"/>
                  <a:t>必是</a:t>
                </a:r>
                <a14:m>
                  <m:oMath xmlns:m="http://schemas.openxmlformats.org/officeDocument/2006/math">
                    <m:r>
                      <a:rPr lang="en-US" altLang="zh-CN" sz="2600" i="1" dirty="0">
                        <a:latin typeface="Cambria Math" panose="02040503050406030204" pitchFamily="18" charset="0"/>
                      </a:rPr>
                      <m:t>𝑅</m:t>
                    </m:r>
                    <m:r>
                      <a:rPr lang="en-US" altLang="zh-CN" sz="2600" i="1" dirty="0">
                        <a:latin typeface="Cambria Math" panose="02040503050406030204" pitchFamily="18" charset="0"/>
                      </a:rPr>
                      <m:t>&lt;</m:t>
                    </m:r>
                    <m:r>
                      <a:rPr lang="en-US" altLang="zh-CN" sz="2600" i="1" dirty="0">
                        <a:latin typeface="Cambria Math" panose="02040503050406030204" pitchFamily="18" charset="0"/>
                      </a:rPr>
                      <m:t>𝑈</m:t>
                    </m:r>
                    <m:r>
                      <a:rPr lang="en-US" altLang="zh-CN" sz="2600" i="1" dirty="0">
                        <a:latin typeface="Cambria Math" panose="02040503050406030204" pitchFamily="18" charset="0"/>
                      </a:rPr>
                      <m:t>,</m:t>
                    </m:r>
                    <m:r>
                      <a:rPr lang="en-US" altLang="zh-CN" sz="2600" i="1" dirty="0">
                        <a:latin typeface="Cambria Math" panose="02040503050406030204" pitchFamily="18" charset="0"/>
                      </a:rPr>
                      <m:t>𝐹</m:t>
                    </m:r>
                    <m:r>
                      <a:rPr lang="en-US" altLang="zh-CN" sz="2600" i="1" dirty="0">
                        <a:latin typeface="Cambria Math" panose="02040503050406030204" pitchFamily="18" charset="0"/>
                      </a:rPr>
                      <m:t>&gt;</m:t>
                    </m:r>
                  </m:oMath>
                </a14:m>
                <a:r>
                  <a:rPr lang="zh-CN" altLang="en-US" sz="2600" b="0" dirty="0"/>
                  <a:t>的一个关系 </a:t>
                </a:r>
                <a:endParaRPr lang="zh-CN" altLang="en-US" sz="2600" b="0" dirty="0"/>
              </a:p>
              <a:p>
                <a:pPr marL="457200" lvl="1" indent="0">
                  <a:buClr>
                    <a:schemeClr val="tx1"/>
                  </a:buClr>
                  <a:buNone/>
                </a:pPr>
                <a:endParaRPr lang="zh-CN" altLang="en-US" dirty="0"/>
              </a:p>
              <a:p>
                <a:pPr marL="457200" lvl="1" indent="0">
                  <a:lnSpc>
                    <a:spcPct val="140000"/>
                  </a:lnSpc>
                  <a:buNone/>
                </a:pPr>
                <a:endParaRPr lang="zh-CN" altLang="en-US" b="0"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pic>
        <p:nvPicPr>
          <p:cNvPr id="7" name="Picture 4" descr="529插图2.GIF (559 by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5595" y="2658271"/>
            <a:ext cx="4800600"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en-GB" altLang="zh-CN" dirty="0"/>
                  <a:t>Armstrong</a:t>
                </a:r>
                <a:r>
                  <a:rPr kumimoji="1" lang="zh-CN" altLang="en-US" dirty="0"/>
                  <a:t>公理的正确性和完备性</a:t>
                </a:r>
                <a:endParaRPr kumimoji="1" lang="en-US" altLang="zh-CN" dirty="0"/>
              </a:p>
              <a:p>
                <a:pPr marL="457200" lvl="1" indent="0">
                  <a:buNone/>
                </a:pPr>
                <a:r>
                  <a:rPr lang="en-US" altLang="zh-CN" dirty="0"/>
                  <a:t>3)</a:t>
                </a:r>
                <a:r>
                  <a:rPr lang="zh-CN" altLang="en-US" dirty="0"/>
                  <a:t>若</a:t>
                </a:r>
                <a14:m>
                  <m:oMath xmlns:m="http://schemas.openxmlformats.org/officeDocument/2006/math">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i="1" noProof="1">
                        <a:latin typeface="Cambria Math" panose="02040503050406030204" pitchFamily="18" charset="0"/>
                        <a:cs typeface="+mn-ea"/>
                      </a:rPr>
                      <m:t>𝑌</m:t>
                    </m:r>
                  </m:oMath>
                </a14:m>
                <a:r>
                  <a:rPr lang="zh-CN" altLang="en-US" dirty="0"/>
                  <a:t>不能由</a:t>
                </a:r>
                <a14:m>
                  <m:oMath xmlns:m="http://schemas.openxmlformats.org/officeDocument/2006/math">
                    <m:r>
                      <a:rPr lang="en-US" altLang="zh-CN" i="1" dirty="0">
                        <a:latin typeface="Cambria Math" panose="02040503050406030204" pitchFamily="18" charset="0"/>
                      </a:rPr>
                      <m:t>𝐹</m:t>
                    </m:r>
                  </m:oMath>
                </a14:m>
                <a:r>
                  <a:rPr lang="zh-CN" altLang="en-US" dirty="0"/>
                  <a:t>从</a:t>
                </a:r>
                <a:r>
                  <a:rPr lang="en-US" altLang="zh-CN" dirty="0"/>
                  <a:t>Armstrong</a:t>
                </a:r>
                <a:r>
                  <a:rPr lang="zh-CN" altLang="en-US" dirty="0"/>
                  <a:t>公理导出，则</a:t>
                </a:r>
                <a14:m>
                  <m:oMath xmlns:m="http://schemas.openxmlformats.org/officeDocument/2006/math">
                    <m:r>
                      <a:rPr lang="en-US" altLang="zh-CN" i="1" noProof="1">
                        <a:latin typeface="Cambria Math" panose="02040503050406030204" pitchFamily="18" charset="0"/>
                        <a:cs typeface="+mn-ea"/>
                      </a:rPr>
                      <m:t>𝑌</m:t>
                    </m:r>
                  </m:oMath>
                </a14:m>
                <a:r>
                  <a:rPr lang="zh-CN" altLang="en-US" dirty="0"/>
                  <a:t>不是</a:t>
                </a:r>
                <a14:m>
                  <m:oMath xmlns:m="http://schemas.openxmlformats.org/officeDocument/2006/math">
                    <m:sSup>
                      <m:sSupPr>
                        <m:ctrlPr>
                          <a:rPr kumimoji="1" lang="en-US" altLang="zh-CN" i="1">
                            <a:latin typeface="Cambria Math" panose="02040503050406030204" pitchFamily="18" charset="0"/>
                          </a:rPr>
                        </m:ctrlPr>
                      </m:sSup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𝑋</m:t>
                            </m:r>
                          </m:e>
                          <m:sub>
                            <m:r>
                              <a:rPr kumimoji="1" lang="en-US" altLang="zh-CN" i="1">
                                <a:latin typeface="Cambria Math" panose="02040503050406030204" pitchFamily="18" charset="0"/>
                              </a:rPr>
                              <m:t>𝐹</m:t>
                            </m:r>
                          </m:sub>
                        </m:sSub>
                      </m:e>
                      <m:sup>
                        <m:r>
                          <a:rPr kumimoji="1" lang="en-US" altLang="zh-CN" i="1">
                            <a:latin typeface="Cambria Math" panose="02040503050406030204" pitchFamily="18" charset="0"/>
                          </a:rPr>
                          <m:t>+</m:t>
                        </m:r>
                      </m:sup>
                    </m:sSup>
                  </m:oMath>
                </a14:m>
                <a:r>
                  <a:rPr lang="zh-CN" altLang="en-US" dirty="0"/>
                  <a:t>的子集，因此必有</a:t>
                </a:r>
                <a14:m>
                  <m:oMath xmlns:m="http://schemas.openxmlformats.org/officeDocument/2006/math">
                    <m:r>
                      <a:rPr lang="en-US" altLang="zh-CN" i="1" noProof="1">
                        <a:latin typeface="Cambria Math" panose="02040503050406030204" pitchFamily="18" charset="0"/>
                        <a:cs typeface="+mn-ea"/>
                      </a:rPr>
                      <m:t>𝑌</m:t>
                    </m:r>
                  </m:oMath>
                </a14:m>
                <a:r>
                  <a:rPr lang="zh-CN" altLang="en-US" dirty="0"/>
                  <a:t>的子集</a:t>
                </a:r>
                <a14:m>
                  <m:oMath xmlns:m="http://schemas.openxmlformats.org/officeDocument/2006/math">
                    <m:r>
                      <a:rPr lang="en-US" altLang="zh-CN" i="1" noProof="1">
                        <a:latin typeface="Cambria Math" panose="02040503050406030204" pitchFamily="18" charset="0"/>
                        <a:cs typeface="+mn-ea"/>
                      </a:rPr>
                      <m:t>𝑌</m:t>
                    </m:r>
                    <m:r>
                      <a:rPr lang="en-US" altLang="zh-CN" noProof="1">
                        <a:latin typeface="Cambria Math" panose="02040503050406030204" pitchFamily="18" charset="0"/>
                        <a:cs typeface="+mn-ea"/>
                      </a:rPr>
                      <m:t>′</m:t>
                    </m:r>
                  </m:oMath>
                </a14:m>
                <a:r>
                  <a:rPr lang="zh-CN" altLang="en-US" dirty="0"/>
                  <a:t>满足</a:t>
                </a:r>
                <a14:m>
                  <m:oMath xmlns:m="http://schemas.openxmlformats.org/officeDocument/2006/math">
                    <m:sSup>
                      <m:sSupPr>
                        <m:ctrlPr>
                          <a:rPr lang="en-US" altLang="zh-CN" i="1" noProof="1">
                            <a:latin typeface="Cambria Math" panose="02040503050406030204" pitchFamily="18" charset="0"/>
                            <a:cs typeface="+mn-ea"/>
                          </a:rPr>
                        </m:ctrlPr>
                      </m:sSupPr>
                      <m:e>
                        <m:r>
                          <a:rPr lang="en-US" altLang="zh-CN" i="1" noProof="1">
                            <a:latin typeface="Cambria Math" panose="02040503050406030204" pitchFamily="18" charset="0"/>
                            <a:cs typeface="+mn-ea"/>
                          </a:rPr>
                          <m:t>𝑌</m:t>
                        </m:r>
                      </m:e>
                      <m:sup>
                        <m:r>
                          <a:rPr lang="en-US" altLang="zh-CN" i="1" noProof="1">
                            <a:latin typeface="Cambria Math" panose="02040503050406030204" pitchFamily="18" charset="0"/>
                            <a:cs typeface="+mn-ea"/>
                          </a:rPr>
                          <m:t>′</m:t>
                        </m:r>
                      </m:sup>
                    </m:sSup>
                    <m:r>
                      <a:rPr lang="en-US" altLang="zh-CN" i="1" noProof="1">
                        <a:latin typeface="Cambria Math" panose="02040503050406030204" pitchFamily="18" charset="0"/>
                        <a:ea typeface="Cambria Math" panose="02040503050406030204" pitchFamily="18" charset="0"/>
                        <a:cs typeface="+mn-ea"/>
                      </a:rPr>
                      <m:t>⊆</m:t>
                    </m:r>
                    <m:r>
                      <a:rPr lang="en-US" altLang="zh-CN" i="1" noProof="1">
                        <a:latin typeface="Cambria Math" panose="02040503050406030204" pitchFamily="18" charset="0"/>
                        <a:ea typeface="Cambria Math" panose="02040503050406030204" pitchFamily="18" charset="0"/>
                        <a:cs typeface="+mn-ea"/>
                      </a:rPr>
                      <m:t>𝑈</m:t>
                    </m:r>
                    <m:r>
                      <a:rPr lang="en-US" altLang="zh-CN" i="1" noProof="1">
                        <a:latin typeface="Cambria Math" panose="02040503050406030204" pitchFamily="18" charset="0"/>
                        <a:ea typeface="Cambria Math" panose="02040503050406030204" pitchFamily="18" charset="0"/>
                        <a:cs typeface="+mn-ea"/>
                      </a:rPr>
                      <m:t>−</m:t>
                    </m:r>
                    <m:sSup>
                      <m:sSupPr>
                        <m:ctrlPr>
                          <a:rPr kumimoji="1" lang="en-US" altLang="zh-CN" i="1">
                            <a:latin typeface="Cambria Math" panose="02040503050406030204" pitchFamily="18" charset="0"/>
                          </a:rPr>
                        </m:ctrlPr>
                      </m:sSupPr>
                      <m:e>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𝑋</m:t>
                            </m:r>
                          </m:e>
                          <m:sub>
                            <m:r>
                              <a:rPr kumimoji="1" lang="en-US" altLang="zh-CN" i="1">
                                <a:latin typeface="Cambria Math" panose="02040503050406030204" pitchFamily="18" charset="0"/>
                              </a:rPr>
                              <m:t>𝐹</m:t>
                            </m:r>
                          </m:sub>
                        </m:sSub>
                      </m:e>
                      <m:sup>
                        <m:r>
                          <a:rPr kumimoji="1" lang="en-US" altLang="zh-CN" i="1">
                            <a:latin typeface="Cambria Math" panose="02040503050406030204" pitchFamily="18" charset="0"/>
                          </a:rPr>
                          <m:t>+</m:t>
                        </m:r>
                      </m:sup>
                    </m:sSup>
                  </m:oMath>
                </a14:m>
                <a:r>
                  <a:rPr lang="zh-CN" altLang="en-US" dirty="0"/>
                  <a:t>，即</a:t>
                </a:r>
                <a14:m>
                  <m:oMath xmlns:m="http://schemas.openxmlformats.org/officeDocument/2006/math">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i="1" noProof="1">
                        <a:latin typeface="Cambria Math" panose="02040503050406030204" pitchFamily="18" charset="0"/>
                        <a:cs typeface="+mn-ea"/>
                      </a:rPr>
                      <m:t>𝑌</m:t>
                    </m:r>
                  </m:oMath>
                </a14:m>
                <a:r>
                  <a:rPr lang="zh-CN" altLang="en-US" dirty="0"/>
                  <a:t>在</a:t>
                </a:r>
                <a14:m>
                  <m:oMath xmlns:m="http://schemas.openxmlformats.org/officeDocument/2006/math">
                    <m:r>
                      <a:rPr lang="en-US" altLang="zh-CN" i="1" dirty="0">
                        <a:latin typeface="Cambria Math" panose="02040503050406030204" pitchFamily="18" charset="0"/>
                      </a:rPr>
                      <m:t>𝑟</m:t>
                    </m:r>
                  </m:oMath>
                </a14:m>
                <a:r>
                  <a:rPr lang="zh-CN" altLang="en-US" dirty="0"/>
                  <a:t>上不成立，故</a:t>
                </a:r>
                <a14:m>
                  <m:oMath xmlns:m="http://schemas.openxmlformats.org/officeDocument/2006/math">
                    <m:r>
                      <a:rPr lang="zh-CN" altLang="en-US" i="1" noProof="1">
                        <a:latin typeface="Cambria Math" panose="02040503050406030204" pitchFamily="18" charset="0"/>
                        <a:cs typeface="+mn-ea"/>
                      </a:rPr>
                      <m:t>𝑋</m:t>
                    </m:r>
                    <m:r>
                      <a:rPr lang="zh-CN" altLang="en-US" i="1" noProof="1">
                        <a:latin typeface="Cambria Math" panose="02040503050406030204" pitchFamily="18" charset="0"/>
                        <a:cs typeface="+mn-ea"/>
                      </a:rPr>
                      <m:t>→</m:t>
                    </m:r>
                    <m:r>
                      <a:rPr lang="en-US" altLang="zh-CN" i="1" noProof="1">
                        <a:latin typeface="Cambria Math" panose="02040503050406030204" pitchFamily="18" charset="0"/>
                        <a:cs typeface="+mn-ea"/>
                      </a:rPr>
                      <m:t>𝑌</m:t>
                    </m:r>
                  </m:oMath>
                </a14:m>
                <a:r>
                  <a:rPr lang="zh-CN" altLang="en-US" dirty="0"/>
                  <a:t>必不为</a:t>
                </a:r>
                <a14:m>
                  <m:oMath xmlns:m="http://schemas.openxmlformats.org/officeDocument/2006/math">
                    <m:r>
                      <a:rPr lang="en-US" altLang="zh-CN" i="1" dirty="0">
                        <a:latin typeface="Cambria Math" panose="02040503050406030204" pitchFamily="18" charset="0"/>
                      </a:rPr>
                      <m:t>𝐹</m:t>
                    </m:r>
                  </m:oMath>
                </a14:m>
                <a:r>
                  <a:rPr lang="zh-CN" altLang="en-US" dirty="0"/>
                  <a:t>蕴含。</a:t>
                </a:r>
                <a:endParaRPr lang="zh-CN" altLang="en-US" dirty="0"/>
              </a:p>
              <a:p>
                <a:pPr marL="457200" lvl="1" indent="0">
                  <a:buNone/>
                </a:pPr>
                <a:r>
                  <a:rPr lang="zh-CN" altLang="en-US" dirty="0"/>
                  <a:t>（证毕）</a:t>
                </a:r>
                <a:endParaRPr lang="en-US" altLang="zh-CN" dirty="0"/>
              </a:p>
              <a:p>
                <a:pPr marL="457200" lvl="1" indent="0">
                  <a:buNone/>
                </a:pPr>
                <a:endParaRPr kumimoji="1" lang="en-US" altLang="zh-CN" dirty="0"/>
              </a:p>
              <a:p>
                <a:pPr lvl="1"/>
                <a:r>
                  <a:rPr kumimoji="1" lang="en-US" altLang="zh-CN" dirty="0"/>
                  <a:t>Armstrong</a:t>
                </a:r>
                <a:r>
                  <a:rPr kumimoji="1" lang="zh-CN" altLang="en-US" dirty="0"/>
                  <a:t>公理的正确性和完备性说明“逻辑导出”与“逻辑蕴含”是两个等价的概念</a:t>
                </a:r>
                <a:endParaRPr kumimoji="1" lang="en-US" altLang="zh-CN" dirty="0"/>
              </a:p>
              <a:p>
                <a:pPr lvl="1"/>
                <a:r>
                  <a:rPr lang="zh-CN" altLang="en-US" dirty="0"/>
                  <a:t>因此</a:t>
                </a:r>
                <a:r>
                  <a:rPr lang="en-US" altLang="zh-CN" dirty="0"/>
                  <a:t>, </a:t>
                </a:r>
                <a14:m>
                  <m:oMath xmlns:m="http://schemas.openxmlformats.org/officeDocument/2006/math">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𝐹</m:t>
                        </m:r>
                      </m:e>
                      <m:sup>
                        <m:r>
                          <a:rPr lang="en-US" altLang="zh-CN" i="1" dirty="0">
                            <a:latin typeface="Cambria Math" panose="02040503050406030204" pitchFamily="18" charset="0"/>
                            <a:ea typeface="Cambria Math" panose="02040503050406030204" pitchFamily="18" charset="0"/>
                          </a:rPr>
                          <m:t>+</m:t>
                        </m:r>
                      </m:sup>
                    </m:sSup>
                  </m:oMath>
                </a14:m>
                <a:r>
                  <a:rPr lang="zh-CN" altLang="en-US" dirty="0"/>
                  <a:t>也可以说成是由</a:t>
                </a:r>
                <a14:m>
                  <m:oMath xmlns:m="http://schemas.openxmlformats.org/officeDocument/2006/math">
                    <m:r>
                      <a:rPr lang="en-US" altLang="zh-CN" i="1" dirty="0">
                        <a:latin typeface="Cambria Math" panose="02040503050406030204" pitchFamily="18" charset="0"/>
                      </a:rPr>
                      <m:t>𝐹</m:t>
                    </m:r>
                  </m:oMath>
                </a14:m>
                <a:r>
                  <a:rPr lang="zh-CN" altLang="en-US" dirty="0"/>
                  <a:t>出发借助</a:t>
                </a:r>
                <a:r>
                  <a:rPr lang="en-GB" altLang="zh-CN" dirty="0"/>
                  <a:t>Armstrong</a:t>
                </a:r>
                <a:r>
                  <a:rPr lang="zh-CN" altLang="en-US" dirty="0"/>
                  <a:t>公理导出的函数依赖的集合 </a:t>
                </a:r>
                <a:endParaRPr lang="zh-CN" altLang="en-US" dirty="0"/>
              </a:p>
              <a:p>
                <a:pPr lvl="1"/>
                <a:r>
                  <a:rPr lang="zh-CN" altLang="en-US" dirty="0"/>
                  <a:t>从蕴含</a:t>
                </a:r>
                <a:r>
                  <a:rPr lang="en-US" altLang="zh-CN" dirty="0"/>
                  <a:t>(</a:t>
                </a:r>
                <a:r>
                  <a:rPr lang="zh-CN" altLang="en-US" dirty="0"/>
                  <a:t>或导出</a:t>
                </a:r>
                <a:r>
                  <a:rPr lang="en-US" altLang="zh-CN" dirty="0"/>
                  <a:t>)</a:t>
                </a:r>
                <a:r>
                  <a:rPr lang="zh-CN" altLang="en-US" dirty="0"/>
                  <a:t>的概念出发，又引出了两个函数依赖集等价和最小依赖集的概念 </a:t>
                </a:r>
                <a:endParaRPr lang="zh-CN" altLang="en-US" dirty="0"/>
              </a:p>
              <a:p>
                <a:pPr lvl="1"/>
                <a:endParaRPr lang="zh-CN" altLang="en-US" dirty="0"/>
              </a:p>
              <a:p>
                <a:pPr marL="457200" lvl="1" indent="0">
                  <a:lnSpc>
                    <a:spcPct val="140000"/>
                  </a:lnSpc>
                  <a:buNone/>
                </a:pPr>
                <a:endParaRPr lang="zh-CN" altLang="en-US" b="0"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12687"/>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函数依赖集的等价覆盖</a:t>
                </a:r>
                <a:endParaRPr kumimoji="1" lang="en-US" altLang="zh-CN" dirty="0"/>
              </a:p>
              <a:p>
                <a:pPr lvl="1"/>
                <a:r>
                  <a:rPr lang="zh-CN" altLang="en-US" dirty="0">
                    <a:latin typeface="黑体" panose="02010609060101010101" pitchFamily="49" charset="-122"/>
                    <a:ea typeface="黑体" panose="02010609060101010101" pitchFamily="49" charset="-122"/>
                  </a:rPr>
                  <a:t>定义</a:t>
                </a:r>
                <a:r>
                  <a:rPr lang="en-US" altLang="zh-CN" dirty="0">
                    <a:latin typeface="黑体" panose="02010609060101010101" pitchFamily="49" charset="-122"/>
                    <a:ea typeface="黑体" panose="02010609060101010101" pitchFamily="49" charset="-122"/>
                  </a:rPr>
                  <a:t>4.8</a:t>
                </a:r>
                <a:r>
                  <a:rPr lang="zh-CN" altLang="en-US" dirty="0">
                    <a:latin typeface="黑体" panose="02010609060101010101" pitchFamily="49" charset="-122"/>
                    <a:ea typeface="黑体" panose="02010609060101010101" pitchFamily="49" charset="-122"/>
                  </a:rPr>
                  <a:t>：设</a:t>
                </a:r>
                <a14:m>
                  <m:oMath xmlns:m="http://schemas.openxmlformats.org/officeDocument/2006/math">
                    <m:r>
                      <a:rPr lang="en-US" altLang="zh-CN" b="0" i="1" smtClean="0">
                        <a:latin typeface="Cambria Math" panose="02040503050406030204" pitchFamily="18" charset="0"/>
                        <a:ea typeface="黑体" panose="02010609060101010101" pitchFamily="49" charset="-122"/>
                      </a:rPr>
                      <m:t>𝐹</m:t>
                    </m:r>
                    <m:r>
                      <a:rPr lang="en-US" altLang="zh-CN" b="0" i="1" smtClean="0">
                        <a:latin typeface="Cambria Math" panose="02040503050406030204" pitchFamily="18" charset="0"/>
                        <a:ea typeface="黑体" panose="02010609060101010101" pitchFamily="49" charset="-122"/>
                      </a:rPr>
                      <m:t>,</m:t>
                    </m:r>
                    <m:r>
                      <a:rPr lang="en-US" altLang="zh-CN" b="0" i="1" smtClean="0">
                        <a:latin typeface="Cambria Math" panose="02040503050406030204" pitchFamily="18" charset="0"/>
                        <a:ea typeface="黑体" panose="02010609060101010101" pitchFamily="49" charset="-122"/>
                      </a:rPr>
                      <m:t>𝐺</m:t>
                    </m:r>
                  </m:oMath>
                </a14:m>
                <a:r>
                  <a:rPr lang="zh-CN" altLang="en-US" dirty="0">
                    <a:latin typeface="黑体" panose="02010609060101010101" pitchFamily="49" charset="-122"/>
                    <a:ea typeface="黑体" panose="02010609060101010101" pitchFamily="49" charset="-122"/>
                  </a:rPr>
                  <a:t>是两个函数依赖集合，如果</a:t>
                </a:r>
                <a14:m>
                  <m:oMath xmlns:m="http://schemas.openxmlformats.org/officeDocument/2006/math">
                    <m:r>
                      <a:rPr lang="en-US" altLang="zh-CN" i="1" dirty="0">
                        <a:latin typeface="Cambria Math" panose="02040503050406030204" pitchFamily="18" charset="0"/>
                      </a:rPr>
                      <m:t>𝐹</m:t>
                    </m:r>
                    <m:r>
                      <a:rPr lang="en-US" altLang="zh-CN" i="1" baseline="30000" dirty="0">
                        <a:latin typeface="Cambria Math" panose="02040503050406030204" pitchFamily="18" charset="0"/>
                      </a:rPr>
                      <m:t>+</m:t>
                    </m:r>
                    <m:r>
                      <a:rPr lang="zh-CN" altLang="en-US" i="1" dirty="0">
                        <a:latin typeface="Cambria Math" panose="02040503050406030204" pitchFamily="18" charset="0"/>
                      </a:rPr>
                      <m:t>＝</m:t>
                    </m:r>
                    <m:r>
                      <a:rPr lang="en-US" altLang="zh-CN" i="1" dirty="0">
                        <a:latin typeface="Cambria Math" panose="02040503050406030204" pitchFamily="18" charset="0"/>
                      </a:rPr>
                      <m:t>𝐺</m:t>
                    </m:r>
                    <m:r>
                      <a:rPr lang="en-US" altLang="zh-CN" i="1" baseline="30000" dirty="0">
                        <a:latin typeface="Cambria Math" panose="02040503050406030204" pitchFamily="18" charset="0"/>
                      </a:rPr>
                      <m:t>+</m:t>
                    </m:r>
                  </m:oMath>
                </a14:m>
                <a:r>
                  <a:rPr lang="zh-CN" altLang="en-US" dirty="0"/>
                  <a:t>，</a:t>
                </a:r>
                <a:r>
                  <a:rPr lang="zh-CN" altLang="en-US" dirty="0">
                    <a:latin typeface="黑体" panose="02010609060101010101" pitchFamily="49" charset="-122"/>
                    <a:ea typeface="黑体" panose="02010609060101010101" pitchFamily="49" charset="-122"/>
                  </a:rPr>
                  <a:t>则称</a:t>
                </a:r>
                <a14:m>
                  <m:oMath xmlns:m="http://schemas.openxmlformats.org/officeDocument/2006/math">
                    <m:r>
                      <a:rPr lang="en-US" altLang="zh-CN" i="1">
                        <a:latin typeface="Cambria Math" panose="02040503050406030204" pitchFamily="18" charset="0"/>
                        <a:ea typeface="黑体" panose="02010609060101010101" pitchFamily="49" charset="-122"/>
                      </a:rPr>
                      <m:t>𝐹</m:t>
                    </m:r>
                  </m:oMath>
                </a14:m>
                <a:r>
                  <a:rPr lang="zh-CN" altLang="en-US" dirty="0">
                    <a:latin typeface="黑体" panose="02010609060101010101" pitchFamily="49" charset="-122"/>
                    <a:ea typeface="黑体" panose="02010609060101010101" pitchFamily="49" charset="-122"/>
                  </a:rPr>
                  <a:t>等价于</a:t>
                </a:r>
                <a14:m>
                  <m:oMath xmlns:m="http://schemas.openxmlformats.org/officeDocument/2006/math">
                    <m:r>
                      <a:rPr lang="en-US" altLang="zh-CN" i="1">
                        <a:latin typeface="Cambria Math" panose="02040503050406030204" pitchFamily="18" charset="0"/>
                        <a:ea typeface="黑体" panose="02010609060101010101" pitchFamily="49" charset="-122"/>
                      </a:rPr>
                      <m:t>𝐺</m:t>
                    </m:r>
                    <m:r>
                      <a:rPr lang="en-US" altLang="zh-CN" i="1">
                        <a:latin typeface="Cambria Math" panose="02040503050406030204" pitchFamily="18" charset="0"/>
                        <a:ea typeface="黑体" panose="02010609060101010101" pitchFamily="49" charset="-122"/>
                      </a:rPr>
                      <m:t> </m:t>
                    </m:r>
                  </m:oMath>
                </a14:m>
                <a:r>
                  <a:rPr lang="zh-CN" altLang="en-US" dirty="0">
                    <a:latin typeface="黑体" panose="02010609060101010101" pitchFamily="49" charset="-122"/>
                    <a:ea typeface="黑体" panose="02010609060101010101" pitchFamily="49" charset="-122"/>
                  </a:rPr>
                  <a:t>，或者</a:t>
                </a:r>
                <a14:m>
                  <m:oMath xmlns:m="http://schemas.openxmlformats.org/officeDocument/2006/math">
                    <m:r>
                      <a:rPr lang="en-US" altLang="zh-CN" i="1">
                        <a:latin typeface="Cambria Math" panose="02040503050406030204" pitchFamily="18" charset="0"/>
                        <a:ea typeface="黑体" panose="02010609060101010101" pitchFamily="49" charset="-122"/>
                      </a:rPr>
                      <m:t>𝐹</m:t>
                    </m:r>
                    <m:r>
                      <a:rPr lang="en-US" altLang="zh-CN" i="1">
                        <a:latin typeface="Cambria Math" panose="02040503050406030204" pitchFamily="18" charset="0"/>
                        <a:ea typeface="黑体" panose="02010609060101010101" pitchFamily="49" charset="-122"/>
                      </a:rPr>
                      <m:t>,</m:t>
                    </m:r>
                  </m:oMath>
                </a14:m>
                <a:r>
                  <a:rPr lang="zh-CN" altLang="en-US" dirty="0">
                    <a:latin typeface="黑体" panose="02010609060101010101" pitchFamily="49" charset="-122"/>
                    <a:ea typeface="黑体" panose="02010609060101010101" pitchFamily="49" charset="-122"/>
                  </a:rPr>
                  <a:t>与</a:t>
                </a:r>
                <a14:m>
                  <m:oMath xmlns:m="http://schemas.openxmlformats.org/officeDocument/2006/math">
                    <m:r>
                      <a:rPr lang="en-US" altLang="zh-CN" i="1">
                        <a:latin typeface="Cambria Math" panose="02040503050406030204" pitchFamily="18" charset="0"/>
                        <a:ea typeface="黑体" panose="02010609060101010101" pitchFamily="49" charset="-122"/>
                      </a:rPr>
                      <m:t>𝐺</m:t>
                    </m:r>
                  </m:oMath>
                </a14:m>
                <a:r>
                  <a:rPr lang="zh-CN" altLang="en-US" dirty="0">
                    <a:latin typeface="黑体" panose="02010609060101010101" pitchFamily="49" charset="-122"/>
                    <a:ea typeface="黑体" panose="02010609060101010101" pitchFamily="49" charset="-122"/>
                  </a:rPr>
                  <a:t>互相覆盖</a:t>
                </a:r>
                <a:endParaRPr lang="en-US" altLang="zh-CN" dirty="0">
                  <a:latin typeface="黑体" panose="02010609060101010101" pitchFamily="49" charset="-122"/>
                  <a:ea typeface="黑体" panose="02010609060101010101" pitchFamily="49" charset="-122"/>
                </a:endParaRPr>
              </a:p>
              <a:p>
                <a:pPr lvl="1"/>
                <a:r>
                  <a:rPr lang="en-US" altLang="en-US" dirty="0">
                    <a:latin typeface="黑体" panose="02010609060101010101" pitchFamily="49" charset="-122"/>
                    <a:ea typeface="黑体" panose="02010609060101010101" pitchFamily="49" charset="-122"/>
                  </a:rPr>
                  <a:t>引理</a:t>
                </a:r>
                <a:r>
                  <a:rPr lang="en-US" altLang="zh-CN" dirty="0">
                    <a:latin typeface="黑体" panose="02010609060101010101" pitchFamily="49" charset="-122"/>
                    <a:ea typeface="黑体" panose="02010609060101010101" pitchFamily="49" charset="-122"/>
                  </a:rPr>
                  <a:t>4.3</a:t>
                </a:r>
                <a:r>
                  <a:rPr lang="zh-CN" altLang="en-US" dirty="0">
                    <a:latin typeface="黑体" panose="02010609060101010101" pitchFamily="49" charset="-122"/>
                    <a:ea typeface="黑体" panose="02010609060101010101" pitchFamily="49" charset="-122"/>
                  </a:rPr>
                  <a:t>：</a:t>
                </a:r>
                <a:r>
                  <a:rPr lang="en-US" altLang="zh-CN" dirty="0">
                    <a:ea typeface="黑体" panose="02010609060101010101" pitchFamily="49" charset="-122"/>
                  </a:rPr>
                  <a:t> </a:t>
                </a:r>
                <a14:m>
                  <m:oMath xmlns:m="http://schemas.openxmlformats.org/officeDocument/2006/math">
                    <m:r>
                      <a:rPr lang="en-US" altLang="zh-CN" i="1">
                        <a:latin typeface="Cambria Math" panose="02040503050406030204" pitchFamily="18" charset="0"/>
                        <a:ea typeface="黑体" panose="02010609060101010101" pitchFamily="49" charset="-122"/>
                      </a:rPr>
                      <m:t>𝐹</m:t>
                    </m:r>
                  </m:oMath>
                </a14:m>
                <a:r>
                  <a:rPr lang="zh-CN" altLang="en-US" dirty="0">
                    <a:latin typeface="黑体" panose="02010609060101010101" pitchFamily="49" charset="-122"/>
                    <a:ea typeface="黑体" panose="02010609060101010101" pitchFamily="49" charset="-122"/>
                  </a:rPr>
                  <a:t>与</a:t>
                </a:r>
                <a14:m>
                  <m:oMath xmlns:m="http://schemas.openxmlformats.org/officeDocument/2006/math">
                    <m:r>
                      <a:rPr lang="en-US" altLang="zh-CN" i="1">
                        <a:latin typeface="Cambria Math" panose="02040503050406030204" pitchFamily="18" charset="0"/>
                        <a:ea typeface="黑体" panose="02010609060101010101" pitchFamily="49" charset="-122"/>
                      </a:rPr>
                      <m:t>𝐺</m:t>
                    </m:r>
                  </m:oMath>
                </a14:m>
                <a:r>
                  <a:rPr lang="zh-CN" altLang="en-US" dirty="0">
                    <a:latin typeface="黑体" panose="02010609060101010101" pitchFamily="49" charset="-122"/>
                    <a:ea typeface="黑体" panose="02010609060101010101" pitchFamily="49" charset="-122"/>
                  </a:rPr>
                  <a:t>等价的充分必要条件是</a:t>
                </a:r>
                <a14:m>
                  <m:oMath xmlns:m="http://schemas.openxmlformats.org/officeDocument/2006/math">
                    <m:r>
                      <a:rPr lang="en-US" altLang="zh-CN" b="0" i="1" dirty="0">
                        <a:latin typeface="Cambria Math" panose="02040503050406030204" pitchFamily="18" charset="0"/>
                      </a:rPr>
                      <m:t>𝐹</m:t>
                    </m:r>
                    <m:r>
                      <a:rPr lang="en-US" altLang="zh-CN" b="0" i="1" dirty="0">
                        <a:latin typeface="Cambria Math" panose="02040503050406030204" pitchFamily="18" charset="0"/>
                        <a:sym typeface="Symbol" panose="05050102010706020507" pitchFamily="18" charset="2"/>
                      </a:rPr>
                      <m:t></m:t>
                    </m:r>
                    <m:r>
                      <a:rPr lang="en-US" altLang="zh-CN" b="0" i="1" dirty="0">
                        <a:latin typeface="Cambria Math" panose="02040503050406030204" pitchFamily="18" charset="0"/>
                      </a:rPr>
                      <m:t>𝐺</m:t>
                    </m:r>
                    <m:r>
                      <a:rPr lang="en-US" altLang="zh-CN" i="1" baseline="30000" dirty="0">
                        <a:latin typeface="Cambria Math" panose="02040503050406030204" pitchFamily="18" charset="0"/>
                      </a:rPr>
                      <m:t>+</m:t>
                    </m:r>
                  </m:oMath>
                </a14:m>
                <a:r>
                  <a:rPr lang="zh-CN" altLang="en-US" dirty="0">
                    <a:latin typeface="黑体" panose="02010609060101010101" pitchFamily="49" charset="-122"/>
                    <a:ea typeface="黑体" panose="02010609060101010101" pitchFamily="49" charset="-122"/>
                  </a:rPr>
                  <a:t>并且</a:t>
                </a:r>
                <a14:m>
                  <m:oMath xmlns:m="http://schemas.openxmlformats.org/officeDocument/2006/math">
                    <m:r>
                      <a:rPr lang="en-US" altLang="zh-CN" b="0" i="1" dirty="0">
                        <a:latin typeface="Cambria Math" panose="02040503050406030204" pitchFamily="18" charset="0"/>
                      </a:rPr>
                      <m:t>𝐺</m:t>
                    </m:r>
                    <m:r>
                      <a:rPr lang="en-US" altLang="zh-CN" b="0" i="1" dirty="0">
                        <a:latin typeface="Cambria Math" panose="02040503050406030204" pitchFamily="18" charset="0"/>
                        <a:sym typeface="Symbol" panose="05050102010706020507" pitchFamily="18" charset="2"/>
                      </a:rPr>
                      <m:t></m:t>
                    </m:r>
                    <m:r>
                      <a:rPr lang="en-US" altLang="zh-CN" b="0" i="1" dirty="0">
                        <a:latin typeface="Cambria Math" panose="02040503050406030204" pitchFamily="18" charset="0"/>
                      </a:rPr>
                      <m:t>𝐹</m:t>
                    </m:r>
                    <m:r>
                      <a:rPr lang="en-US" altLang="zh-CN" i="1" baseline="30000" dirty="0">
                        <a:latin typeface="Cambria Math" panose="02040503050406030204" pitchFamily="18" charset="0"/>
                      </a:rPr>
                      <m:t>+</m:t>
                    </m:r>
                  </m:oMath>
                </a14:m>
                <a:endParaRPr lang="en-US" altLang="zh-CN" dirty="0"/>
              </a:p>
              <a:p>
                <a:pPr marL="457200" lvl="1" indent="0">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证：必要性显然</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只需证充分性：</a:t>
                </a:r>
                <a:endParaRPr lang="zh-CN" altLang="en-US" b="0" dirty="0"/>
              </a:p>
              <a:p>
                <a:pPr lvl="2">
                  <a:buFontTx/>
                  <a:buAutoNum type="arabicParenR"/>
                </a:pPr>
                <a:r>
                  <a:rPr lang="zh-CN" altLang="en-US" sz="2200" dirty="0"/>
                  <a:t>若</a:t>
                </a:r>
                <a14:m>
                  <m:oMath xmlns:m="http://schemas.openxmlformats.org/officeDocument/2006/math">
                    <m:r>
                      <a:rPr lang="en-US" altLang="zh-CN" sz="2200" i="1" dirty="0">
                        <a:latin typeface="Cambria Math" panose="02040503050406030204" pitchFamily="18" charset="0"/>
                      </a:rPr>
                      <m:t>𝐹</m:t>
                    </m:r>
                    <m:r>
                      <a:rPr lang="en-US" altLang="zh-CN" sz="2200" i="1" dirty="0">
                        <a:latin typeface="Cambria Math" panose="02040503050406030204" pitchFamily="18" charset="0"/>
                        <a:sym typeface="Symbol" panose="05050102010706020507" pitchFamily="18" charset="2"/>
                      </a:rPr>
                      <m:t></m:t>
                    </m:r>
                    <m:r>
                      <a:rPr lang="en-US" altLang="zh-CN" sz="2200" i="1" dirty="0">
                        <a:latin typeface="Cambria Math" panose="02040503050406030204" pitchFamily="18" charset="0"/>
                      </a:rPr>
                      <m:t>𝐺</m:t>
                    </m:r>
                    <m:r>
                      <a:rPr lang="en-US" altLang="zh-CN" sz="2200" i="1" baseline="30000" dirty="0">
                        <a:latin typeface="Cambria Math" panose="02040503050406030204" pitchFamily="18" charset="0"/>
                      </a:rPr>
                      <m:t>+</m:t>
                    </m:r>
                    <m:r>
                      <a:rPr lang="en-US" altLang="zh-CN" sz="2200" i="1" dirty="0">
                        <a:latin typeface="Cambria Math" panose="02040503050406030204" pitchFamily="18" charset="0"/>
                      </a:rPr>
                      <m:t> </m:t>
                    </m:r>
                  </m:oMath>
                </a14:m>
                <a:r>
                  <a:rPr lang="en-US" altLang="zh-CN" sz="2200" dirty="0"/>
                  <a:t>,</a:t>
                </a:r>
                <a:r>
                  <a:rPr lang="zh-CN" altLang="en-US" sz="2200" dirty="0"/>
                  <a:t>则</a:t>
                </a:r>
                <a14:m>
                  <m:oMath xmlns:m="http://schemas.openxmlformats.org/officeDocument/2006/math">
                    <m:r>
                      <a:rPr lang="en-US" altLang="zh-CN" sz="2200" i="1" dirty="0">
                        <a:latin typeface="Cambria Math" panose="02040503050406030204" pitchFamily="18" charset="0"/>
                      </a:rPr>
                      <m:t>𝑋</m:t>
                    </m:r>
                    <m:r>
                      <a:rPr lang="en-US" altLang="zh-CN" sz="2200" i="1" baseline="30000" dirty="0">
                        <a:latin typeface="Cambria Math" panose="02040503050406030204" pitchFamily="18" charset="0"/>
                      </a:rPr>
                      <m:t>+</m:t>
                    </m:r>
                    <m:r>
                      <a:rPr lang="en-US" altLang="zh-CN" sz="2200" i="1" dirty="0">
                        <a:latin typeface="Cambria Math" panose="02040503050406030204" pitchFamily="18" charset="0"/>
                      </a:rPr>
                      <m:t>𝐹</m:t>
                    </m:r>
                    <m:r>
                      <a:rPr lang="en-US" altLang="zh-CN" sz="2200" i="1" dirty="0">
                        <a:latin typeface="Cambria Math" panose="02040503050406030204" pitchFamily="18" charset="0"/>
                      </a:rPr>
                      <m:t>  </m:t>
                    </m:r>
                    <m:r>
                      <a:rPr lang="en-US" altLang="zh-CN" sz="2200" i="1" dirty="0">
                        <a:latin typeface="Cambria Math" panose="02040503050406030204" pitchFamily="18" charset="0"/>
                      </a:rPr>
                      <m:t>𝑋</m:t>
                    </m:r>
                    <m:r>
                      <a:rPr lang="en-US" altLang="zh-CN" sz="2200" i="1" baseline="30000" dirty="0">
                        <a:latin typeface="Cambria Math" panose="02040503050406030204" pitchFamily="18" charset="0"/>
                      </a:rPr>
                      <m:t>+</m:t>
                    </m:r>
                    <m:r>
                      <a:rPr lang="en-US" altLang="zh-CN" sz="2200" i="1" baseline="-25000" dirty="0">
                        <a:latin typeface="Cambria Math" panose="02040503050406030204" pitchFamily="18" charset="0"/>
                      </a:rPr>
                      <m:t>𝐺</m:t>
                    </m:r>
                    <m:r>
                      <a:rPr lang="en-US" altLang="zh-CN" sz="2200" i="1" baseline="-14000" dirty="0">
                        <a:latin typeface="Cambria Math" panose="02040503050406030204" pitchFamily="18" charset="0"/>
                      </a:rPr>
                      <m:t>+</m:t>
                    </m:r>
                  </m:oMath>
                </a14:m>
                <a:endParaRPr lang="zh-CN" altLang="en-US" sz="2200" dirty="0"/>
              </a:p>
              <a:p>
                <a:pPr lvl="2">
                  <a:buFontTx/>
                  <a:buAutoNum type="arabicParenR"/>
                </a:pPr>
                <a:r>
                  <a:rPr lang="zh-CN" altLang="en-US" sz="2200" dirty="0"/>
                  <a:t>任取</a:t>
                </a:r>
                <a14:m>
                  <m:oMath xmlns:m="http://schemas.openxmlformats.org/officeDocument/2006/math">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𝑌</m:t>
                    </m:r>
                    <m:r>
                      <a:rPr lang="en-US" altLang="zh-CN" sz="2200" i="1" dirty="0">
                        <a:latin typeface="Cambria Math" panose="02040503050406030204" pitchFamily="18" charset="0"/>
                      </a:rPr>
                      <m:t>∈</m:t>
                    </m:r>
                    <m:r>
                      <a:rPr lang="en-US" altLang="zh-CN" sz="2200" i="1" dirty="0">
                        <a:latin typeface="Cambria Math" panose="02040503050406030204" pitchFamily="18" charset="0"/>
                      </a:rPr>
                      <m:t>𝐹</m:t>
                    </m:r>
                    <m:r>
                      <a:rPr lang="en-US" altLang="zh-CN" sz="2200" i="1" baseline="30000" dirty="0">
                        <a:latin typeface="Cambria Math" panose="02040503050406030204" pitchFamily="18" charset="0"/>
                      </a:rPr>
                      <m:t>+</m:t>
                    </m:r>
                  </m:oMath>
                </a14:m>
                <a:r>
                  <a:rPr lang="en-US" altLang="zh-CN" sz="2200" dirty="0"/>
                  <a:t> </a:t>
                </a:r>
                <a:r>
                  <a:rPr lang="zh-CN" altLang="en-US" sz="2200" dirty="0"/>
                  <a:t>则有 </a:t>
                </a:r>
                <a14:m>
                  <m:oMath xmlns:m="http://schemas.openxmlformats.org/officeDocument/2006/math">
                    <m:r>
                      <a:rPr lang="en-US" altLang="zh-CN" sz="2200" i="1" dirty="0">
                        <a:latin typeface="Cambria Math" panose="02040503050406030204" pitchFamily="18" charset="0"/>
                      </a:rPr>
                      <m:t>𝑌</m:t>
                    </m:r>
                    <m:r>
                      <a:rPr lang="en-US" altLang="zh-CN" sz="2200" i="1" dirty="0">
                        <a:latin typeface="Cambria Math" panose="02040503050406030204" pitchFamily="18" charset="0"/>
                        <a:sym typeface="Symbol" panose="05050102010706020507" pitchFamily="18" charset="2"/>
                      </a:rPr>
                      <m:t></m:t>
                    </m:r>
                    <m:r>
                      <a:rPr lang="en-US" altLang="zh-CN" sz="2200" i="1" dirty="0">
                        <a:latin typeface="Cambria Math" panose="02040503050406030204" pitchFamily="18" charset="0"/>
                      </a:rPr>
                      <m:t>𝑋</m:t>
                    </m:r>
                    <m:r>
                      <a:rPr lang="en-US" altLang="zh-CN" sz="2200" i="1" baseline="30000" dirty="0">
                        <a:latin typeface="Cambria Math" panose="02040503050406030204" pitchFamily="18" charset="0"/>
                      </a:rPr>
                      <m:t>+</m:t>
                    </m:r>
                    <m:r>
                      <a:rPr lang="en-US" altLang="zh-CN" sz="2200" i="1" dirty="0">
                        <a:latin typeface="Cambria Math" panose="02040503050406030204" pitchFamily="18" charset="0"/>
                      </a:rPr>
                      <m:t>𝐹</m:t>
                    </m:r>
                    <m:r>
                      <a:rPr lang="en-US" altLang="zh-CN" sz="2200" i="1" dirty="0">
                        <a:latin typeface="Cambria Math" panose="02040503050406030204" pitchFamily="18" charset="0"/>
                      </a:rPr>
                      <m:t>  </m:t>
                    </m:r>
                    <m:r>
                      <a:rPr lang="en-US" altLang="zh-CN" sz="2200" i="1" dirty="0">
                        <a:latin typeface="Cambria Math" panose="02040503050406030204" pitchFamily="18" charset="0"/>
                      </a:rPr>
                      <m:t>𝑋</m:t>
                    </m:r>
                    <m:r>
                      <a:rPr lang="en-US" altLang="zh-CN" sz="2200" i="1" baseline="30000" dirty="0">
                        <a:latin typeface="Cambria Math" panose="02040503050406030204" pitchFamily="18" charset="0"/>
                      </a:rPr>
                      <m:t>+</m:t>
                    </m:r>
                    <m:r>
                      <a:rPr lang="en-US" altLang="zh-CN" sz="2200" i="1" baseline="-25000" dirty="0">
                        <a:latin typeface="Cambria Math" panose="02040503050406030204" pitchFamily="18" charset="0"/>
                      </a:rPr>
                      <m:t>𝐺</m:t>
                    </m:r>
                    <m:r>
                      <a:rPr lang="en-US" altLang="zh-CN" sz="2200" i="1" baseline="-14000" dirty="0">
                        <a:latin typeface="Cambria Math" panose="02040503050406030204" pitchFamily="18" charset="0"/>
                      </a:rPr>
                      <m:t>+</m:t>
                    </m:r>
                    <m:r>
                      <a:rPr lang="en-US" altLang="zh-CN" sz="2200" i="1" dirty="0">
                        <a:latin typeface="Cambria Math" panose="02040503050406030204" pitchFamily="18" charset="0"/>
                      </a:rPr>
                      <m:t> </m:t>
                    </m:r>
                  </m:oMath>
                </a14:m>
                <a:r>
                  <a:rPr lang="zh-CN" altLang="en-US" sz="2200" dirty="0"/>
                  <a:t>。 所以</a:t>
                </a:r>
                <a14:m>
                  <m:oMath xmlns:m="http://schemas.openxmlformats.org/officeDocument/2006/math">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𝑌</m:t>
                    </m:r>
                    <m:r>
                      <a:rPr lang="en-US" altLang="zh-CN" sz="2200" i="1" dirty="0">
                        <a:latin typeface="Cambria Math" panose="02040503050406030204" pitchFamily="18" charset="0"/>
                      </a:rPr>
                      <m:t>∈(</m:t>
                    </m:r>
                    <m:r>
                      <a:rPr lang="en-US" altLang="zh-CN" sz="2200" i="1" dirty="0">
                        <a:latin typeface="Cambria Math" panose="02040503050406030204" pitchFamily="18" charset="0"/>
                      </a:rPr>
                      <m:t>𝐺</m:t>
                    </m:r>
                    <m:r>
                      <a:rPr lang="en-US" altLang="zh-CN" sz="2200" i="1" baseline="30000" dirty="0">
                        <a:latin typeface="Cambria Math" panose="02040503050406030204" pitchFamily="18" charset="0"/>
                      </a:rPr>
                      <m:t>+</m:t>
                    </m:r>
                    <m:r>
                      <a:rPr lang="en-US" altLang="zh-CN" sz="2200" i="1" dirty="0">
                        <a:latin typeface="Cambria Math" panose="02040503050406030204" pitchFamily="18" charset="0"/>
                      </a:rPr>
                      <m:t>)</m:t>
                    </m:r>
                    <m:r>
                      <a:rPr lang="en-US" altLang="zh-CN" sz="2200" i="1" baseline="30000" dirty="0">
                        <a:latin typeface="Cambria Math" panose="02040503050406030204" pitchFamily="18" charset="0"/>
                      </a:rPr>
                      <m:t>+ </m:t>
                    </m:r>
                    <m:r>
                      <a:rPr lang="en-US" altLang="zh-CN" sz="2200" i="1" dirty="0">
                        <a:latin typeface="Cambria Math" panose="02040503050406030204" pitchFamily="18" charset="0"/>
                      </a:rPr>
                      <m:t>= </m:t>
                    </m:r>
                    <m:r>
                      <a:rPr lang="en-US" altLang="zh-CN" sz="2200" i="1" dirty="0">
                        <a:latin typeface="Cambria Math" panose="02040503050406030204" pitchFamily="18" charset="0"/>
                      </a:rPr>
                      <m:t>𝐺</m:t>
                    </m:r>
                    <m:r>
                      <a:rPr lang="en-US" altLang="zh-CN" sz="2200" i="1" baseline="30000" dirty="0">
                        <a:latin typeface="Cambria Math" panose="02040503050406030204" pitchFamily="18" charset="0"/>
                      </a:rPr>
                      <m:t>+</m:t>
                    </m:r>
                    <m:r>
                      <a:rPr lang="en-US" altLang="zh-CN" sz="2200" i="1" dirty="0">
                        <a:latin typeface="Cambria Math" panose="02040503050406030204" pitchFamily="18" charset="0"/>
                      </a:rPr>
                      <m:t> </m:t>
                    </m:r>
                  </m:oMath>
                </a14:m>
                <a:r>
                  <a:rPr lang="zh-CN" altLang="en-US" sz="2200" dirty="0"/>
                  <a:t>，即</a:t>
                </a:r>
                <a14:m>
                  <m:oMath xmlns:m="http://schemas.openxmlformats.org/officeDocument/2006/math">
                    <m:r>
                      <a:rPr lang="en-US" altLang="zh-CN" sz="2200" i="1" dirty="0">
                        <a:latin typeface="Cambria Math" panose="02040503050406030204" pitchFamily="18" charset="0"/>
                      </a:rPr>
                      <m:t>𝐹</m:t>
                    </m:r>
                    <m:r>
                      <a:rPr lang="en-US" altLang="zh-CN" sz="2200" i="1" baseline="30000" dirty="0">
                        <a:latin typeface="Cambria Math" panose="02040503050406030204" pitchFamily="18" charset="0"/>
                      </a:rPr>
                      <m:t>+</m:t>
                    </m:r>
                    <m:r>
                      <a:rPr lang="en-US" altLang="zh-CN" sz="2200" i="1" dirty="0">
                        <a:latin typeface="Cambria Math" panose="02040503050406030204" pitchFamily="18" charset="0"/>
                        <a:sym typeface="Symbol" panose="05050102010706020507" pitchFamily="18" charset="2"/>
                      </a:rPr>
                      <m:t></m:t>
                    </m:r>
                    <m:r>
                      <a:rPr lang="en-US" altLang="zh-CN" sz="2200" i="1" dirty="0">
                        <a:latin typeface="Cambria Math" panose="02040503050406030204" pitchFamily="18" charset="0"/>
                      </a:rPr>
                      <m:t>𝐺</m:t>
                    </m:r>
                    <m:r>
                      <a:rPr lang="en-US" altLang="zh-CN" sz="2200" i="1" baseline="30000" dirty="0">
                        <a:latin typeface="Cambria Math" panose="02040503050406030204" pitchFamily="18" charset="0"/>
                      </a:rPr>
                      <m:t>+</m:t>
                    </m:r>
                  </m:oMath>
                </a14:m>
                <a:r>
                  <a:rPr lang="en-US" altLang="zh-CN" sz="2200" dirty="0"/>
                  <a:t> </a:t>
                </a:r>
                <a:endParaRPr lang="zh-CN" altLang="en-US" sz="2200" dirty="0"/>
              </a:p>
              <a:p>
                <a:pPr lvl="2">
                  <a:buFontTx/>
                  <a:buAutoNum type="arabicParenR"/>
                </a:pPr>
                <a:r>
                  <a:rPr lang="zh-CN" altLang="en-US" sz="2200" dirty="0"/>
                  <a:t>同理可证</a:t>
                </a:r>
                <a14:m>
                  <m:oMath xmlns:m="http://schemas.openxmlformats.org/officeDocument/2006/math">
                    <m:r>
                      <a:rPr lang="en-US" altLang="zh-CN" sz="2200" i="1" dirty="0">
                        <a:latin typeface="Cambria Math" panose="02040503050406030204" pitchFamily="18" charset="0"/>
                      </a:rPr>
                      <m:t>𝐺</m:t>
                    </m:r>
                    <m:r>
                      <a:rPr lang="en-US" altLang="zh-CN" sz="2200" i="1" baseline="30000" dirty="0">
                        <a:latin typeface="Cambria Math" panose="02040503050406030204" pitchFamily="18" charset="0"/>
                      </a:rPr>
                      <m:t>+</m:t>
                    </m:r>
                    <m:r>
                      <a:rPr lang="en-US" altLang="zh-CN" sz="2200" i="1" dirty="0">
                        <a:latin typeface="Cambria Math" panose="02040503050406030204" pitchFamily="18" charset="0"/>
                        <a:sym typeface="Symbol" panose="05050102010706020507" pitchFamily="18" charset="2"/>
                      </a:rPr>
                      <m:t></m:t>
                    </m:r>
                    <m:r>
                      <a:rPr lang="en-US" altLang="zh-CN" sz="2200" i="1" dirty="0">
                        <a:latin typeface="Cambria Math" panose="02040503050406030204" pitchFamily="18" charset="0"/>
                      </a:rPr>
                      <m:t>𝐹</m:t>
                    </m:r>
                    <m:r>
                      <a:rPr lang="en-US" altLang="zh-CN" sz="2200" i="1" baseline="30000" dirty="0">
                        <a:latin typeface="Cambria Math" panose="02040503050406030204" pitchFamily="18" charset="0"/>
                      </a:rPr>
                      <m:t>+</m:t>
                    </m:r>
                    <m:r>
                      <a:rPr lang="en-US" altLang="zh-CN" sz="2200" i="1" dirty="0">
                        <a:latin typeface="Cambria Math" panose="02040503050406030204" pitchFamily="18" charset="0"/>
                      </a:rPr>
                      <m:t> </m:t>
                    </m:r>
                  </m:oMath>
                </a14:m>
                <a:r>
                  <a:rPr lang="zh-CN" altLang="en-US" sz="2200" dirty="0"/>
                  <a:t>，所以</a:t>
                </a:r>
                <a14:m>
                  <m:oMath xmlns:m="http://schemas.openxmlformats.org/officeDocument/2006/math">
                    <m:r>
                      <a:rPr lang="en-US" altLang="zh-CN" sz="2200" i="1" dirty="0">
                        <a:latin typeface="Cambria Math" panose="02040503050406030204" pitchFamily="18" charset="0"/>
                      </a:rPr>
                      <m:t>𝐹</m:t>
                    </m:r>
                    <m:r>
                      <a:rPr lang="en-US" altLang="zh-CN" sz="2200" i="1" baseline="30000" dirty="0">
                        <a:latin typeface="Cambria Math" panose="02040503050406030204" pitchFamily="18" charset="0"/>
                      </a:rPr>
                      <m:t>+</m:t>
                    </m:r>
                    <m:r>
                      <a:rPr lang="en-US" altLang="zh-CN" sz="2200" i="1" dirty="0">
                        <a:latin typeface="Cambria Math" panose="02040503050406030204" pitchFamily="18" charset="0"/>
                      </a:rPr>
                      <m:t>=</m:t>
                    </m:r>
                    <m:r>
                      <a:rPr lang="en-US" altLang="zh-CN" sz="2200" i="1" dirty="0">
                        <a:latin typeface="Cambria Math" panose="02040503050406030204" pitchFamily="18" charset="0"/>
                      </a:rPr>
                      <m:t>𝐺</m:t>
                    </m:r>
                    <m:r>
                      <a:rPr lang="en-US" altLang="zh-CN" sz="2200" i="1" baseline="30000" dirty="0">
                        <a:latin typeface="Cambria Math" panose="02040503050406030204" pitchFamily="18" charset="0"/>
                      </a:rPr>
                      <m:t>+</m:t>
                    </m:r>
                  </m:oMath>
                </a14:m>
                <a:endParaRPr lang="zh-CN" altLang="en-US" sz="2200" baseline="30000" dirty="0"/>
              </a:p>
              <a:p>
                <a:pPr marL="0" indent="0">
                  <a:buNone/>
                </a:pPr>
                <a:endParaRPr lang="zh-CN" altLang="en-US" dirty="0"/>
              </a:p>
              <a:p>
                <a:pPr marL="457200" lvl="1" indent="0">
                  <a:lnSpc>
                    <a:spcPct val="140000"/>
                  </a:lnSpc>
                  <a:buNone/>
                </a:pPr>
                <a:endParaRPr lang="zh-CN" altLang="en-US" b="0"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11252"/>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函数依赖集的等价覆盖</a:t>
                </a:r>
                <a:endParaRPr lang="en-US" altLang="zh-CN" dirty="0">
                  <a:latin typeface="黑体" panose="02010609060101010101" pitchFamily="49" charset="-122"/>
                  <a:ea typeface="黑体" panose="02010609060101010101" pitchFamily="49" charset="-122"/>
                </a:endParaRPr>
              </a:p>
              <a:p>
                <a:pPr lvl="1">
                  <a:lnSpc>
                    <a:spcPct val="150000"/>
                  </a:lnSpc>
                </a:pPr>
                <a:r>
                  <a:rPr lang="zh-CN" altLang="en-US" dirty="0">
                    <a:latin typeface="黑体" panose="02010609060101010101" pitchFamily="49" charset="-122"/>
                    <a:ea typeface="黑体" panose="02010609060101010101" pitchFamily="49" charset="-122"/>
                  </a:rPr>
                  <a:t>要判定</a:t>
                </a:r>
                <a14:m>
                  <m:oMath xmlns:m="http://schemas.openxmlformats.org/officeDocument/2006/math">
                    <m:r>
                      <a:rPr lang="en-US" altLang="zh-CN" b="0" i="1" dirty="0">
                        <a:latin typeface="Cambria Math" panose="02040503050406030204" pitchFamily="18" charset="0"/>
                      </a:rPr>
                      <m:t>𝐹</m:t>
                    </m:r>
                    <m:r>
                      <a:rPr lang="en-US" altLang="zh-CN" b="0" i="1" dirty="0">
                        <a:latin typeface="Cambria Math" panose="02040503050406030204" pitchFamily="18" charset="0"/>
                        <a:sym typeface="Symbol" panose="05050102010706020507" pitchFamily="18" charset="2"/>
                      </a:rPr>
                      <m:t></m:t>
                    </m:r>
                    <m:r>
                      <a:rPr lang="en-US" altLang="zh-CN" b="0" i="1" dirty="0">
                        <a:latin typeface="Cambria Math" panose="02040503050406030204" pitchFamily="18" charset="0"/>
                      </a:rPr>
                      <m:t>𝐺</m:t>
                    </m:r>
                    <m:r>
                      <a:rPr lang="en-US" altLang="zh-CN" i="1" baseline="30000" dirty="0">
                        <a:latin typeface="Cambria Math" panose="02040503050406030204" pitchFamily="18" charset="0"/>
                      </a:rPr>
                      <m:t>+</m:t>
                    </m:r>
                  </m:oMath>
                </a14:m>
                <a:r>
                  <a:rPr lang="en-US" altLang="zh-CN" b="0" dirty="0"/>
                  <a:t>,</a:t>
                </a:r>
                <a:r>
                  <a:rPr lang="zh-CN" altLang="en-US" dirty="0">
                    <a:latin typeface="黑体" panose="02010609060101010101" pitchFamily="49" charset="-122"/>
                    <a:ea typeface="黑体" panose="02010609060101010101" pitchFamily="49" charset="-122"/>
                  </a:rPr>
                  <a:t>只须逐一对</a:t>
                </a:r>
                <a14:m>
                  <m:oMath xmlns:m="http://schemas.openxmlformats.org/officeDocument/2006/math">
                    <m:r>
                      <a:rPr lang="en-US" altLang="zh-CN" i="1" dirty="0">
                        <a:latin typeface="Cambria Math" panose="02040503050406030204" pitchFamily="18" charset="0"/>
                      </a:rPr>
                      <m:t>𝐹</m:t>
                    </m:r>
                  </m:oMath>
                </a14:m>
                <a:r>
                  <a:rPr lang="zh-CN" altLang="en-US" dirty="0">
                    <a:latin typeface="黑体" panose="02010609060101010101" pitchFamily="49" charset="-122"/>
                    <a:ea typeface="黑体" panose="02010609060101010101" pitchFamily="49" charset="-122"/>
                  </a:rPr>
                  <a:t>中的函数依赖</a:t>
                </a:r>
                <a14:m>
                  <m:oMath xmlns:m="http://schemas.openxmlformats.org/officeDocument/2006/math">
                    <m:r>
                      <a:rPr lang="en-US" altLang="zh-CN" i="1" dirty="0">
                        <a:latin typeface="Cambria Math" panose="02040503050406030204" pitchFamily="18" charset="0"/>
                        <a:ea typeface="黑体" panose="02010609060101010101" pitchFamily="49" charset="-122"/>
                      </a:rPr>
                      <m:t>𝑋</m:t>
                    </m:r>
                    <m:r>
                      <a:rPr lang="en-US" altLang="zh-CN" i="1" dirty="0">
                        <a:latin typeface="Cambria Math" panose="02040503050406030204" pitchFamily="18" charset="0"/>
                        <a:ea typeface="黑体" panose="02010609060101010101" pitchFamily="49" charset="-122"/>
                      </a:rPr>
                      <m:t>→</m:t>
                    </m:r>
                    <m:r>
                      <a:rPr lang="en-US" altLang="zh-CN" i="1" dirty="0">
                        <a:latin typeface="Cambria Math" panose="02040503050406030204" pitchFamily="18" charset="0"/>
                        <a:ea typeface="黑体" panose="02010609060101010101" pitchFamily="49" charset="-122"/>
                      </a:rPr>
                      <m:t>𝑌</m:t>
                    </m:r>
                  </m:oMath>
                </a14:m>
                <a:r>
                  <a:rPr lang="zh-CN" altLang="en-US" dirty="0">
                    <a:latin typeface="黑体" panose="02010609060101010101" pitchFamily="49" charset="-122"/>
                    <a:ea typeface="黑体" panose="02010609060101010101" pitchFamily="49" charset="-122"/>
                  </a:rPr>
                  <a:t>，考查</a:t>
                </a:r>
                <a14:m>
                  <m:oMath xmlns:m="http://schemas.openxmlformats.org/officeDocument/2006/math">
                    <m:r>
                      <a:rPr lang="en-US" altLang="zh-CN" i="1" dirty="0">
                        <a:latin typeface="Cambria Math" panose="02040503050406030204" pitchFamily="18" charset="0"/>
                        <a:ea typeface="黑体" panose="02010609060101010101" pitchFamily="49" charset="-122"/>
                      </a:rPr>
                      <m:t>𝑌</m:t>
                    </m:r>
                  </m:oMath>
                </a14:m>
                <a:r>
                  <a:rPr lang="zh-CN" altLang="en-US" dirty="0">
                    <a:latin typeface="黑体" panose="02010609060101010101" pitchFamily="49" charset="-122"/>
                    <a:ea typeface="黑体" panose="02010609060101010101" pitchFamily="49" charset="-122"/>
                  </a:rPr>
                  <a:t>是否属于</a:t>
                </a:r>
                <a14:m>
                  <m:oMath xmlns:m="http://schemas.openxmlformats.org/officeDocument/2006/math">
                    <m:r>
                      <a:rPr lang="en-US" altLang="zh-CN" i="1" dirty="0">
                        <a:latin typeface="Cambria Math" panose="02040503050406030204" pitchFamily="18" charset="0"/>
                      </a:rPr>
                      <m:t>𝑋</m:t>
                    </m:r>
                    <m:r>
                      <a:rPr lang="en-US" altLang="zh-CN" i="1" baseline="30000" dirty="0">
                        <a:latin typeface="Cambria Math" panose="02040503050406030204" pitchFamily="18" charset="0"/>
                      </a:rPr>
                      <m:t>+</m:t>
                    </m:r>
                    <m:r>
                      <a:rPr lang="en-US" altLang="zh-CN" i="1" baseline="-25000" dirty="0">
                        <a:latin typeface="Cambria Math" panose="02040503050406030204" pitchFamily="18" charset="0"/>
                      </a:rPr>
                      <m:t>𝐺</m:t>
                    </m:r>
                    <m:r>
                      <a:rPr lang="en-US" altLang="zh-CN" i="1" baseline="-14000" dirty="0">
                        <a:latin typeface="Cambria Math" panose="02040503050406030204" pitchFamily="18" charset="0"/>
                      </a:rPr>
                      <m:t>+</m:t>
                    </m:r>
                    <m:r>
                      <a:rPr lang="en-US" altLang="zh-CN" i="1" dirty="0">
                        <a:latin typeface="Cambria Math" panose="02040503050406030204" pitchFamily="18" charset="0"/>
                      </a:rPr>
                      <m:t> </m:t>
                    </m:r>
                  </m:oMath>
                </a14:m>
                <a:endParaRPr lang="en-US" altLang="zh-CN" baseline="-14000" dirty="0"/>
              </a:p>
              <a:p>
                <a:pPr lvl="1">
                  <a:lnSpc>
                    <a:spcPct val="150000"/>
                  </a:lnSpc>
                </a:pPr>
                <a:r>
                  <a:rPr lang="zh-CN" altLang="en-US" dirty="0">
                    <a:latin typeface="黑体" panose="02010609060101010101" pitchFamily="49" charset="-122"/>
                    <a:ea typeface="黑体" panose="02010609060101010101" pitchFamily="49" charset="-122"/>
                  </a:rPr>
                  <a:t>引理</a:t>
                </a:r>
                <a:r>
                  <a:rPr lang="en-US" altLang="zh-CN" dirty="0">
                    <a:latin typeface="黑体" panose="02010609060101010101" pitchFamily="49" charset="-122"/>
                    <a:ea typeface="黑体" panose="02010609060101010101" pitchFamily="49" charset="-122"/>
                  </a:rPr>
                  <a:t>4.3</a:t>
                </a:r>
                <a:r>
                  <a:rPr lang="zh-CN" altLang="en-US" dirty="0">
                    <a:latin typeface="黑体" panose="02010609060101010101" pitchFamily="49" charset="-122"/>
                    <a:ea typeface="黑体" panose="02010609060101010101" pitchFamily="49" charset="-122"/>
                  </a:rPr>
                  <a:t>给出了判断两个函数依赖集等价的可行算法</a:t>
                </a:r>
                <a:endParaRPr lang="zh-CN" altLang="zh-CN" dirty="0">
                  <a:latin typeface="黑体" panose="02010609060101010101" pitchFamily="49" charset="-122"/>
                  <a:ea typeface="黑体" panose="02010609060101010101" pitchFamily="49" charset="-122"/>
                </a:endParaRPr>
              </a:p>
              <a:p>
                <a:pPr lvl="1"/>
                <a:endParaRPr lang="zh-CN" altLang="en-US" dirty="0"/>
              </a:p>
              <a:p>
                <a:pPr marL="457200" lvl="1" indent="0">
                  <a:lnSpc>
                    <a:spcPct val="140000"/>
                  </a:lnSpc>
                  <a:buNone/>
                </a:pPr>
                <a:endParaRPr lang="zh-CN" altLang="en-US" b="0"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最小函数依赖集</a:t>
                </a:r>
                <a:endParaRPr lang="en-US" altLang="zh-CN" dirty="0">
                  <a:latin typeface="黑体" panose="02010609060101010101" pitchFamily="49" charset="-122"/>
                  <a:ea typeface="黑体" panose="02010609060101010101" pitchFamily="49" charset="-122"/>
                </a:endParaRPr>
              </a:p>
              <a:p>
                <a:pPr lvl="1">
                  <a:lnSpc>
                    <a:spcPct val="150000"/>
                  </a:lnSpc>
                </a:pPr>
                <a:r>
                  <a:rPr lang="zh-CN" altLang="zh-CN" dirty="0"/>
                  <a:t>定义4</a:t>
                </a:r>
                <a:r>
                  <a:rPr lang="zh-CN" altLang="en-US" dirty="0"/>
                  <a:t>.</a:t>
                </a:r>
                <a:r>
                  <a:rPr lang="en-US" altLang="zh-CN" dirty="0"/>
                  <a:t>9</a:t>
                </a:r>
                <a:r>
                  <a:rPr lang="zh-CN" altLang="zh-CN" dirty="0"/>
                  <a:t>：若</a:t>
                </a:r>
                <a14:m>
                  <m:oMath xmlns:m="http://schemas.openxmlformats.org/officeDocument/2006/math">
                    <m:r>
                      <a:rPr lang="en-US" altLang="zh-CN" b="0" i="1" smtClean="0">
                        <a:latin typeface="Cambria Math" panose="02040503050406030204" pitchFamily="18" charset="0"/>
                        <a:ea typeface="黑体" panose="02010609060101010101" pitchFamily="49" charset="-122"/>
                      </a:rPr>
                      <m:t>𝐹</m:t>
                    </m:r>
                  </m:oMath>
                </a14:m>
                <a:r>
                  <a:rPr lang="zh-CN" altLang="zh-CN" dirty="0"/>
                  <a:t>满足下列条件</a:t>
                </a:r>
                <a:r>
                  <a:rPr lang="zh-CN" altLang="en-US" dirty="0"/>
                  <a:t>：</a:t>
                </a:r>
                <a:endParaRPr lang="zh-CN" altLang="zh-CN" dirty="0"/>
              </a:p>
              <a:p>
                <a:pPr>
                  <a:lnSpc>
                    <a:spcPct val="110000"/>
                  </a:lnSpc>
                  <a:buClr>
                    <a:srgbClr val="E40000"/>
                  </a:buClr>
                  <a:buNone/>
                </a:pPr>
                <a:r>
                  <a:rPr lang="zh-CN" altLang="en-US" sz="2400" b="0" dirty="0"/>
                  <a:t> </a:t>
                </a:r>
                <a:r>
                  <a:rPr lang="en-US" altLang="zh-CN" sz="2400" b="0" dirty="0"/>
                  <a:t>		</a:t>
                </a:r>
                <a:r>
                  <a:rPr lang="zh-CN" altLang="zh-CN" sz="2400" b="0" dirty="0"/>
                  <a:t>(1)</a:t>
                </a:r>
                <a:r>
                  <a:rPr lang="zh-CN" altLang="en-US" sz="2400" b="0" dirty="0"/>
                  <a:t> </a:t>
                </a:r>
                <a14:m>
                  <m:oMath xmlns:m="http://schemas.openxmlformats.org/officeDocument/2006/math">
                    <m:r>
                      <a:rPr lang="zh-CN" altLang="zh-CN" sz="2400" b="0" i="1" dirty="0" smtClean="0">
                        <a:latin typeface="Cambria Math" panose="02040503050406030204" pitchFamily="18" charset="0"/>
                        <a:ea typeface="黑体" panose="02010609060101010101" pitchFamily="49" charset="-122"/>
                      </a:rPr>
                      <m:t>𝐹</m:t>
                    </m:r>
                  </m:oMath>
                </a14:m>
                <a:r>
                  <a:rPr lang="zh-CN" altLang="zh-CN" sz="2400" b="0" dirty="0"/>
                  <a:t>中所有函数依赖的右部均为单属性；</a:t>
                </a:r>
                <a:endParaRPr lang="zh-CN" altLang="zh-CN" sz="2400" b="0" dirty="0"/>
              </a:p>
              <a:p>
                <a:pPr>
                  <a:lnSpc>
                    <a:spcPct val="110000"/>
                  </a:lnSpc>
                  <a:buClr>
                    <a:srgbClr val="E40000"/>
                  </a:buClr>
                  <a:buNone/>
                </a:pPr>
                <a:r>
                  <a:rPr lang="zh-CN" altLang="en-US" sz="2400" b="0" dirty="0"/>
                  <a:t> </a:t>
                </a:r>
                <a:r>
                  <a:rPr lang="en-US" altLang="zh-CN" sz="2400" b="0" dirty="0"/>
                  <a:t>		</a:t>
                </a:r>
                <a:r>
                  <a:rPr lang="zh-CN" altLang="zh-CN" sz="2400" b="0" dirty="0"/>
                  <a:t>(2)</a:t>
                </a:r>
                <a:r>
                  <a:rPr lang="zh-CN" altLang="en-US" sz="2400" b="0" dirty="0"/>
                  <a:t> </a:t>
                </a:r>
                <a14:m>
                  <m:oMath xmlns:m="http://schemas.openxmlformats.org/officeDocument/2006/math">
                    <m:r>
                      <a:rPr lang="zh-CN" altLang="zh-CN" sz="2400" b="0" i="1" dirty="0">
                        <a:latin typeface="Cambria Math" panose="02040503050406030204" pitchFamily="18" charset="0"/>
                        <a:ea typeface="黑体" panose="02010609060101010101" pitchFamily="49" charset="-122"/>
                      </a:rPr>
                      <m:t>𝐹</m:t>
                    </m:r>
                  </m:oMath>
                </a14:m>
                <a:r>
                  <a:rPr lang="zh-CN" altLang="zh-CN" sz="2400" b="0" dirty="0"/>
                  <a:t>中不存在这样的函数依赖</a:t>
                </a:r>
                <a14:m>
                  <m:oMath xmlns:m="http://schemas.openxmlformats.org/officeDocument/2006/math">
                    <m:r>
                      <a:rPr lang="zh-CN" altLang="zh-CN" sz="2400" b="0" i="1" dirty="0">
                        <a:latin typeface="Cambria Math" panose="02040503050406030204" pitchFamily="18" charset="0"/>
                        <a:ea typeface="黑体" panose="02010609060101010101" pitchFamily="49" charset="-122"/>
                      </a:rPr>
                      <m:t>𝑋</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𝐴</m:t>
                    </m:r>
                  </m:oMath>
                </a14:m>
                <a:r>
                  <a:rPr lang="zh-CN" altLang="zh-CN" sz="2400" b="0" dirty="0"/>
                  <a:t>及</a:t>
                </a:r>
                <a14:m>
                  <m:oMath xmlns:m="http://schemas.openxmlformats.org/officeDocument/2006/math">
                    <m:r>
                      <a:rPr lang="zh-CN" altLang="zh-CN" sz="2400" b="0" i="1" dirty="0">
                        <a:latin typeface="Cambria Math" panose="02040503050406030204" pitchFamily="18" charset="0"/>
                        <a:ea typeface="黑体" panose="02010609060101010101" pitchFamily="49" charset="-122"/>
                      </a:rPr>
                      <m:t>𝑍</m:t>
                    </m:r>
                    <m:r>
                      <a:rPr lang="zh-CN" altLang="en-US"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𝑋</m:t>
                    </m:r>
                  </m:oMath>
                </a14:m>
                <a:r>
                  <a:rPr lang="zh-CN" altLang="zh-CN" sz="2400" b="0" dirty="0"/>
                  <a:t>，使得</a:t>
                </a:r>
                <a:r>
                  <a:rPr lang="zh-CN" altLang="en-US" sz="2400" b="0" dirty="0"/>
                  <a:t>： </a:t>
                </a:r>
                <a:endParaRPr lang="zh-CN" altLang="en-US" sz="2400" b="0" dirty="0"/>
              </a:p>
              <a:p>
                <a:pPr algn="ctr">
                  <a:lnSpc>
                    <a:spcPct val="110000"/>
                  </a:lnSpc>
                  <a:buClr>
                    <a:srgbClr val="E40000"/>
                  </a:buClr>
                  <a:buNone/>
                </a:pPr>
                <a:r>
                  <a:rPr lang="zh-CN" altLang="en-US" sz="2400" b="0" dirty="0"/>
                  <a:t>       </a:t>
                </a:r>
                <a14:m>
                  <m:oMath xmlns:m="http://schemas.openxmlformats.org/officeDocument/2006/math">
                    <m:r>
                      <a:rPr lang="en-US" altLang="zh-CN" sz="2400" b="0" i="1" dirty="0">
                        <a:latin typeface="Cambria Math" panose="02040503050406030204" pitchFamily="18" charset="0"/>
                      </a:rPr>
                      <m:t>𝐹</m:t>
                    </m:r>
                    <m:r>
                      <a:rPr lang="en-US" altLang="zh-CN" sz="2400" b="0" i="1" baseline="30000" dirty="0">
                        <a:latin typeface="Cambria Math" panose="02040503050406030204" pitchFamily="18" charset="0"/>
                      </a:rPr>
                      <m:t>+</m:t>
                    </m:r>
                    <m:r>
                      <a:rPr lang="zh-CN" altLang="en-US" sz="2400" b="0" i="1" dirty="0">
                        <a:latin typeface="Cambria Math" panose="02040503050406030204" pitchFamily="18" charset="0"/>
                        <a:ea typeface="黑体" panose="02010609060101010101" pitchFamily="49" charset="-122"/>
                      </a:rPr>
                      <m:t> </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𝐹</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𝑋</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𝐴</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𝑍</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𝐴</m:t>
                    </m:r>
                    <m:r>
                      <a:rPr lang="zh-CN" altLang="zh-CN" sz="2400" b="0" i="1" dirty="0">
                        <a:latin typeface="Cambria Math" panose="02040503050406030204" pitchFamily="18" charset="0"/>
                        <a:ea typeface="黑体" panose="02010609060101010101" pitchFamily="49" charset="-122"/>
                      </a:rPr>
                      <m:t>})+ </m:t>
                    </m:r>
                  </m:oMath>
                </a14:m>
                <a:r>
                  <a:rPr lang="zh-CN" altLang="zh-CN" sz="2400" b="0" dirty="0"/>
                  <a:t>；</a:t>
                </a:r>
                <a:endParaRPr lang="zh-CN" altLang="zh-CN" sz="2400" b="0" dirty="0"/>
              </a:p>
              <a:p>
                <a:pPr>
                  <a:lnSpc>
                    <a:spcPct val="110000"/>
                  </a:lnSpc>
                  <a:buClr>
                    <a:srgbClr val="E40000"/>
                  </a:buClr>
                  <a:buNone/>
                </a:pPr>
                <a:r>
                  <a:rPr lang="zh-CN" altLang="en-US" sz="2400" b="0" dirty="0"/>
                  <a:t> </a:t>
                </a:r>
                <a:r>
                  <a:rPr lang="en-US" altLang="zh-CN" sz="2400" b="0" dirty="0"/>
                  <a:t>		</a:t>
                </a:r>
                <a:r>
                  <a:rPr lang="zh-CN" altLang="zh-CN" sz="2400" b="0" dirty="0"/>
                  <a:t>(3)</a:t>
                </a:r>
                <a:r>
                  <a:rPr lang="zh-CN" altLang="en-US" sz="2400" b="0" dirty="0"/>
                  <a:t> </a:t>
                </a:r>
                <a14:m>
                  <m:oMath xmlns:m="http://schemas.openxmlformats.org/officeDocument/2006/math">
                    <m:r>
                      <a:rPr lang="zh-CN" altLang="zh-CN" sz="2400" b="0" i="1" dirty="0">
                        <a:latin typeface="Cambria Math" panose="02040503050406030204" pitchFamily="18" charset="0"/>
                        <a:ea typeface="黑体" panose="02010609060101010101" pitchFamily="49" charset="-122"/>
                      </a:rPr>
                      <m:t>𝐹</m:t>
                    </m:r>
                  </m:oMath>
                </a14:m>
                <a:r>
                  <a:rPr lang="zh-CN" altLang="zh-CN" sz="2400" b="0" dirty="0"/>
                  <a:t>中不存在这样的函数依赖</a:t>
                </a:r>
                <a14:m>
                  <m:oMath xmlns:m="http://schemas.openxmlformats.org/officeDocument/2006/math">
                    <m:r>
                      <a:rPr lang="zh-CN" altLang="zh-CN" sz="2400" b="0" i="1" dirty="0">
                        <a:latin typeface="Cambria Math" panose="02040503050406030204" pitchFamily="18" charset="0"/>
                        <a:ea typeface="黑体" panose="02010609060101010101" pitchFamily="49" charset="-122"/>
                      </a:rPr>
                      <m:t>𝑋</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𝐴</m:t>
                    </m:r>
                  </m:oMath>
                </a14:m>
                <a:r>
                  <a:rPr lang="zh-CN" altLang="zh-CN" sz="2400" b="0" dirty="0"/>
                  <a:t>：使得</a:t>
                </a:r>
                <a:endParaRPr lang="zh-CN" altLang="en-US" sz="2400" b="0" dirty="0"/>
              </a:p>
              <a:p>
                <a:pPr algn="ctr">
                  <a:lnSpc>
                    <a:spcPct val="110000"/>
                  </a:lnSpc>
                  <a:buClr>
                    <a:srgbClr val="E40000"/>
                  </a:buClr>
                  <a:buNone/>
                </a:pPr>
                <a:r>
                  <a:rPr lang="en-US" altLang="zh-CN" sz="2400" b="0" dirty="0"/>
                  <a:t>       </a:t>
                </a:r>
                <a14:m>
                  <m:oMath xmlns:m="http://schemas.openxmlformats.org/officeDocument/2006/math">
                    <m:r>
                      <a:rPr lang="en-US" altLang="zh-CN" sz="2400" b="0" i="1" dirty="0">
                        <a:latin typeface="Cambria Math" panose="02040503050406030204" pitchFamily="18" charset="0"/>
                      </a:rPr>
                      <m:t>𝐹</m:t>
                    </m:r>
                    <m:r>
                      <a:rPr lang="en-US" altLang="zh-CN" sz="2400" b="0" i="1" baseline="30000" dirty="0">
                        <a:latin typeface="Cambria Math" panose="02040503050406030204" pitchFamily="18" charset="0"/>
                      </a:rPr>
                      <m:t>+</m:t>
                    </m:r>
                    <m:r>
                      <a:rPr lang="zh-CN" altLang="zh-CN" sz="2400" b="0" i="1" dirty="0">
                        <a:latin typeface="Cambria Math" panose="02040503050406030204" pitchFamily="18" charset="0"/>
                        <a:ea typeface="黑体" panose="02010609060101010101" pitchFamily="49" charset="-122"/>
                      </a:rPr>
                      <m:t> </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𝐹</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𝑋</m:t>
                    </m:r>
                    <m:r>
                      <a:rPr lang="zh-CN" altLang="zh-CN" sz="2400" b="0" i="1" dirty="0">
                        <a:latin typeface="Cambria Math" panose="02040503050406030204" pitchFamily="18" charset="0"/>
                        <a:ea typeface="黑体" panose="02010609060101010101" pitchFamily="49" charset="-122"/>
                      </a:rPr>
                      <m:t>→</m:t>
                    </m:r>
                    <m:r>
                      <a:rPr lang="zh-CN" altLang="zh-CN" sz="2400" b="0" i="1" dirty="0">
                        <a:latin typeface="Cambria Math" panose="02040503050406030204" pitchFamily="18" charset="0"/>
                        <a:ea typeface="黑体" panose="02010609060101010101" pitchFamily="49" charset="-122"/>
                      </a:rPr>
                      <m:t>𝐴</m:t>
                    </m:r>
                    <m:r>
                      <a:rPr lang="zh-CN" altLang="zh-CN" sz="2400" b="0" i="1" dirty="0">
                        <a:latin typeface="Cambria Math" panose="02040503050406030204" pitchFamily="18" charset="0"/>
                        <a:ea typeface="黑体" panose="02010609060101010101" pitchFamily="49" charset="-122"/>
                      </a:rPr>
                      <m:t>})+ </m:t>
                    </m:r>
                  </m:oMath>
                </a14:m>
                <a:endParaRPr lang="zh-CN" altLang="en-US" sz="2400" b="0" dirty="0"/>
              </a:p>
              <a:p>
                <a:pPr>
                  <a:lnSpc>
                    <a:spcPct val="110000"/>
                  </a:lnSpc>
                  <a:buClr>
                    <a:srgbClr val="E40000"/>
                  </a:buClr>
                  <a:buNone/>
                </a:pPr>
                <a:r>
                  <a:rPr lang="zh-CN" altLang="en-US" sz="2400" b="0" dirty="0"/>
                  <a:t>  </a:t>
                </a:r>
                <a:r>
                  <a:rPr lang="en-US" altLang="zh-CN" sz="2400" b="0" dirty="0"/>
                  <a:t>		</a:t>
                </a:r>
                <a:r>
                  <a:rPr lang="zh-CN" altLang="zh-CN" sz="2400" b="0" dirty="0"/>
                  <a:t>则称</a:t>
                </a:r>
                <a14:m>
                  <m:oMath xmlns:m="http://schemas.openxmlformats.org/officeDocument/2006/math">
                    <m:r>
                      <a:rPr lang="zh-CN" altLang="zh-CN" sz="2400" b="0" i="1" dirty="0">
                        <a:latin typeface="Cambria Math" panose="02040503050406030204" pitchFamily="18" charset="0"/>
                        <a:ea typeface="黑体" panose="02010609060101010101" pitchFamily="49" charset="-122"/>
                      </a:rPr>
                      <m:t>𝐹</m:t>
                    </m:r>
                  </m:oMath>
                </a14:m>
                <a:r>
                  <a:rPr lang="zh-CN" altLang="zh-CN" sz="2400" b="0" dirty="0"/>
                  <a:t>为最小函数依赖集或最小覆盖</a:t>
                </a:r>
                <a:endParaRPr lang="zh-CN" altLang="zh-CN" sz="2400" b="0" dirty="0"/>
              </a:p>
              <a:p>
                <a:pPr lvl="1">
                  <a:lnSpc>
                    <a:spcPct val="150000"/>
                  </a:lnSpc>
                </a:pPr>
                <a:endParaRPr lang="zh-CN" altLang="en-US" dirty="0"/>
              </a:p>
              <a:p>
                <a:pPr marL="457200" lvl="1" indent="0">
                  <a:lnSpc>
                    <a:spcPct val="140000"/>
                  </a:lnSpc>
                  <a:buNone/>
                </a:pPr>
                <a:endParaRPr lang="zh-CN" altLang="en-US" b="0"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1155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fontScale="70000" lnSpcReduction="20000"/>
              </a:bodyPr>
              <a:lstStyle/>
              <a:p>
                <a:r>
                  <a:rPr kumimoji="1" lang="zh-CN" altLang="en-US" sz="4000" dirty="0"/>
                  <a:t>最小函数依赖集</a:t>
                </a:r>
                <a:endParaRPr lang="en-US" altLang="zh-CN" sz="4000" dirty="0"/>
              </a:p>
              <a:p>
                <a:pPr lvl="1"/>
                <a:r>
                  <a:rPr lang="zh-CN" altLang="en-US" sz="2900" dirty="0"/>
                  <a:t>定理</a:t>
                </a:r>
                <a:r>
                  <a:rPr lang="en-US" altLang="zh-CN" sz="2900" dirty="0"/>
                  <a:t>4.2</a:t>
                </a:r>
                <a:r>
                  <a:rPr lang="zh-CN" altLang="en-US" sz="2900" dirty="0"/>
                  <a:t>：每一个函数依赖集</a:t>
                </a:r>
                <a14:m>
                  <m:oMath xmlns:m="http://schemas.openxmlformats.org/officeDocument/2006/math">
                    <m:r>
                      <a:rPr lang="en-US" altLang="zh-CN" sz="2900" b="0" i="1" smtClean="0">
                        <a:latin typeface="Cambria Math" panose="02040503050406030204" pitchFamily="18" charset="0"/>
                      </a:rPr>
                      <m:t>𝐹</m:t>
                    </m:r>
                  </m:oMath>
                </a14:m>
                <a:r>
                  <a:rPr lang="zh-CN" altLang="en-US" sz="2900" dirty="0"/>
                  <a:t>均等价于一个最小函数依赖集</a:t>
                </a:r>
                <a14:m>
                  <m:oMath xmlns:m="http://schemas.openxmlformats.org/officeDocument/2006/math">
                    <m:sSub>
                      <m:sSubPr>
                        <m:ctrlPr>
                          <a:rPr lang="en-US" altLang="zh-CN" sz="2900" i="1" smtClean="0">
                            <a:latin typeface="Cambria Math" panose="02040503050406030204" pitchFamily="18" charset="0"/>
                          </a:rPr>
                        </m:ctrlPr>
                      </m:sSubPr>
                      <m:e>
                        <m:r>
                          <a:rPr lang="en-US" altLang="zh-CN" sz="2900" b="0" i="1" smtClean="0">
                            <a:latin typeface="Cambria Math" panose="02040503050406030204" pitchFamily="18" charset="0"/>
                          </a:rPr>
                          <m:t>𝐹</m:t>
                        </m:r>
                      </m:e>
                      <m:sub>
                        <m:r>
                          <a:rPr lang="en-US" altLang="zh-CN" sz="2900" b="0" i="1" smtClean="0">
                            <a:latin typeface="Cambria Math" panose="02040503050406030204" pitchFamily="18" charset="0"/>
                          </a:rPr>
                          <m:t>𝑚𝑖𝑛</m:t>
                        </m:r>
                      </m:sub>
                    </m:sSub>
                  </m:oMath>
                </a14:m>
                <a:r>
                  <a:rPr lang="zh-CN" altLang="en-US" sz="2900" dirty="0"/>
                  <a:t> </a:t>
                </a:r>
                <a:endParaRPr lang="en-US" altLang="zh-CN" sz="2900" dirty="0"/>
              </a:p>
              <a:p>
                <a:pPr lvl="1"/>
                <a:r>
                  <a:rPr lang="zh-CN" altLang="en-US" sz="2600" dirty="0"/>
                  <a:t>证：这是一个构造性的证明，我们分三步对</a:t>
                </a:r>
                <a14:m>
                  <m:oMath xmlns:m="http://schemas.openxmlformats.org/officeDocument/2006/math">
                    <m:r>
                      <a:rPr lang="en-US" altLang="zh-CN" sz="2600" b="0" i="1">
                        <a:latin typeface="Cambria Math" panose="02040503050406030204" pitchFamily="18" charset="0"/>
                      </a:rPr>
                      <m:t>𝐹</m:t>
                    </m:r>
                  </m:oMath>
                </a14:m>
                <a:r>
                  <a:rPr lang="zh-CN" altLang="en-US" sz="2600" dirty="0"/>
                  <a:t>进行“极小化处理”，找出</a:t>
                </a:r>
                <a14:m>
                  <m:oMath xmlns:m="http://schemas.openxmlformats.org/officeDocument/2006/math">
                    <m:r>
                      <a:rPr lang="en-US" altLang="zh-CN" sz="2600" b="0" i="1">
                        <a:latin typeface="Cambria Math" panose="02040503050406030204" pitchFamily="18" charset="0"/>
                      </a:rPr>
                      <m:t>𝐹</m:t>
                    </m:r>
                  </m:oMath>
                </a14:m>
                <a:r>
                  <a:rPr lang="zh-CN" altLang="en-US" sz="2600" dirty="0"/>
                  <a:t>的一个最小依赖集来。</a:t>
                </a:r>
                <a:endParaRPr lang="en-US" altLang="zh-CN" sz="2600" dirty="0"/>
              </a:p>
              <a:p>
                <a:pPr marL="1295400" lvl="2" indent="-381000">
                  <a:buFontTx/>
                  <a:buAutoNum type="arabicPeriod"/>
                </a:pPr>
                <a:r>
                  <a:rPr lang="zh-CN" altLang="en-US" sz="2600" dirty="0"/>
                  <a:t>逐一检查</a:t>
                </a:r>
                <a14:m>
                  <m:oMath xmlns:m="http://schemas.openxmlformats.org/officeDocument/2006/math">
                    <m:r>
                      <a:rPr lang="en-US" altLang="zh-CN" sz="2600" i="1">
                        <a:latin typeface="Cambria Math" panose="02040503050406030204" pitchFamily="18" charset="0"/>
                      </a:rPr>
                      <m:t>𝐹</m:t>
                    </m:r>
                  </m:oMath>
                </a14:m>
                <a:r>
                  <a:rPr lang="zh-CN" altLang="en-US" sz="2600" dirty="0"/>
                  <a:t>中各函数依赖</a:t>
                </a:r>
                <a14:m>
                  <m:oMath xmlns:m="http://schemas.openxmlformats.org/officeDocument/2006/math">
                    <m:sSub>
                      <m:sSubPr>
                        <m:ctrlPr>
                          <a:rPr lang="en-US" altLang="zh-CN" sz="2600" i="1" smtClean="0">
                            <a:latin typeface="Cambria Math" panose="02040503050406030204" pitchFamily="18" charset="0"/>
                          </a:rPr>
                        </m:ctrlPr>
                      </m:sSubPr>
                      <m:e>
                        <m:r>
                          <a:rPr lang="en-US" altLang="zh-CN" sz="2600" b="0" i="1" smtClean="0">
                            <a:latin typeface="Cambria Math" panose="02040503050406030204" pitchFamily="18" charset="0"/>
                          </a:rPr>
                          <m:t>𝐹𝐷</m:t>
                        </m:r>
                      </m:e>
                      <m:sub>
                        <m:r>
                          <a:rPr lang="en-US" altLang="zh-CN" sz="2600" b="0" i="1" smtClean="0">
                            <a:latin typeface="Cambria Math" panose="02040503050406030204" pitchFamily="18" charset="0"/>
                          </a:rPr>
                          <m:t>𝑖</m:t>
                        </m:r>
                      </m:sub>
                    </m:sSub>
                    <m:r>
                      <a:rPr lang="en-US" altLang="zh-CN" sz="2600" b="0" i="1" smtClean="0">
                        <a:latin typeface="Cambria Math" panose="02040503050406030204" pitchFamily="18" charset="0"/>
                      </a:rPr>
                      <m:t>:</m:t>
                    </m:r>
                    <m:r>
                      <a:rPr lang="en-US" altLang="zh-CN" sz="2600" i="1" dirty="0">
                        <a:latin typeface="Cambria Math" panose="02040503050406030204" pitchFamily="18" charset="0"/>
                        <a:ea typeface="黑体" panose="02010609060101010101" pitchFamily="49" charset="-122"/>
                      </a:rPr>
                      <m:t>𝑋</m:t>
                    </m:r>
                    <m:r>
                      <a:rPr lang="en-US" altLang="zh-CN" sz="2600" i="1" dirty="0">
                        <a:latin typeface="Cambria Math" panose="02040503050406030204" pitchFamily="18" charset="0"/>
                        <a:ea typeface="黑体" panose="02010609060101010101" pitchFamily="49" charset="-122"/>
                      </a:rPr>
                      <m:t>→</m:t>
                    </m:r>
                    <m:r>
                      <a:rPr lang="en-US" altLang="zh-CN" sz="2600" i="1" dirty="0">
                        <a:latin typeface="Cambria Math" panose="02040503050406030204" pitchFamily="18" charset="0"/>
                        <a:ea typeface="黑体" panose="02010609060101010101" pitchFamily="49" charset="-122"/>
                      </a:rPr>
                      <m:t>𝑌</m:t>
                    </m:r>
                  </m:oMath>
                </a14:m>
                <a:r>
                  <a:rPr lang="zh-CN" altLang="en-US" sz="2600" dirty="0"/>
                  <a:t>，若</a:t>
                </a:r>
                <a14:m>
                  <m:oMath xmlns:m="http://schemas.openxmlformats.org/officeDocument/2006/math">
                    <m:r>
                      <a:rPr lang="en-US" altLang="zh-CN" sz="2600" b="0" i="1" smtClean="0">
                        <a:latin typeface="Cambria Math" panose="02040503050406030204" pitchFamily="18" charset="0"/>
                      </a:rPr>
                      <m:t>𝑌</m:t>
                    </m:r>
                    <m:r>
                      <a:rPr lang="en-US" altLang="zh-CN" sz="2600" b="0" i="1" smtClean="0">
                        <a:latin typeface="Cambria Math" panose="02040503050406030204" pitchFamily="18" charset="0"/>
                      </a:rPr>
                      <m:t>=</m:t>
                    </m:r>
                    <m:sSub>
                      <m:sSubPr>
                        <m:ctrlPr>
                          <a:rPr lang="en-US" altLang="zh-CN" sz="2600" b="0" i="1" smtClean="0">
                            <a:latin typeface="Cambria Math" panose="02040503050406030204" pitchFamily="18" charset="0"/>
                          </a:rPr>
                        </m:ctrlPr>
                      </m:sSubPr>
                      <m:e>
                        <m:r>
                          <a:rPr lang="en-US" altLang="zh-CN" sz="2600" b="0" i="1" smtClean="0">
                            <a:latin typeface="Cambria Math" panose="02040503050406030204" pitchFamily="18" charset="0"/>
                          </a:rPr>
                          <m:t>𝐴</m:t>
                        </m:r>
                      </m:e>
                      <m:sub>
                        <m:r>
                          <a:rPr lang="en-US" altLang="zh-CN" sz="2600" b="0" i="1" smtClean="0">
                            <a:latin typeface="Cambria Math" panose="02040503050406030204" pitchFamily="18" charset="0"/>
                          </a:rPr>
                          <m:t>1</m:t>
                        </m:r>
                      </m:sub>
                    </m:sSub>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𝐴</m:t>
                        </m:r>
                      </m:e>
                      <m:sub>
                        <m:r>
                          <a:rPr lang="en-US" altLang="zh-CN" sz="2600" b="0" i="1" smtClean="0">
                            <a:latin typeface="Cambria Math" panose="02040503050406030204" pitchFamily="18" charset="0"/>
                          </a:rPr>
                          <m:t>2</m:t>
                        </m:r>
                      </m:sub>
                    </m:sSub>
                  </m:oMath>
                </a14:m>
                <a:r>
                  <a:rPr lang="en-US" altLang="zh-CN" sz="2600" dirty="0"/>
                  <a:t>… </a:t>
                </a:r>
                <a14:m>
                  <m:oMath xmlns:m="http://schemas.openxmlformats.org/officeDocument/2006/math">
                    <m:sSub>
                      <m:sSubPr>
                        <m:ctrlPr>
                          <a:rPr lang="en-US" altLang="zh-CN" sz="2600" i="1" smtClean="0">
                            <a:latin typeface="Cambria Math" panose="02040503050406030204" pitchFamily="18" charset="0"/>
                          </a:rPr>
                        </m:ctrlPr>
                      </m:sSubPr>
                      <m:e>
                        <m:r>
                          <a:rPr lang="en-US" altLang="zh-CN" sz="2600" i="1">
                            <a:latin typeface="Cambria Math" panose="02040503050406030204" pitchFamily="18" charset="0"/>
                          </a:rPr>
                          <m:t>𝐴</m:t>
                        </m:r>
                      </m:e>
                      <m:sub>
                        <m:r>
                          <a:rPr lang="en-US" altLang="zh-CN" sz="2600" b="0" i="1" smtClean="0">
                            <a:latin typeface="Cambria Math" panose="02040503050406030204" pitchFamily="18" charset="0"/>
                          </a:rPr>
                          <m:t>𝑘</m:t>
                        </m:r>
                      </m:sub>
                    </m:sSub>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𝑘</m:t>
                    </m:r>
                    <m:r>
                      <a:rPr lang="en-US" altLang="zh-CN" sz="2600" b="0" i="1" smtClean="0">
                        <a:latin typeface="Cambria Math" panose="02040503050406030204" pitchFamily="18" charset="0"/>
                      </a:rPr>
                      <m:t>&gt;</m:t>
                    </m:r>
                    <m:r>
                      <a:rPr lang="en-US" altLang="zh-CN" sz="2600" b="0" i="1" smtClean="0">
                        <a:latin typeface="Cambria Math" panose="02040503050406030204" pitchFamily="18" charset="0"/>
                      </a:rPr>
                      <m:t>2</m:t>
                    </m:r>
                  </m:oMath>
                </a14:m>
                <a:r>
                  <a:rPr lang="zh-CN" altLang="en-US" sz="2600" dirty="0"/>
                  <a:t>，则用</a:t>
                </a:r>
                <a14:m>
                  <m:oMath xmlns:m="http://schemas.openxmlformats.org/officeDocument/2006/math">
                    <m:r>
                      <a:rPr lang="en-US" altLang="zh-CN" sz="2600" b="0" i="1" smtClean="0">
                        <a:latin typeface="Cambria Math" panose="02040503050406030204" pitchFamily="18" charset="0"/>
                      </a:rPr>
                      <m:t>{</m:t>
                    </m:r>
                    <m:r>
                      <a:rPr lang="en-US" altLang="zh-CN" sz="2600" i="1" dirty="0">
                        <a:latin typeface="Cambria Math" panose="02040503050406030204" pitchFamily="18" charset="0"/>
                        <a:ea typeface="黑体" panose="02010609060101010101" pitchFamily="49" charset="-122"/>
                      </a:rPr>
                      <m:t>𝑋</m:t>
                    </m:r>
                    <m:r>
                      <a:rPr lang="en-US" altLang="zh-CN" sz="2600" i="1" dirty="0">
                        <a:latin typeface="Cambria Math" panose="02040503050406030204" pitchFamily="18" charset="0"/>
                        <a:ea typeface="黑体" panose="02010609060101010101" pitchFamily="49" charset="-122"/>
                      </a:rPr>
                      <m:t>→</m:t>
                    </m:r>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𝐴</m:t>
                        </m:r>
                      </m:e>
                      <m:sub>
                        <m:r>
                          <a:rPr lang="en-US" altLang="zh-CN" sz="2600" b="0" i="1" smtClean="0">
                            <a:latin typeface="Cambria Math" panose="02040503050406030204" pitchFamily="18" charset="0"/>
                          </a:rPr>
                          <m:t>𝑗</m:t>
                        </m:r>
                      </m:sub>
                    </m:sSub>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𝑗</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1</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2</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𝑘</m:t>
                    </m:r>
                    <m:r>
                      <a:rPr lang="en-US" altLang="zh-CN" sz="2600" b="0" i="1" smtClean="0">
                        <a:latin typeface="Cambria Math" panose="02040503050406030204" pitchFamily="18" charset="0"/>
                      </a:rPr>
                      <m:t>}</m:t>
                    </m:r>
                  </m:oMath>
                </a14:m>
                <a:r>
                  <a:rPr lang="zh-CN" altLang="en-US" sz="2600" dirty="0"/>
                  <a:t>来取代</a:t>
                </a:r>
                <a14:m>
                  <m:oMath xmlns:m="http://schemas.openxmlformats.org/officeDocument/2006/math">
                    <m:r>
                      <a:rPr lang="en-US" altLang="zh-CN" sz="2600" i="1" dirty="0">
                        <a:latin typeface="Cambria Math" panose="02040503050406030204" pitchFamily="18" charset="0"/>
                        <a:ea typeface="黑体" panose="02010609060101010101" pitchFamily="49" charset="-122"/>
                      </a:rPr>
                      <m:t>𝑋</m:t>
                    </m:r>
                    <m:r>
                      <a:rPr lang="en-US" altLang="zh-CN" sz="2600" i="1" dirty="0">
                        <a:latin typeface="Cambria Math" panose="02040503050406030204" pitchFamily="18" charset="0"/>
                        <a:ea typeface="黑体" panose="02010609060101010101" pitchFamily="49" charset="-122"/>
                      </a:rPr>
                      <m:t>→</m:t>
                    </m:r>
                    <m:r>
                      <a:rPr lang="en-US" altLang="zh-CN" sz="2600" i="1" dirty="0">
                        <a:latin typeface="Cambria Math" panose="02040503050406030204" pitchFamily="18" charset="0"/>
                        <a:ea typeface="黑体" panose="02010609060101010101" pitchFamily="49" charset="-122"/>
                      </a:rPr>
                      <m:t>𝑌</m:t>
                    </m:r>
                  </m:oMath>
                </a14:m>
                <a:r>
                  <a:rPr lang="zh-CN" altLang="en-US" sz="2600" dirty="0"/>
                  <a:t> </a:t>
                </a:r>
                <a:endParaRPr lang="zh-CN" altLang="en-US" sz="2600" dirty="0"/>
              </a:p>
              <a:p>
                <a:pPr marL="1295400" lvl="2" indent="-381000">
                  <a:buFontTx/>
                  <a:buAutoNum type="arabicPeriod"/>
                </a:pPr>
                <a:r>
                  <a:rPr lang="zh-CN" altLang="en-US" sz="2600" dirty="0"/>
                  <a:t>逐一取出</a:t>
                </a:r>
                <a14:m>
                  <m:oMath xmlns:m="http://schemas.openxmlformats.org/officeDocument/2006/math">
                    <m:r>
                      <a:rPr lang="en-US" altLang="zh-CN" sz="2600" i="1">
                        <a:latin typeface="Cambria Math" panose="02040503050406030204" pitchFamily="18" charset="0"/>
                      </a:rPr>
                      <m:t>𝐹</m:t>
                    </m:r>
                  </m:oMath>
                </a14:m>
                <a:r>
                  <a:rPr lang="zh-CN" altLang="en-US" sz="2600" dirty="0"/>
                  <a:t>中各函数依赖</a:t>
                </a:r>
                <a14:m>
                  <m:oMath xmlns:m="http://schemas.openxmlformats.org/officeDocument/2006/math">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𝐹𝐷</m:t>
                        </m:r>
                      </m:e>
                      <m:sub>
                        <m:r>
                          <a:rPr lang="en-US" altLang="zh-CN" sz="2600" i="1">
                            <a:latin typeface="Cambria Math" panose="02040503050406030204" pitchFamily="18" charset="0"/>
                          </a:rPr>
                          <m:t>𝑖</m:t>
                        </m:r>
                      </m:sub>
                    </m:sSub>
                    <m:r>
                      <a:rPr lang="en-US" altLang="zh-CN" sz="2600" i="1">
                        <a:latin typeface="Cambria Math" panose="02040503050406030204" pitchFamily="18" charset="0"/>
                      </a:rPr>
                      <m:t>:</m:t>
                    </m:r>
                    <m:r>
                      <a:rPr lang="en-US" altLang="zh-CN" sz="2600" i="1" dirty="0">
                        <a:latin typeface="Cambria Math" panose="02040503050406030204" pitchFamily="18" charset="0"/>
                        <a:ea typeface="黑体" panose="02010609060101010101" pitchFamily="49" charset="-122"/>
                      </a:rPr>
                      <m:t>𝑋</m:t>
                    </m:r>
                    <m:r>
                      <a:rPr lang="en-US" altLang="zh-CN" sz="2600" i="1" dirty="0">
                        <a:latin typeface="Cambria Math" panose="02040503050406030204" pitchFamily="18" charset="0"/>
                        <a:ea typeface="黑体" panose="02010609060101010101" pitchFamily="49" charset="-122"/>
                      </a:rPr>
                      <m:t>→</m:t>
                    </m:r>
                    <m:r>
                      <a:rPr lang="en-US" altLang="zh-CN" sz="2600" b="0" i="1" dirty="0" smtClean="0">
                        <a:latin typeface="Cambria Math" panose="02040503050406030204" pitchFamily="18" charset="0"/>
                        <a:ea typeface="黑体" panose="02010609060101010101" pitchFamily="49" charset="-122"/>
                      </a:rPr>
                      <m:t>𝐴</m:t>
                    </m:r>
                  </m:oMath>
                </a14:m>
                <a:r>
                  <a:rPr lang="zh-CN" altLang="en-US" sz="2600" dirty="0"/>
                  <a:t>，设</a:t>
                </a:r>
                <a14:m>
                  <m:oMath xmlns:m="http://schemas.openxmlformats.org/officeDocument/2006/math">
                    <m:r>
                      <m:rPr>
                        <m:sty m:val="p"/>
                      </m:rPr>
                      <a:rPr lang="en-US" altLang="zh-CN" sz="2600" b="0" i="0" smtClean="0">
                        <a:latin typeface="Cambria Math" panose="02040503050406030204" pitchFamily="18" charset="0"/>
                      </a:rPr>
                      <m:t>X</m:t>
                    </m:r>
                    <m:r>
                      <a:rPr lang="en-US" altLang="zh-CN" sz="2600" i="1">
                        <a:latin typeface="Cambria Math" panose="02040503050406030204" pitchFamily="18" charset="0"/>
                      </a:rPr>
                      <m:t>=</m:t>
                    </m:r>
                    <m:sSub>
                      <m:sSubPr>
                        <m:ctrlPr>
                          <a:rPr lang="en-US" altLang="zh-CN" sz="2600" i="1">
                            <a:latin typeface="Cambria Math" panose="02040503050406030204" pitchFamily="18" charset="0"/>
                          </a:rPr>
                        </m:ctrlPr>
                      </m:sSubPr>
                      <m:e>
                        <m:r>
                          <a:rPr lang="en-US" altLang="zh-CN" sz="2600" b="0" i="1" smtClean="0">
                            <a:latin typeface="Cambria Math" panose="02040503050406030204" pitchFamily="18" charset="0"/>
                          </a:rPr>
                          <m:t>𝐵</m:t>
                        </m:r>
                      </m:e>
                      <m:sub>
                        <m:r>
                          <a:rPr lang="en-US" altLang="zh-CN" sz="2600" i="1">
                            <a:latin typeface="Cambria Math" panose="02040503050406030204" pitchFamily="18" charset="0"/>
                          </a:rPr>
                          <m:t>1</m:t>
                        </m:r>
                      </m:sub>
                    </m:sSub>
                    <m:sSub>
                      <m:sSubPr>
                        <m:ctrlPr>
                          <a:rPr lang="en-US" altLang="zh-CN" sz="2600" i="1">
                            <a:latin typeface="Cambria Math" panose="02040503050406030204" pitchFamily="18" charset="0"/>
                          </a:rPr>
                        </m:ctrlPr>
                      </m:sSubPr>
                      <m:e>
                        <m:r>
                          <a:rPr lang="en-US" altLang="zh-CN" sz="2600" b="0" i="1" smtClean="0">
                            <a:latin typeface="Cambria Math" panose="02040503050406030204" pitchFamily="18" charset="0"/>
                          </a:rPr>
                          <m:t>𝐵</m:t>
                        </m:r>
                      </m:e>
                      <m:sub>
                        <m:r>
                          <a:rPr lang="en-US" altLang="zh-CN" sz="2600" i="1">
                            <a:latin typeface="Cambria Math" panose="02040503050406030204" pitchFamily="18" charset="0"/>
                          </a:rPr>
                          <m:t>2</m:t>
                        </m:r>
                      </m:sub>
                    </m:sSub>
                  </m:oMath>
                </a14:m>
                <a:r>
                  <a:rPr lang="en-US" altLang="zh-CN" sz="2600" dirty="0"/>
                  <a:t>… </a:t>
                </a:r>
                <a14:m>
                  <m:oMath xmlns:m="http://schemas.openxmlformats.org/officeDocument/2006/math">
                    <m:sSub>
                      <m:sSubPr>
                        <m:ctrlPr>
                          <a:rPr lang="en-US" altLang="zh-CN" sz="2600" i="1">
                            <a:latin typeface="Cambria Math" panose="02040503050406030204" pitchFamily="18" charset="0"/>
                          </a:rPr>
                        </m:ctrlPr>
                      </m:sSubPr>
                      <m:e>
                        <m:r>
                          <a:rPr lang="en-US" altLang="zh-CN" sz="2600" b="0" i="1" smtClean="0">
                            <a:latin typeface="Cambria Math" panose="02040503050406030204" pitchFamily="18" charset="0"/>
                          </a:rPr>
                          <m:t>𝐵</m:t>
                        </m:r>
                      </m:e>
                      <m:sub>
                        <m:r>
                          <a:rPr lang="en-US" altLang="zh-CN" sz="2600" b="0" i="1" smtClean="0">
                            <a:latin typeface="Cambria Math" panose="02040503050406030204" pitchFamily="18" charset="0"/>
                          </a:rPr>
                          <m:t>𝑚</m:t>
                        </m:r>
                      </m:sub>
                    </m:sSub>
                  </m:oMath>
                </a14:m>
                <a:r>
                  <a:rPr lang="en-US" altLang="zh-CN" sz="2600" dirty="0"/>
                  <a:t>,</a:t>
                </a:r>
                <a:r>
                  <a:rPr lang="zh-CN" altLang="en-US" sz="2600" dirty="0"/>
                  <a:t>逐一考查</a:t>
                </a:r>
                <a14:m>
                  <m:oMath xmlns:m="http://schemas.openxmlformats.org/officeDocument/2006/math">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𝐵</m:t>
                        </m:r>
                      </m:e>
                      <m:sub>
                        <m:r>
                          <a:rPr lang="en-US" altLang="zh-CN" sz="2600" b="0" i="1" smtClean="0">
                            <a:latin typeface="Cambria Math" panose="02040503050406030204" pitchFamily="18" charset="0"/>
                          </a:rPr>
                          <m:t>𝑖</m:t>
                        </m:r>
                      </m:sub>
                    </m:sSub>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𝑖</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1</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2</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𝑚</m:t>
                    </m:r>
                    <m:r>
                      <a:rPr lang="en-US" altLang="zh-CN" sz="2600" b="0" i="1" smtClean="0">
                        <a:latin typeface="Cambria Math" panose="02040503050406030204" pitchFamily="18" charset="0"/>
                      </a:rPr>
                      <m:t>)</m:t>
                    </m:r>
                  </m:oMath>
                </a14:m>
                <a:r>
                  <a:rPr lang="en-US" altLang="zh-CN" sz="2600" dirty="0"/>
                  <a:t>,</a:t>
                </a:r>
                <a:r>
                  <a:rPr lang="zh-CN" altLang="en-US" sz="2600" dirty="0"/>
                  <a:t>若</a:t>
                </a:r>
                <a14:m>
                  <m:oMath xmlns:m="http://schemas.openxmlformats.org/officeDocument/2006/math">
                    <m:r>
                      <a:rPr lang="en-US" altLang="zh-CN" sz="2600" i="1" dirty="0">
                        <a:latin typeface="Cambria Math" panose="02040503050406030204" pitchFamily="18" charset="0"/>
                        <a:ea typeface="黑体" panose="02010609060101010101" pitchFamily="49" charset="-122"/>
                      </a:rPr>
                      <m:t>𝐴</m:t>
                    </m:r>
                    <m:r>
                      <a:rPr lang="en-US" altLang="zh-CN" sz="2600" i="1" dirty="0">
                        <a:latin typeface="Cambria Math" panose="02040503050406030204" pitchFamily="18" charset="0"/>
                        <a:ea typeface="黑体" panose="02010609060101010101" pitchFamily="49" charset="-122"/>
                      </a:rPr>
                      <m:t> ∈(</m:t>
                    </m:r>
                    <m:r>
                      <a:rPr lang="en-US" altLang="zh-CN" sz="2600" b="0" i="1" dirty="0" smtClean="0">
                        <a:latin typeface="Cambria Math" panose="02040503050406030204" pitchFamily="18" charset="0"/>
                        <a:ea typeface="Cambria Math" panose="02040503050406030204" pitchFamily="18" charset="0"/>
                      </a:rPr>
                      <m:t>𝑋</m:t>
                    </m:r>
                    <m:r>
                      <a:rPr lang="en-US" altLang="zh-CN" sz="2600" b="0" i="1" dirty="0" smtClean="0">
                        <a:latin typeface="Cambria Math" panose="02040503050406030204" pitchFamily="18" charset="0"/>
                        <a:ea typeface="Cambria Math" panose="02040503050406030204" pitchFamily="18" charset="0"/>
                      </a:rPr>
                      <m:t>−</m:t>
                    </m:r>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𝐵</m:t>
                        </m:r>
                      </m:e>
                      <m:sub>
                        <m:r>
                          <a:rPr lang="en-US" altLang="zh-CN" sz="2600" i="1">
                            <a:latin typeface="Cambria Math" panose="02040503050406030204" pitchFamily="18" charset="0"/>
                          </a:rPr>
                          <m:t>𝑖</m:t>
                        </m:r>
                      </m:sub>
                    </m:sSub>
                    <m:r>
                      <a:rPr lang="en-US" altLang="zh-CN" sz="2600" b="0" i="1" dirty="0" smtClean="0">
                        <a:latin typeface="Cambria Math" panose="02040503050406030204" pitchFamily="18" charset="0"/>
                        <a:ea typeface="Cambria Math" panose="02040503050406030204" pitchFamily="18" charset="0"/>
                      </a:rPr>
                      <m:t>)</m:t>
                    </m:r>
                  </m:oMath>
                </a14:m>
                <a:r>
                  <a:rPr lang="en-US" altLang="zh-CN" sz="2600" baseline="30000" dirty="0"/>
                  <a:t>+</a:t>
                </a:r>
                <a:r>
                  <a:rPr lang="en-US" altLang="zh-CN" sz="2600" baseline="-25000" dirty="0">
                    <a:solidFill>
                      <a:srgbClr val="FF0000"/>
                    </a:solidFill>
                  </a:rPr>
                  <a:t>F</a:t>
                </a:r>
                <a:r>
                  <a:rPr lang="en-US" altLang="zh-CN" sz="2600" dirty="0"/>
                  <a:t> ,</a:t>
                </a:r>
                <a:r>
                  <a:rPr lang="zh-CN" altLang="en-US" sz="2600" dirty="0"/>
                  <a:t>则以</a:t>
                </a:r>
                <a14:m>
                  <m:oMath xmlns:m="http://schemas.openxmlformats.org/officeDocument/2006/math">
                    <m:r>
                      <a:rPr lang="en-US" altLang="zh-CN" sz="2600" i="1" dirty="0">
                        <a:latin typeface="Cambria Math" panose="02040503050406030204" pitchFamily="18" charset="0"/>
                        <a:ea typeface="黑体" panose="02010609060101010101" pitchFamily="49" charset="-122"/>
                      </a:rPr>
                      <m:t>𝑋</m:t>
                    </m:r>
                    <m:r>
                      <a:rPr lang="en-US" altLang="zh-CN" sz="2600" b="0" i="1" dirty="0" smtClean="0">
                        <a:latin typeface="Cambria Math" panose="02040503050406030204" pitchFamily="18" charset="0"/>
                        <a:ea typeface="黑体" panose="02010609060101010101" pitchFamily="49" charset="-122"/>
                      </a:rPr>
                      <m:t>−</m:t>
                    </m:r>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𝐵</m:t>
                        </m:r>
                      </m:e>
                      <m:sub>
                        <m:r>
                          <a:rPr lang="en-US" altLang="zh-CN" sz="2600" i="1">
                            <a:latin typeface="Cambria Math" panose="02040503050406030204" pitchFamily="18" charset="0"/>
                          </a:rPr>
                          <m:t>𝑖</m:t>
                        </m:r>
                      </m:sub>
                    </m:sSub>
                  </m:oMath>
                </a14:m>
                <a:r>
                  <a:rPr lang="zh-CN" altLang="en-US" sz="2600" dirty="0"/>
                  <a:t>取代</a:t>
                </a:r>
                <a14:m>
                  <m:oMath xmlns:m="http://schemas.openxmlformats.org/officeDocument/2006/math">
                    <m:r>
                      <a:rPr lang="en-US" altLang="zh-CN" sz="2600" i="1" dirty="0">
                        <a:latin typeface="Cambria Math" panose="02040503050406030204" pitchFamily="18" charset="0"/>
                        <a:ea typeface="黑体" panose="02010609060101010101" pitchFamily="49" charset="-122"/>
                      </a:rPr>
                      <m:t>𝑋</m:t>
                    </m:r>
                  </m:oMath>
                </a14:m>
                <a:endParaRPr lang="en-US" altLang="zh-CN" sz="2600" dirty="0"/>
              </a:p>
              <a:p>
                <a:pPr marL="1295400" lvl="2" indent="-381000">
                  <a:buFontTx/>
                  <a:buAutoNum type="arabicPeriod"/>
                </a:pPr>
                <a:r>
                  <a:rPr lang="zh-CN" altLang="en-US" sz="2600" dirty="0"/>
                  <a:t>逐一检查</a:t>
                </a:r>
                <a14:m>
                  <m:oMath xmlns:m="http://schemas.openxmlformats.org/officeDocument/2006/math">
                    <m:r>
                      <a:rPr lang="en-US" altLang="zh-CN" sz="2600" i="1">
                        <a:latin typeface="Cambria Math" panose="02040503050406030204" pitchFamily="18" charset="0"/>
                      </a:rPr>
                      <m:t>𝐹</m:t>
                    </m:r>
                  </m:oMath>
                </a14:m>
                <a:r>
                  <a:rPr lang="zh-CN" altLang="en-US" sz="2600" dirty="0"/>
                  <a:t>中各函数依赖</a:t>
                </a:r>
                <a14:m>
                  <m:oMath xmlns:m="http://schemas.openxmlformats.org/officeDocument/2006/math">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𝐹𝐷</m:t>
                        </m:r>
                      </m:e>
                      <m:sub>
                        <m:r>
                          <a:rPr lang="en-US" altLang="zh-CN" sz="2600" i="1">
                            <a:latin typeface="Cambria Math" panose="02040503050406030204" pitchFamily="18" charset="0"/>
                          </a:rPr>
                          <m:t>𝑖</m:t>
                        </m:r>
                      </m:sub>
                    </m:sSub>
                    <m:r>
                      <a:rPr lang="en-US" altLang="zh-CN" sz="2600" i="1">
                        <a:latin typeface="Cambria Math" panose="02040503050406030204" pitchFamily="18" charset="0"/>
                      </a:rPr>
                      <m:t>:</m:t>
                    </m:r>
                    <m:r>
                      <a:rPr lang="en-US" altLang="zh-CN" sz="2600" i="1" dirty="0">
                        <a:latin typeface="Cambria Math" panose="02040503050406030204" pitchFamily="18" charset="0"/>
                        <a:ea typeface="黑体" panose="02010609060101010101" pitchFamily="49" charset="-122"/>
                      </a:rPr>
                      <m:t>𝑋</m:t>
                    </m:r>
                    <m:r>
                      <a:rPr lang="en-US" altLang="zh-CN" sz="2600" i="1" dirty="0">
                        <a:latin typeface="Cambria Math" panose="02040503050406030204" pitchFamily="18" charset="0"/>
                        <a:ea typeface="黑体" panose="02010609060101010101" pitchFamily="49" charset="-122"/>
                      </a:rPr>
                      <m:t>→</m:t>
                    </m:r>
                    <m:r>
                      <a:rPr lang="en-US" altLang="zh-CN" sz="2600" i="1" dirty="0">
                        <a:latin typeface="Cambria Math" panose="02040503050406030204" pitchFamily="18" charset="0"/>
                        <a:ea typeface="黑体" panose="02010609060101010101" pitchFamily="49" charset="-122"/>
                      </a:rPr>
                      <m:t>𝐴</m:t>
                    </m:r>
                    <m:r>
                      <a:rPr lang="en-US" altLang="zh-CN" sz="2600" i="1" dirty="0">
                        <a:latin typeface="Cambria Math" panose="02040503050406030204" pitchFamily="18" charset="0"/>
                        <a:ea typeface="黑体" panose="02010609060101010101" pitchFamily="49" charset="-122"/>
                      </a:rPr>
                      <m:t> </m:t>
                    </m:r>
                  </m:oMath>
                </a14:m>
                <a:r>
                  <a:rPr lang="zh-CN" altLang="en-US" sz="2600" dirty="0"/>
                  <a:t>，令</a:t>
                </a:r>
                <a14:m>
                  <m:oMath xmlns:m="http://schemas.openxmlformats.org/officeDocument/2006/math">
                    <m:r>
                      <a:rPr lang="en-US" altLang="zh-CN" sz="2600" b="0" i="1" smtClean="0">
                        <a:latin typeface="Cambria Math" panose="02040503050406030204" pitchFamily="18" charset="0"/>
                      </a:rPr>
                      <m:t>𝐺</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𝐹</m:t>
                    </m:r>
                    <m:r>
                      <a:rPr lang="en-US" altLang="zh-CN" sz="2600" b="0" i="1" smtClean="0">
                        <a:latin typeface="Cambria Math" panose="02040503050406030204" pitchFamily="18" charset="0"/>
                      </a:rPr>
                      <m:t>−{</m:t>
                    </m:r>
                    <m:r>
                      <a:rPr lang="en-US" altLang="zh-CN" sz="2600" i="1" dirty="0">
                        <a:latin typeface="Cambria Math" panose="02040503050406030204" pitchFamily="18" charset="0"/>
                        <a:ea typeface="黑体" panose="02010609060101010101" pitchFamily="49" charset="-122"/>
                      </a:rPr>
                      <m:t>𝑋</m:t>
                    </m:r>
                    <m:r>
                      <a:rPr lang="en-US" altLang="zh-CN" sz="2600" i="1" dirty="0">
                        <a:latin typeface="Cambria Math" panose="02040503050406030204" pitchFamily="18" charset="0"/>
                        <a:ea typeface="黑体" panose="02010609060101010101" pitchFamily="49" charset="-122"/>
                      </a:rPr>
                      <m:t>→</m:t>
                    </m:r>
                    <m:r>
                      <a:rPr lang="en-US" altLang="zh-CN" sz="2600" i="1" dirty="0">
                        <a:latin typeface="Cambria Math" panose="02040503050406030204" pitchFamily="18" charset="0"/>
                        <a:ea typeface="黑体" panose="02010609060101010101" pitchFamily="49" charset="-122"/>
                      </a:rPr>
                      <m:t>𝐴</m:t>
                    </m:r>
                    <m:r>
                      <a:rPr lang="en-US" altLang="zh-CN" sz="2600" b="0" i="1" smtClean="0">
                        <a:latin typeface="Cambria Math" panose="02040503050406030204" pitchFamily="18" charset="0"/>
                      </a:rPr>
                      <m:t>}</m:t>
                    </m:r>
                  </m:oMath>
                </a14:m>
                <a:r>
                  <a:rPr lang="zh-CN" altLang="en-US" sz="2600" dirty="0"/>
                  <a:t>，若</a:t>
                </a:r>
                <a14:m>
                  <m:oMath xmlns:m="http://schemas.openxmlformats.org/officeDocument/2006/math">
                    <m:r>
                      <a:rPr lang="en-US" altLang="zh-CN" sz="2600" i="1" dirty="0">
                        <a:latin typeface="Cambria Math" panose="02040503050406030204" pitchFamily="18" charset="0"/>
                        <a:ea typeface="黑体" panose="02010609060101010101" pitchFamily="49" charset="-122"/>
                      </a:rPr>
                      <m:t>𝐴</m:t>
                    </m:r>
                    <m:r>
                      <a:rPr lang="en-US" altLang="zh-CN" sz="2600" i="1" dirty="0">
                        <a:latin typeface="Cambria Math" panose="02040503050406030204" pitchFamily="18" charset="0"/>
                        <a:ea typeface="黑体" panose="02010609060101010101" pitchFamily="49" charset="-122"/>
                      </a:rPr>
                      <m:t> ∈ </m:t>
                    </m:r>
                  </m:oMath>
                </a14:m>
                <a:r>
                  <a:rPr lang="en-US" altLang="zh-CN" sz="2600" dirty="0"/>
                  <a:t>X</a:t>
                </a:r>
                <a:r>
                  <a:rPr lang="en-US" altLang="zh-CN" sz="2600" baseline="30000" dirty="0"/>
                  <a:t>+</a:t>
                </a:r>
                <a:r>
                  <a:rPr lang="en-US" altLang="zh-CN" sz="2600" baseline="-25000" dirty="0">
                    <a:solidFill>
                      <a:srgbClr val="FF0000"/>
                    </a:solidFill>
                  </a:rPr>
                  <a:t>G</a:t>
                </a:r>
                <a:r>
                  <a:rPr lang="en-US" altLang="zh-CN" sz="2600" dirty="0"/>
                  <a:t>, </a:t>
                </a:r>
                <a:r>
                  <a:rPr lang="zh-CN" altLang="en-US" sz="2600" dirty="0"/>
                  <a:t>则从</a:t>
                </a:r>
                <a:r>
                  <a:rPr lang="en-US" altLang="zh-CN" sz="2600" dirty="0"/>
                  <a:t>F</a:t>
                </a:r>
                <a:r>
                  <a:rPr lang="zh-CN" altLang="en-US" sz="2600" dirty="0"/>
                  <a:t>中去掉此函数依赖</a:t>
                </a:r>
                <a:endParaRPr lang="zh-CN" altLang="en-US" sz="2600" dirty="0"/>
              </a:p>
              <a:p>
                <a:pPr marL="1295400" lvl="2" indent="-381000">
                  <a:buNone/>
                </a:pPr>
                <a:r>
                  <a:rPr lang="zh-CN" altLang="en-US" sz="2600" dirty="0"/>
                  <a:t>  注：因为</a:t>
                </a:r>
                <a14:m>
                  <m:oMath xmlns:m="http://schemas.openxmlformats.org/officeDocument/2006/math">
                    <m:r>
                      <a:rPr lang="en-US" altLang="zh-CN" sz="2600" i="1">
                        <a:latin typeface="Cambria Math" panose="02040503050406030204" pitchFamily="18" charset="0"/>
                      </a:rPr>
                      <m:t>𝐹</m:t>
                    </m:r>
                  </m:oMath>
                </a14:m>
                <a:r>
                  <a:rPr lang="zh-CN" altLang="en-US" sz="2600" dirty="0"/>
                  <a:t>与</a:t>
                </a:r>
                <a14:m>
                  <m:oMath xmlns:m="http://schemas.openxmlformats.org/officeDocument/2006/math">
                    <m:r>
                      <a:rPr lang="en-US" altLang="zh-CN" sz="2600" b="0" i="1" dirty="0" smtClean="0">
                        <a:latin typeface="Cambria Math" panose="02040503050406030204" pitchFamily="18" charset="0"/>
                      </a:rPr>
                      <m:t>𝐺</m:t>
                    </m:r>
                  </m:oMath>
                </a14:m>
                <a:r>
                  <a:rPr lang="zh-CN" altLang="en-US" sz="2600" dirty="0"/>
                  <a:t>等价的充要条件是</a:t>
                </a:r>
                <a14:m>
                  <m:oMath xmlns:m="http://schemas.openxmlformats.org/officeDocument/2006/math">
                    <m:r>
                      <a:rPr lang="en-US" altLang="zh-CN" sz="2600" i="1" dirty="0">
                        <a:latin typeface="Cambria Math" panose="02040503050406030204" pitchFamily="18" charset="0"/>
                        <a:ea typeface="黑体" panose="02010609060101010101" pitchFamily="49" charset="-122"/>
                      </a:rPr>
                      <m:t>𝐴</m:t>
                    </m:r>
                    <m:r>
                      <a:rPr lang="en-US" altLang="zh-CN" sz="2600" i="1" dirty="0">
                        <a:latin typeface="Cambria Math" panose="02040503050406030204" pitchFamily="18" charset="0"/>
                        <a:ea typeface="黑体" panose="02010609060101010101" pitchFamily="49" charset="-122"/>
                      </a:rPr>
                      <m:t> ∈ </m:t>
                    </m:r>
                  </m:oMath>
                </a14:m>
                <a:r>
                  <a:rPr lang="en-US" altLang="zh-CN" sz="2600" dirty="0"/>
                  <a:t>X</a:t>
                </a:r>
                <a:r>
                  <a:rPr lang="en-US" altLang="zh-CN" sz="2600" baseline="30000" dirty="0"/>
                  <a:t>+</a:t>
                </a:r>
                <a:r>
                  <a:rPr lang="en-US" altLang="zh-CN" sz="2600" baseline="-25000" dirty="0"/>
                  <a:t>G</a:t>
                </a:r>
                <a:endParaRPr lang="zh-CN" altLang="en-US" sz="2600" dirty="0"/>
              </a:p>
              <a:p>
                <a:pPr marL="1295400" lvl="2" indent="-381000">
                  <a:buNone/>
                </a:pPr>
                <a:r>
                  <a:rPr lang="zh-CN" altLang="en-US" sz="2600" dirty="0"/>
                  <a:t>  因为</a:t>
                </a:r>
                <a14:m>
                  <m:oMath xmlns:m="http://schemas.openxmlformats.org/officeDocument/2006/math">
                    <m:r>
                      <a:rPr lang="en-US" altLang="zh-CN" sz="2600" i="1">
                        <a:latin typeface="Cambria Math" panose="02040503050406030204" pitchFamily="18" charset="0"/>
                      </a:rPr>
                      <m:t>𝐹</m:t>
                    </m:r>
                  </m:oMath>
                </a14:m>
                <a:r>
                  <a:rPr lang="zh-CN" altLang="en-US" sz="2600" dirty="0"/>
                  <a:t>与</a:t>
                </a:r>
                <a14:m>
                  <m:oMath xmlns:m="http://schemas.openxmlformats.org/officeDocument/2006/math">
                    <m:r>
                      <a:rPr lang="en-US" altLang="zh-CN" sz="2600" i="1">
                        <a:latin typeface="Cambria Math" panose="02040503050406030204" pitchFamily="18" charset="0"/>
                      </a:rPr>
                      <m:t>𝐹</m:t>
                    </m:r>
                    <m:r>
                      <a:rPr lang="en-US" altLang="zh-CN" sz="2600" i="1">
                        <a:latin typeface="Cambria Math" panose="02040503050406030204" pitchFamily="18" charset="0"/>
                      </a:rPr>
                      <m:t>−</m:t>
                    </m:r>
                    <m:d>
                      <m:dPr>
                        <m:begChr m:val="{"/>
                        <m:endChr m:val="}"/>
                        <m:ctrlPr>
                          <a:rPr lang="en-US" altLang="zh-CN" sz="2600" i="1" dirty="0">
                            <a:latin typeface="Cambria Math" panose="02040503050406030204" pitchFamily="18" charset="0"/>
                            <a:ea typeface="黑体" panose="02010609060101010101" pitchFamily="49" charset="-122"/>
                          </a:rPr>
                        </m:ctrlPr>
                      </m:dPr>
                      <m:e>
                        <m:r>
                          <a:rPr lang="en-US" altLang="zh-CN" sz="2600" i="1" dirty="0">
                            <a:latin typeface="Cambria Math" panose="02040503050406030204" pitchFamily="18" charset="0"/>
                            <a:ea typeface="黑体" panose="02010609060101010101" pitchFamily="49" charset="-122"/>
                          </a:rPr>
                          <m:t>𝑋</m:t>
                        </m:r>
                        <m:r>
                          <a:rPr lang="en-US" altLang="zh-CN" sz="2600" i="1" dirty="0">
                            <a:latin typeface="Cambria Math" panose="02040503050406030204" pitchFamily="18" charset="0"/>
                            <a:ea typeface="黑体" panose="02010609060101010101" pitchFamily="49" charset="-122"/>
                          </a:rPr>
                          <m:t>→</m:t>
                        </m:r>
                        <m:r>
                          <a:rPr lang="en-US" altLang="zh-CN" sz="2600" i="1" dirty="0">
                            <a:latin typeface="Cambria Math" panose="02040503050406030204" pitchFamily="18" charset="0"/>
                            <a:ea typeface="黑体" panose="02010609060101010101" pitchFamily="49" charset="-122"/>
                          </a:rPr>
                          <m:t>𝐴</m:t>
                        </m:r>
                      </m:e>
                    </m:d>
                    <m:r>
                      <a:rPr lang="en-US" altLang="zh-CN" sz="260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m:t>
                    </m:r>
                    <m:r>
                      <a:rPr lang="en-US" altLang="zh-CN" sz="2600" b="0" i="1" smtClean="0">
                        <a:latin typeface="Cambria Math" panose="02040503050406030204" pitchFamily="18" charset="0"/>
                        <a:ea typeface="Cambria Math" panose="02040503050406030204" pitchFamily="18" charset="0"/>
                      </a:rPr>
                      <m:t>𝑍</m:t>
                    </m:r>
                    <m:r>
                      <a:rPr lang="en-US" altLang="zh-CN" sz="2600" i="1" dirty="0">
                        <a:latin typeface="Cambria Math" panose="02040503050406030204" pitchFamily="18" charset="0"/>
                        <a:ea typeface="黑体" panose="02010609060101010101" pitchFamily="49" charset="-122"/>
                      </a:rPr>
                      <m:t>→</m:t>
                    </m:r>
                    <m:r>
                      <a:rPr lang="en-US" altLang="zh-CN" sz="2600" i="1" dirty="0">
                        <a:latin typeface="Cambria Math" panose="02040503050406030204" pitchFamily="18" charset="0"/>
                        <a:ea typeface="黑体" panose="02010609060101010101" pitchFamily="49" charset="-122"/>
                      </a:rPr>
                      <m:t>𝐴</m:t>
                    </m:r>
                    <m:r>
                      <a:rPr lang="en-US" altLang="zh-CN" sz="2600" b="0" i="1" smtClean="0">
                        <a:latin typeface="Cambria Math" panose="02040503050406030204" pitchFamily="18" charset="0"/>
                        <a:ea typeface="Cambria Math" panose="02040503050406030204" pitchFamily="18" charset="0"/>
                      </a:rPr>
                      <m:t>}</m:t>
                    </m:r>
                  </m:oMath>
                </a14:m>
                <a:r>
                  <a:rPr lang="en-US" altLang="zh-CN" sz="2600" dirty="0"/>
                  <a:t> </a:t>
                </a:r>
                <a:r>
                  <a:rPr lang="zh-CN" altLang="en-US" sz="2600" dirty="0"/>
                  <a:t>等价的充要条件是</a:t>
                </a:r>
                <a14:m>
                  <m:oMath xmlns:m="http://schemas.openxmlformats.org/officeDocument/2006/math">
                    <m:r>
                      <a:rPr lang="en-US" altLang="zh-CN" sz="2600" i="1" dirty="0">
                        <a:latin typeface="Cambria Math" panose="02040503050406030204" pitchFamily="18" charset="0"/>
                        <a:ea typeface="黑体" panose="02010609060101010101" pitchFamily="49" charset="-122"/>
                      </a:rPr>
                      <m:t>𝐴</m:t>
                    </m:r>
                    <m:r>
                      <a:rPr lang="en-US" altLang="zh-CN" sz="2600" i="1" dirty="0">
                        <a:latin typeface="Cambria Math" panose="02040503050406030204" pitchFamily="18" charset="0"/>
                        <a:ea typeface="黑体" panose="02010609060101010101" pitchFamily="49" charset="-122"/>
                      </a:rPr>
                      <m:t> ∈ </m:t>
                    </m:r>
                  </m:oMath>
                </a14:m>
                <a:r>
                  <a:rPr lang="en-US" altLang="zh-CN" sz="2600" dirty="0"/>
                  <a:t>Z</a:t>
                </a:r>
                <a:r>
                  <a:rPr lang="en-US" altLang="zh-CN" sz="2600" baseline="30000" dirty="0"/>
                  <a:t>+</a:t>
                </a:r>
                <a:r>
                  <a:rPr lang="en-US" altLang="zh-CN" sz="2600" dirty="0"/>
                  <a:t> </a:t>
                </a:r>
                <a:r>
                  <a:rPr lang="zh-CN" altLang="en-US" sz="2600" dirty="0"/>
                  <a:t>其中</a:t>
                </a:r>
                <a14:m>
                  <m:oMath xmlns:m="http://schemas.openxmlformats.org/officeDocument/2006/math">
                    <m:r>
                      <a:rPr lang="en-US" altLang="zh-CN" sz="2600" b="0" i="1" smtClean="0">
                        <a:latin typeface="Cambria Math" panose="02040503050406030204" pitchFamily="18" charset="0"/>
                      </a:rPr>
                      <m:t>𝑍</m:t>
                    </m:r>
                    <m:r>
                      <a:rPr lang="en-US" altLang="zh-CN" sz="2600" b="0" i="1" smtClean="0">
                        <a:latin typeface="Cambria Math" panose="02040503050406030204" pitchFamily="18" charset="0"/>
                      </a:rPr>
                      <m:t>=</m:t>
                    </m:r>
                    <m:r>
                      <a:rPr lang="en-US" altLang="zh-CN" sz="2600" b="0" i="1" smtClean="0">
                        <a:latin typeface="Cambria Math" panose="02040503050406030204" pitchFamily="18" charset="0"/>
                      </a:rPr>
                      <m:t>𝑋</m:t>
                    </m:r>
                    <m:r>
                      <a:rPr lang="en-US" altLang="zh-CN" sz="2600" b="0" i="1" smtClean="0">
                        <a:latin typeface="Cambria Math" panose="02040503050406030204" pitchFamily="18" charset="0"/>
                      </a:rPr>
                      <m:t>−</m:t>
                    </m:r>
                    <m:sSub>
                      <m:sSubPr>
                        <m:ctrlPr>
                          <a:rPr lang="en-US" altLang="zh-CN" sz="2600" i="1">
                            <a:latin typeface="Cambria Math" panose="02040503050406030204" pitchFamily="18" charset="0"/>
                          </a:rPr>
                        </m:ctrlPr>
                      </m:sSubPr>
                      <m:e>
                        <m:r>
                          <a:rPr lang="en-US" altLang="zh-CN" sz="2600" i="1">
                            <a:latin typeface="Cambria Math" panose="02040503050406030204" pitchFamily="18" charset="0"/>
                          </a:rPr>
                          <m:t>𝐵</m:t>
                        </m:r>
                      </m:e>
                      <m:sub>
                        <m:r>
                          <a:rPr lang="en-US" altLang="zh-CN" sz="2600" i="1">
                            <a:latin typeface="Cambria Math" panose="02040503050406030204" pitchFamily="18" charset="0"/>
                          </a:rPr>
                          <m:t>𝑖</m:t>
                        </m:r>
                      </m:sub>
                    </m:sSub>
                  </m:oMath>
                </a14:m>
                <a:endParaRPr lang="en-US" altLang="zh-CN" sz="2600" dirty="0"/>
              </a:p>
              <a:p>
                <a:pPr lvl="1"/>
                <a:r>
                  <a:rPr lang="zh-CN" altLang="en-US" sz="2900" dirty="0"/>
                  <a:t>最后剩下的</a:t>
                </a:r>
                <a14:m>
                  <m:oMath xmlns:m="http://schemas.openxmlformats.org/officeDocument/2006/math">
                    <m:r>
                      <a:rPr lang="en-US" altLang="zh-CN" sz="2900" i="1">
                        <a:latin typeface="Cambria Math" panose="02040503050406030204" pitchFamily="18" charset="0"/>
                      </a:rPr>
                      <m:t>𝐹</m:t>
                    </m:r>
                  </m:oMath>
                </a14:m>
                <a:r>
                  <a:rPr lang="zh-CN" altLang="en-US" sz="2900" dirty="0"/>
                  <a:t>就一定是极小依赖集</a:t>
                </a:r>
                <a:r>
                  <a:rPr lang="en-US" altLang="zh-CN" sz="2900" dirty="0"/>
                  <a:t>,</a:t>
                </a:r>
                <a:r>
                  <a:rPr lang="zh-CN" altLang="en-US" sz="2900" dirty="0"/>
                  <a:t>并且与原来的</a:t>
                </a:r>
                <a14:m>
                  <m:oMath xmlns:m="http://schemas.openxmlformats.org/officeDocument/2006/math">
                    <m:r>
                      <a:rPr lang="en-US" altLang="zh-CN" sz="2900" i="1">
                        <a:latin typeface="Cambria Math" panose="02040503050406030204" pitchFamily="18" charset="0"/>
                      </a:rPr>
                      <m:t>𝐹</m:t>
                    </m:r>
                  </m:oMath>
                </a14:m>
                <a:r>
                  <a:rPr lang="zh-CN" altLang="en-US" sz="2900" dirty="0"/>
                  <a:t>等价，因为，我们对</a:t>
                </a:r>
                <a14:m>
                  <m:oMath xmlns:m="http://schemas.openxmlformats.org/officeDocument/2006/math">
                    <m:r>
                      <a:rPr lang="en-US" altLang="zh-CN" sz="2900" i="1">
                        <a:latin typeface="Cambria Math" panose="02040503050406030204" pitchFamily="18" charset="0"/>
                      </a:rPr>
                      <m:t>𝐹</m:t>
                    </m:r>
                  </m:oMath>
                </a14:m>
                <a:r>
                  <a:rPr lang="zh-CN" altLang="en-US" sz="2900" dirty="0"/>
                  <a:t>的每一次‘改造’都保证了改造前后的两个函数依赖集等价</a:t>
                </a:r>
                <a:endParaRPr lang="en-US" altLang="zh-CN" sz="2900" dirty="0"/>
              </a:p>
              <a:p>
                <a:pPr lvl="1"/>
                <a:r>
                  <a:rPr lang="zh-CN" altLang="en-US" sz="2900" dirty="0"/>
                  <a:t>应当指出，</a:t>
                </a:r>
                <a:r>
                  <a:rPr lang="en-US" altLang="zh-CN" sz="2900" dirty="0"/>
                  <a:t> </a:t>
                </a:r>
                <a14:m>
                  <m:oMath xmlns:m="http://schemas.openxmlformats.org/officeDocument/2006/math">
                    <m:r>
                      <a:rPr lang="en-US" altLang="zh-CN" sz="2900" i="1">
                        <a:latin typeface="Cambria Math" panose="02040503050406030204" pitchFamily="18" charset="0"/>
                      </a:rPr>
                      <m:t>𝐹</m:t>
                    </m:r>
                  </m:oMath>
                </a14:m>
                <a:r>
                  <a:rPr lang="zh-CN" altLang="en-US" sz="2900" dirty="0"/>
                  <a:t>的最小依赖集</a:t>
                </a:r>
                <a14:m>
                  <m:oMath xmlns:m="http://schemas.openxmlformats.org/officeDocument/2006/math">
                    <m:sSub>
                      <m:sSubPr>
                        <m:ctrlPr>
                          <a:rPr lang="en-US" altLang="zh-CN" sz="2900" i="1">
                            <a:latin typeface="Cambria Math" panose="02040503050406030204" pitchFamily="18" charset="0"/>
                          </a:rPr>
                        </m:ctrlPr>
                      </m:sSubPr>
                      <m:e>
                        <m:r>
                          <a:rPr lang="en-US" altLang="zh-CN" sz="2900" i="1">
                            <a:latin typeface="Cambria Math" panose="02040503050406030204" pitchFamily="18" charset="0"/>
                          </a:rPr>
                          <m:t>𝐹</m:t>
                        </m:r>
                      </m:e>
                      <m:sub>
                        <m:r>
                          <a:rPr lang="en-US" altLang="zh-CN" sz="2900" i="1">
                            <a:latin typeface="Cambria Math" panose="02040503050406030204" pitchFamily="18" charset="0"/>
                          </a:rPr>
                          <m:t>𝑚𝑖𝑛</m:t>
                        </m:r>
                      </m:sub>
                    </m:sSub>
                  </m:oMath>
                </a14:m>
                <a:r>
                  <a:rPr lang="zh-CN" altLang="en-US" sz="2900" dirty="0"/>
                  <a:t>不一定是唯一的，它和我们对各函数依赖</a:t>
                </a:r>
                <a14:m>
                  <m:oMath xmlns:m="http://schemas.openxmlformats.org/officeDocument/2006/math">
                    <m:sSub>
                      <m:sSubPr>
                        <m:ctrlPr>
                          <a:rPr lang="en-US" altLang="zh-CN" sz="2900" i="1">
                            <a:latin typeface="Cambria Math" panose="02040503050406030204" pitchFamily="18" charset="0"/>
                          </a:rPr>
                        </m:ctrlPr>
                      </m:sSubPr>
                      <m:e>
                        <m:r>
                          <a:rPr lang="en-US" altLang="zh-CN" sz="2900" i="1">
                            <a:latin typeface="Cambria Math" panose="02040503050406030204" pitchFamily="18" charset="0"/>
                          </a:rPr>
                          <m:t>𝐹𝐷</m:t>
                        </m:r>
                      </m:e>
                      <m:sub>
                        <m:r>
                          <a:rPr lang="en-US" altLang="zh-CN" sz="2900" i="1">
                            <a:latin typeface="Cambria Math" panose="02040503050406030204" pitchFamily="18" charset="0"/>
                          </a:rPr>
                          <m:t>𝑖</m:t>
                        </m:r>
                      </m:sub>
                    </m:sSub>
                  </m:oMath>
                </a14:m>
                <a:r>
                  <a:rPr lang="en-US" altLang="zh-CN" sz="2900" dirty="0"/>
                  <a:t> </a:t>
                </a:r>
                <a:r>
                  <a:rPr lang="zh-CN" altLang="en-US" sz="2900" dirty="0"/>
                  <a:t>及</a:t>
                </a:r>
                <a14:m>
                  <m:oMath xmlns:m="http://schemas.openxmlformats.org/officeDocument/2006/math">
                    <m:r>
                      <a:rPr lang="en-US" altLang="zh-CN" sz="2900" i="1" dirty="0">
                        <a:latin typeface="Cambria Math" panose="02040503050406030204" pitchFamily="18" charset="0"/>
                        <a:ea typeface="黑体" panose="02010609060101010101" pitchFamily="49" charset="-122"/>
                      </a:rPr>
                      <m:t>𝑋</m:t>
                    </m:r>
                    <m:r>
                      <a:rPr lang="en-US" altLang="zh-CN" sz="2900" i="1" dirty="0">
                        <a:latin typeface="Cambria Math" panose="02040503050406030204" pitchFamily="18" charset="0"/>
                        <a:ea typeface="黑体" panose="02010609060101010101" pitchFamily="49" charset="-122"/>
                      </a:rPr>
                      <m:t>→</m:t>
                    </m:r>
                    <m:r>
                      <a:rPr lang="en-US" altLang="zh-CN" sz="2900" b="0" i="1" dirty="0" smtClean="0">
                        <a:latin typeface="Cambria Math" panose="02040503050406030204" pitchFamily="18" charset="0"/>
                        <a:ea typeface="黑体" panose="02010609060101010101" pitchFamily="49" charset="-122"/>
                      </a:rPr>
                      <m:t>𝐴</m:t>
                    </m:r>
                  </m:oMath>
                </a14:m>
                <a:r>
                  <a:rPr lang="zh-CN" altLang="en-US" sz="2900" dirty="0"/>
                  <a:t>中</a:t>
                </a:r>
                <a14:m>
                  <m:oMath xmlns:m="http://schemas.openxmlformats.org/officeDocument/2006/math">
                    <m:r>
                      <a:rPr lang="en-US" altLang="zh-CN" sz="2900" i="1" dirty="0">
                        <a:latin typeface="Cambria Math" panose="02040503050406030204" pitchFamily="18" charset="0"/>
                        <a:ea typeface="黑体" panose="02010609060101010101" pitchFamily="49" charset="-122"/>
                      </a:rPr>
                      <m:t>𝑋</m:t>
                    </m:r>
                  </m:oMath>
                </a14:m>
                <a:r>
                  <a:rPr lang="zh-CN" altLang="en-US" sz="2900" dirty="0"/>
                  <a:t>各属性的处置顺序有关</a:t>
                </a:r>
                <a:endParaRPr lang="zh-CN" altLang="en-US" sz="2900"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lnSpcReduction="10000"/>
              </a:bodyPr>
              <a:lstStyle/>
              <a:p>
                <a:r>
                  <a:rPr kumimoji="1" lang="zh-CN" altLang="en-US" dirty="0"/>
                  <a:t>最小函数依赖集</a:t>
                </a:r>
                <a:endParaRPr lang="en-US" altLang="zh-CN" dirty="0"/>
              </a:p>
              <a:p>
                <a:pPr lvl="1"/>
                <a:r>
                  <a:rPr kumimoji="1" lang="zh-CN" altLang="en-US" sz="2200" dirty="0"/>
                  <a:t>例</a:t>
                </a:r>
                <a:r>
                  <a:rPr kumimoji="1" lang="en-US" altLang="zh-CN" sz="2200" dirty="0"/>
                  <a:t>4.4: </a:t>
                </a:r>
                <a14:m>
                  <m:oMath xmlns:m="http://schemas.openxmlformats.org/officeDocument/2006/math">
                    <m:r>
                      <a:rPr kumimoji="1" lang="en-US" altLang="zh-CN" sz="2200" b="0" i="1" smtClean="0">
                        <a:latin typeface="Cambria Math" panose="02040503050406030204" pitchFamily="18" charset="0"/>
                        <a:ea typeface="黑体" panose="02010609060101010101" pitchFamily="49" charset="-122"/>
                      </a:rPr>
                      <m:t>𝑅</m:t>
                    </m:r>
                    <m:r>
                      <a:rPr kumimoji="1" lang="en-US" altLang="zh-CN" sz="2200" b="0" i="1" smtClean="0">
                        <a:latin typeface="Cambria Math" panose="02040503050406030204" pitchFamily="18" charset="0"/>
                        <a:ea typeface="黑体" panose="02010609060101010101" pitchFamily="49" charset="-122"/>
                      </a:rPr>
                      <m:t>(</m:t>
                    </m:r>
                    <m:r>
                      <a:rPr kumimoji="1" lang="en-US" altLang="zh-CN" sz="2200" b="0" i="1" smtClean="0">
                        <a:latin typeface="Cambria Math" panose="02040503050406030204" pitchFamily="18" charset="0"/>
                        <a:ea typeface="黑体" panose="02010609060101010101" pitchFamily="49" charset="-122"/>
                      </a:rPr>
                      <m:t>𝐴</m:t>
                    </m:r>
                    <m:r>
                      <a:rPr kumimoji="1" lang="en-US" altLang="zh-CN" sz="2200" b="0" i="1" smtClean="0">
                        <a:latin typeface="Cambria Math" panose="02040503050406030204" pitchFamily="18" charset="0"/>
                        <a:ea typeface="黑体" panose="02010609060101010101" pitchFamily="49" charset="-122"/>
                      </a:rPr>
                      <m:t>,</m:t>
                    </m:r>
                    <m:r>
                      <a:rPr kumimoji="1" lang="en-US" altLang="zh-CN" sz="2200" b="0" i="1" smtClean="0">
                        <a:latin typeface="Cambria Math" panose="02040503050406030204" pitchFamily="18" charset="0"/>
                        <a:ea typeface="黑体" panose="02010609060101010101" pitchFamily="49" charset="-122"/>
                      </a:rPr>
                      <m:t>𝐵</m:t>
                    </m:r>
                    <m:r>
                      <a:rPr kumimoji="1" lang="en-US" altLang="zh-CN" sz="2200" b="0" i="1" smtClean="0">
                        <a:latin typeface="Cambria Math" panose="02040503050406030204" pitchFamily="18" charset="0"/>
                        <a:ea typeface="黑体" panose="02010609060101010101" pitchFamily="49" charset="-122"/>
                      </a:rPr>
                      <m:t>,</m:t>
                    </m:r>
                    <m:r>
                      <a:rPr kumimoji="1" lang="en-US" altLang="zh-CN" sz="2200" b="0" i="1" smtClean="0">
                        <a:latin typeface="Cambria Math" panose="02040503050406030204" pitchFamily="18" charset="0"/>
                        <a:ea typeface="黑体" panose="02010609060101010101" pitchFamily="49" charset="-122"/>
                      </a:rPr>
                      <m:t>𝐶</m:t>
                    </m:r>
                    <m:r>
                      <a:rPr kumimoji="1" lang="en-US" altLang="zh-CN" sz="2200" b="0" i="1" smtClean="0">
                        <a:latin typeface="Cambria Math" panose="02040503050406030204" pitchFamily="18" charset="0"/>
                        <a:ea typeface="黑体" panose="02010609060101010101" pitchFamily="49" charset="-122"/>
                      </a:rPr>
                      <m:t>,</m:t>
                    </m:r>
                    <m:r>
                      <a:rPr kumimoji="1" lang="en-US" altLang="zh-CN" sz="2200" b="0" i="1" smtClean="0">
                        <a:latin typeface="Cambria Math" panose="02040503050406030204" pitchFamily="18" charset="0"/>
                        <a:ea typeface="黑体" panose="02010609060101010101" pitchFamily="49" charset="-122"/>
                      </a:rPr>
                      <m:t>𝐷</m:t>
                    </m:r>
                    <m:r>
                      <a:rPr kumimoji="1" lang="en-US" altLang="zh-CN" sz="2200" b="0" i="1" smtClean="0">
                        <a:latin typeface="Cambria Math" panose="02040503050406030204" pitchFamily="18" charset="0"/>
                        <a:ea typeface="黑体" panose="02010609060101010101" pitchFamily="49" charset="-122"/>
                      </a:rPr>
                      <m:t>,</m:t>
                    </m:r>
                    <m:r>
                      <a:rPr kumimoji="1" lang="en-US" altLang="zh-CN" sz="2200" b="0" i="1" smtClean="0">
                        <a:latin typeface="Cambria Math" panose="02040503050406030204" pitchFamily="18" charset="0"/>
                        <a:ea typeface="黑体" panose="02010609060101010101" pitchFamily="49" charset="-122"/>
                      </a:rPr>
                      <m:t>𝐸</m:t>
                    </m:r>
                    <m:r>
                      <a:rPr kumimoji="1" lang="en-US" altLang="zh-CN" sz="2200" b="0" i="1" smtClean="0">
                        <a:latin typeface="Cambria Math" panose="02040503050406030204" pitchFamily="18" charset="0"/>
                        <a:ea typeface="黑体" panose="02010609060101010101" pitchFamily="49" charset="-122"/>
                      </a:rPr>
                      <m:t>,</m:t>
                    </m:r>
                    <m:r>
                      <a:rPr kumimoji="1" lang="en-US" altLang="zh-CN" sz="2200" b="0" i="1" smtClean="0">
                        <a:latin typeface="Cambria Math" panose="02040503050406030204" pitchFamily="18" charset="0"/>
                        <a:ea typeface="黑体" panose="02010609060101010101" pitchFamily="49" charset="-122"/>
                      </a:rPr>
                      <m:t>𝐻</m:t>
                    </m:r>
                    <m:r>
                      <a:rPr kumimoji="1" lang="en-US" altLang="zh-CN" sz="2200" b="0" i="1" smtClean="0">
                        <a:latin typeface="Cambria Math" panose="02040503050406030204" pitchFamily="18" charset="0"/>
                        <a:ea typeface="黑体" panose="02010609060101010101" pitchFamily="49" charset="-122"/>
                      </a:rPr>
                      <m:t>,</m:t>
                    </m:r>
                    <m:r>
                      <a:rPr kumimoji="1" lang="en-US" altLang="zh-CN" sz="2200" b="0" i="1" smtClean="0">
                        <a:latin typeface="Cambria Math" panose="02040503050406030204" pitchFamily="18" charset="0"/>
                        <a:ea typeface="黑体" panose="02010609060101010101" pitchFamily="49" charset="-122"/>
                      </a:rPr>
                      <m:t>𝐼</m:t>
                    </m:r>
                    <m:r>
                      <a:rPr kumimoji="1" lang="en-US" altLang="zh-CN" sz="2200" b="0" i="1" smtClean="0">
                        <a:latin typeface="Cambria Math" panose="02040503050406030204" pitchFamily="18" charset="0"/>
                        <a:ea typeface="黑体" panose="02010609060101010101" pitchFamily="49" charset="-122"/>
                      </a:rPr>
                      <m:t>)</m:t>
                    </m:r>
                  </m:oMath>
                </a14:m>
                <a:r>
                  <a:rPr kumimoji="1" lang="zh-CN" altLang="en-US" sz="2200" dirty="0"/>
                  <a:t>，</a:t>
                </a:r>
                <a14:m>
                  <m:oMath xmlns:m="http://schemas.openxmlformats.org/officeDocument/2006/math">
                    <m:r>
                      <a:rPr kumimoji="1" lang="en-US" altLang="zh-CN" sz="2200" b="0" i="1" dirty="0" smtClean="0">
                        <a:latin typeface="Cambria Math" panose="02040503050406030204" pitchFamily="18" charset="0"/>
                        <a:ea typeface="黑体" panose="02010609060101010101" pitchFamily="49" charset="-122"/>
                      </a:rPr>
                      <m:t>𝐹</m:t>
                    </m:r>
                    <m:r>
                      <a:rPr kumimoji="1" lang="en-US" altLang="zh-CN" sz="2200" b="0" i="1" dirty="0" smtClean="0">
                        <a:latin typeface="Cambria Math" panose="02040503050406030204" pitchFamily="18" charset="0"/>
                        <a:ea typeface="黑体" panose="02010609060101010101" pitchFamily="49" charset="-122"/>
                      </a:rPr>
                      <m:t>={</m:t>
                    </m:r>
                    <m:r>
                      <a:rPr kumimoji="1" lang="en-US" altLang="zh-CN" sz="2200" b="0" i="1" dirty="0" smtClean="0">
                        <a:latin typeface="Cambria Math" panose="02040503050406030204" pitchFamily="18" charset="0"/>
                        <a:ea typeface="黑体" panose="02010609060101010101" pitchFamily="49" charset="-122"/>
                      </a:rPr>
                      <m:t>𝐴</m:t>
                    </m:r>
                    <m:r>
                      <a:rPr lang="en-US" altLang="zh-CN" sz="2200" b="0" i="1" dirty="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𝐵𝐸</m:t>
                    </m:r>
                    <m:r>
                      <a:rPr lang="en-US" altLang="zh-CN" sz="2200" b="0" i="1" dirty="0" smtClean="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𝐴</m:t>
                    </m:r>
                    <m:r>
                      <a:rPr kumimoji="1" lang="en-US" altLang="zh-CN" sz="2200" b="0" i="1" dirty="0" smtClean="0">
                        <a:latin typeface="Cambria Math" panose="02040503050406030204" pitchFamily="18" charset="0"/>
                        <a:ea typeface="黑体" panose="02010609060101010101" pitchFamily="49" charset="-122"/>
                      </a:rPr>
                      <m:t>𝐻</m:t>
                    </m:r>
                    <m:r>
                      <a:rPr lang="en-US" altLang="zh-CN" sz="2200" b="0" i="1" dirty="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𝐷</m:t>
                    </m:r>
                    <m:r>
                      <a:rPr lang="en-US" altLang="zh-CN" sz="2200" b="0" i="1" dirty="0" smtClean="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𝐵</m:t>
                    </m:r>
                    <m:r>
                      <a:rPr lang="en-US" altLang="zh-CN" sz="2200" b="0" i="1" dirty="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𝐶</m:t>
                    </m:r>
                    <m:r>
                      <a:rPr lang="en-US" altLang="zh-CN" sz="2200" b="0" i="1" dirty="0" smtClean="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𝐵𝐷</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𝐸</m:t>
                    </m:r>
                    <m:r>
                      <a:rPr lang="en-US" altLang="zh-CN" sz="2200" b="0" i="1" dirty="0" smtClean="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𝐶</m:t>
                    </m:r>
                    <m:r>
                      <a:rPr lang="en-US" altLang="zh-CN" sz="2200" b="0" i="1" dirty="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𝐷</m:t>
                    </m:r>
                    <m:r>
                      <a:rPr lang="en-US" altLang="zh-CN" sz="2200" b="0" i="1" dirty="0" smtClean="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𝐻</m:t>
                    </m:r>
                    <m:r>
                      <a:rPr lang="en-US" altLang="zh-CN" sz="2200" b="0" i="1" dirty="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𝐼</m:t>
                    </m:r>
                    <m:r>
                      <a:rPr lang="en-US" altLang="zh-CN" sz="2200" b="0" i="1" dirty="0" smtClean="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𝐼</m:t>
                    </m:r>
                    <m:r>
                      <a:rPr lang="en-US" altLang="zh-CN" sz="2200" b="0" i="1" dirty="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𝐻</m:t>
                    </m:r>
                    <m:r>
                      <a:rPr lang="en-US" altLang="zh-CN" sz="2200" b="0" i="1" dirty="0" smtClean="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𝐻</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𝐵𝐸</m:t>
                    </m:r>
                    <m:r>
                      <a:rPr lang="en-US" altLang="zh-CN" sz="2200" b="0" i="1" dirty="0" smtClean="0">
                        <a:latin typeface="Cambria Math" panose="02040503050406030204" pitchFamily="18" charset="0"/>
                        <a:ea typeface="黑体" panose="02010609060101010101" pitchFamily="49" charset="-122"/>
                      </a:rPr>
                      <m:t>}</m:t>
                    </m:r>
                  </m:oMath>
                </a14:m>
                <a:r>
                  <a:rPr kumimoji="1" lang="en-US" altLang="zh-CN" sz="2200" dirty="0"/>
                  <a:t>,</a:t>
                </a:r>
                <a:r>
                  <a:rPr kumimoji="1" lang="zh-CN" altLang="en-US" sz="2200" dirty="0"/>
                  <a:t>试求</a:t>
                </a:r>
                <a14:m>
                  <m:oMath xmlns:m="http://schemas.openxmlformats.org/officeDocument/2006/math">
                    <m:r>
                      <a:rPr kumimoji="1" lang="en-US" altLang="zh-CN" sz="2200" b="0" i="1" dirty="0">
                        <a:latin typeface="Cambria Math" panose="02040503050406030204" pitchFamily="18" charset="0"/>
                        <a:ea typeface="黑体" panose="02010609060101010101" pitchFamily="49" charset="-122"/>
                      </a:rPr>
                      <m:t>𝐹</m:t>
                    </m:r>
                  </m:oMath>
                </a14:m>
                <a:r>
                  <a:rPr kumimoji="1" lang="zh-CN" altLang="en-US" sz="2200" dirty="0"/>
                  <a:t>的最小依赖集</a:t>
                </a:r>
                <a14:m>
                  <m:oMath xmlns:m="http://schemas.openxmlformats.org/officeDocument/2006/math">
                    <m:sSub>
                      <m:sSubPr>
                        <m:ctrlPr>
                          <a:rPr kumimoji="1" lang="en-US" altLang="zh-CN" sz="2200" i="1" smtClean="0">
                            <a:latin typeface="Cambria Math" panose="02040503050406030204" pitchFamily="18" charset="0"/>
                            <a:ea typeface="黑体" panose="02010609060101010101" pitchFamily="49" charset="-122"/>
                          </a:rPr>
                        </m:ctrlPr>
                      </m:sSubPr>
                      <m:e>
                        <m:r>
                          <a:rPr kumimoji="1" lang="en-US" altLang="zh-CN" sz="2200" b="0" i="1" smtClean="0">
                            <a:latin typeface="Cambria Math" panose="02040503050406030204" pitchFamily="18" charset="0"/>
                            <a:ea typeface="黑体" panose="02010609060101010101" pitchFamily="49" charset="-122"/>
                          </a:rPr>
                          <m:t>𝐹</m:t>
                        </m:r>
                      </m:e>
                      <m:sub>
                        <m:r>
                          <a:rPr kumimoji="1" lang="en-US" altLang="zh-CN" sz="2200" b="0" i="1" smtClean="0">
                            <a:latin typeface="Cambria Math" panose="02040503050406030204" pitchFamily="18" charset="0"/>
                            <a:ea typeface="黑体" panose="02010609060101010101" pitchFamily="49" charset="-122"/>
                          </a:rPr>
                          <m:t>𝑚𝑖𝑛</m:t>
                        </m:r>
                      </m:sub>
                    </m:sSub>
                  </m:oMath>
                </a14:m>
                <a:r>
                  <a:rPr kumimoji="1" lang="zh-CN" altLang="en-US" sz="2200" dirty="0"/>
                  <a:t>。</a:t>
                </a:r>
                <a:endParaRPr kumimoji="1" lang="en-US" altLang="zh-CN" sz="2200" dirty="0"/>
              </a:p>
              <a:p>
                <a:pPr lvl="1"/>
                <a:r>
                  <a:rPr kumimoji="1" lang="zh-CN" altLang="en-US" sz="2200" dirty="0"/>
                  <a:t>解</a:t>
                </a:r>
                <a:r>
                  <a:rPr kumimoji="1" lang="zh-CN" altLang="en-US" sz="2200" dirty="0">
                    <a:sym typeface="Wingdings" panose="05000000000000000000" pitchFamily="2" charset="2"/>
                  </a:rPr>
                  <a:t>：（</a:t>
                </a:r>
                <a:r>
                  <a:rPr kumimoji="1" lang="en-US" altLang="zh-CN" sz="2200" dirty="0">
                    <a:sym typeface="Wingdings" panose="05000000000000000000" pitchFamily="2" charset="2"/>
                  </a:rPr>
                  <a:t>1</a:t>
                </a:r>
                <a:r>
                  <a:rPr kumimoji="1" lang="zh-CN" altLang="en-US" sz="2200" dirty="0">
                    <a:sym typeface="Wingdings" panose="05000000000000000000" pitchFamily="2" charset="2"/>
                  </a:rPr>
                  <a:t>）</a:t>
                </a:r>
                <a:r>
                  <a:rPr kumimoji="1" lang="zh-CN" altLang="en-US" sz="2200" dirty="0"/>
                  <a:t>右部拆成单属性</a:t>
                </a:r>
                <a:endParaRPr kumimoji="1" lang="en-US" altLang="zh-CN" sz="2200" dirty="0"/>
              </a:p>
              <a:p>
                <a:pPr marL="457200" lvl="1" indent="0" algn="ctr">
                  <a:buNone/>
                </a:pPr>
                <a14:m>
                  <m:oMath xmlns:m="http://schemas.openxmlformats.org/officeDocument/2006/math">
                    <m:r>
                      <a:rPr kumimoji="1" lang="en-US" altLang="zh-CN" sz="2200" b="0" i="1" dirty="0">
                        <a:latin typeface="Cambria Math" panose="02040503050406030204" pitchFamily="18" charset="0"/>
                        <a:ea typeface="黑体" panose="02010609060101010101" pitchFamily="49" charset="-122"/>
                      </a:rPr>
                      <m:t>𝐹</m:t>
                    </m:r>
                    <m:r>
                      <a:rPr kumimoji="1"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𝐴</m:t>
                    </m:r>
                    <m:r>
                      <a:rPr lang="en-US" altLang="zh-CN" sz="2200" b="0" i="1" dirty="0">
                        <a:latin typeface="Cambria Math" panose="02040503050406030204" pitchFamily="18" charset="0"/>
                        <a:ea typeface="黑体" panose="02010609060101010101" pitchFamily="49" charset="-122"/>
                      </a:rPr>
                      <m:t>→</m:t>
                    </m:r>
                    <m:r>
                      <a:rPr lang="en-US" altLang="zh-CN" sz="2200" b="0" i="1" dirty="0" smtClean="0">
                        <a:latin typeface="Cambria Math" panose="02040503050406030204" pitchFamily="18" charset="0"/>
                        <a:ea typeface="黑体" panose="02010609060101010101" pitchFamily="49" charset="-122"/>
                      </a:rPr>
                      <m:t>𝐵</m:t>
                    </m:r>
                    <m:r>
                      <a:rPr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𝐴</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𝐸</m:t>
                    </m:r>
                    <m:r>
                      <a:rPr lang="en-US" altLang="zh-CN" sz="2200" b="0" i="1" dirty="0" smtClean="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𝐴𝐻</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𝐷</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𝐵</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𝐶</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𝐵𝐷</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𝐸</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𝐶</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𝐷</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𝐻</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𝐼</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𝐼</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𝐻</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𝐻</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𝐵</m:t>
                    </m:r>
                    <m:r>
                      <a:rPr lang="en-US" altLang="zh-CN" sz="2200" b="0" i="1" dirty="0" smtClean="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𝐻</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𝐸</m:t>
                    </m:r>
                    <m:r>
                      <a:rPr lang="en-US" altLang="zh-CN" sz="2200" b="0" i="1" dirty="0">
                        <a:latin typeface="Cambria Math" panose="02040503050406030204" pitchFamily="18" charset="0"/>
                        <a:ea typeface="黑体" panose="02010609060101010101" pitchFamily="49" charset="-122"/>
                      </a:rPr>
                      <m:t>}</m:t>
                    </m:r>
                  </m:oMath>
                </a14:m>
                <a:r>
                  <a:rPr kumimoji="1" lang="en-US" altLang="zh-CN" sz="2200" dirty="0"/>
                  <a:t>,</a:t>
                </a:r>
                <a:endParaRPr kumimoji="1" lang="en-US" altLang="zh-CN" sz="2200" dirty="0"/>
              </a:p>
              <a:p>
                <a:pPr>
                  <a:buNone/>
                </a:pPr>
                <a:r>
                  <a:rPr kumimoji="1" lang="en-US" altLang="zh-CN" sz="2200" b="0" dirty="0"/>
                  <a:t>		 </a:t>
                </a:r>
                <a:r>
                  <a:rPr kumimoji="1" lang="zh-CN" altLang="en-US" sz="2200" b="0" dirty="0"/>
                  <a:t>   （</a:t>
                </a:r>
                <a:r>
                  <a:rPr kumimoji="1" lang="en-US" altLang="zh-CN" sz="2200" b="0" dirty="0"/>
                  <a:t>2</a:t>
                </a:r>
                <a:r>
                  <a:rPr kumimoji="1" lang="zh-CN" altLang="en-US" sz="2200" b="0" dirty="0"/>
                  <a:t>）考察左部不是单属性的函数依赖，消除多余属性</a:t>
                </a:r>
                <a:endParaRPr kumimoji="1" lang="en-US" altLang="zh-CN" sz="2200" b="0" dirty="0"/>
              </a:p>
              <a:p>
                <a:pPr>
                  <a:buNone/>
                </a:pPr>
                <a14:m>
                  <m:oMathPara xmlns:m="http://schemas.openxmlformats.org/officeDocument/2006/math">
                    <m:oMathParaPr>
                      <m:jc m:val="centerGroup"/>
                    </m:oMathParaPr>
                    <m:oMath xmlns:m="http://schemas.openxmlformats.org/officeDocument/2006/math">
                      <m:r>
                        <a:rPr kumimoji="1" lang="en-US" altLang="zh-CN" sz="2200" b="0" i="1" dirty="0">
                          <a:latin typeface="Cambria Math" panose="02040503050406030204" pitchFamily="18" charset="0"/>
                          <a:ea typeface="黑体" panose="02010609060101010101" pitchFamily="49" charset="-122"/>
                        </a:rPr>
                        <m:t>𝐴𝐻</m:t>
                      </m:r>
                      <m:r>
                        <a:rPr lang="en-US" altLang="zh-CN" sz="2200" b="0" i="1" dirty="0">
                          <a:latin typeface="Cambria Math" panose="02040503050406030204" pitchFamily="18" charset="0"/>
                          <a:ea typeface="黑体" panose="02010609060101010101" pitchFamily="49" charset="-122"/>
                        </a:rPr>
                        <m:t>→</m:t>
                      </m:r>
                      <m:r>
                        <a:rPr lang="en-US" altLang="zh-CN" sz="2200" b="0" i="1" dirty="0">
                          <a:latin typeface="Cambria Math" panose="02040503050406030204" pitchFamily="18" charset="0"/>
                          <a:ea typeface="黑体" panose="02010609060101010101" pitchFamily="49" charset="-122"/>
                        </a:rPr>
                        <m:t>𝐷</m:t>
                      </m:r>
                      <m:r>
                        <a:rPr lang="en-US" altLang="zh-CN" sz="2200" b="0" i="1" dirty="0" smtClean="0">
                          <a:latin typeface="Cambria Math" panose="02040503050406030204" pitchFamily="18" charset="0"/>
                          <a:ea typeface="黑体" panose="02010609060101010101" pitchFamily="49" charset="-122"/>
                        </a:rPr>
                        <m:t>  </m:t>
                      </m:r>
                      <m:r>
                        <a:rPr lang="en-US" altLang="zh-CN" sz="2200" b="0" i="1" dirty="0" smtClean="0">
                          <a:latin typeface="Cambria Math" panose="02040503050406030204" pitchFamily="18" charset="0"/>
                          <a:ea typeface="Cambria Math" panose="02040503050406030204" pitchFamily="18" charset="0"/>
                        </a:rPr>
                        <m:t>∵</m:t>
                      </m:r>
                      <m:r>
                        <a:rPr kumimoji="1"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𝐴𝐻</m:t>
                      </m:r>
                      <m:r>
                        <a:rPr kumimoji="1"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𝐻</m:t>
                      </m:r>
                      <m:r>
                        <a:rPr kumimoji="1" lang="en-US" altLang="zh-CN" sz="2200" b="0" i="1" dirty="0">
                          <a:latin typeface="Cambria Math" panose="02040503050406030204" pitchFamily="18" charset="0"/>
                          <a:ea typeface="黑体" panose="02010609060101010101" pitchFamily="49" charset="-122"/>
                        </a:rPr>
                        <m:t>)</m:t>
                      </m:r>
                      <m:r>
                        <a:rPr kumimoji="1" lang="en-US" altLang="zh-CN" sz="2200" b="0" i="1" baseline="-25000" dirty="0">
                          <a:latin typeface="Cambria Math" panose="02040503050406030204" pitchFamily="18" charset="0"/>
                          <a:ea typeface="黑体" panose="02010609060101010101" pitchFamily="49" charset="-122"/>
                        </a:rPr>
                        <m:t>𝐹</m:t>
                      </m:r>
                      <m:r>
                        <a:rPr kumimoji="1" lang="en-US" altLang="zh-CN" sz="2200" b="0" i="1" baseline="30000" dirty="0">
                          <a:latin typeface="Cambria Math" panose="02040503050406030204" pitchFamily="18" charset="0"/>
                          <a:ea typeface="黑体" panose="02010609060101010101" pitchFamily="49" charset="-122"/>
                        </a:rPr>
                        <m:t>+</m:t>
                      </m:r>
                      <m:r>
                        <a:rPr kumimoji="1" lang="zh-CN" altLang="en-US"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𝐴𝐵𝐸𝐶𝐷</m:t>
                      </m:r>
                      <m:r>
                        <a:rPr kumimoji="1"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𝐷</m:t>
                      </m:r>
                      <m:r>
                        <a:rPr kumimoji="1"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𝐴𝐻</m:t>
                      </m:r>
                      <m:r>
                        <a:rPr kumimoji="1"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𝐻</m:t>
                      </m:r>
                      <m:r>
                        <a:rPr kumimoji="1" lang="en-US" altLang="zh-CN" sz="2200" b="0" i="1" dirty="0">
                          <a:latin typeface="Cambria Math" panose="02040503050406030204" pitchFamily="18" charset="0"/>
                          <a:ea typeface="黑体" panose="02010609060101010101" pitchFamily="49" charset="-122"/>
                        </a:rPr>
                        <m:t>)</m:t>
                      </m:r>
                      <m:r>
                        <a:rPr kumimoji="1" lang="en-US" altLang="zh-CN" sz="2200" b="0" i="1" baseline="-25000" dirty="0">
                          <a:latin typeface="Cambria Math" panose="02040503050406030204" pitchFamily="18" charset="0"/>
                          <a:ea typeface="黑体" panose="02010609060101010101" pitchFamily="49" charset="-122"/>
                        </a:rPr>
                        <m:t>𝐹</m:t>
                      </m:r>
                      <m:r>
                        <a:rPr kumimoji="1" lang="en-US" altLang="zh-CN" sz="2200" b="0" i="1" baseline="30000" dirty="0">
                          <a:latin typeface="Cambria Math" panose="02040503050406030204" pitchFamily="18" charset="0"/>
                          <a:ea typeface="黑体" panose="02010609060101010101" pitchFamily="49" charset="-122"/>
                        </a:rPr>
                        <m:t>+</m:t>
                      </m:r>
                    </m:oMath>
                  </m:oMathPara>
                </a14:m>
                <a:endParaRPr kumimoji="1" lang="en-US" altLang="zh-CN" sz="2200" b="0" dirty="0"/>
              </a:p>
              <a:p>
                <a:pPr algn="l">
                  <a:buNone/>
                </a:pPr>
                <a:r>
                  <a:rPr kumimoji="1" lang="en-US" altLang="zh-CN" sz="2200" b="0" dirty="0"/>
                  <a:t>	                       </a:t>
                </a:r>
                <a:r>
                  <a:rPr kumimoji="1" lang="zh-CN" altLang="en-US" sz="2200" b="0" dirty="0"/>
                  <a:t>                </a:t>
                </a:r>
                <a14:m>
                  <m:oMath xmlns:m="http://schemas.openxmlformats.org/officeDocument/2006/math">
                    <m:r>
                      <a:rPr kumimoji="1" lang="en-US" altLang="zh-CN" sz="2200" b="0" i="1" dirty="0" smtClean="0">
                        <a:latin typeface="Cambria Math" panose="02040503050406030204" pitchFamily="18" charset="0"/>
                        <a:ea typeface="黑体" panose="02010609060101010101" pitchFamily="49" charset="-122"/>
                      </a:rPr>
                      <m:t>∴</m:t>
                    </m:r>
                    <m:r>
                      <a:rPr kumimoji="1" lang="zh-CN" altLang="en-US" sz="2200" b="0" i="1" dirty="0">
                        <a:latin typeface="Cambria Math" panose="02040503050406030204" pitchFamily="18" charset="0"/>
                        <a:ea typeface="黑体" panose="02010609060101010101" pitchFamily="49" charset="-122"/>
                      </a:rPr>
                      <m:t>以</m:t>
                    </m:r>
                    <m:r>
                      <a:rPr kumimoji="1" lang="en-US" altLang="zh-CN" sz="2200" b="0" i="1" dirty="0">
                        <a:latin typeface="Cambria Math" panose="02040503050406030204" pitchFamily="18" charset="0"/>
                        <a:ea typeface="黑体" panose="02010609060101010101" pitchFamily="49" charset="-122"/>
                      </a:rPr>
                      <m:t>𝐴</m:t>
                    </m:r>
                    <m:r>
                      <a:rPr kumimoji="1"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𝐷</m:t>
                    </m:r>
                    <m:r>
                      <a:rPr kumimoji="1" lang="zh-CN" altLang="en-US" sz="2200" b="0" i="1" dirty="0">
                        <a:latin typeface="Cambria Math" panose="02040503050406030204" pitchFamily="18" charset="0"/>
                        <a:ea typeface="黑体" panose="02010609060101010101" pitchFamily="49" charset="-122"/>
                      </a:rPr>
                      <m:t>取代</m:t>
                    </m:r>
                    <m:r>
                      <a:rPr kumimoji="1" lang="en-US" altLang="zh-CN" sz="2200" b="0" i="1" dirty="0">
                        <a:latin typeface="Cambria Math" panose="02040503050406030204" pitchFamily="18" charset="0"/>
                        <a:ea typeface="黑体" panose="02010609060101010101" pitchFamily="49" charset="-122"/>
                      </a:rPr>
                      <m:t>𝐴𝐻</m:t>
                    </m:r>
                    <m:r>
                      <a:rPr kumimoji="1"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𝐷</m:t>
                    </m:r>
                  </m:oMath>
                </a14:m>
                <a:endParaRPr kumimoji="1" lang="en-US" altLang="zh-CN" sz="2200" b="0" i="1" dirty="0"/>
              </a:p>
              <a:p>
                <a:pPr>
                  <a:buNone/>
                </a:pPr>
                <a14:m>
                  <m:oMathPara xmlns:m="http://schemas.openxmlformats.org/officeDocument/2006/math">
                    <m:oMathParaPr>
                      <m:jc m:val="centerGroup"/>
                    </m:oMathParaPr>
                    <m:oMath xmlns:m="http://schemas.openxmlformats.org/officeDocument/2006/math">
                      <m:r>
                        <a:rPr kumimoji="1" lang="en-US" altLang="zh-CN" sz="2200" b="0" i="1" dirty="0" smtClean="0">
                          <a:latin typeface="Cambria Math" panose="02040503050406030204" pitchFamily="18" charset="0"/>
                          <a:ea typeface="黑体" panose="02010609060101010101" pitchFamily="49" charset="-122"/>
                        </a:rPr>
                        <m:t>𝐵𝐷</m:t>
                      </m:r>
                      <m:r>
                        <a:rPr kumimoji="1" lang="en-US" altLang="zh-CN" sz="2200" b="0" i="1" dirty="0" smtClean="0">
                          <a:latin typeface="Cambria Math" panose="02040503050406030204" pitchFamily="18" charset="0"/>
                          <a:ea typeface="黑体" panose="02010609060101010101" pitchFamily="49" charset="-122"/>
                        </a:rPr>
                        <m:t>→</m:t>
                      </m:r>
                      <m:r>
                        <a:rPr kumimoji="1" lang="en-US" altLang="zh-CN" sz="2200" b="0" i="1" dirty="0" smtClean="0">
                          <a:latin typeface="Cambria Math" panose="02040503050406030204" pitchFamily="18" charset="0"/>
                          <a:ea typeface="黑体" panose="02010609060101010101" pitchFamily="49" charset="-122"/>
                        </a:rPr>
                        <m:t>𝐸</m:t>
                      </m:r>
                      <m:r>
                        <a:rPr kumimoji="1" lang="en-US" altLang="zh-CN" sz="2200" b="0" i="1" dirty="0" smtClean="0">
                          <a:latin typeface="Cambria Math" panose="02040503050406030204" pitchFamily="18" charset="0"/>
                          <a:ea typeface="黑体" panose="02010609060101010101" pitchFamily="49" charset="-122"/>
                        </a:rPr>
                        <m:t> ∵((</m:t>
                      </m:r>
                      <m:r>
                        <a:rPr kumimoji="1" lang="en-US" altLang="zh-CN" sz="2200" b="0" i="1" dirty="0" smtClean="0">
                          <a:latin typeface="Cambria Math" panose="02040503050406030204" pitchFamily="18" charset="0"/>
                          <a:ea typeface="黑体" panose="02010609060101010101" pitchFamily="49" charset="-122"/>
                        </a:rPr>
                        <m:t>𝐵𝐷</m:t>
                      </m:r>
                      <m:r>
                        <a:rPr kumimoji="1" lang="en-US" altLang="zh-CN" sz="2200" b="0" i="1" dirty="0" smtClean="0">
                          <a:latin typeface="Cambria Math" panose="02040503050406030204" pitchFamily="18" charset="0"/>
                          <a:ea typeface="黑体" panose="02010609060101010101" pitchFamily="49" charset="-122"/>
                        </a:rPr>
                        <m:t>)−</m:t>
                      </m:r>
                      <m:r>
                        <a:rPr kumimoji="1" lang="en-US" altLang="zh-CN" sz="2200" b="0" i="1" dirty="0" smtClean="0">
                          <a:latin typeface="Cambria Math" panose="02040503050406030204" pitchFamily="18" charset="0"/>
                          <a:ea typeface="黑体" panose="02010609060101010101" pitchFamily="49" charset="-122"/>
                        </a:rPr>
                        <m:t>𝐷</m:t>
                      </m:r>
                      <m:r>
                        <a:rPr kumimoji="1" lang="en-US" altLang="zh-CN" sz="2200" b="0" i="1" dirty="0" smtClean="0">
                          <a:latin typeface="Cambria Math" panose="02040503050406030204" pitchFamily="18" charset="0"/>
                          <a:ea typeface="黑体" panose="02010609060101010101" pitchFamily="49" charset="-122"/>
                        </a:rPr>
                        <m:t>)</m:t>
                      </m:r>
                      <m:r>
                        <a:rPr kumimoji="1" lang="en-US" altLang="zh-CN" sz="2200" b="0" i="1" baseline="-25000" dirty="0">
                          <a:latin typeface="Cambria Math" panose="02040503050406030204" pitchFamily="18" charset="0"/>
                          <a:ea typeface="黑体" panose="02010609060101010101" pitchFamily="49" charset="-122"/>
                        </a:rPr>
                        <m:t>𝐹</m:t>
                      </m:r>
                      <m:r>
                        <a:rPr kumimoji="1" lang="en-US" altLang="zh-CN" sz="2200" b="0" i="1" baseline="30000" dirty="0">
                          <a:latin typeface="Cambria Math" panose="02040503050406030204" pitchFamily="18" charset="0"/>
                          <a:ea typeface="黑体" panose="02010609060101010101" pitchFamily="49" charset="-122"/>
                        </a:rPr>
                        <m:t>+</m:t>
                      </m:r>
                      <m:r>
                        <a:rPr kumimoji="1" lang="zh-CN" altLang="en-US"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𝐵𝐶𝐷𝐸</m:t>
                      </m:r>
                      <m:r>
                        <a:rPr kumimoji="1"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𝐸</m:t>
                      </m:r>
                      <m:r>
                        <a:rPr kumimoji="1"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𝐵𝐷</m:t>
                      </m:r>
                      <m:r>
                        <a:rPr kumimoji="1"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𝐷</m:t>
                      </m:r>
                      <m:r>
                        <a:rPr kumimoji="1" lang="en-US" altLang="zh-CN" sz="2200" b="0" i="1" dirty="0">
                          <a:latin typeface="Cambria Math" panose="02040503050406030204" pitchFamily="18" charset="0"/>
                          <a:ea typeface="黑体" panose="02010609060101010101" pitchFamily="49" charset="-122"/>
                        </a:rPr>
                        <m:t>)</m:t>
                      </m:r>
                      <m:r>
                        <a:rPr kumimoji="1" lang="en-US" altLang="zh-CN" sz="2200" b="0" i="1" baseline="-25000" dirty="0">
                          <a:latin typeface="Cambria Math" panose="02040503050406030204" pitchFamily="18" charset="0"/>
                          <a:ea typeface="黑体" panose="02010609060101010101" pitchFamily="49" charset="-122"/>
                        </a:rPr>
                        <m:t>𝐹</m:t>
                      </m:r>
                      <m:r>
                        <a:rPr kumimoji="1" lang="en-US" altLang="zh-CN" sz="2200" b="0" i="1" baseline="30000" dirty="0">
                          <a:latin typeface="Cambria Math" panose="02040503050406030204" pitchFamily="18" charset="0"/>
                          <a:ea typeface="黑体" panose="02010609060101010101" pitchFamily="49" charset="-122"/>
                        </a:rPr>
                        <m:t>+ </m:t>
                      </m:r>
                    </m:oMath>
                  </m:oMathPara>
                </a14:m>
                <a:endParaRPr kumimoji="1" lang="en-US" altLang="zh-CN" sz="2200" b="0" baseline="30000" dirty="0"/>
              </a:p>
              <a:p>
                <a:pPr>
                  <a:buNone/>
                </a:pPr>
                <a:r>
                  <a:rPr kumimoji="1" lang="zh-CN" altLang="en-US" sz="2200" b="0" dirty="0">
                    <a:ea typeface="黑体" panose="02010609060101010101" pitchFamily="49" charset="-122"/>
                  </a:rPr>
                  <a:t>                                          </a:t>
                </a:r>
                <a14:m>
                  <m:oMath xmlns:m="http://schemas.openxmlformats.org/officeDocument/2006/math">
                    <m:r>
                      <a:rPr kumimoji="1" lang="en-US" altLang="zh-CN" sz="2200" b="0" i="1" dirty="0" smtClean="0">
                        <a:latin typeface="Cambria Math" panose="02040503050406030204" pitchFamily="18" charset="0"/>
                        <a:ea typeface="黑体" panose="02010609060101010101" pitchFamily="49" charset="-122"/>
                      </a:rPr>
                      <m:t>∴</m:t>
                    </m:r>
                    <m:r>
                      <a:rPr kumimoji="1" lang="zh-CN" altLang="en-US" sz="2200" b="0" i="1" dirty="0">
                        <a:latin typeface="Cambria Math" panose="02040503050406030204" pitchFamily="18" charset="0"/>
                        <a:ea typeface="黑体" panose="02010609060101010101" pitchFamily="49" charset="-122"/>
                      </a:rPr>
                      <m:t>以</m:t>
                    </m:r>
                    <m:r>
                      <a:rPr kumimoji="1" lang="en-US" altLang="zh-CN" sz="2200" b="0" i="1" dirty="0">
                        <a:latin typeface="Cambria Math" panose="02040503050406030204" pitchFamily="18" charset="0"/>
                        <a:ea typeface="黑体" panose="02010609060101010101" pitchFamily="49" charset="-122"/>
                      </a:rPr>
                      <m:t>𝐵</m:t>
                    </m:r>
                    <m:r>
                      <a:rPr kumimoji="1"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𝐸</m:t>
                    </m:r>
                    <m:r>
                      <a:rPr kumimoji="1" lang="zh-CN" altLang="en-US" sz="2200" b="0" i="1" dirty="0">
                        <a:latin typeface="Cambria Math" panose="02040503050406030204" pitchFamily="18" charset="0"/>
                        <a:ea typeface="黑体" panose="02010609060101010101" pitchFamily="49" charset="-122"/>
                      </a:rPr>
                      <m:t>取代</m:t>
                    </m:r>
                    <m:r>
                      <a:rPr kumimoji="1" lang="en-US" altLang="zh-CN" sz="2200" b="0" i="1" dirty="0">
                        <a:latin typeface="Cambria Math" panose="02040503050406030204" pitchFamily="18" charset="0"/>
                        <a:ea typeface="黑体" panose="02010609060101010101" pitchFamily="49" charset="-122"/>
                      </a:rPr>
                      <m:t>𝐵𝐷</m:t>
                    </m:r>
                    <m:r>
                      <a:rPr kumimoji="1" lang="en-US" altLang="zh-CN" sz="2200" b="0" i="1" dirty="0">
                        <a:latin typeface="Cambria Math" panose="02040503050406030204" pitchFamily="18" charset="0"/>
                        <a:ea typeface="黑体" panose="02010609060101010101" pitchFamily="49" charset="-122"/>
                      </a:rPr>
                      <m:t>→</m:t>
                    </m:r>
                    <m:r>
                      <a:rPr kumimoji="1" lang="en-US" altLang="zh-CN" sz="2200" b="0" i="1" dirty="0">
                        <a:latin typeface="Cambria Math" panose="02040503050406030204" pitchFamily="18" charset="0"/>
                        <a:ea typeface="黑体" panose="02010609060101010101" pitchFamily="49" charset="-122"/>
                      </a:rPr>
                      <m:t>𝐸</m:t>
                    </m:r>
                  </m:oMath>
                </a14:m>
                <a:endParaRPr kumimoji="1" lang="zh-CN" altLang="en-US" sz="2200" b="0" dirty="0"/>
              </a:p>
              <a:p>
                <a:pPr>
                  <a:buNone/>
                </a:pPr>
                <a14:m>
                  <m:oMathPara xmlns:m="http://schemas.openxmlformats.org/officeDocument/2006/math">
                    <m:oMathParaPr>
                      <m:jc m:val="centerGroup"/>
                    </m:oMathParaPr>
                    <m:oMath xmlns:m="http://schemas.openxmlformats.org/officeDocument/2006/math">
                      <m:r>
                        <a:rPr kumimoji="1" lang="en-US" altLang="zh-CN" sz="2200" b="0" i="1" dirty="0" smtClean="0">
                          <a:solidFill>
                            <a:srgbClr val="C00000"/>
                          </a:solidFill>
                          <a:latin typeface="Cambria Math" panose="02040503050406030204" pitchFamily="18" charset="0"/>
                          <a:ea typeface="黑体" panose="02010609060101010101" pitchFamily="49" charset="-122"/>
                        </a:rPr>
                        <m:t>𝐹</m:t>
                      </m:r>
                      <m:r>
                        <a:rPr kumimoji="1" lang="en-US" altLang="zh-CN" sz="2200" b="0" i="1" dirty="0" smtClean="0">
                          <a:solidFill>
                            <a:srgbClr val="C00000"/>
                          </a:solidFill>
                          <a:latin typeface="Cambria Math" panose="02040503050406030204" pitchFamily="18" charset="0"/>
                          <a:ea typeface="黑体" panose="02010609060101010101" pitchFamily="49" charset="-122"/>
                        </a:rPr>
                        <m:t>={</m:t>
                      </m:r>
                      <m:r>
                        <a:rPr kumimoji="1" lang="en-US" altLang="zh-CN" sz="2200" b="0" i="1" dirty="0" smtClean="0">
                          <a:solidFill>
                            <a:srgbClr val="C00000"/>
                          </a:solidFill>
                          <a:latin typeface="Cambria Math" panose="02040503050406030204" pitchFamily="18" charset="0"/>
                          <a:ea typeface="黑体" panose="02010609060101010101" pitchFamily="49" charset="-122"/>
                        </a:rPr>
                        <m:t>𝐴</m:t>
                      </m:r>
                      <m:r>
                        <a:rPr kumimoji="1" lang="en-US" altLang="zh-CN" sz="2200" b="0" i="1" dirty="0" smtClean="0">
                          <a:solidFill>
                            <a:srgbClr val="C00000"/>
                          </a:solidFill>
                          <a:latin typeface="Cambria Math" panose="02040503050406030204" pitchFamily="18" charset="0"/>
                          <a:ea typeface="黑体" panose="02010609060101010101" pitchFamily="49" charset="-122"/>
                        </a:rPr>
                        <m:t>→</m:t>
                      </m:r>
                      <m:r>
                        <a:rPr kumimoji="1" lang="en-US" altLang="zh-CN" sz="2200" b="0" i="1" dirty="0" smtClean="0">
                          <a:solidFill>
                            <a:srgbClr val="C00000"/>
                          </a:solidFill>
                          <a:latin typeface="Cambria Math" panose="02040503050406030204" pitchFamily="18" charset="0"/>
                          <a:ea typeface="黑体" panose="02010609060101010101" pitchFamily="49" charset="-122"/>
                        </a:rPr>
                        <m:t>𝐵</m:t>
                      </m:r>
                      <m:r>
                        <a:rPr kumimoji="1" lang="en-US" altLang="zh-CN" sz="2200" b="0" i="1" dirty="0" smtClean="0">
                          <a:solidFill>
                            <a:srgbClr val="C00000"/>
                          </a:solidFill>
                          <a:latin typeface="Cambria Math" panose="02040503050406030204" pitchFamily="18" charset="0"/>
                          <a:ea typeface="黑体" panose="02010609060101010101" pitchFamily="49" charset="-122"/>
                        </a:rPr>
                        <m:t>, </m:t>
                      </m:r>
                      <m:r>
                        <a:rPr kumimoji="1" lang="en-US" altLang="zh-CN" sz="2200" b="0" i="1" dirty="0" smtClean="0">
                          <a:solidFill>
                            <a:srgbClr val="C00000"/>
                          </a:solidFill>
                          <a:latin typeface="Cambria Math" panose="02040503050406030204" pitchFamily="18" charset="0"/>
                          <a:ea typeface="黑体" panose="02010609060101010101" pitchFamily="49" charset="-122"/>
                        </a:rPr>
                        <m:t>𝐴</m:t>
                      </m:r>
                      <m:r>
                        <a:rPr kumimoji="1" lang="en-US" altLang="zh-CN" sz="2200" b="0" i="1" dirty="0" smtClean="0">
                          <a:solidFill>
                            <a:srgbClr val="C00000"/>
                          </a:solidFill>
                          <a:latin typeface="Cambria Math" panose="02040503050406030204" pitchFamily="18" charset="0"/>
                          <a:ea typeface="黑体" panose="02010609060101010101" pitchFamily="49" charset="-122"/>
                        </a:rPr>
                        <m:t>→</m:t>
                      </m:r>
                      <m:r>
                        <a:rPr kumimoji="1" lang="en-US" altLang="zh-CN" sz="2200" b="0" i="1" dirty="0" smtClean="0">
                          <a:solidFill>
                            <a:srgbClr val="C00000"/>
                          </a:solidFill>
                          <a:latin typeface="Cambria Math" panose="02040503050406030204" pitchFamily="18" charset="0"/>
                          <a:ea typeface="黑体" panose="02010609060101010101" pitchFamily="49" charset="-122"/>
                        </a:rPr>
                        <m:t>𝐸</m:t>
                      </m:r>
                      <m:r>
                        <a:rPr kumimoji="1" lang="en-US" altLang="zh-CN" sz="2200" b="0" i="1" dirty="0" smtClean="0">
                          <a:solidFill>
                            <a:srgbClr val="C00000"/>
                          </a:solidFill>
                          <a:latin typeface="Cambria Math" panose="02040503050406030204" pitchFamily="18" charset="0"/>
                          <a:ea typeface="黑体" panose="02010609060101010101" pitchFamily="49" charset="-122"/>
                        </a:rPr>
                        <m:t> ,</m:t>
                      </m:r>
                      <m:r>
                        <a:rPr kumimoji="1" lang="en-US" altLang="zh-CN" sz="2200" b="0" i="1" dirty="0" smtClean="0">
                          <a:solidFill>
                            <a:srgbClr val="C00000"/>
                          </a:solidFill>
                          <a:latin typeface="Cambria Math" panose="02040503050406030204" pitchFamily="18" charset="0"/>
                          <a:ea typeface="黑体" panose="02010609060101010101" pitchFamily="49" charset="-122"/>
                        </a:rPr>
                        <m:t>𝐴</m:t>
                      </m:r>
                      <m:r>
                        <a:rPr kumimoji="1" lang="en-US" altLang="zh-CN" sz="2200" b="0" i="1" dirty="0" smtClean="0">
                          <a:solidFill>
                            <a:srgbClr val="C00000"/>
                          </a:solidFill>
                          <a:latin typeface="Cambria Math" panose="02040503050406030204" pitchFamily="18" charset="0"/>
                          <a:ea typeface="黑体" panose="02010609060101010101" pitchFamily="49" charset="-122"/>
                        </a:rPr>
                        <m:t>→</m:t>
                      </m:r>
                      <m:r>
                        <a:rPr kumimoji="1" lang="en-US" altLang="zh-CN" sz="2200" b="0" i="1" dirty="0" smtClean="0">
                          <a:solidFill>
                            <a:srgbClr val="C00000"/>
                          </a:solidFill>
                          <a:latin typeface="Cambria Math" panose="02040503050406030204" pitchFamily="18" charset="0"/>
                          <a:ea typeface="黑体" panose="02010609060101010101" pitchFamily="49" charset="-122"/>
                        </a:rPr>
                        <m:t>𝐷</m:t>
                      </m:r>
                      <m:r>
                        <a:rPr kumimoji="1" lang="en-US" altLang="zh-CN" sz="2200" b="0" i="1" dirty="0" smtClean="0">
                          <a:solidFill>
                            <a:srgbClr val="C00000"/>
                          </a:solidFill>
                          <a:latin typeface="Cambria Math" panose="02040503050406030204" pitchFamily="18" charset="0"/>
                          <a:ea typeface="黑体" panose="02010609060101010101" pitchFamily="49" charset="-122"/>
                        </a:rPr>
                        <m:t>, </m:t>
                      </m:r>
                      <m:r>
                        <a:rPr kumimoji="1" lang="en-US" altLang="zh-CN" sz="2200" b="0" i="1" dirty="0" smtClean="0">
                          <a:solidFill>
                            <a:srgbClr val="C00000"/>
                          </a:solidFill>
                          <a:latin typeface="Cambria Math" panose="02040503050406030204" pitchFamily="18" charset="0"/>
                          <a:ea typeface="黑体" panose="02010609060101010101" pitchFamily="49" charset="-122"/>
                        </a:rPr>
                        <m:t>𝐵</m:t>
                      </m:r>
                      <m:r>
                        <a:rPr kumimoji="1" lang="en-US" altLang="zh-CN" sz="2200" b="0" i="1" dirty="0" smtClean="0">
                          <a:solidFill>
                            <a:srgbClr val="C00000"/>
                          </a:solidFill>
                          <a:latin typeface="Cambria Math" panose="02040503050406030204" pitchFamily="18" charset="0"/>
                          <a:ea typeface="黑体" panose="02010609060101010101" pitchFamily="49" charset="-122"/>
                        </a:rPr>
                        <m:t>→</m:t>
                      </m:r>
                      <m:r>
                        <a:rPr kumimoji="1" lang="en-US" altLang="zh-CN" sz="2200" b="0" i="1" dirty="0" smtClean="0">
                          <a:solidFill>
                            <a:srgbClr val="C00000"/>
                          </a:solidFill>
                          <a:latin typeface="Cambria Math" panose="02040503050406030204" pitchFamily="18" charset="0"/>
                          <a:ea typeface="黑体" panose="02010609060101010101" pitchFamily="49" charset="-122"/>
                        </a:rPr>
                        <m:t>𝐶</m:t>
                      </m:r>
                      <m:r>
                        <a:rPr kumimoji="1" lang="en-US" altLang="zh-CN" sz="2200" b="0" i="1" dirty="0" smtClean="0">
                          <a:solidFill>
                            <a:srgbClr val="C00000"/>
                          </a:solidFill>
                          <a:latin typeface="Cambria Math" panose="02040503050406030204" pitchFamily="18" charset="0"/>
                          <a:ea typeface="黑体" panose="02010609060101010101" pitchFamily="49" charset="-122"/>
                        </a:rPr>
                        <m:t>, </m:t>
                      </m:r>
                      <m:r>
                        <a:rPr kumimoji="1" lang="en-US" altLang="zh-CN" sz="2200" b="0" i="1" dirty="0" smtClean="0">
                          <a:solidFill>
                            <a:srgbClr val="C00000"/>
                          </a:solidFill>
                          <a:latin typeface="Cambria Math" panose="02040503050406030204" pitchFamily="18" charset="0"/>
                          <a:ea typeface="黑体" panose="02010609060101010101" pitchFamily="49" charset="-122"/>
                        </a:rPr>
                        <m:t>𝐵</m:t>
                      </m:r>
                      <m:r>
                        <a:rPr kumimoji="1" lang="en-US" altLang="zh-CN" sz="2200" b="0" i="1" dirty="0" smtClean="0">
                          <a:solidFill>
                            <a:srgbClr val="C00000"/>
                          </a:solidFill>
                          <a:latin typeface="Cambria Math" panose="02040503050406030204" pitchFamily="18" charset="0"/>
                          <a:ea typeface="黑体" panose="02010609060101010101" pitchFamily="49" charset="-122"/>
                        </a:rPr>
                        <m:t>→</m:t>
                      </m:r>
                      <m:r>
                        <a:rPr kumimoji="1" lang="en-US" altLang="zh-CN" sz="2200" b="0" i="1" dirty="0" smtClean="0">
                          <a:solidFill>
                            <a:srgbClr val="C00000"/>
                          </a:solidFill>
                          <a:latin typeface="Cambria Math" panose="02040503050406030204" pitchFamily="18" charset="0"/>
                          <a:ea typeface="黑体" panose="02010609060101010101" pitchFamily="49" charset="-122"/>
                        </a:rPr>
                        <m:t>𝐸</m:t>
                      </m:r>
                      <m:r>
                        <a:rPr kumimoji="1" lang="en-US" altLang="zh-CN" sz="2200" b="0" i="1" dirty="0" smtClean="0">
                          <a:solidFill>
                            <a:srgbClr val="C00000"/>
                          </a:solidFill>
                          <a:latin typeface="Cambria Math" panose="02040503050406030204" pitchFamily="18" charset="0"/>
                          <a:ea typeface="黑体" panose="02010609060101010101" pitchFamily="49" charset="-122"/>
                        </a:rPr>
                        <m:t>, </m:t>
                      </m:r>
                      <m:r>
                        <a:rPr kumimoji="1" lang="en-US" altLang="zh-CN" sz="2200" b="0" i="1" dirty="0" smtClean="0">
                          <a:solidFill>
                            <a:srgbClr val="C00000"/>
                          </a:solidFill>
                          <a:latin typeface="Cambria Math" panose="02040503050406030204" pitchFamily="18" charset="0"/>
                          <a:ea typeface="黑体" panose="02010609060101010101" pitchFamily="49" charset="-122"/>
                        </a:rPr>
                        <m:t>𝐶</m:t>
                      </m:r>
                      <m:r>
                        <a:rPr kumimoji="1" lang="en-US" altLang="zh-CN" sz="2200" b="0" i="1" dirty="0" smtClean="0">
                          <a:solidFill>
                            <a:srgbClr val="C00000"/>
                          </a:solidFill>
                          <a:latin typeface="Cambria Math" panose="02040503050406030204" pitchFamily="18" charset="0"/>
                          <a:ea typeface="黑体" panose="02010609060101010101" pitchFamily="49" charset="-122"/>
                        </a:rPr>
                        <m:t>→</m:t>
                      </m:r>
                      <m:r>
                        <a:rPr kumimoji="1" lang="en-US" altLang="zh-CN" sz="2200" b="0" i="1" dirty="0" smtClean="0">
                          <a:solidFill>
                            <a:srgbClr val="C00000"/>
                          </a:solidFill>
                          <a:latin typeface="Cambria Math" panose="02040503050406030204" pitchFamily="18" charset="0"/>
                          <a:ea typeface="黑体" panose="02010609060101010101" pitchFamily="49" charset="-122"/>
                        </a:rPr>
                        <m:t>𝐷</m:t>
                      </m:r>
                      <m:r>
                        <a:rPr kumimoji="1" lang="en-US" altLang="zh-CN" sz="2200" b="0" i="1" dirty="0" smtClean="0">
                          <a:solidFill>
                            <a:srgbClr val="C00000"/>
                          </a:solidFill>
                          <a:latin typeface="Cambria Math" panose="02040503050406030204" pitchFamily="18" charset="0"/>
                          <a:ea typeface="黑体" panose="02010609060101010101" pitchFamily="49" charset="-122"/>
                        </a:rPr>
                        <m:t>, </m:t>
                      </m:r>
                      <m:r>
                        <a:rPr kumimoji="1" lang="en-US" altLang="zh-CN" sz="2200" b="0" i="1" dirty="0" smtClean="0">
                          <a:solidFill>
                            <a:srgbClr val="C00000"/>
                          </a:solidFill>
                          <a:latin typeface="Cambria Math" panose="02040503050406030204" pitchFamily="18" charset="0"/>
                          <a:ea typeface="黑体" panose="02010609060101010101" pitchFamily="49" charset="-122"/>
                        </a:rPr>
                        <m:t>𝐻</m:t>
                      </m:r>
                      <m:r>
                        <a:rPr kumimoji="1" lang="en-US" altLang="zh-CN" sz="2200" b="0" i="1" dirty="0" smtClean="0">
                          <a:solidFill>
                            <a:srgbClr val="C00000"/>
                          </a:solidFill>
                          <a:latin typeface="Cambria Math" panose="02040503050406030204" pitchFamily="18" charset="0"/>
                          <a:ea typeface="黑体" panose="02010609060101010101" pitchFamily="49" charset="-122"/>
                        </a:rPr>
                        <m:t>→</m:t>
                      </m:r>
                      <m:r>
                        <a:rPr kumimoji="1" lang="en-US" altLang="zh-CN" sz="2200" b="0" i="1" dirty="0" smtClean="0">
                          <a:solidFill>
                            <a:srgbClr val="C00000"/>
                          </a:solidFill>
                          <a:latin typeface="Cambria Math" panose="02040503050406030204" pitchFamily="18" charset="0"/>
                          <a:ea typeface="黑体" panose="02010609060101010101" pitchFamily="49" charset="-122"/>
                        </a:rPr>
                        <m:t>𝐼</m:t>
                      </m:r>
                      <m:r>
                        <a:rPr kumimoji="1" lang="en-US" altLang="zh-CN" sz="2200" b="0" i="1" dirty="0" smtClean="0">
                          <a:solidFill>
                            <a:srgbClr val="C00000"/>
                          </a:solidFill>
                          <a:latin typeface="Cambria Math" panose="02040503050406030204" pitchFamily="18" charset="0"/>
                          <a:ea typeface="黑体" panose="02010609060101010101" pitchFamily="49" charset="-122"/>
                        </a:rPr>
                        <m:t>,</m:t>
                      </m:r>
                      <m:r>
                        <a:rPr kumimoji="1" lang="en-US" altLang="zh-CN" sz="2200" b="0" i="1" dirty="0" smtClean="0">
                          <a:solidFill>
                            <a:srgbClr val="C00000"/>
                          </a:solidFill>
                          <a:latin typeface="Cambria Math" panose="02040503050406030204" pitchFamily="18" charset="0"/>
                          <a:ea typeface="黑体" panose="02010609060101010101" pitchFamily="49" charset="-122"/>
                        </a:rPr>
                        <m:t>𝐼</m:t>
                      </m:r>
                      <m:r>
                        <a:rPr kumimoji="1" lang="en-US" altLang="zh-CN" sz="2200" b="0" i="1" dirty="0" smtClean="0">
                          <a:solidFill>
                            <a:srgbClr val="C00000"/>
                          </a:solidFill>
                          <a:latin typeface="Cambria Math" panose="02040503050406030204" pitchFamily="18" charset="0"/>
                          <a:ea typeface="黑体" panose="02010609060101010101" pitchFamily="49" charset="-122"/>
                        </a:rPr>
                        <m:t>→</m:t>
                      </m:r>
                      <m:r>
                        <a:rPr kumimoji="1" lang="en-US" altLang="zh-CN" sz="2200" b="0" i="1" dirty="0" smtClean="0">
                          <a:solidFill>
                            <a:srgbClr val="C00000"/>
                          </a:solidFill>
                          <a:latin typeface="Cambria Math" panose="02040503050406030204" pitchFamily="18" charset="0"/>
                          <a:ea typeface="黑体" panose="02010609060101010101" pitchFamily="49" charset="-122"/>
                        </a:rPr>
                        <m:t>𝐻</m:t>
                      </m:r>
                      <m:r>
                        <a:rPr kumimoji="1" lang="en-US" altLang="zh-CN" sz="2200" b="0" i="1" dirty="0" smtClean="0">
                          <a:solidFill>
                            <a:srgbClr val="C00000"/>
                          </a:solidFill>
                          <a:latin typeface="Cambria Math" panose="02040503050406030204" pitchFamily="18" charset="0"/>
                          <a:ea typeface="黑体" panose="02010609060101010101" pitchFamily="49" charset="-122"/>
                        </a:rPr>
                        <m:t>, </m:t>
                      </m:r>
                      <m:r>
                        <a:rPr kumimoji="1" lang="en-US" altLang="zh-CN" sz="2200" b="0" i="1" dirty="0" smtClean="0">
                          <a:solidFill>
                            <a:srgbClr val="C00000"/>
                          </a:solidFill>
                          <a:latin typeface="Cambria Math" panose="02040503050406030204" pitchFamily="18" charset="0"/>
                          <a:ea typeface="黑体" panose="02010609060101010101" pitchFamily="49" charset="-122"/>
                        </a:rPr>
                        <m:t>𝐻</m:t>
                      </m:r>
                      <m:r>
                        <a:rPr kumimoji="1" lang="en-US" altLang="zh-CN" sz="2200" b="0" i="1" dirty="0" smtClean="0">
                          <a:solidFill>
                            <a:srgbClr val="C00000"/>
                          </a:solidFill>
                          <a:latin typeface="Cambria Math" panose="02040503050406030204" pitchFamily="18" charset="0"/>
                          <a:ea typeface="黑体" panose="02010609060101010101" pitchFamily="49" charset="-122"/>
                        </a:rPr>
                        <m:t>→</m:t>
                      </m:r>
                      <m:r>
                        <a:rPr kumimoji="1" lang="en-US" altLang="zh-CN" sz="2200" b="0" i="1" dirty="0" smtClean="0">
                          <a:solidFill>
                            <a:srgbClr val="C00000"/>
                          </a:solidFill>
                          <a:latin typeface="Cambria Math" panose="02040503050406030204" pitchFamily="18" charset="0"/>
                          <a:ea typeface="黑体" panose="02010609060101010101" pitchFamily="49" charset="-122"/>
                        </a:rPr>
                        <m:t>𝐵</m:t>
                      </m:r>
                      <m:r>
                        <a:rPr kumimoji="1" lang="en-US" altLang="zh-CN" sz="2200" b="0" i="1" dirty="0" smtClean="0">
                          <a:solidFill>
                            <a:srgbClr val="C00000"/>
                          </a:solidFill>
                          <a:latin typeface="Cambria Math" panose="02040503050406030204" pitchFamily="18" charset="0"/>
                          <a:ea typeface="黑体" panose="02010609060101010101" pitchFamily="49" charset="-122"/>
                        </a:rPr>
                        <m:t>, </m:t>
                      </m:r>
                      <m:r>
                        <a:rPr kumimoji="1" lang="en-US" altLang="zh-CN" sz="2200" b="0" i="1" dirty="0" smtClean="0">
                          <a:solidFill>
                            <a:srgbClr val="C00000"/>
                          </a:solidFill>
                          <a:latin typeface="Cambria Math" panose="02040503050406030204" pitchFamily="18" charset="0"/>
                          <a:ea typeface="黑体" panose="02010609060101010101" pitchFamily="49" charset="-122"/>
                        </a:rPr>
                        <m:t>𝐻</m:t>
                      </m:r>
                      <m:r>
                        <a:rPr kumimoji="1" lang="en-US" altLang="zh-CN" sz="2200" b="0" i="1" dirty="0" smtClean="0">
                          <a:solidFill>
                            <a:srgbClr val="C00000"/>
                          </a:solidFill>
                          <a:latin typeface="Cambria Math" panose="02040503050406030204" pitchFamily="18" charset="0"/>
                          <a:ea typeface="黑体" panose="02010609060101010101" pitchFamily="49" charset="-122"/>
                        </a:rPr>
                        <m:t>→</m:t>
                      </m:r>
                      <m:r>
                        <a:rPr kumimoji="1" lang="en-US" altLang="zh-CN" sz="2200" b="0" i="1" dirty="0" smtClean="0">
                          <a:solidFill>
                            <a:srgbClr val="C00000"/>
                          </a:solidFill>
                          <a:latin typeface="Cambria Math" panose="02040503050406030204" pitchFamily="18" charset="0"/>
                          <a:ea typeface="黑体" panose="02010609060101010101" pitchFamily="49" charset="-122"/>
                        </a:rPr>
                        <m:t>𝐸</m:t>
                      </m:r>
                      <m:r>
                        <a:rPr kumimoji="1" lang="en-US" altLang="zh-CN" sz="2200" b="0" i="1" dirty="0" smtClean="0">
                          <a:solidFill>
                            <a:srgbClr val="C00000"/>
                          </a:solidFill>
                          <a:latin typeface="Cambria Math" panose="02040503050406030204" pitchFamily="18" charset="0"/>
                          <a:ea typeface="黑体" panose="02010609060101010101" pitchFamily="49" charset="-122"/>
                        </a:rPr>
                        <m:t>}</m:t>
                      </m:r>
                    </m:oMath>
                  </m:oMathPara>
                </a14:m>
                <a:endParaRPr kumimoji="1" lang="en-US" altLang="zh-CN" sz="2200" b="0" dirty="0">
                  <a:solidFill>
                    <a:srgbClr val="C00000"/>
                  </a:solidFill>
                </a:endParaRPr>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103"/>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fontScale="62500" lnSpcReduction="20000"/>
              </a:bodyPr>
              <a:lstStyle/>
              <a:p>
                <a:r>
                  <a:rPr kumimoji="1" lang="zh-CN" altLang="en-US" sz="4500" dirty="0"/>
                  <a:t>最小函数依赖集</a:t>
                </a:r>
                <a:endParaRPr lang="en-US" altLang="zh-CN" sz="4500" dirty="0"/>
              </a:p>
              <a:p>
                <a:pPr>
                  <a:buNone/>
                </a:pPr>
                <a14:m>
                  <m:oMathPara xmlns:m="http://schemas.openxmlformats.org/officeDocument/2006/math">
                    <m:oMathParaPr>
                      <m:jc m:val="centerGroup"/>
                    </m:oMathParaPr>
                    <m:oMath xmlns:m="http://schemas.openxmlformats.org/officeDocument/2006/math">
                      <m:r>
                        <a:rPr kumimoji="1" lang="en-US" altLang="zh-CN" sz="2900" b="0" i="1" dirty="0">
                          <a:solidFill>
                            <a:srgbClr val="C00000"/>
                          </a:solidFill>
                          <a:latin typeface="Cambria Math" panose="02040503050406030204" pitchFamily="18" charset="0"/>
                          <a:ea typeface="Cambria Math" panose="02040503050406030204" pitchFamily="18" charset="0"/>
                        </a:rPr>
                        <m:t>𝐹</m:t>
                      </m:r>
                      <m:r>
                        <a:rPr kumimoji="1" lang="en-US" altLang="zh-CN" sz="2900" b="0" i="1" dirty="0">
                          <a:solidFill>
                            <a:srgbClr val="C00000"/>
                          </a:solidFill>
                          <a:latin typeface="Cambria Math" panose="02040503050406030204" pitchFamily="18" charset="0"/>
                          <a:ea typeface="Cambria Math" panose="02040503050406030204" pitchFamily="18" charset="0"/>
                        </a:rPr>
                        <m:t>={</m:t>
                      </m:r>
                      <m:r>
                        <a:rPr kumimoji="1" lang="en-US" altLang="zh-CN" sz="2900" b="0" i="1" dirty="0">
                          <a:solidFill>
                            <a:srgbClr val="C00000"/>
                          </a:solidFill>
                          <a:latin typeface="Cambria Math" panose="02040503050406030204" pitchFamily="18" charset="0"/>
                          <a:ea typeface="Cambria Math" panose="02040503050406030204" pitchFamily="18" charset="0"/>
                        </a:rPr>
                        <m:t>𝐴</m:t>
                      </m:r>
                      <m:r>
                        <a:rPr kumimoji="1" lang="en-US" altLang="zh-CN" sz="2900" b="0" i="1" dirty="0">
                          <a:solidFill>
                            <a:srgbClr val="C00000"/>
                          </a:solidFill>
                          <a:latin typeface="Cambria Math" panose="02040503050406030204" pitchFamily="18" charset="0"/>
                          <a:ea typeface="Cambria Math" panose="02040503050406030204" pitchFamily="18" charset="0"/>
                        </a:rPr>
                        <m:t>→</m:t>
                      </m:r>
                      <m:r>
                        <a:rPr kumimoji="1" lang="en-US" altLang="zh-CN" sz="2900" b="0" i="1" dirty="0">
                          <a:solidFill>
                            <a:srgbClr val="C00000"/>
                          </a:solidFill>
                          <a:latin typeface="Cambria Math" panose="02040503050406030204" pitchFamily="18" charset="0"/>
                          <a:ea typeface="Cambria Math" panose="02040503050406030204" pitchFamily="18" charset="0"/>
                        </a:rPr>
                        <m:t>𝐵</m:t>
                      </m:r>
                      <m:r>
                        <a:rPr kumimoji="1" lang="en-US" altLang="zh-CN" sz="2900" b="0" i="1" dirty="0">
                          <a:solidFill>
                            <a:srgbClr val="C00000"/>
                          </a:solidFill>
                          <a:latin typeface="Cambria Math" panose="02040503050406030204" pitchFamily="18" charset="0"/>
                          <a:ea typeface="Cambria Math" panose="02040503050406030204" pitchFamily="18" charset="0"/>
                        </a:rPr>
                        <m:t>, </m:t>
                      </m:r>
                      <m:r>
                        <a:rPr kumimoji="1" lang="en-US" altLang="zh-CN" sz="2900" b="0" i="1" dirty="0">
                          <a:solidFill>
                            <a:srgbClr val="C00000"/>
                          </a:solidFill>
                          <a:latin typeface="Cambria Math" panose="02040503050406030204" pitchFamily="18" charset="0"/>
                          <a:ea typeface="Cambria Math" panose="02040503050406030204" pitchFamily="18" charset="0"/>
                        </a:rPr>
                        <m:t>𝐴</m:t>
                      </m:r>
                      <m:r>
                        <a:rPr kumimoji="1" lang="en-US" altLang="zh-CN" sz="2900" b="0" i="1" dirty="0">
                          <a:solidFill>
                            <a:srgbClr val="C00000"/>
                          </a:solidFill>
                          <a:latin typeface="Cambria Math" panose="02040503050406030204" pitchFamily="18" charset="0"/>
                          <a:ea typeface="Cambria Math" panose="02040503050406030204" pitchFamily="18" charset="0"/>
                        </a:rPr>
                        <m:t>→</m:t>
                      </m:r>
                      <m:r>
                        <a:rPr kumimoji="1" lang="en-US" altLang="zh-CN" sz="2900" b="0" i="1" dirty="0">
                          <a:solidFill>
                            <a:srgbClr val="C00000"/>
                          </a:solidFill>
                          <a:latin typeface="Cambria Math" panose="02040503050406030204" pitchFamily="18" charset="0"/>
                          <a:ea typeface="Cambria Math" panose="02040503050406030204" pitchFamily="18" charset="0"/>
                        </a:rPr>
                        <m:t>𝐸</m:t>
                      </m:r>
                      <m:r>
                        <a:rPr kumimoji="1" lang="en-US" altLang="zh-CN" sz="2900" b="0" i="1" dirty="0">
                          <a:solidFill>
                            <a:srgbClr val="C00000"/>
                          </a:solidFill>
                          <a:latin typeface="Cambria Math" panose="02040503050406030204" pitchFamily="18" charset="0"/>
                          <a:ea typeface="Cambria Math" panose="02040503050406030204" pitchFamily="18" charset="0"/>
                        </a:rPr>
                        <m:t> ,</m:t>
                      </m:r>
                      <m:r>
                        <a:rPr kumimoji="1" lang="en-US" altLang="zh-CN" sz="2900" b="0" i="1" dirty="0">
                          <a:solidFill>
                            <a:srgbClr val="C00000"/>
                          </a:solidFill>
                          <a:latin typeface="Cambria Math" panose="02040503050406030204" pitchFamily="18" charset="0"/>
                          <a:ea typeface="Cambria Math" panose="02040503050406030204" pitchFamily="18" charset="0"/>
                        </a:rPr>
                        <m:t>𝐴</m:t>
                      </m:r>
                      <m:r>
                        <a:rPr kumimoji="1" lang="en-US" altLang="zh-CN" sz="2900" b="0" i="1" dirty="0">
                          <a:solidFill>
                            <a:srgbClr val="C00000"/>
                          </a:solidFill>
                          <a:latin typeface="Cambria Math" panose="02040503050406030204" pitchFamily="18" charset="0"/>
                          <a:ea typeface="Cambria Math" panose="02040503050406030204" pitchFamily="18" charset="0"/>
                        </a:rPr>
                        <m:t>→</m:t>
                      </m:r>
                      <m:r>
                        <a:rPr kumimoji="1" lang="en-US" altLang="zh-CN" sz="2900" b="0" i="1" dirty="0">
                          <a:solidFill>
                            <a:srgbClr val="C00000"/>
                          </a:solidFill>
                          <a:latin typeface="Cambria Math" panose="02040503050406030204" pitchFamily="18" charset="0"/>
                          <a:ea typeface="Cambria Math" panose="02040503050406030204" pitchFamily="18" charset="0"/>
                        </a:rPr>
                        <m:t>𝐷</m:t>
                      </m:r>
                      <m:r>
                        <a:rPr kumimoji="1" lang="en-US" altLang="zh-CN" sz="2900" b="0" i="1" dirty="0">
                          <a:solidFill>
                            <a:srgbClr val="C00000"/>
                          </a:solidFill>
                          <a:latin typeface="Cambria Math" panose="02040503050406030204" pitchFamily="18" charset="0"/>
                          <a:ea typeface="Cambria Math" panose="02040503050406030204" pitchFamily="18" charset="0"/>
                        </a:rPr>
                        <m:t>, </m:t>
                      </m:r>
                      <m:r>
                        <a:rPr kumimoji="1" lang="en-US" altLang="zh-CN" sz="2900" b="0" i="1" dirty="0">
                          <a:solidFill>
                            <a:srgbClr val="C00000"/>
                          </a:solidFill>
                          <a:latin typeface="Cambria Math" panose="02040503050406030204" pitchFamily="18" charset="0"/>
                          <a:ea typeface="Cambria Math" panose="02040503050406030204" pitchFamily="18" charset="0"/>
                        </a:rPr>
                        <m:t>𝐵</m:t>
                      </m:r>
                      <m:r>
                        <a:rPr kumimoji="1" lang="en-US" altLang="zh-CN" sz="2900" b="0" i="1" dirty="0">
                          <a:solidFill>
                            <a:srgbClr val="C00000"/>
                          </a:solidFill>
                          <a:latin typeface="Cambria Math" panose="02040503050406030204" pitchFamily="18" charset="0"/>
                          <a:ea typeface="Cambria Math" panose="02040503050406030204" pitchFamily="18" charset="0"/>
                        </a:rPr>
                        <m:t>→</m:t>
                      </m:r>
                      <m:r>
                        <a:rPr kumimoji="1" lang="en-US" altLang="zh-CN" sz="2900" b="0" i="1" dirty="0">
                          <a:solidFill>
                            <a:srgbClr val="C00000"/>
                          </a:solidFill>
                          <a:latin typeface="Cambria Math" panose="02040503050406030204" pitchFamily="18" charset="0"/>
                          <a:ea typeface="Cambria Math" panose="02040503050406030204" pitchFamily="18" charset="0"/>
                        </a:rPr>
                        <m:t>𝐶</m:t>
                      </m:r>
                      <m:r>
                        <a:rPr kumimoji="1" lang="en-US" altLang="zh-CN" sz="2900" b="0" i="1" dirty="0">
                          <a:solidFill>
                            <a:srgbClr val="C00000"/>
                          </a:solidFill>
                          <a:latin typeface="Cambria Math" panose="02040503050406030204" pitchFamily="18" charset="0"/>
                          <a:ea typeface="Cambria Math" panose="02040503050406030204" pitchFamily="18" charset="0"/>
                        </a:rPr>
                        <m:t>, </m:t>
                      </m:r>
                      <m:r>
                        <a:rPr kumimoji="1" lang="en-US" altLang="zh-CN" sz="2900" b="0" i="1" dirty="0">
                          <a:solidFill>
                            <a:srgbClr val="C00000"/>
                          </a:solidFill>
                          <a:latin typeface="Cambria Math" panose="02040503050406030204" pitchFamily="18" charset="0"/>
                          <a:ea typeface="Cambria Math" panose="02040503050406030204" pitchFamily="18" charset="0"/>
                        </a:rPr>
                        <m:t>𝐵</m:t>
                      </m:r>
                      <m:r>
                        <a:rPr kumimoji="1" lang="en-US" altLang="zh-CN" sz="2900" b="0" i="1" dirty="0">
                          <a:solidFill>
                            <a:srgbClr val="C00000"/>
                          </a:solidFill>
                          <a:latin typeface="Cambria Math" panose="02040503050406030204" pitchFamily="18" charset="0"/>
                          <a:ea typeface="Cambria Math" panose="02040503050406030204" pitchFamily="18" charset="0"/>
                        </a:rPr>
                        <m:t>→</m:t>
                      </m:r>
                      <m:r>
                        <a:rPr kumimoji="1" lang="en-US" altLang="zh-CN" sz="2900" b="0" i="1" dirty="0">
                          <a:solidFill>
                            <a:srgbClr val="C00000"/>
                          </a:solidFill>
                          <a:latin typeface="Cambria Math" panose="02040503050406030204" pitchFamily="18" charset="0"/>
                          <a:ea typeface="Cambria Math" panose="02040503050406030204" pitchFamily="18" charset="0"/>
                        </a:rPr>
                        <m:t>𝐸</m:t>
                      </m:r>
                      <m:r>
                        <a:rPr kumimoji="1" lang="en-US" altLang="zh-CN" sz="2900" b="0" i="1" dirty="0">
                          <a:solidFill>
                            <a:srgbClr val="C00000"/>
                          </a:solidFill>
                          <a:latin typeface="Cambria Math" panose="02040503050406030204" pitchFamily="18" charset="0"/>
                          <a:ea typeface="Cambria Math" panose="02040503050406030204" pitchFamily="18" charset="0"/>
                        </a:rPr>
                        <m:t>, </m:t>
                      </m:r>
                      <m:r>
                        <a:rPr kumimoji="1" lang="en-US" altLang="zh-CN" sz="2900" b="0" i="1" dirty="0">
                          <a:solidFill>
                            <a:srgbClr val="C00000"/>
                          </a:solidFill>
                          <a:latin typeface="Cambria Math" panose="02040503050406030204" pitchFamily="18" charset="0"/>
                          <a:ea typeface="Cambria Math" panose="02040503050406030204" pitchFamily="18" charset="0"/>
                        </a:rPr>
                        <m:t>𝐶</m:t>
                      </m:r>
                      <m:r>
                        <a:rPr kumimoji="1" lang="en-US" altLang="zh-CN" sz="2900" b="0" i="1" dirty="0">
                          <a:solidFill>
                            <a:srgbClr val="C00000"/>
                          </a:solidFill>
                          <a:latin typeface="Cambria Math" panose="02040503050406030204" pitchFamily="18" charset="0"/>
                          <a:ea typeface="Cambria Math" panose="02040503050406030204" pitchFamily="18" charset="0"/>
                        </a:rPr>
                        <m:t>→</m:t>
                      </m:r>
                      <m:r>
                        <a:rPr kumimoji="1" lang="en-US" altLang="zh-CN" sz="2900" b="0" i="1" dirty="0">
                          <a:solidFill>
                            <a:srgbClr val="C00000"/>
                          </a:solidFill>
                          <a:latin typeface="Cambria Math" panose="02040503050406030204" pitchFamily="18" charset="0"/>
                          <a:ea typeface="Cambria Math" panose="02040503050406030204" pitchFamily="18" charset="0"/>
                        </a:rPr>
                        <m:t>𝐷</m:t>
                      </m:r>
                      <m:r>
                        <a:rPr kumimoji="1" lang="en-US" altLang="zh-CN" sz="2900" b="0" i="1" dirty="0">
                          <a:solidFill>
                            <a:srgbClr val="C00000"/>
                          </a:solidFill>
                          <a:latin typeface="Cambria Math" panose="02040503050406030204" pitchFamily="18" charset="0"/>
                          <a:ea typeface="Cambria Math" panose="02040503050406030204" pitchFamily="18" charset="0"/>
                        </a:rPr>
                        <m:t>, </m:t>
                      </m:r>
                      <m:r>
                        <a:rPr kumimoji="1" lang="en-US" altLang="zh-CN" sz="2900" b="0" i="1" dirty="0">
                          <a:solidFill>
                            <a:srgbClr val="C00000"/>
                          </a:solidFill>
                          <a:latin typeface="Cambria Math" panose="02040503050406030204" pitchFamily="18" charset="0"/>
                          <a:ea typeface="Cambria Math" panose="02040503050406030204" pitchFamily="18" charset="0"/>
                        </a:rPr>
                        <m:t>𝐻</m:t>
                      </m:r>
                      <m:r>
                        <a:rPr kumimoji="1" lang="en-US" altLang="zh-CN" sz="2900" b="0" i="1" dirty="0">
                          <a:solidFill>
                            <a:srgbClr val="C00000"/>
                          </a:solidFill>
                          <a:latin typeface="Cambria Math" panose="02040503050406030204" pitchFamily="18" charset="0"/>
                          <a:ea typeface="Cambria Math" panose="02040503050406030204" pitchFamily="18" charset="0"/>
                        </a:rPr>
                        <m:t>→</m:t>
                      </m:r>
                      <m:r>
                        <a:rPr kumimoji="1" lang="en-US" altLang="zh-CN" sz="2900" b="0" i="1" dirty="0">
                          <a:solidFill>
                            <a:srgbClr val="C00000"/>
                          </a:solidFill>
                          <a:latin typeface="Cambria Math" panose="02040503050406030204" pitchFamily="18" charset="0"/>
                          <a:ea typeface="Cambria Math" panose="02040503050406030204" pitchFamily="18" charset="0"/>
                        </a:rPr>
                        <m:t>𝐼</m:t>
                      </m:r>
                      <m:r>
                        <a:rPr kumimoji="1" lang="en-US" altLang="zh-CN" sz="2900" b="0" i="1" dirty="0">
                          <a:solidFill>
                            <a:srgbClr val="C00000"/>
                          </a:solidFill>
                          <a:latin typeface="Cambria Math" panose="02040503050406030204" pitchFamily="18" charset="0"/>
                          <a:ea typeface="Cambria Math" panose="02040503050406030204" pitchFamily="18" charset="0"/>
                        </a:rPr>
                        <m:t>,</m:t>
                      </m:r>
                      <m:r>
                        <a:rPr kumimoji="1" lang="en-US" altLang="zh-CN" sz="2900" b="0" i="1" dirty="0">
                          <a:solidFill>
                            <a:srgbClr val="C00000"/>
                          </a:solidFill>
                          <a:latin typeface="Cambria Math" panose="02040503050406030204" pitchFamily="18" charset="0"/>
                          <a:ea typeface="Cambria Math" panose="02040503050406030204" pitchFamily="18" charset="0"/>
                        </a:rPr>
                        <m:t>𝐼</m:t>
                      </m:r>
                      <m:r>
                        <a:rPr kumimoji="1" lang="en-US" altLang="zh-CN" sz="2900" b="0" i="1" dirty="0">
                          <a:solidFill>
                            <a:srgbClr val="C00000"/>
                          </a:solidFill>
                          <a:latin typeface="Cambria Math" panose="02040503050406030204" pitchFamily="18" charset="0"/>
                          <a:ea typeface="Cambria Math" panose="02040503050406030204" pitchFamily="18" charset="0"/>
                        </a:rPr>
                        <m:t>→</m:t>
                      </m:r>
                      <m:r>
                        <a:rPr kumimoji="1" lang="en-US" altLang="zh-CN" sz="2900" b="0" i="1" dirty="0">
                          <a:solidFill>
                            <a:srgbClr val="C00000"/>
                          </a:solidFill>
                          <a:latin typeface="Cambria Math" panose="02040503050406030204" pitchFamily="18" charset="0"/>
                          <a:ea typeface="Cambria Math" panose="02040503050406030204" pitchFamily="18" charset="0"/>
                        </a:rPr>
                        <m:t>𝐻</m:t>
                      </m:r>
                      <m:r>
                        <a:rPr kumimoji="1" lang="en-US" altLang="zh-CN" sz="2900" b="0" i="1" dirty="0">
                          <a:solidFill>
                            <a:srgbClr val="C00000"/>
                          </a:solidFill>
                          <a:latin typeface="Cambria Math" panose="02040503050406030204" pitchFamily="18" charset="0"/>
                          <a:ea typeface="Cambria Math" panose="02040503050406030204" pitchFamily="18" charset="0"/>
                        </a:rPr>
                        <m:t>, </m:t>
                      </m:r>
                      <m:r>
                        <a:rPr kumimoji="1" lang="en-US" altLang="zh-CN" sz="2900" b="0" i="1" dirty="0">
                          <a:solidFill>
                            <a:srgbClr val="C00000"/>
                          </a:solidFill>
                          <a:latin typeface="Cambria Math" panose="02040503050406030204" pitchFamily="18" charset="0"/>
                          <a:ea typeface="Cambria Math" panose="02040503050406030204" pitchFamily="18" charset="0"/>
                        </a:rPr>
                        <m:t>𝐻</m:t>
                      </m:r>
                      <m:r>
                        <a:rPr kumimoji="1" lang="en-US" altLang="zh-CN" sz="2900" b="0" i="1" dirty="0">
                          <a:solidFill>
                            <a:srgbClr val="C00000"/>
                          </a:solidFill>
                          <a:latin typeface="Cambria Math" panose="02040503050406030204" pitchFamily="18" charset="0"/>
                          <a:ea typeface="Cambria Math" panose="02040503050406030204" pitchFamily="18" charset="0"/>
                        </a:rPr>
                        <m:t>→</m:t>
                      </m:r>
                      <m:r>
                        <a:rPr kumimoji="1" lang="en-US" altLang="zh-CN" sz="2900" b="0" i="1" dirty="0">
                          <a:solidFill>
                            <a:srgbClr val="C00000"/>
                          </a:solidFill>
                          <a:latin typeface="Cambria Math" panose="02040503050406030204" pitchFamily="18" charset="0"/>
                          <a:ea typeface="Cambria Math" panose="02040503050406030204" pitchFamily="18" charset="0"/>
                        </a:rPr>
                        <m:t>𝐵</m:t>
                      </m:r>
                      <m:r>
                        <a:rPr kumimoji="1" lang="en-US" altLang="zh-CN" sz="2900" b="0" i="1" dirty="0">
                          <a:solidFill>
                            <a:srgbClr val="C00000"/>
                          </a:solidFill>
                          <a:latin typeface="Cambria Math" panose="02040503050406030204" pitchFamily="18" charset="0"/>
                          <a:ea typeface="Cambria Math" panose="02040503050406030204" pitchFamily="18" charset="0"/>
                        </a:rPr>
                        <m:t>, </m:t>
                      </m:r>
                      <m:r>
                        <a:rPr kumimoji="1" lang="en-US" altLang="zh-CN" sz="2900" b="0" i="1" dirty="0">
                          <a:solidFill>
                            <a:srgbClr val="C00000"/>
                          </a:solidFill>
                          <a:latin typeface="Cambria Math" panose="02040503050406030204" pitchFamily="18" charset="0"/>
                          <a:ea typeface="Cambria Math" panose="02040503050406030204" pitchFamily="18" charset="0"/>
                        </a:rPr>
                        <m:t>𝐻</m:t>
                      </m:r>
                      <m:r>
                        <a:rPr kumimoji="1" lang="en-US" altLang="zh-CN" sz="2900" b="0" i="1" dirty="0">
                          <a:solidFill>
                            <a:srgbClr val="C00000"/>
                          </a:solidFill>
                          <a:latin typeface="Cambria Math" panose="02040503050406030204" pitchFamily="18" charset="0"/>
                          <a:ea typeface="Cambria Math" panose="02040503050406030204" pitchFamily="18" charset="0"/>
                        </a:rPr>
                        <m:t>→</m:t>
                      </m:r>
                      <m:r>
                        <a:rPr kumimoji="1" lang="en-US" altLang="zh-CN" sz="2900" b="0" i="1" dirty="0">
                          <a:solidFill>
                            <a:srgbClr val="C00000"/>
                          </a:solidFill>
                          <a:latin typeface="Cambria Math" panose="02040503050406030204" pitchFamily="18" charset="0"/>
                          <a:ea typeface="Cambria Math" panose="02040503050406030204" pitchFamily="18" charset="0"/>
                        </a:rPr>
                        <m:t>𝐸</m:t>
                      </m:r>
                      <m:r>
                        <a:rPr kumimoji="1" lang="en-US" altLang="zh-CN" sz="2900" b="0" i="1" dirty="0">
                          <a:solidFill>
                            <a:srgbClr val="C00000"/>
                          </a:solidFill>
                          <a:latin typeface="Cambria Math" panose="02040503050406030204" pitchFamily="18" charset="0"/>
                          <a:ea typeface="Cambria Math" panose="02040503050406030204" pitchFamily="18" charset="0"/>
                        </a:rPr>
                        <m:t>}</m:t>
                      </m:r>
                    </m:oMath>
                  </m:oMathPara>
                </a14:m>
                <a:endParaRPr lang="en-US" altLang="zh-CN" sz="2900" b="0" dirty="0"/>
              </a:p>
              <a:p>
                <a:pPr>
                  <a:buNone/>
                </a:pPr>
                <a:r>
                  <a:rPr lang="zh-CN" altLang="en-US" sz="3100" b="0" dirty="0"/>
                  <a:t>（</a:t>
                </a:r>
                <a:r>
                  <a:rPr lang="en-US" altLang="zh-CN" sz="3100" b="0" dirty="0"/>
                  <a:t>3</a:t>
                </a:r>
                <a:r>
                  <a:rPr lang="zh-CN" altLang="en-US" sz="3100" b="0" dirty="0"/>
                  <a:t>）消除多余的函数依赖</a:t>
                </a:r>
                <a:endParaRPr lang="zh-CN" altLang="en-US" sz="3100" b="0" dirty="0"/>
              </a:p>
              <a:p>
                <a:pPr algn="l">
                  <a:lnSpc>
                    <a:spcPct val="80000"/>
                  </a:lnSpc>
                  <a:buNone/>
                </a:pPr>
                <a14:m>
                  <m:oMath xmlns:m="http://schemas.openxmlformats.org/officeDocument/2006/math">
                    <m:r>
                      <a:rPr lang="en-US" altLang="zh-CN" sz="2600" b="0" i="1" dirty="0" smtClean="0">
                        <a:latin typeface="Cambria Math" panose="02040503050406030204" pitchFamily="18" charset="0"/>
                      </a:rPr>
                      <m:t>𝐴</m:t>
                    </m:r>
                    <m:r>
                      <a:rPr lang="en-US" altLang="zh-CN" sz="2600" b="0" i="1" dirty="0" smtClean="0">
                        <a:latin typeface="Cambria Math" panose="02040503050406030204" pitchFamily="18" charset="0"/>
                      </a:rPr>
                      <m:t>→</m:t>
                    </m:r>
                    <m:r>
                      <a:rPr lang="en-US" altLang="zh-CN" sz="2600" b="0" i="1" dirty="0" smtClean="0">
                        <a:latin typeface="Cambria Math" panose="02040503050406030204" pitchFamily="18" charset="0"/>
                      </a:rPr>
                      <m:t>𝐵</m:t>
                    </m:r>
                    <m:r>
                      <a:rPr lang="en-US" altLang="zh-CN" sz="2600" b="0" i="1" dirty="0" smtClean="0">
                        <a:latin typeface="Cambria Math" panose="02040503050406030204" pitchFamily="18" charset="0"/>
                      </a:rPr>
                      <m:t>  ∵</m:t>
                    </m:r>
                    <m:r>
                      <a:rPr lang="en-US" altLang="zh-CN" sz="2600" b="0" i="1" dirty="0" smtClean="0">
                        <a:latin typeface="Cambria Math" panose="02040503050406030204" pitchFamily="18" charset="0"/>
                      </a:rPr>
                      <m:t>𝐴𝐺</m:t>
                    </m:r>
                    <m:r>
                      <a:rPr lang="en-US" altLang="zh-CN" sz="2600" b="0" i="1" baseline="30000" dirty="0">
                        <a:latin typeface="Cambria Math" panose="02040503050406030204" pitchFamily="18" charset="0"/>
                      </a:rPr>
                      <m:t>+</m:t>
                    </m:r>
                    <m:r>
                      <a:rPr lang="zh-CN" altLang="en-US" sz="2600" b="0" i="1" dirty="0">
                        <a:latin typeface="Cambria Math" panose="02040503050406030204" pitchFamily="18" charset="0"/>
                      </a:rPr>
                      <m:t>＝</m:t>
                    </m:r>
                    <m:r>
                      <a:rPr lang="en-US" altLang="zh-CN" sz="2600" b="0" i="1" dirty="0">
                        <a:latin typeface="Cambria Math" panose="02040503050406030204" pitchFamily="18" charset="0"/>
                      </a:rPr>
                      <m:t>𝐴𝐸𝐷</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𝐵</m:t>
                    </m:r>
                    <m:r>
                      <a:rPr lang="en-US" altLang="zh-CN" sz="2600" b="0" i="1" dirty="0">
                        <a:latin typeface="Cambria Math" panose="02040503050406030204" pitchFamily="18" charset="0"/>
                        <a:cs typeface="Lucida Sans Unicode" panose="020B0602030504020204" pitchFamily="34" charset="0"/>
                      </a:rPr>
                      <m:t>∉ </m:t>
                    </m:r>
                    <m:r>
                      <a:rPr lang="en-US" altLang="zh-CN" sz="2600" b="0" i="1" dirty="0">
                        <a:latin typeface="Cambria Math" panose="02040503050406030204" pitchFamily="18" charset="0"/>
                      </a:rPr>
                      <m:t>𝐴</m:t>
                    </m:r>
                    <m:r>
                      <a:rPr lang="en-US" altLang="zh-CN" sz="2600" b="0" i="1" baseline="-25000" dirty="0">
                        <a:latin typeface="Cambria Math" panose="02040503050406030204" pitchFamily="18" charset="0"/>
                      </a:rPr>
                      <m:t>𝐺</m:t>
                    </m:r>
                    <m:r>
                      <a:rPr lang="en-US" altLang="zh-CN" sz="2600" b="0" i="1" baseline="30000" dirty="0">
                        <a:latin typeface="Cambria Math" panose="02040503050406030204" pitchFamily="18" charset="0"/>
                      </a:rPr>
                      <m:t>+</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𝐺</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𝐹</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𝐴</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𝐵</m:t>
                    </m:r>
                    <m:r>
                      <a:rPr lang="en-US" altLang="zh-CN" sz="2600" b="0" i="1" dirty="0">
                        <a:latin typeface="Cambria Math" panose="02040503050406030204" pitchFamily="18" charset="0"/>
                      </a:rPr>
                      <m:t>}) ∴</m:t>
                    </m:r>
                    <m:r>
                      <a:rPr lang="zh-CN" altLang="en-US" sz="2600" b="0" i="1" dirty="0">
                        <a:latin typeface="Cambria Math" panose="02040503050406030204" pitchFamily="18" charset="0"/>
                      </a:rPr>
                      <m:t>保留该函数</m:t>
                    </m:r>
                  </m:oMath>
                </a14:m>
                <a:r>
                  <a:rPr lang="zh-CN" altLang="en-US" sz="2600" b="0" dirty="0"/>
                  <a:t>依赖</a:t>
                </a:r>
                <a:endParaRPr lang="zh-CN" altLang="en-US" sz="2600" b="0" dirty="0"/>
              </a:p>
              <a:p>
                <a:pPr algn="l">
                  <a:lnSpc>
                    <a:spcPct val="80000"/>
                  </a:lnSpc>
                  <a:buNone/>
                </a:pPr>
                <a14:m>
                  <m:oMath xmlns:m="http://schemas.openxmlformats.org/officeDocument/2006/math">
                    <m:r>
                      <a:rPr lang="en-US" altLang="zh-CN" sz="2600" b="0" i="1" dirty="0" smtClean="0">
                        <a:latin typeface="Cambria Math" panose="02040503050406030204" pitchFamily="18" charset="0"/>
                      </a:rPr>
                      <m:t>𝐴</m:t>
                    </m:r>
                    <m:r>
                      <a:rPr lang="en-US" altLang="zh-CN" sz="2600" b="0" i="1" dirty="0" smtClean="0">
                        <a:latin typeface="Cambria Math" panose="02040503050406030204" pitchFamily="18" charset="0"/>
                      </a:rPr>
                      <m:t>→</m:t>
                    </m:r>
                    <m:r>
                      <a:rPr lang="en-US" altLang="zh-CN" sz="2600" b="0" i="1" dirty="0" smtClean="0">
                        <a:latin typeface="Cambria Math" panose="02040503050406030204" pitchFamily="18" charset="0"/>
                      </a:rPr>
                      <m:t>𝐸</m:t>
                    </m:r>
                    <m:r>
                      <a:rPr lang="en-US" altLang="zh-CN" sz="2600" b="0" i="1" dirty="0" smtClean="0">
                        <a:latin typeface="Cambria Math" panose="02040503050406030204" pitchFamily="18" charset="0"/>
                      </a:rPr>
                      <m:t>  ∵</m:t>
                    </m:r>
                    <m:r>
                      <a:rPr lang="en-US" altLang="zh-CN" sz="2600" b="0" i="1" dirty="0" smtClean="0">
                        <a:latin typeface="Cambria Math" panose="02040503050406030204" pitchFamily="18" charset="0"/>
                      </a:rPr>
                      <m:t>𝐴𝐺</m:t>
                    </m:r>
                    <m:r>
                      <a:rPr lang="en-US" altLang="zh-CN" sz="2600" b="0" i="1" baseline="30000" dirty="0">
                        <a:latin typeface="Cambria Math" panose="02040503050406030204" pitchFamily="18" charset="0"/>
                      </a:rPr>
                      <m:t>+</m:t>
                    </m:r>
                    <m:r>
                      <a:rPr lang="zh-CN" altLang="en-US" sz="2600" b="0" i="1" dirty="0">
                        <a:latin typeface="Cambria Math" panose="02040503050406030204" pitchFamily="18" charset="0"/>
                      </a:rPr>
                      <m:t>＝</m:t>
                    </m:r>
                    <m:r>
                      <a:rPr lang="en-US" altLang="zh-CN" sz="2600" b="0" i="1" dirty="0">
                        <a:latin typeface="Cambria Math" panose="02040503050406030204" pitchFamily="18" charset="0"/>
                      </a:rPr>
                      <m:t>𝐴𝐵𝐶𝐷𝐸</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𝐸</m:t>
                    </m:r>
                    <m:r>
                      <a:rPr lang="en-US" altLang="en-US" sz="2600" b="0" i="1" dirty="0">
                        <a:latin typeface="Cambria Math" panose="02040503050406030204" pitchFamily="18" charset="0"/>
                      </a:rPr>
                      <m:t>∈</m:t>
                    </m:r>
                    <m:r>
                      <a:rPr lang="en-US" altLang="zh-CN" sz="2600" b="0" i="1" dirty="0">
                        <a:latin typeface="Cambria Math" panose="02040503050406030204" pitchFamily="18" charset="0"/>
                      </a:rPr>
                      <m:t> </m:t>
                    </m:r>
                    <m:r>
                      <a:rPr lang="en-US" altLang="zh-CN" sz="2600" b="0" i="1" dirty="0">
                        <a:latin typeface="Cambria Math" panose="02040503050406030204" pitchFamily="18" charset="0"/>
                      </a:rPr>
                      <m:t>𝐴𝐺</m:t>
                    </m:r>
                    <m:r>
                      <a:rPr lang="en-US" altLang="zh-CN" sz="2600" b="0" i="1" baseline="30000" dirty="0">
                        <a:latin typeface="Cambria Math" panose="02040503050406030204" pitchFamily="18" charset="0"/>
                      </a:rPr>
                      <m:t>+</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𝐺</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𝐹</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𝐴</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𝐸</m:t>
                    </m:r>
                    <m:r>
                      <a:rPr lang="en-US" altLang="zh-CN" sz="2600" b="0" i="1" dirty="0">
                        <a:latin typeface="Cambria Math" panose="02040503050406030204" pitchFamily="18" charset="0"/>
                      </a:rPr>
                      <m:t>}) ∴</m:t>
                    </m:r>
                    <m:r>
                      <a:rPr lang="zh-CN" altLang="en-US" sz="2600" b="0" i="1" dirty="0">
                        <a:latin typeface="Cambria Math" panose="02040503050406030204" pitchFamily="18" charset="0"/>
                      </a:rPr>
                      <m:t>不保留该函数</m:t>
                    </m:r>
                  </m:oMath>
                </a14:m>
                <a:r>
                  <a:rPr lang="zh-CN" altLang="en-US" sz="2600" b="0" dirty="0"/>
                  <a:t>依赖</a:t>
                </a:r>
                <a:endParaRPr lang="zh-CN" altLang="en-US" sz="2600" b="0" dirty="0"/>
              </a:p>
              <a:p>
                <a:pPr algn="l">
                  <a:lnSpc>
                    <a:spcPct val="80000"/>
                  </a:lnSpc>
                  <a:buNone/>
                </a:pPr>
                <a14:m>
                  <m:oMath xmlns:m="http://schemas.openxmlformats.org/officeDocument/2006/math">
                    <m:r>
                      <a:rPr lang="en-US" altLang="zh-CN" sz="2600" b="0" i="1" dirty="0" smtClean="0">
                        <a:latin typeface="Cambria Math" panose="02040503050406030204" pitchFamily="18" charset="0"/>
                      </a:rPr>
                      <m:t>𝐴</m:t>
                    </m:r>
                    <m:r>
                      <a:rPr lang="en-US" altLang="zh-CN" sz="2600" b="0" i="1" dirty="0" smtClean="0">
                        <a:latin typeface="Cambria Math" panose="02040503050406030204" pitchFamily="18" charset="0"/>
                      </a:rPr>
                      <m:t>→</m:t>
                    </m:r>
                    <m:r>
                      <a:rPr lang="en-US" altLang="zh-CN" sz="2600" b="0" i="1" dirty="0" smtClean="0">
                        <a:latin typeface="Cambria Math" panose="02040503050406030204" pitchFamily="18" charset="0"/>
                      </a:rPr>
                      <m:t>𝐷</m:t>
                    </m:r>
                    <m:r>
                      <a:rPr lang="en-US" altLang="zh-CN" sz="2600" b="0" i="1" dirty="0" smtClean="0">
                        <a:latin typeface="Cambria Math" panose="02040503050406030204" pitchFamily="18" charset="0"/>
                      </a:rPr>
                      <m:t> ∵(</m:t>
                    </m:r>
                    <m:r>
                      <a:rPr lang="en-US" altLang="zh-CN" sz="2600" b="0" i="1" dirty="0" smtClean="0">
                        <a:latin typeface="Cambria Math" panose="02040503050406030204" pitchFamily="18" charset="0"/>
                      </a:rPr>
                      <m:t>𝐴</m:t>
                    </m:r>
                    <m:r>
                      <a:rPr lang="en-US" altLang="zh-CN" sz="2600" b="0" i="1" dirty="0" smtClean="0">
                        <a:latin typeface="Cambria Math" panose="02040503050406030204" pitchFamily="18" charset="0"/>
                      </a:rPr>
                      <m:t>)</m:t>
                    </m:r>
                    <m:r>
                      <a:rPr lang="en-US" altLang="zh-CN" sz="2600" b="0" i="1" baseline="-25000" dirty="0">
                        <a:latin typeface="Cambria Math" panose="02040503050406030204" pitchFamily="18" charset="0"/>
                      </a:rPr>
                      <m:t>𝐺</m:t>
                    </m:r>
                    <m:r>
                      <a:rPr lang="en-US" altLang="zh-CN" sz="2600" b="0" i="1" baseline="30000" dirty="0">
                        <a:latin typeface="Cambria Math" panose="02040503050406030204" pitchFamily="18" charset="0"/>
                      </a:rPr>
                      <m:t>+</m:t>
                    </m:r>
                    <m:r>
                      <a:rPr lang="zh-CN" altLang="en-US" sz="2600" b="0" i="1" dirty="0">
                        <a:latin typeface="Cambria Math" panose="02040503050406030204" pitchFamily="18" charset="0"/>
                      </a:rPr>
                      <m:t>＝</m:t>
                    </m:r>
                    <m:r>
                      <a:rPr lang="en-US" altLang="zh-CN" sz="2600" b="0" i="1" dirty="0">
                        <a:latin typeface="Cambria Math" panose="02040503050406030204" pitchFamily="18" charset="0"/>
                      </a:rPr>
                      <m:t>𝐴𝐵𝐶𝐷𝐸</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𝐷</m:t>
                    </m:r>
                    <m:r>
                      <a:rPr lang="en-US" altLang="en-US" sz="2600" b="0" i="1" dirty="0">
                        <a:latin typeface="Cambria Math" panose="02040503050406030204" pitchFamily="18" charset="0"/>
                      </a:rPr>
                      <m:t>∈</m:t>
                    </m:r>
                    <m:r>
                      <a:rPr lang="en-US" altLang="zh-CN" sz="2600" b="0" i="1" dirty="0">
                        <a:latin typeface="Cambria Math" panose="02040503050406030204" pitchFamily="18" charset="0"/>
                      </a:rPr>
                      <m:t> (</m:t>
                    </m:r>
                    <m:r>
                      <a:rPr lang="en-US" altLang="zh-CN" sz="2600" b="0" i="1" dirty="0">
                        <a:latin typeface="Cambria Math" panose="02040503050406030204" pitchFamily="18" charset="0"/>
                      </a:rPr>
                      <m:t>𝐴</m:t>
                    </m:r>
                    <m:r>
                      <a:rPr lang="en-US" altLang="zh-CN" sz="2600" b="0" i="1" dirty="0">
                        <a:latin typeface="Cambria Math" panose="02040503050406030204" pitchFamily="18" charset="0"/>
                      </a:rPr>
                      <m:t>)</m:t>
                    </m:r>
                    <m:r>
                      <a:rPr lang="en-US" altLang="zh-CN" sz="2600" b="0" i="1" baseline="-25000" dirty="0">
                        <a:latin typeface="Cambria Math" panose="02040503050406030204" pitchFamily="18" charset="0"/>
                      </a:rPr>
                      <m:t>𝐺</m:t>
                    </m:r>
                    <m:r>
                      <a:rPr lang="en-US" altLang="zh-CN" sz="2600" b="0" i="1" baseline="30000" dirty="0">
                        <a:latin typeface="Cambria Math" panose="02040503050406030204" pitchFamily="18" charset="0"/>
                      </a:rPr>
                      <m:t>+</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𝐺</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𝐹</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𝐴</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𝐷</m:t>
                    </m:r>
                    <m:r>
                      <a:rPr lang="en-US" altLang="zh-CN" sz="2600" b="0" i="1" dirty="0">
                        <a:latin typeface="Cambria Math" panose="02040503050406030204" pitchFamily="18" charset="0"/>
                      </a:rPr>
                      <m:t>})   ∴</m:t>
                    </m:r>
                    <m:r>
                      <a:rPr lang="zh-CN" altLang="en-US" sz="2600" b="0" i="1" dirty="0">
                        <a:latin typeface="Cambria Math" panose="02040503050406030204" pitchFamily="18" charset="0"/>
                      </a:rPr>
                      <m:t>不保留该函数</m:t>
                    </m:r>
                  </m:oMath>
                </a14:m>
                <a:r>
                  <a:rPr lang="zh-CN" altLang="en-US" sz="2600" b="0" dirty="0"/>
                  <a:t>依赖</a:t>
                </a:r>
                <a:endParaRPr lang="zh-CN" altLang="en-US" sz="2600" b="0" dirty="0"/>
              </a:p>
              <a:p>
                <a:pPr algn="l">
                  <a:lnSpc>
                    <a:spcPct val="80000"/>
                  </a:lnSpc>
                  <a:buNone/>
                </a:pPr>
                <a14:m>
                  <m:oMath xmlns:m="http://schemas.openxmlformats.org/officeDocument/2006/math">
                    <m:r>
                      <a:rPr lang="en-US" altLang="zh-CN" sz="2600" b="0" i="1" dirty="0" smtClean="0">
                        <a:latin typeface="Cambria Math" panose="02040503050406030204" pitchFamily="18" charset="0"/>
                      </a:rPr>
                      <m:t>𝐵</m:t>
                    </m:r>
                    <m:r>
                      <a:rPr lang="en-US" altLang="zh-CN" sz="2600" b="0" i="1" dirty="0" smtClean="0">
                        <a:latin typeface="Cambria Math" panose="02040503050406030204" pitchFamily="18" charset="0"/>
                      </a:rPr>
                      <m:t>→</m:t>
                    </m:r>
                    <m:r>
                      <a:rPr lang="en-US" altLang="zh-CN" sz="2600" b="0" i="1" dirty="0" smtClean="0">
                        <a:latin typeface="Cambria Math" panose="02040503050406030204" pitchFamily="18" charset="0"/>
                      </a:rPr>
                      <m:t>𝐶</m:t>
                    </m:r>
                    <m:r>
                      <a:rPr lang="en-US" altLang="zh-CN" sz="2600" b="0" i="1" dirty="0" smtClean="0">
                        <a:latin typeface="Cambria Math" panose="02040503050406030204" pitchFamily="18" charset="0"/>
                      </a:rPr>
                      <m:t>    ∵</m:t>
                    </m:r>
                    <m:r>
                      <a:rPr lang="en-US" altLang="zh-CN" sz="2600" b="0" i="1" dirty="0" smtClean="0">
                        <a:latin typeface="Cambria Math" panose="02040503050406030204" pitchFamily="18" charset="0"/>
                      </a:rPr>
                      <m:t>𝐵𝐺</m:t>
                    </m:r>
                    <m:r>
                      <a:rPr lang="en-US" altLang="zh-CN" sz="2600" b="0" i="1" baseline="30000" dirty="0">
                        <a:latin typeface="Cambria Math" panose="02040503050406030204" pitchFamily="18" charset="0"/>
                      </a:rPr>
                      <m:t>+</m:t>
                    </m:r>
                    <m:r>
                      <a:rPr lang="zh-CN" altLang="en-US" sz="2600" b="0" i="1" dirty="0">
                        <a:latin typeface="Cambria Math" panose="02040503050406030204" pitchFamily="18" charset="0"/>
                      </a:rPr>
                      <m:t>＝</m:t>
                    </m:r>
                    <m:r>
                      <a:rPr lang="en-US" altLang="zh-CN" sz="2600" b="0" i="1" dirty="0">
                        <a:latin typeface="Cambria Math" panose="02040503050406030204" pitchFamily="18" charset="0"/>
                      </a:rPr>
                      <m:t>𝐵</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𝐶</m:t>
                    </m:r>
                    <m:r>
                      <a:rPr lang="en-US" altLang="zh-CN" sz="2600" b="0" i="1" dirty="0">
                        <a:latin typeface="Cambria Math" panose="02040503050406030204" pitchFamily="18" charset="0"/>
                      </a:rPr>
                      <m:t> ∉ </m:t>
                    </m:r>
                    <m:r>
                      <a:rPr lang="en-US" altLang="zh-CN" sz="2600" b="0" i="1" dirty="0">
                        <a:latin typeface="Cambria Math" panose="02040503050406030204" pitchFamily="18" charset="0"/>
                      </a:rPr>
                      <m:t>𝐵𝐺</m:t>
                    </m:r>
                    <m:r>
                      <a:rPr lang="en-US" altLang="zh-CN" sz="2600" b="0" i="1" baseline="30000" dirty="0">
                        <a:latin typeface="Cambria Math" panose="02040503050406030204" pitchFamily="18" charset="0"/>
                      </a:rPr>
                      <m:t>+</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𝐺</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𝐹</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𝐵</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𝐶</m:t>
                    </m:r>
                    <m:r>
                      <a:rPr lang="en-US" altLang="zh-CN" sz="2600" b="0" i="1" dirty="0">
                        <a:latin typeface="Cambria Math" panose="02040503050406030204" pitchFamily="18" charset="0"/>
                      </a:rPr>
                      <m:t>})   ∴</m:t>
                    </m:r>
                    <m:r>
                      <a:rPr lang="zh-CN" altLang="en-US" sz="2600" b="0" i="1" dirty="0">
                        <a:latin typeface="Cambria Math" panose="02040503050406030204" pitchFamily="18" charset="0"/>
                      </a:rPr>
                      <m:t>保留该函数</m:t>
                    </m:r>
                  </m:oMath>
                </a14:m>
                <a:r>
                  <a:rPr lang="zh-CN" altLang="en-US" sz="2600" b="0" dirty="0"/>
                  <a:t>依赖</a:t>
                </a:r>
                <a:endParaRPr lang="zh-CN" altLang="en-US" sz="2600" b="0" dirty="0"/>
              </a:p>
              <a:p>
                <a:pPr algn="l">
                  <a:lnSpc>
                    <a:spcPct val="80000"/>
                  </a:lnSpc>
                  <a:buNone/>
                </a:pPr>
                <a14:m>
                  <m:oMath xmlns:m="http://schemas.openxmlformats.org/officeDocument/2006/math">
                    <m:r>
                      <a:rPr lang="en-US" altLang="zh-CN" sz="2600" b="0" i="1" dirty="0" smtClean="0">
                        <a:latin typeface="Cambria Math" panose="02040503050406030204" pitchFamily="18" charset="0"/>
                      </a:rPr>
                      <m:t>𝐵</m:t>
                    </m:r>
                    <m:r>
                      <a:rPr lang="en-US" altLang="zh-CN" sz="2600" b="0" i="1" dirty="0" smtClean="0">
                        <a:latin typeface="Cambria Math" panose="02040503050406030204" pitchFamily="18" charset="0"/>
                      </a:rPr>
                      <m:t>→</m:t>
                    </m:r>
                    <m:r>
                      <a:rPr lang="en-US" altLang="zh-CN" sz="2600" b="0" i="1" dirty="0" smtClean="0">
                        <a:latin typeface="Cambria Math" panose="02040503050406030204" pitchFamily="18" charset="0"/>
                      </a:rPr>
                      <m:t>𝐸</m:t>
                    </m:r>
                    <m:r>
                      <a:rPr lang="en-US" altLang="zh-CN" sz="2600" b="0" i="1" dirty="0" smtClean="0">
                        <a:latin typeface="Cambria Math" panose="02040503050406030204" pitchFamily="18" charset="0"/>
                      </a:rPr>
                      <m:t> ∵(</m:t>
                    </m:r>
                    <m:r>
                      <a:rPr lang="en-US" altLang="zh-CN" sz="2600" b="0" i="1" dirty="0" smtClean="0">
                        <a:latin typeface="Cambria Math" panose="02040503050406030204" pitchFamily="18" charset="0"/>
                      </a:rPr>
                      <m:t>𝐵</m:t>
                    </m:r>
                    <m:r>
                      <a:rPr lang="en-US" altLang="zh-CN" sz="2600" b="0" i="1" dirty="0" smtClean="0">
                        <a:latin typeface="Cambria Math" panose="02040503050406030204" pitchFamily="18" charset="0"/>
                      </a:rPr>
                      <m:t>)</m:t>
                    </m:r>
                    <m:r>
                      <a:rPr lang="en-US" altLang="zh-CN" sz="2600" b="0" i="1" baseline="-25000" dirty="0">
                        <a:latin typeface="Cambria Math" panose="02040503050406030204" pitchFamily="18" charset="0"/>
                      </a:rPr>
                      <m:t>𝐺</m:t>
                    </m:r>
                    <m:r>
                      <a:rPr lang="en-US" altLang="zh-CN" sz="2600" b="0" i="1" baseline="30000" dirty="0">
                        <a:latin typeface="Cambria Math" panose="02040503050406030204" pitchFamily="18" charset="0"/>
                      </a:rPr>
                      <m:t>+</m:t>
                    </m:r>
                    <m:r>
                      <a:rPr lang="zh-CN" altLang="en-US" sz="2600" b="0" i="1" dirty="0">
                        <a:latin typeface="Cambria Math" panose="02040503050406030204" pitchFamily="18" charset="0"/>
                      </a:rPr>
                      <m:t>＝</m:t>
                    </m:r>
                    <m:r>
                      <a:rPr lang="en-US" altLang="zh-CN" sz="2600" b="0" i="1" dirty="0">
                        <a:latin typeface="Cambria Math" panose="02040503050406030204" pitchFamily="18" charset="0"/>
                      </a:rPr>
                      <m:t>𝐵𝐶𝐷</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𝐸</m:t>
                    </m:r>
                    <m:r>
                      <a:rPr lang="en-US" altLang="zh-CN" sz="2600" b="0" i="1" dirty="0">
                        <a:latin typeface="Cambria Math" panose="02040503050406030204" pitchFamily="18" charset="0"/>
                      </a:rPr>
                      <m:t> ∉ (</m:t>
                    </m:r>
                    <m:r>
                      <a:rPr lang="en-US" altLang="zh-CN" sz="2600" b="0" i="1" dirty="0">
                        <a:latin typeface="Cambria Math" panose="02040503050406030204" pitchFamily="18" charset="0"/>
                      </a:rPr>
                      <m:t>𝐵</m:t>
                    </m:r>
                    <m:r>
                      <a:rPr lang="en-US" altLang="zh-CN" sz="2600" b="0" i="1" dirty="0">
                        <a:latin typeface="Cambria Math" panose="02040503050406030204" pitchFamily="18" charset="0"/>
                      </a:rPr>
                      <m:t>)</m:t>
                    </m:r>
                    <m:r>
                      <a:rPr lang="en-US" altLang="zh-CN" sz="2600" b="0" i="1" baseline="-25000" dirty="0">
                        <a:latin typeface="Cambria Math" panose="02040503050406030204" pitchFamily="18" charset="0"/>
                      </a:rPr>
                      <m:t>𝐺</m:t>
                    </m:r>
                    <m:r>
                      <a:rPr lang="en-US" altLang="zh-CN" sz="2600" b="0" i="1" baseline="30000" dirty="0">
                        <a:latin typeface="Cambria Math" panose="02040503050406030204" pitchFamily="18" charset="0"/>
                      </a:rPr>
                      <m:t>+</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𝐺</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𝐹</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𝐵</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𝐸</m:t>
                    </m:r>
                    <m:r>
                      <a:rPr lang="en-US" altLang="zh-CN" sz="2600" b="0" i="1" dirty="0">
                        <a:latin typeface="Cambria Math" panose="02040503050406030204" pitchFamily="18" charset="0"/>
                      </a:rPr>
                      <m:t>})   ∴</m:t>
                    </m:r>
                    <m:r>
                      <a:rPr lang="zh-CN" altLang="en-US" sz="2600" b="0" i="1" dirty="0">
                        <a:latin typeface="Cambria Math" panose="02040503050406030204" pitchFamily="18" charset="0"/>
                      </a:rPr>
                      <m:t>保留该函数</m:t>
                    </m:r>
                  </m:oMath>
                </a14:m>
                <a:r>
                  <a:rPr lang="zh-CN" altLang="en-US" sz="2600" b="0" dirty="0"/>
                  <a:t>依赖</a:t>
                </a:r>
                <a:endParaRPr lang="zh-CN" altLang="en-US" sz="2600" b="0" dirty="0"/>
              </a:p>
              <a:p>
                <a:pPr algn="l">
                  <a:lnSpc>
                    <a:spcPct val="80000"/>
                  </a:lnSpc>
                  <a:buNone/>
                </a:pPr>
                <a14:m>
                  <m:oMath xmlns:m="http://schemas.openxmlformats.org/officeDocument/2006/math">
                    <m:r>
                      <a:rPr lang="en-US" altLang="zh-CN" sz="2600" b="0" i="1" dirty="0" smtClean="0">
                        <a:latin typeface="Cambria Math" panose="02040503050406030204" pitchFamily="18" charset="0"/>
                      </a:rPr>
                      <m:t>𝐶</m:t>
                    </m:r>
                    <m:r>
                      <a:rPr lang="en-US" altLang="zh-CN" sz="2600" b="0" i="1" dirty="0" smtClean="0">
                        <a:latin typeface="Cambria Math" panose="02040503050406030204" pitchFamily="18" charset="0"/>
                      </a:rPr>
                      <m:t>→</m:t>
                    </m:r>
                    <m:r>
                      <a:rPr lang="en-US" altLang="zh-CN" sz="2600" b="0" i="1" dirty="0" smtClean="0">
                        <a:latin typeface="Cambria Math" panose="02040503050406030204" pitchFamily="18" charset="0"/>
                      </a:rPr>
                      <m:t>𝐷</m:t>
                    </m:r>
                    <m:r>
                      <a:rPr lang="en-US" altLang="zh-CN" sz="2600" b="0" i="1" dirty="0" smtClean="0">
                        <a:latin typeface="Cambria Math" panose="02040503050406030204" pitchFamily="18" charset="0"/>
                      </a:rPr>
                      <m:t>∵</m:t>
                    </m:r>
                    <m:r>
                      <a:rPr lang="en-US" altLang="zh-CN" sz="2600" b="0" i="1" dirty="0" smtClean="0">
                        <a:latin typeface="Cambria Math" panose="02040503050406030204" pitchFamily="18" charset="0"/>
                      </a:rPr>
                      <m:t>𝐶𝐺</m:t>
                    </m:r>
                    <m:r>
                      <a:rPr lang="en-US" altLang="zh-CN" sz="2600" b="0" i="1" baseline="30000" dirty="0">
                        <a:latin typeface="Cambria Math" panose="02040503050406030204" pitchFamily="18" charset="0"/>
                      </a:rPr>
                      <m:t>+</m:t>
                    </m:r>
                    <m:r>
                      <a:rPr lang="zh-CN" altLang="en-US" sz="2600" b="0" i="1" dirty="0">
                        <a:latin typeface="Cambria Math" panose="02040503050406030204" pitchFamily="18" charset="0"/>
                      </a:rPr>
                      <m:t>＝</m:t>
                    </m:r>
                    <m:r>
                      <a:rPr lang="en-US" altLang="zh-CN" sz="2600" b="0" i="1" dirty="0">
                        <a:latin typeface="Cambria Math" panose="02040503050406030204" pitchFamily="18" charset="0"/>
                      </a:rPr>
                      <m:t>𝐴𝐸</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𝐷</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𝐶𝐺</m:t>
                    </m:r>
                    <m:r>
                      <a:rPr lang="en-US" altLang="zh-CN" sz="2600" b="0" i="1" baseline="30000" dirty="0">
                        <a:latin typeface="Cambria Math" panose="02040503050406030204" pitchFamily="18" charset="0"/>
                      </a:rPr>
                      <m:t>+</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𝐺</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𝐹</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𝐶</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𝐷</m:t>
                    </m:r>
                    <m:r>
                      <a:rPr lang="en-US" altLang="zh-CN" sz="2600" b="0" i="1" dirty="0">
                        <a:latin typeface="Cambria Math" panose="02040503050406030204" pitchFamily="18" charset="0"/>
                      </a:rPr>
                      <m:t>})∴</m:t>
                    </m:r>
                    <m:r>
                      <a:rPr lang="zh-CN" altLang="en-US" sz="2600" b="0" i="1" dirty="0">
                        <a:latin typeface="Cambria Math" panose="02040503050406030204" pitchFamily="18" charset="0"/>
                      </a:rPr>
                      <m:t>保留该函数</m:t>
                    </m:r>
                    <m:r>
                      <m:rPr>
                        <m:nor/>
                      </m:rPr>
                      <a:rPr lang="zh-CN" altLang="en-US" sz="2600" b="0" dirty="0">
                        <a:latin typeface="Cambria Math" panose="02040503050406030204" pitchFamily="18" charset="0"/>
                      </a:rPr>
                      <m:t>依赖</m:t>
                    </m:r>
                    <m:r>
                      <a:rPr lang="en-US" altLang="zh-CN" sz="2600" b="0" i="1" dirty="0">
                        <a:solidFill>
                          <a:srgbClr val="FF0000"/>
                        </a:solidFill>
                        <a:latin typeface="Cambria Math" panose="02040503050406030204" pitchFamily="18" charset="0"/>
                      </a:rPr>
                      <m:t>(</m:t>
                    </m:r>
                    <m:r>
                      <a:rPr lang="zh-CN" altLang="en-US" sz="2600" b="0" i="1" dirty="0">
                        <a:solidFill>
                          <a:srgbClr val="FF0000"/>
                        </a:solidFill>
                        <a:latin typeface="Cambria Math" panose="02040503050406030204" pitchFamily="18" charset="0"/>
                      </a:rPr>
                      <m:t>此处错误，闭包应为</m:t>
                    </m:r>
                    <m:r>
                      <a:rPr lang="en-US" altLang="zh-CN" sz="2600" b="0" i="1" dirty="0">
                        <a:solidFill>
                          <a:srgbClr val="FF0000"/>
                        </a:solidFill>
                        <a:latin typeface="Cambria Math" panose="02040503050406030204" pitchFamily="18" charset="0"/>
                      </a:rPr>
                      <m:t>𝐶</m:t>
                    </m:r>
                  </m:oMath>
                </a14:m>
                <a:r>
                  <a:rPr lang="zh-CN" altLang="en-US" sz="2600" b="0" dirty="0">
                    <a:solidFill>
                      <a:srgbClr val="FF0000"/>
                    </a:solidFill>
                  </a:rPr>
                  <a:t>）</a:t>
                </a:r>
                <a:endParaRPr lang="en-US" altLang="zh-CN" sz="2600" b="0" dirty="0">
                  <a:solidFill>
                    <a:srgbClr val="FF0000"/>
                  </a:solidFill>
                </a:endParaRPr>
              </a:p>
              <a:p>
                <a:pPr algn="l">
                  <a:lnSpc>
                    <a:spcPct val="80000"/>
                  </a:lnSpc>
                  <a:buNone/>
                </a:pPr>
                <a14:m>
                  <m:oMath xmlns:m="http://schemas.openxmlformats.org/officeDocument/2006/math">
                    <m:r>
                      <a:rPr lang="en-US" altLang="zh-CN" sz="2600" b="0" i="1" dirty="0" smtClean="0">
                        <a:latin typeface="Cambria Math" panose="02040503050406030204" pitchFamily="18" charset="0"/>
                      </a:rPr>
                      <m:t>𝐻</m:t>
                    </m:r>
                    <m:r>
                      <a:rPr lang="en-US" altLang="zh-CN" sz="2600" b="0" i="1" dirty="0" smtClean="0">
                        <a:latin typeface="Cambria Math" panose="02040503050406030204" pitchFamily="18" charset="0"/>
                      </a:rPr>
                      <m:t>→</m:t>
                    </m:r>
                    <m:r>
                      <a:rPr lang="en-US" altLang="zh-CN" sz="2600" b="0" i="1" dirty="0" smtClean="0">
                        <a:latin typeface="Cambria Math" panose="02040503050406030204" pitchFamily="18" charset="0"/>
                      </a:rPr>
                      <m:t>𝐼</m:t>
                    </m:r>
                    <m:r>
                      <a:rPr lang="en-US" altLang="zh-CN" sz="2600" b="0" i="1" dirty="0" smtClean="0">
                        <a:latin typeface="Cambria Math" panose="02040503050406030204" pitchFamily="18" charset="0"/>
                      </a:rPr>
                      <m:t> ∵</m:t>
                    </m:r>
                    <m:r>
                      <a:rPr lang="en-US" altLang="zh-CN" sz="2600" b="0" i="1" dirty="0" smtClean="0">
                        <a:latin typeface="Cambria Math" panose="02040503050406030204" pitchFamily="18" charset="0"/>
                      </a:rPr>
                      <m:t>𝐻𝐺</m:t>
                    </m:r>
                    <m:r>
                      <a:rPr lang="en-US" altLang="zh-CN" sz="2600" b="0" i="1" baseline="30000" dirty="0">
                        <a:latin typeface="Cambria Math" panose="02040503050406030204" pitchFamily="18" charset="0"/>
                      </a:rPr>
                      <m:t>+</m:t>
                    </m:r>
                    <m:r>
                      <a:rPr lang="zh-CN" altLang="en-US" sz="2600" b="0" i="1" dirty="0">
                        <a:latin typeface="Cambria Math" panose="02040503050406030204" pitchFamily="18" charset="0"/>
                      </a:rPr>
                      <m:t>＝</m:t>
                    </m:r>
                    <m:r>
                      <a:rPr lang="en-US" altLang="zh-CN" sz="2600" b="0" i="1" dirty="0">
                        <a:latin typeface="Cambria Math" panose="02040503050406030204" pitchFamily="18" charset="0"/>
                      </a:rPr>
                      <m:t>𝐻𝐵𝐸𝐶𝐷</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𝐼</m:t>
                    </m:r>
                    <m:r>
                      <a:rPr lang="en-US" altLang="zh-CN" sz="2600" b="0" i="1" dirty="0">
                        <a:latin typeface="Cambria Math" panose="02040503050406030204" pitchFamily="18" charset="0"/>
                      </a:rPr>
                      <m:t> ∉</m:t>
                    </m:r>
                    <m:r>
                      <a:rPr lang="en-US" altLang="zh-CN" sz="2600" b="0" i="1" dirty="0">
                        <a:latin typeface="Cambria Math" panose="02040503050406030204" pitchFamily="18" charset="0"/>
                      </a:rPr>
                      <m:t>𝐻𝐺</m:t>
                    </m:r>
                    <m:r>
                      <a:rPr lang="en-US" altLang="zh-CN" sz="2600" b="0" i="1" baseline="30000" dirty="0">
                        <a:latin typeface="Cambria Math" panose="02040503050406030204" pitchFamily="18" charset="0"/>
                      </a:rPr>
                      <m:t>+</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𝐺</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𝐹</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𝐻</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𝐼</m:t>
                    </m:r>
                    <m:r>
                      <a:rPr lang="en-US" altLang="zh-CN" sz="2600" b="0" i="1" dirty="0">
                        <a:latin typeface="Cambria Math" panose="02040503050406030204" pitchFamily="18" charset="0"/>
                      </a:rPr>
                      <m:t>}) ∴</m:t>
                    </m:r>
                    <m:r>
                      <a:rPr lang="zh-CN" altLang="en-US" sz="2600" b="0" i="1" dirty="0">
                        <a:latin typeface="Cambria Math" panose="02040503050406030204" pitchFamily="18" charset="0"/>
                      </a:rPr>
                      <m:t>保留该函数</m:t>
                    </m:r>
                  </m:oMath>
                </a14:m>
                <a:r>
                  <a:rPr lang="zh-CN" altLang="en-US" sz="2600" b="0" dirty="0"/>
                  <a:t>依赖</a:t>
                </a:r>
                <a:endParaRPr lang="zh-CN" altLang="en-US" sz="2600" b="0" dirty="0"/>
              </a:p>
              <a:p>
                <a:pPr algn="l">
                  <a:lnSpc>
                    <a:spcPct val="80000"/>
                  </a:lnSpc>
                  <a:buNone/>
                </a:pPr>
                <a14:m>
                  <m:oMath xmlns:m="http://schemas.openxmlformats.org/officeDocument/2006/math">
                    <m:r>
                      <a:rPr lang="en-US" altLang="zh-CN" sz="2600" b="0" i="1" dirty="0" smtClean="0">
                        <a:latin typeface="Cambria Math" panose="02040503050406030204" pitchFamily="18" charset="0"/>
                      </a:rPr>
                      <m:t>𝐼</m:t>
                    </m:r>
                    <m:r>
                      <a:rPr lang="en-US" altLang="zh-CN" sz="2600" b="0" i="1" dirty="0" smtClean="0">
                        <a:latin typeface="Cambria Math" panose="02040503050406030204" pitchFamily="18" charset="0"/>
                      </a:rPr>
                      <m:t>→</m:t>
                    </m:r>
                    <m:r>
                      <a:rPr lang="en-US" altLang="zh-CN" sz="2600" b="0" i="1" dirty="0" smtClean="0">
                        <a:latin typeface="Cambria Math" panose="02040503050406030204" pitchFamily="18" charset="0"/>
                      </a:rPr>
                      <m:t>𝐻</m:t>
                    </m:r>
                    <m:r>
                      <a:rPr lang="en-US" altLang="zh-CN" sz="2600" b="0" i="1" dirty="0" smtClean="0">
                        <a:latin typeface="Cambria Math" panose="02040503050406030204" pitchFamily="18" charset="0"/>
                      </a:rPr>
                      <m:t> ∵</m:t>
                    </m:r>
                    <m:r>
                      <a:rPr lang="en-US" altLang="zh-CN" sz="2600" b="0" i="1" dirty="0" smtClean="0">
                        <a:latin typeface="Cambria Math" panose="02040503050406030204" pitchFamily="18" charset="0"/>
                      </a:rPr>
                      <m:t>𝐼𝐺</m:t>
                    </m:r>
                    <m:r>
                      <a:rPr lang="en-US" altLang="zh-CN" sz="2600" b="0" i="1" baseline="30000" dirty="0">
                        <a:latin typeface="Cambria Math" panose="02040503050406030204" pitchFamily="18" charset="0"/>
                      </a:rPr>
                      <m:t>+</m:t>
                    </m:r>
                    <m:r>
                      <a:rPr lang="zh-CN" altLang="en-US" sz="2600" b="0" i="1" dirty="0">
                        <a:latin typeface="Cambria Math" panose="02040503050406030204" pitchFamily="18" charset="0"/>
                      </a:rPr>
                      <m:t>＝</m:t>
                    </m:r>
                    <m:r>
                      <a:rPr lang="en-US" altLang="zh-CN" sz="2600" b="0" i="1" dirty="0">
                        <a:latin typeface="Cambria Math" panose="02040503050406030204" pitchFamily="18" charset="0"/>
                      </a:rPr>
                      <m:t>𝐼</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𝐻</m:t>
                    </m:r>
                    <m:r>
                      <a:rPr lang="en-US" altLang="zh-CN" sz="2600" b="0" i="1" dirty="0">
                        <a:latin typeface="Cambria Math" panose="02040503050406030204" pitchFamily="18" charset="0"/>
                      </a:rPr>
                      <m:t> ∉ </m:t>
                    </m:r>
                    <m:r>
                      <a:rPr lang="en-US" altLang="zh-CN" sz="2600" b="0" i="1" dirty="0">
                        <a:latin typeface="Cambria Math" panose="02040503050406030204" pitchFamily="18" charset="0"/>
                      </a:rPr>
                      <m:t>𝐼𝐺</m:t>
                    </m:r>
                    <m:r>
                      <a:rPr lang="en-US" altLang="zh-CN" sz="2600" b="0" i="1" baseline="30000" dirty="0">
                        <a:latin typeface="Cambria Math" panose="02040503050406030204" pitchFamily="18" charset="0"/>
                      </a:rPr>
                      <m:t>+</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𝐺</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𝐹</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𝐼</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𝐻</m:t>
                    </m:r>
                    <m:r>
                      <a:rPr lang="en-US" altLang="zh-CN" sz="2600" b="0" i="1" dirty="0">
                        <a:latin typeface="Cambria Math" panose="02040503050406030204" pitchFamily="18" charset="0"/>
                      </a:rPr>
                      <m:t>})     ∴</m:t>
                    </m:r>
                    <m:r>
                      <a:rPr lang="zh-CN" altLang="en-US" sz="2600" b="0" i="1" dirty="0">
                        <a:latin typeface="Cambria Math" panose="02040503050406030204" pitchFamily="18" charset="0"/>
                      </a:rPr>
                      <m:t>保留该函数</m:t>
                    </m:r>
                  </m:oMath>
                </a14:m>
                <a:r>
                  <a:rPr lang="zh-CN" altLang="en-US" sz="2600" b="0" dirty="0"/>
                  <a:t>依赖</a:t>
                </a:r>
                <a:endParaRPr lang="zh-CN" altLang="en-US" sz="2600" b="0" dirty="0"/>
              </a:p>
              <a:p>
                <a:pPr algn="l">
                  <a:lnSpc>
                    <a:spcPct val="80000"/>
                  </a:lnSpc>
                  <a:buNone/>
                </a:pPr>
                <a14:m>
                  <m:oMath xmlns:m="http://schemas.openxmlformats.org/officeDocument/2006/math">
                    <m:r>
                      <a:rPr lang="en-US" altLang="zh-CN" sz="2600" b="0" i="1" dirty="0" smtClean="0">
                        <a:latin typeface="Cambria Math" panose="02040503050406030204" pitchFamily="18" charset="0"/>
                      </a:rPr>
                      <m:t>𝐻</m:t>
                    </m:r>
                    <m:r>
                      <a:rPr lang="en-US" altLang="zh-CN" sz="2600" b="0" i="1" dirty="0" smtClean="0">
                        <a:latin typeface="Cambria Math" panose="02040503050406030204" pitchFamily="18" charset="0"/>
                      </a:rPr>
                      <m:t>→</m:t>
                    </m:r>
                    <m:r>
                      <a:rPr lang="en-US" altLang="zh-CN" sz="2600" b="0" i="1" dirty="0" smtClean="0">
                        <a:latin typeface="Cambria Math" panose="02040503050406030204" pitchFamily="18" charset="0"/>
                      </a:rPr>
                      <m:t>𝐵</m:t>
                    </m:r>
                    <m:r>
                      <a:rPr lang="en-US" altLang="zh-CN" sz="2600" b="0" i="1" dirty="0" smtClean="0">
                        <a:latin typeface="Cambria Math" panose="02040503050406030204" pitchFamily="18" charset="0"/>
                      </a:rPr>
                      <m:t> ∵</m:t>
                    </m:r>
                    <m:r>
                      <a:rPr lang="en-US" altLang="zh-CN" sz="2600" b="0" i="1" dirty="0" smtClean="0">
                        <a:latin typeface="Cambria Math" panose="02040503050406030204" pitchFamily="18" charset="0"/>
                      </a:rPr>
                      <m:t>𝐻𝐺</m:t>
                    </m:r>
                    <m:r>
                      <a:rPr lang="en-US" altLang="zh-CN" sz="2600" b="0" i="1" baseline="30000" dirty="0">
                        <a:latin typeface="Cambria Math" panose="02040503050406030204" pitchFamily="18" charset="0"/>
                      </a:rPr>
                      <m:t>+</m:t>
                    </m:r>
                    <m:r>
                      <a:rPr lang="zh-CN" altLang="en-US" sz="2600" b="0" i="1" dirty="0">
                        <a:latin typeface="Cambria Math" panose="02040503050406030204" pitchFamily="18" charset="0"/>
                      </a:rPr>
                      <m:t>＝</m:t>
                    </m:r>
                    <m:r>
                      <a:rPr lang="en-US" altLang="zh-CN" sz="2600" b="0" i="1" dirty="0">
                        <a:latin typeface="Cambria Math" panose="02040503050406030204" pitchFamily="18" charset="0"/>
                      </a:rPr>
                      <m:t>𝐻𝐼𝐸</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𝐵</m:t>
                    </m:r>
                    <m:r>
                      <a:rPr lang="en-US" altLang="zh-CN" sz="2600" b="0" i="1" dirty="0">
                        <a:latin typeface="Cambria Math" panose="02040503050406030204" pitchFamily="18" charset="0"/>
                      </a:rPr>
                      <m:t>∉ </m:t>
                    </m:r>
                    <m:r>
                      <a:rPr lang="en-US" altLang="zh-CN" sz="2600" b="0" i="1" dirty="0">
                        <a:latin typeface="Cambria Math" panose="02040503050406030204" pitchFamily="18" charset="0"/>
                      </a:rPr>
                      <m:t>𝐻𝐺</m:t>
                    </m:r>
                    <m:r>
                      <a:rPr lang="en-US" altLang="zh-CN" sz="2600" b="0" i="1" baseline="30000" dirty="0">
                        <a:latin typeface="Cambria Math" panose="02040503050406030204" pitchFamily="18" charset="0"/>
                      </a:rPr>
                      <m:t>+</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𝐺</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𝐹</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𝐻</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𝐵</m:t>
                    </m:r>
                    <m:r>
                      <a:rPr lang="en-US" altLang="zh-CN" sz="2600" b="0" i="1" dirty="0">
                        <a:latin typeface="Cambria Math" panose="02040503050406030204" pitchFamily="18" charset="0"/>
                      </a:rPr>
                      <m:t>})∴</m:t>
                    </m:r>
                    <m:r>
                      <a:rPr lang="zh-CN" altLang="en-US" sz="2600" b="0" i="1" dirty="0">
                        <a:latin typeface="Cambria Math" panose="02040503050406030204" pitchFamily="18" charset="0"/>
                      </a:rPr>
                      <m:t>保留该函数</m:t>
                    </m:r>
                  </m:oMath>
                </a14:m>
                <a:r>
                  <a:rPr lang="zh-CN" altLang="en-US" sz="2600" b="0" dirty="0"/>
                  <a:t>依赖</a:t>
                </a:r>
                <a:endParaRPr lang="zh-CN" altLang="en-US" sz="2600" b="0" dirty="0"/>
              </a:p>
              <a:p>
                <a:pPr algn="l">
                  <a:lnSpc>
                    <a:spcPct val="80000"/>
                  </a:lnSpc>
                  <a:buNone/>
                </a:pPr>
                <a14:m>
                  <m:oMath xmlns:m="http://schemas.openxmlformats.org/officeDocument/2006/math">
                    <m:r>
                      <a:rPr lang="en-US" altLang="zh-CN" sz="2600" b="0" i="1" dirty="0" smtClean="0">
                        <a:latin typeface="Cambria Math" panose="02040503050406030204" pitchFamily="18" charset="0"/>
                      </a:rPr>
                      <m:t>𝐻</m:t>
                    </m:r>
                    <m:r>
                      <a:rPr lang="en-US" altLang="zh-CN" sz="2600" b="0" i="1" dirty="0" smtClean="0">
                        <a:latin typeface="Cambria Math" panose="02040503050406030204" pitchFamily="18" charset="0"/>
                      </a:rPr>
                      <m:t>→</m:t>
                    </m:r>
                    <m:r>
                      <a:rPr lang="en-US" altLang="zh-CN" sz="2600" b="0" i="1" dirty="0" smtClean="0">
                        <a:latin typeface="Cambria Math" panose="02040503050406030204" pitchFamily="18" charset="0"/>
                      </a:rPr>
                      <m:t>𝐸</m:t>
                    </m:r>
                    <m:r>
                      <a:rPr lang="en-US" altLang="zh-CN" sz="2600" b="0" i="1" dirty="0" smtClean="0">
                        <a:latin typeface="Cambria Math" panose="02040503050406030204" pitchFamily="18" charset="0"/>
                      </a:rPr>
                      <m:t> ∵</m:t>
                    </m:r>
                    <m:r>
                      <a:rPr lang="en-US" altLang="zh-CN" sz="2600" b="0" i="1" dirty="0" smtClean="0">
                        <a:latin typeface="Cambria Math" panose="02040503050406030204" pitchFamily="18" charset="0"/>
                      </a:rPr>
                      <m:t>𝐻𝐺</m:t>
                    </m:r>
                    <m:r>
                      <a:rPr lang="en-US" altLang="zh-CN" sz="2600" b="0" i="1" baseline="30000" dirty="0">
                        <a:latin typeface="Cambria Math" panose="02040503050406030204" pitchFamily="18" charset="0"/>
                      </a:rPr>
                      <m:t>+</m:t>
                    </m:r>
                    <m:r>
                      <a:rPr lang="zh-CN" altLang="en-US" sz="2600" b="0" i="1" dirty="0">
                        <a:latin typeface="Cambria Math" panose="02040503050406030204" pitchFamily="18" charset="0"/>
                      </a:rPr>
                      <m:t>＝</m:t>
                    </m:r>
                    <m:r>
                      <a:rPr lang="en-US" altLang="zh-CN" sz="2600" b="0" i="1" dirty="0">
                        <a:latin typeface="Cambria Math" panose="02040503050406030204" pitchFamily="18" charset="0"/>
                      </a:rPr>
                      <m:t>𝐻𝐵𝐶𝐷𝐸</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𝐸</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𝐻𝐺</m:t>
                    </m:r>
                    <m:r>
                      <a:rPr lang="en-US" altLang="zh-CN" sz="2600" b="0" i="1" baseline="30000" dirty="0">
                        <a:latin typeface="Cambria Math" panose="02040503050406030204" pitchFamily="18" charset="0"/>
                      </a:rPr>
                      <m:t>+</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𝐺</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𝐹</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𝐻</m:t>
                    </m:r>
                    <m:r>
                      <a:rPr lang="en-US" altLang="zh-CN" sz="2600" b="0" i="1" dirty="0">
                        <a:latin typeface="Cambria Math" panose="02040503050406030204" pitchFamily="18" charset="0"/>
                      </a:rPr>
                      <m:t>→</m:t>
                    </m:r>
                    <m:r>
                      <a:rPr lang="en-US" altLang="zh-CN" sz="2600" b="0" i="1" dirty="0">
                        <a:latin typeface="Cambria Math" panose="02040503050406030204" pitchFamily="18" charset="0"/>
                      </a:rPr>
                      <m:t>𝐸</m:t>
                    </m:r>
                    <m:r>
                      <a:rPr lang="en-US" altLang="zh-CN" sz="2600" b="0" i="1" dirty="0">
                        <a:latin typeface="Cambria Math" panose="02040503050406030204" pitchFamily="18" charset="0"/>
                      </a:rPr>
                      <m:t>}) ∴</m:t>
                    </m:r>
                    <m:r>
                      <a:rPr lang="zh-CN" altLang="en-US" sz="2600" b="0" i="1" dirty="0">
                        <a:latin typeface="Cambria Math" panose="02040503050406030204" pitchFamily="18" charset="0"/>
                      </a:rPr>
                      <m:t>不保留该函数</m:t>
                    </m:r>
                  </m:oMath>
                </a14:m>
                <a:r>
                  <a:rPr lang="zh-CN" altLang="en-US" sz="2600" b="0" dirty="0"/>
                  <a:t>依赖</a:t>
                </a:r>
                <a:endParaRPr lang="zh-CN" altLang="en-US" sz="2600" b="0" dirty="0"/>
              </a:p>
              <a:p>
                <a:pPr>
                  <a:lnSpc>
                    <a:spcPct val="80000"/>
                  </a:lnSpc>
                  <a:buNone/>
                </a:pPr>
                <a:endParaRPr lang="zh-CN" altLang="en-US" sz="2400" b="0" dirty="0"/>
              </a:p>
              <a:p>
                <a:pPr>
                  <a:lnSpc>
                    <a:spcPct val="80000"/>
                  </a:lnSpc>
                  <a:buNone/>
                </a:pPr>
                <a:r>
                  <a:rPr lang="zh-CN" altLang="en-US" sz="2400" b="0" dirty="0"/>
                  <a:t>最后剩下的</a:t>
                </a:r>
                <a:r>
                  <a:rPr lang="en-US" altLang="zh-CN" sz="2400" b="0" dirty="0"/>
                  <a:t>F</a:t>
                </a:r>
                <a:r>
                  <a:rPr lang="zh-CN" altLang="en-US" sz="2400" b="0" dirty="0"/>
                  <a:t>是最小函数依赖集，</a:t>
                </a:r>
                <a:endParaRPr lang="zh-CN" altLang="en-US" sz="2400" b="0" dirty="0"/>
              </a:p>
              <a:p>
                <a:pPr>
                  <a:lnSpc>
                    <a:spcPct val="80000"/>
                  </a:lnSpc>
                  <a:buNone/>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b="0" i="1">
                              <a:latin typeface="Cambria Math" panose="02040503050406030204" pitchFamily="18" charset="0"/>
                            </a:rPr>
                            <m:t>𝐹</m:t>
                          </m:r>
                        </m:e>
                        <m:sub>
                          <m:r>
                            <a:rPr lang="en-US" altLang="zh-CN" sz="2400" b="0" i="1">
                              <a:latin typeface="Cambria Math" panose="02040503050406030204" pitchFamily="18" charset="0"/>
                            </a:rPr>
                            <m:t>𝑚𝑖𝑛</m:t>
                          </m:r>
                        </m:sub>
                      </m:sSub>
                      <m:r>
                        <a:rPr lang="en-US" altLang="zh-CN" sz="2400" b="0" i="1">
                          <a:latin typeface="Cambria Math" panose="02040503050406030204" pitchFamily="18" charset="0"/>
                        </a:rPr>
                        <m:t> </m:t>
                      </m:r>
                      <m:r>
                        <a:rPr lang="en-US" altLang="zh-CN" sz="2400" b="0" i="1" dirty="0">
                          <a:latin typeface="Cambria Math" panose="02040503050406030204" pitchFamily="18" charset="0"/>
                        </a:rPr>
                        <m:t>= {</m:t>
                      </m:r>
                      <m:r>
                        <a:rPr lang="en-US" altLang="zh-CN" sz="2400" b="0" i="1" dirty="0">
                          <a:latin typeface="Cambria Math" panose="02040503050406030204" pitchFamily="18" charset="0"/>
                        </a:rPr>
                        <m:t>𝐴</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𝐵</m:t>
                      </m:r>
                      <m:r>
                        <a:rPr lang="en-US" altLang="zh-CN" sz="2400" b="0" i="1" dirty="0">
                          <a:latin typeface="Cambria Math" panose="02040503050406030204" pitchFamily="18" charset="0"/>
                        </a:rPr>
                        <m:t>, </m:t>
                      </m:r>
                      <m:r>
                        <a:rPr lang="en-US" altLang="zh-CN" sz="2400" b="0" i="1" dirty="0">
                          <a:latin typeface="Cambria Math" panose="02040503050406030204" pitchFamily="18" charset="0"/>
                        </a:rPr>
                        <m:t>𝐵</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𝐶</m:t>
                      </m:r>
                      <m:r>
                        <a:rPr lang="en-US" altLang="zh-CN" sz="2400" b="0" i="1" dirty="0">
                          <a:latin typeface="Cambria Math" panose="02040503050406030204" pitchFamily="18" charset="0"/>
                        </a:rPr>
                        <m:t>, </m:t>
                      </m:r>
                      <m:r>
                        <a:rPr lang="en-US" altLang="zh-CN" sz="2400" b="0" i="1" dirty="0">
                          <a:latin typeface="Cambria Math" panose="02040503050406030204" pitchFamily="18" charset="0"/>
                        </a:rPr>
                        <m:t>𝐵</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𝐸</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𝐶</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𝐷</m:t>
                      </m:r>
                      <m:r>
                        <a:rPr lang="en-US" altLang="zh-CN" sz="2400" b="0" i="1" dirty="0">
                          <a:latin typeface="Cambria Math" panose="02040503050406030204" pitchFamily="18" charset="0"/>
                        </a:rPr>
                        <m:t>, </m:t>
                      </m:r>
                      <m:r>
                        <a:rPr lang="en-US" altLang="zh-CN" sz="2400" b="0" i="1" dirty="0">
                          <a:latin typeface="Cambria Math" panose="02040503050406030204" pitchFamily="18" charset="0"/>
                        </a:rPr>
                        <m:t>𝐻</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𝐼</m:t>
                      </m:r>
                      <m:r>
                        <a:rPr lang="en-US" altLang="zh-CN" sz="2400" b="0" i="1" dirty="0">
                          <a:latin typeface="Cambria Math" panose="02040503050406030204" pitchFamily="18" charset="0"/>
                        </a:rPr>
                        <m:t>, </m:t>
                      </m:r>
                      <m:r>
                        <a:rPr lang="en-US" altLang="zh-CN" sz="2400" b="0" i="1" dirty="0">
                          <a:latin typeface="Cambria Math" panose="02040503050406030204" pitchFamily="18" charset="0"/>
                        </a:rPr>
                        <m:t>𝐼</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𝐻</m:t>
                      </m:r>
                      <m:r>
                        <a:rPr lang="en-US" altLang="zh-CN" sz="2400" b="0" i="1" dirty="0">
                          <a:latin typeface="Cambria Math" panose="02040503050406030204" pitchFamily="18" charset="0"/>
                        </a:rPr>
                        <m:t>, </m:t>
                      </m:r>
                      <m:r>
                        <a:rPr lang="en-US" altLang="zh-CN" sz="2400" b="0" i="1" dirty="0">
                          <a:latin typeface="Cambria Math" panose="02040503050406030204" pitchFamily="18" charset="0"/>
                        </a:rPr>
                        <m:t>𝐻</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𝐵</m:t>
                      </m:r>
                      <m:r>
                        <a:rPr lang="en-US" altLang="zh-CN" sz="2400" b="0" i="1" dirty="0">
                          <a:latin typeface="Cambria Math" panose="02040503050406030204" pitchFamily="18" charset="0"/>
                        </a:rPr>
                        <m:t>}</m:t>
                      </m:r>
                    </m:oMath>
                  </m:oMathPara>
                </a14:m>
                <a:endParaRPr lang="en-US" altLang="zh-CN" sz="2400" b="0" dirty="0"/>
              </a:p>
              <a:p>
                <a:pPr marL="457200" lvl="1" indent="0">
                  <a:buNone/>
                </a:pP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最小函数依赖集</a:t>
                </a:r>
                <a:endParaRPr kumimoji="1" lang="en-US" altLang="zh-CN" dirty="0"/>
              </a:p>
              <a:p>
                <a:pPr lvl="1"/>
                <a:r>
                  <a:rPr lang="zh-CN" altLang="en-US" dirty="0"/>
                  <a:t>应当指出，</a:t>
                </a:r>
                <a14:m>
                  <m:oMath xmlns:m="http://schemas.openxmlformats.org/officeDocument/2006/math">
                    <m:r>
                      <a:rPr lang="en-US" altLang="zh-CN" b="0" i="1" smtClean="0">
                        <a:latin typeface="Cambria Math" panose="02040503050406030204" pitchFamily="18" charset="0"/>
                      </a:rPr>
                      <m:t>𝐹</m:t>
                    </m:r>
                  </m:oMath>
                </a14:m>
                <a:r>
                  <a:rPr lang="zh-CN" altLang="en-US" dirty="0"/>
                  <a:t>的最小依赖集</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𝑚𝑖𝑛</m:t>
                        </m:r>
                      </m:sub>
                    </m:sSub>
                  </m:oMath>
                </a14:m>
                <a:r>
                  <a:rPr lang="zh-CN" altLang="en-US" dirty="0"/>
                  <a:t>不一定是唯一的，它和我们对各函数依赖</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𝐹𝐷</m:t>
                        </m:r>
                      </m:e>
                      <m:sub>
                        <m:r>
                          <a:rPr lang="en-US" altLang="zh-CN" i="1">
                            <a:latin typeface="Cambria Math" panose="02040503050406030204" pitchFamily="18" charset="0"/>
                          </a:rPr>
                          <m:t>𝑖</m:t>
                        </m:r>
                      </m:sub>
                    </m:sSub>
                  </m:oMath>
                </a14:m>
                <a:r>
                  <a:rPr lang="zh-CN" altLang="en-US" dirty="0"/>
                  <a:t>及</a:t>
                </a:r>
                <a14:m>
                  <m:oMath xmlns:m="http://schemas.openxmlformats.org/officeDocument/2006/math">
                    <m:r>
                      <m:rPr>
                        <m:sty m:val="p"/>
                      </m:rPr>
                      <a:rPr lang="en-US" altLang="zh-CN" b="0" i="0" dirty="0" smtClean="0">
                        <a:latin typeface="Cambria Math" panose="02040503050406030204" pitchFamily="18" charset="0"/>
                        <a:ea typeface="黑体" panose="02010609060101010101" pitchFamily="49" charset="-122"/>
                      </a:rPr>
                      <m:t>X</m:t>
                    </m:r>
                    <m:r>
                      <a:rPr lang="en-US" altLang="zh-CN" i="1" dirty="0">
                        <a:latin typeface="Cambria Math" panose="02040503050406030204" pitchFamily="18" charset="0"/>
                        <a:ea typeface="黑体" panose="02010609060101010101" pitchFamily="49" charset="-122"/>
                      </a:rPr>
                      <m:t>→</m:t>
                    </m:r>
                    <m:r>
                      <a:rPr lang="en-US" altLang="zh-CN" b="0" i="1" dirty="0" smtClean="0">
                        <a:latin typeface="Cambria Math" panose="02040503050406030204" pitchFamily="18" charset="0"/>
                        <a:ea typeface="黑体" panose="02010609060101010101" pitchFamily="49" charset="-122"/>
                      </a:rPr>
                      <m:t>𝐴</m:t>
                    </m:r>
                  </m:oMath>
                </a14:m>
                <a:r>
                  <a:rPr lang="zh-CN" altLang="en-US" dirty="0"/>
                  <a:t>中</a:t>
                </a:r>
                <a14:m>
                  <m:oMath xmlns:m="http://schemas.openxmlformats.org/officeDocument/2006/math">
                    <m:r>
                      <m:rPr>
                        <m:sty m:val="p"/>
                      </m:rPr>
                      <a:rPr lang="en-US" altLang="zh-CN" dirty="0">
                        <a:latin typeface="Cambria Math" panose="02040503050406030204" pitchFamily="18" charset="0"/>
                        <a:ea typeface="黑体" panose="02010609060101010101" pitchFamily="49" charset="-122"/>
                      </a:rPr>
                      <m:t>X</m:t>
                    </m:r>
                  </m:oMath>
                </a14:m>
                <a:r>
                  <a:rPr lang="zh-CN" altLang="en-US" dirty="0"/>
                  <a:t>各属性的处置顺序有关</a:t>
                </a:r>
                <a:endParaRPr lang="en-US" altLang="zh-CN" dirty="0"/>
              </a:p>
              <a:p>
                <a:pPr marL="0" indent="0" algn="ctr">
                  <a:lnSpc>
                    <a:spcPct val="200000"/>
                  </a:lnSpc>
                  <a:buNone/>
                  <a:defRPr/>
                </a:pPr>
                <a:r>
                  <a:rPr lang="en-US" altLang="zh-CN" sz="2400" b="0" dirty="0">
                    <a:cs typeface="Times New Roman" panose="02020603050405020304" pitchFamily="18" charset="0"/>
                  </a:rPr>
                  <a:t>   </a:t>
                </a:r>
                <a14:m>
                  <m:oMath xmlns:m="http://schemas.openxmlformats.org/officeDocument/2006/math">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𝐹</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𝐴</m:t>
                    </m:r>
                    <m:r>
                      <a:rPr lang="zh-CN" altLang="en-US" sz="2400" b="0" i="1" dirty="0"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𝐵</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 </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𝐵</m:t>
                    </m:r>
                    <m:r>
                      <a:rPr lang="zh-CN" altLang="en-US" sz="2400" b="0" i="1" dirty="0"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𝐴</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 </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𝐵</m:t>
                    </m:r>
                    <m:r>
                      <a:rPr lang="zh-CN" altLang="en-US" sz="2400" b="0" i="1" dirty="0"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𝐶</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 </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𝐴</m:t>
                    </m:r>
                    <m:r>
                      <a:rPr lang="zh-CN" altLang="en-US" sz="2400" b="0" i="1" dirty="0"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𝐶</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 </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𝐶</m:t>
                    </m:r>
                    <m:r>
                      <a:rPr lang="zh-CN" altLang="en-US" sz="2400" b="0" i="1" dirty="0" smtClean="0">
                        <a:latin typeface="Cambria Math" panose="02040503050406030204" pitchFamily="18" charset="0"/>
                        <a:ea typeface="黑体" panose="02010609060101010101" pitchFamily="49" charset="-122"/>
                        <a:cs typeface="Times New Roman" panose="02020603050405020304" pitchFamily="18" charset="0"/>
                      </a:rPr>
                      <m:t>→</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𝐴</m:t>
                    </m:r>
                    <m:r>
                      <a:rPr lang="en-US" altLang="zh-CN" sz="2400" b="0" i="1" dirty="0" smtClean="0">
                        <a:latin typeface="Cambria Math" panose="02040503050406030204" pitchFamily="18" charset="0"/>
                        <a:ea typeface="黑体" panose="02010609060101010101" pitchFamily="49" charset="-122"/>
                        <a:cs typeface="Times New Roman" panose="02020603050405020304" pitchFamily="18" charset="0"/>
                      </a:rPr>
                      <m:t>}</m:t>
                    </m:r>
                  </m:oMath>
                </a14:m>
                <a:endParaRPr lang="zh-CN" altLang="en-US" sz="2400" b="0" dirty="0">
                  <a:cs typeface="Times New Roman" panose="02020603050405020304" pitchFamily="18" charset="0"/>
                </a:endParaRPr>
              </a:p>
              <a:p>
                <a:pPr lvl="1"/>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kumimoji="1" lang="zh-CN" altLang="en-US" dirty="0"/>
              <a:t>多值依赖</a:t>
            </a:r>
            <a:endParaRPr kumimoji="1" lang="en-US" altLang="zh-CN" dirty="0"/>
          </a:p>
          <a:p>
            <a:pPr lvl="1"/>
            <a:r>
              <a:rPr lang="zh-CN" altLang="en-US" dirty="0"/>
              <a:t>除了函数依赖以外，关系的属性间还存在其他一些数据依赖关系，多值依赖</a:t>
            </a:r>
            <a:r>
              <a:rPr lang="en-US" altLang="zh-CN" dirty="0"/>
              <a:t>(multivalued </a:t>
            </a:r>
            <a:r>
              <a:rPr lang="en-US" altLang="zh-CN" dirty="0" err="1"/>
              <a:t>dependency,MVD</a:t>
            </a:r>
            <a:r>
              <a:rPr lang="en-US" altLang="zh-CN" dirty="0"/>
              <a:t>)</a:t>
            </a:r>
            <a:r>
              <a:rPr lang="zh-CN" altLang="en-US" dirty="0"/>
              <a:t>就是其中之一</a:t>
            </a:r>
            <a:endParaRPr lang="en-US" altLang="zh-CN" dirty="0"/>
          </a:p>
          <a:p>
            <a:pPr lvl="1"/>
            <a:r>
              <a:rPr lang="zh-CN" altLang="en-US" i="1" dirty="0"/>
              <a:t>例</a:t>
            </a:r>
            <a:r>
              <a:rPr lang="en-US" altLang="zh-CN" i="1" dirty="0"/>
              <a:t>1</a:t>
            </a:r>
            <a:r>
              <a:rPr lang="zh-CN" altLang="en-US" i="1" dirty="0"/>
              <a:t>：学校中某一门课程由多个教员讲授，他们使用相同的一套参考书。每个教员可以讲授多门课程，每种参考书可以供多门课程使用。我们可以用一个非规范化的关系来表示教员</a:t>
            </a:r>
            <a:r>
              <a:rPr lang="en-US" altLang="zh-CN" i="1" dirty="0"/>
              <a:t>T,</a:t>
            </a:r>
            <a:r>
              <a:rPr lang="zh-CN" altLang="en-US" i="1" dirty="0"/>
              <a:t>课程</a:t>
            </a:r>
            <a:r>
              <a:rPr lang="en-US" altLang="zh-CN" i="1" dirty="0"/>
              <a:t>C</a:t>
            </a:r>
            <a:r>
              <a:rPr lang="zh-CN" altLang="en-US" i="1" dirty="0"/>
              <a:t>和参考书</a:t>
            </a:r>
            <a:r>
              <a:rPr lang="en-US" altLang="zh-CN" i="1" dirty="0"/>
              <a:t>B</a:t>
            </a:r>
            <a:r>
              <a:rPr lang="zh-CN" altLang="en-US" i="1" dirty="0"/>
              <a:t>之间的关系： </a:t>
            </a:r>
            <a:endParaRPr lang="en-US" altLang="zh-CN" i="1" dirty="0"/>
          </a:p>
          <a:p>
            <a:pPr marL="457200" lvl="1" indent="0">
              <a:buNone/>
            </a:pPr>
            <a:endParaRPr lang="zh-CN" altLang="en-US" i="1"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pic>
        <p:nvPicPr>
          <p:cNvPr id="7" name="图片 6"/>
          <p:cNvPicPr>
            <a:picLocks noChangeAspect="1"/>
          </p:cNvPicPr>
          <p:nvPr/>
        </p:nvPicPr>
        <p:blipFill>
          <a:blip r:embed="rId1"/>
          <a:stretch>
            <a:fillRect/>
          </a:stretch>
        </p:blipFill>
        <p:spPr>
          <a:xfrm>
            <a:off x="4002808" y="4156075"/>
            <a:ext cx="4241800" cy="25654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kumimoji="1" lang="zh-CN" altLang="en-US" dirty="0"/>
              <a:t>多值依赖</a:t>
            </a:r>
            <a:endParaRPr kumimoji="1" lang="en-US" altLang="zh-CN" dirty="0"/>
          </a:p>
          <a:p>
            <a:pPr lvl="1"/>
            <a:r>
              <a:rPr lang="zh-CN" altLang="en-US" dirty="0"/>
              <a:t>把这张表变成一张规范化的二维表</a:t>
            </a:r>
            <a:r>
              <a:rPr lang="en-US" altLang="zh-CN" dirty="0"/>
              <a:t>,</a:t>
            </a:r>
            <a:r>
              <a:rPr lang="zh-CN" altLang="en-US" dirty="0"/>
              <a:t>就成为</a:t>
            </a:r>
            <a:r>
              <a:rPr lang="en-US" altLang="zh-CN" dirty="0"/>
              <a:t>:</a:t>
            </a:r>
            <a:r>
              <a:rPr lang="en-GB" altLang="zh-CN" dirty="0"/>
              <a:t>Teaching</a:t>
            </a:r>
            <a:endParaRPr lang="en-GB" altLang="zh-CN" dirty="0"/>
          </a:p>
          <a:p>
            <a:pPr lvl="1"/>
            <a:endParaRPr lang="zh-CN" altLang="en-US" i="1"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pic>
        <p:nvPicPr>
          <p:cNvPr id="8" name="图片 7"/>
          <p:cNvPicPr>
            <a:picLocks noChangeAspect="1"/>
          </p:cNvPicPr>
          <p:nvPr/>
        </p:nvPicPr>
        <p:blipFill>
          <a:blip r:embed="rId1"/>
          <a:stretch>
            <a:fillRect/>
          </a:stretch>
        </p:blipFill>
        <p:spPr>
          <a:xfrm>
            <a:off x="4072658" y="2368550"/>
            <a:ext cx="4102100" cy="39878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多值依赖</a:t>
                </a:r>
                <a:endParaRPr kumimoji="1" lang="en-US" altLang="zh-CN" dirty="0"/>
              </a:p>
              <a:p>
                <a:pPr lvl="1"/>
                <a:r>
                  <a:rPr lang="zh-CN" altLang="en-US" sz="2400" dirty="0"/>
                  <a:t>仔细考察这类关系模式，发现它具有一种称为多值依赖</a:t>
                </a:r>
                <a:r>
                  <a:rPr lang="en-US" altLang="zh-CN" sz="2400" dirty="0"/>
                  <a:t>(MVD)</a:t>
                </a:r>
                <a:r>
                  <a:rPr lang="zh-CN" altLang="en-US" sz="2400" dirty="0"/>
                  <a:t>的数据依赖 </a:t>
                </a:r>
                <a:endParaRPr lang="en-US" altLang="zh-CN" sz="2400" dirty="0"/>
              </a:p>
              <a:p>
                <a:pPr lvl="1"/>
                <a:r>
                  <a:rPr lang="zh-CN" altLang="en-US" sz="2400" dirty="0"/>
                  <a:t>定义</a:t>
                </a:r>
                <a:r>
                  <a:rPr lang="en-US" altLang="zh-CN" sz="2400" dirty="0"/>
                  <a:t>4.10</a:t>
                </a:r>
                <a:r>
                  <a:rPr lang="zh-CN" altLang="en-US" sz="2400" dirty="0"/>
                  <a:t>：设</a:t>
                </a:r>
                <a14:m>
                  <m:oMath xmlns:m="http://schemas.openxmlformats.org/officeDocument/2006/math">
                    <m:r>
                      <a:rPr lang="en-US" altLang="zh-CN" sz="2400" i="1" smtClean="0">
                        <a:latin typeface="Cambria Math" panose="02040503050406030204" pitchFamily="18" charset="0"/>
                      </a:rPr>
                      <m:t>	</m:t>
                    </m:r>
                    <m:r>
                      <a:rPr lang="en-US" altLang="zh-CN" sz="2400" b="0" i="1" smtClean="0">
                        <a:latin typeface="Cambria Math" panose="02040503050406030204" pitchFamily="18" charset="0"/>
                      </a:rPr>
                      <m:t>𝑅</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𝑈</m:t>
                    </m:r>
                    <m:r>
                      <a:rPr lang="en-US" altLang="zh-CN" sz="2400" b="0" i="1" smtClean="0">
                        <a:latin typeface="Cambria Math" panose="02040503050406030204" pitchFamily="18" charset="0"/>
                      </a:rPr>
                      <m:t>)</m:t>
                    </m:r>
                  </m:oMath>
                </a14:m>
                <a:r>
                  <a:rPr lang="zh-CN" altLang="en-US" sz="2400" dirty="0"/>
                  <a:t>是属性集</a:t>
                </a:r>
                <a14:m>
                  <m:oMath xmlns:m="http://schemas.openxmlformats.org/officeDocument/2006/math">
                    <m:r>
                      <a:rPr lang="en-US" altLang="zh-CN" i="1">
                        <a:latin typeface="Cambria Math" panose="02040503050406030204" pitchFamily="18" charset="0"/>
                      </a:rPr>
                      <m:t>𝑈</m:t>
                    </m:r>
                  </m:oMath>
                </a14:m>
                <a:r>
                  <a:rPr lang="zh-CN" altLang="en-US" sz="2400" dirty="0"/>
                  <a:t>上的一个关系模式。</a:t>
                </a:r>
                <a14:m>
                  <m:oMath xmlns:m="http://schemas.openxmlformats.org/officeDocument/2006/math">
                    <m:r>
                      <a:rPr lang="en-US" altLang="zh-CN" sz="2400" b="0" i="1" smtClean="0">
                        <a:latin typeface="Cambria Math" panose="02040503050406030204" pitchFamily="18" charset="0"/>
                      </a:rPr>
                      <m:t>𝑋</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𝑌</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𝑍</m:t>
                    </m:r>
                  </m:oMath>
                </a14:m>
                <a:r>
                  <a:rPr lang="zh-CN" altLang="en-US" sz="2400" dirty="0"/>
                  <a:t>是</a:t>
                </a:r>
                <a14:m>
                  <m:oMath xmlns:m="http://schemas.openxmlformats.org/officeDocument/2006/math">
                    <m:r>
                      <a:rPr lang="en-US" altLang="zh-CN" i="1">
                        <a:latin typeface="Cambria Math" panose="02040503050406030204" pitchFamily="18" charset="0"/>
                      </a:rPr>
                      <m:t>𝑈</m:t>
                    </m:r>
                  </m:oMath>
                </a14:m>
                <a:r>
                  <a:rPr lang="zh-CN" altLang="en-US" sz="2400" dirty="0"/>
                  <a:t>的子集</a:t>
                </a:r>
                <a:r>
                  <a:rPr lang="en-US" altLang="zh-CN" sz="2400" dirty="0"/>
                  <a:t>,</a:t>
                </a:r>
                <a:r>
                  <a:rPr lang="zh-CN" altLang="en-US" sz="2400" dirty="0"/>
                  <a:t>并且</a:t>
                </a:r>
                <a14:m>
                  <m:oMath xmlns:m="http://schemas.openxmlformats.org/officeDocument/2006/math">
                    <m:r>
                      <a:rPr lang="en-US" altLang="zh-CN" sz="2400" i="1" dirty="0">
                        <a:solidFill>
                          <a:srgbClr val="FF9933"/>
                        </a:solidFill>
                        <a:latin typeface="Cambria Math" panose="02040503050406030204" pitchFamily="18" charset="0"/>
                      </a:rPr>
                      <m:t>𝒁</m:t>
                    </m:r>
                    <m:r>
                      <a:rPr lang="en-US" altLang="zh-CN" sz="2400" i="1" dirty="0">
                        <a:solidFill>
                          <a:srgbClr val="FF9933"/>
                        </a:solidFill>
                        <a:latin typeface="Cambria Math" panose="02040503050406030204" pitchFamily="18" charset="0"/>
                      </a:rPr>
                      <m:t>=</m:t>
                    </m:r>
                    <m:r>
                      <a:rPr lang="en-US" altLang="zh-CN" sz="2400" i="1" dirty="0">
                        <a:solidFill>
                          <a:srgbClr val="FF9933"/>
                        </a:solidFill>
                        <a:latin typeface="Cambria Math" panose="02040503050406030204" pitchFamily="18" charset="0"/>
                      </a:rPr>
                      <m:t>𝑼</m:t>
                    </m:r>
                    <m:r>
                      <a:rPr lang="en-US" altLang="zh-CN" sz="2400" i="1" dirty="0">
                        <a:solidFill>
                          <a:srgbClr val="FF9933"/>
                        </a:solidFill>
                        <a:latin typeface="Cambria Math" panose="02040503050406030204" pitchFamily="18" charset="0"/>
                      </a:rPr>
                      <m:t>−</m:t>
                    </m:r>
                    <m:r>
                      <a:rPr lang="en-US" altLang="zh-CN" sz="2400" i="1" dirty="0">
                        <a:solidFill>
                          <a:srgbClr val="FF9933"/>
                        </a:solidFill>
                        <a:latin typeface="Cambria Math" panose="02040503050406030204" pitchFamily="18" charset="0"/>
                      </a:rPr>
                      <m:t>𝑿</m:t>
                    </m:r>
                    <m:r>
                      <a:rPr lang="en-US" altLang="zh-CN" sz="2400" i="1" dirty="0">
                        <a:solidFill>
                          <a:srgbClr val="FF9933"/>
                        </a:solidFill>
                        <a:latin typeface="Cambria Math" panose="02040503050406030204" pitchFamily="18" charset="0"/>
                      </a:rPr>
                      <m:t>−</m:t>
                    </m:r>
                    <m:r>
                      <a:rPr lang="en-US" altLang="zh-CN" sz="2400" i="1" dirty="0">
                        <a:solidFill>
                          <a:srgbClr val="FF9933"/>
                        </a:solidFill>
                        <a:latin typeface="Cambria Math" panose="02040503050406030204" pitchFamily="18" charset="0"/>
                      </a:rPr>
                      <m:t>𝒀</m:t>
                    </m:r>
                  </m:oMath>
                </a14:m>
                <a:r>
                  <a:rPr lang="zh-CN" altLang="en-US" sz="2400" dirty="0"/>
                  <a:t>。关系模式</a:t>
                </a:r>
                <a:r>
                  <a:rPr lang="en-US" altLang="zh-CN" sz="2400" dirty="0"/>
                  <a:t>R(U)</a:t>
                </a:r>
                <a:r>
                  <a:rPr lang="zh-CN" altLang="en-US" sz="2400" dirty="0"/>
                  <a:t>中多值依赖</a:t>
                </a:r>
                <a14:m>
                  <m:oMath xmlns:m="http://schemas.openxmlformats.org/officeDocument/2006/math">
                    <m:r>
                      <a:rPr lang="en-US" altLang="zh-CN" sz="2400" i="1" dirty="0" smtClean="0">
                        <a:latin typeface="Cambria Math" panose="02040503050406030204" pitchFamily="18" charset="0"/>
                      </a:rPr>
                      <m:t>𝑋</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𝑌</m:t>
                    </m:r>
                  </m:oMath>
                </a14:m>
                <a:r>
                  <a:rPr lang="zh-CN" altLang="en-US" sz="2400" dirty="0"/>
                  <a:t>成立，当且仅当对</a:t>
                </a:r>
                <a14:m>
                  <m:oMath xmlns:m="http://schemas.openxmlformats.org/officeDocument/2006/math">
                    <m:r>
                      <a:rPr lang="en-US" altLang="zh-CN" i="1">
                        <a:latin typeface="Cambria Math" panose="02040503050406030204" pitchFamily="18" charset="0"/>
                      </a:rPr>
                      <m:t>𝑅</m:t>
                    </m:r>
                    <m:r>
                      <a:rPr lang="en-US" altLang="zh-CN" i="1">
                        <a:latin typeface="Cambria Math" panose="02040503050406030204" pitchFamily="18" charset="0"/>
                      </a:rPr>
                      <m:t>(</m:t>
                    </m:r>
                    <m:r>
                      <a:rPr lang="en-US" altLang="zh-CN" i="1">
                        <a:latin typeface="Cambria Math" panose="02040503050406030204" pitchFamily="18" charset="0"/>
                      </a:rPr>
                      <m:t>𝑈</m:t>
                    </m:r>
                    <m:r>
                      <a:rPr lang="en-US" altLang="zh-CN" i="1">
                        <a:latin typeface="Cambria Math" panose="02040503050406030204" pitchFamily="18" charset="0"/>
                      </a:rPr>
                      <m:t>)</m:t>
                    </m:r>
                  </m:oMath>
                </a14:m>
                <a:r>
                  <a:rPr lang="zh-CN" altLang="en-US" sz="2400" dirty="0"/>
                  <a:t>的任一关系</a:t>
                </a:r>
                <a14:m>
                  <m:oMath xmlns:m="http://schemas.openxmlformats.org/officeDocument/2006/math">
                    <m:r>
                      <a:rPr lang="en-US" altLang="zh-CN" sz="2400" b="0" i="1" smtClean="0">
                        <a:latin typeface="Cambria Math" panose="02040503050406030204" pitchFamily="18" charset="0"/>
                      </a:rPr>
                      <m:t>𝑟</m:t>
                    </m:r>
                  </m:oMath>
                </a14:m>
                <a:r>
                  <a:rPr lang="en-US" altLang="zh-CN" sz="2400" dirty="0"/>
                  <a:t>,</a:t>
                </a:r>
                <a:r>
                  <a:rPr lang="zh-CN" altLang="en-US" sz="2400" dirty="0"/>
                  <a:t>给定的一对</a:t>
                </a:r>
                <a14:m>
                  <m:oMath xmlns:m="http://schemas.openxmlformats.org/officeDocument/2006/math">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𝑧</m:t>
                    </m:r>
                    <m:r>
                      <a:rPr lang="en-US" altLang="zh-CN" sz="2400" b="0" i="1" smtClean="0">
                        <a:latin typeface="Cambria Math" panose="02040503050406030204" pitchFamily="18" charset="0"/>
                      </a:rPr>
                      <m:t>)</m:t>
                    </m:r>
                  </m:oMath>
                </a14:m>
                <a:r>
                  <a:rPr lang="zh-CN" altLang="en-US" sz="2400" dirty="0"/>
                  <a:t>值有一组</a:t>
                </a:r>
                <a14:m>
                  <m:oMath xmlns:m="http://schemas.openxmlformats.org/officeDocument/2006/math">
                    <m:r>
                      <a:rPr lang="en-US" altLang="zh-CN" i="1" dirty="0">
                        <a:latin typeface="Cambria Math" panose="02040503050406030204" pitchFamily="18" charset="0"/>
                      </a:rPr>
                      <m:t>𝑌</m:t>
                    </m:r>
                  </m:oMath>
                </a14:m>
                <a:r>
                  <a:rPr lang="zh-CN" altLang="en-US" sz="2400" dirty="0"/>
                  <a:t>的值，这组值仅仅决定于</a:t>
                </a:r>
                <a14:m>
                  <m:oMath xmlns:m="http://schemas.openxmlformats.org/officeDocument/2006/math">
                    <m:r>
                      <a:rPr lang="en-US" altLang="zh-CN" i="1">
                        <a:latin typeface="Cambria Math" panose="02040503050406030204" pitchFamily="18" charset="0"/>
                      </a:rPr>
                      <m:t>𝑥</m:t>
                    </m:r>
                  </m:oMath>
                </a14:m>
                <a:r>
                  <a:rPr lang="zh-CN" altLang="en-US" sz="2400" dirty="0"/>
                  <a:t>值而与</a:t>
                </a:r>
                <a14:m>
                  <m:oMath xmlns:m="http://schemas.openxmlformats.org/officeDocument/2006/math">
                    <m:r>
                      <a:rPr lang="en-US" altLang="zh-CN" i="1">
                        <a:latin typeface="Cambria Math" panose="02040503050406030204" pitchFamily="18" charset="0"/>
                      </a:rPr>
                      <m:t>𝑧</m:t>
                    </m:r>
                  </m:oMath>
                </a14:m>
                <a:r>
                  <a:rPr lang="zh-CN" altLang="en-US" sz="2400" dirty="0"/>
                  <a:t>值</a:t>
                </a:r>
                <a:r>
                  <a:rPr lang="zh-CN" altLang="en-US" sz="2400" dirty="0">
                    <a:solidFill>
                      <a:srgbClr val="FF9933"/>
                    </a:solidFill>
                  </a:rPr>
                  <a:t>无关</a:t>
                </a:r>
                <a:endParaRPr lang="en-US" altLang="zh-CN" sz="2400" dirty="0">
                  <a:solidFill>
                    <a:srgbClr val="FF9933"/>
                  </a:solidFill>
                </a:endParaRPr>
              </a:p>
              <a:p>
                <a:pPr lvl="1"/>
                <a:r>
                  <a:rPr lang="zh-CN" altLang="en-US" sz="2400" dirty="0"/>
                  <a:t>例如，在关系模式</a:t>
                </a:r>
                <a:r>
                  <a:rPr lang="en-US" altLang="zh-CN" sz="2400" dirty="0"/>
                  <a:t>TEACHING</a:t>
                </a:r>
                <a:r>
                  <a:rPr lang="zh-CN" altLang="en-US" sz="2400" dirty="0"/>
                  <a:t>中，对于</a:t>
                </a:r>
                <a:r>
                  <a:rPr lang="en-US" altLang="zh-CN" sz="2400" dirty="0"/>
                  <a:t>(</a:t>
                </a:r>
                <a:r>
                  <a:rPr lang="zh-CN" altLang="en-US" sz="2400" dirty="0"/>
                  <a:t>物理，光学原理</a:t>
                </a:r>
                <a:r>
                  <a:rPr lang="en-US" altLang="zh-CN" sz="2400" dirty="0"/>
                  <a:t>)</a:t>
                </a:r>
                <a:r>
                  <a:rPr lang="zh-CN" altLang="en-US" sz="2400" dirty="0"/>
                  <a:t>有一组</a:t>
                </a:r>
                <a:r>
                  <a:rPr lang="en-US" altLang="zh-CN" sz="2400" dirty="0"/>
                  <a:t>T</a:t>
                </a:r>
                <a:r>
                  <a:rPr lang="zh-CN" altLang="en-US" sz="2400" dirty="0"/>
                  <a:t>值</a:t>
                </a:r>
                <a:r>
                  <a:rPr lang="en-US" altLang="zh-CN" sz="2400" dirty="0"/>
                  <a:t>{</a:t>
                </a:r>
                <a:r>
                  <a:rPr lang="zh-CN" altLang="en-US" sz="2400" dirty="0"/>
                  <a:t>李勇，王军</a:t>
                </a:r>
                <a:r>
                  <a:rPr lang="en-US" altLang="zh-CN" sz="2400" dirty="0"/>
                  <a:t>}</a:t>
                </a:r>
                <a:r>
                  <a:rPr lang="zh-CN" altLang="en-US" sz="2400" dirty="0"/>
                  <a:t>，这组值仅仅决定于课程</a:t>
                </a:r>
                <a:r>
                  <a:rPr lang="en-US" altLang="zh-CN" sz="2400" dirty="0"/>
                  <a:t>C</a:t>
                </a:r>
                <a:r>
                  <a:rPr lang="zh-CN" altLang="en-US" sz="2400" dirty="0"/>
                  <a:t>上的值</a:t>
                </a:r>
                <a:r>
                  <a:rPr lang="en-US" altLang="zh-CN" sz="2400" dirty="0"/>
                  <a:t>(</a:t>
                </a:r>
                <a:r>
                  <a:rPr lang="zh-CN" altLang="en-US" sz="2400" dirty="0"/>
                  <a:t>物理</a:t>
                </a:r>
                <a:r>
                  <a:rPr lang="en-US" altLang="zh-CN" sz="2400" dirty="0"/>
                  <a:t>)</a:t>
                </a:r>
                <a:r>
                  <a:rPr lang="zh-CN" altLang="en-US" sz="2400" dirty="0"/>
                  <a:t>，也就是说对于另一个</a:t>
                </a:r>
                <a:r>
                  <a:rPr lang="en-US" altLang="zh-CN" sz="2400" dirty="0"/>
                  <a:t>(</a:t>
                </a:r>
                <a:r>
                  <a:rPr lang="zh-CN" altLang="en-US" sz="2400" dirty="0"/>
                  <a:t>物理</a:t>
                </a:r>
                <a:r>
                  <a:rPr lang="en-US" altLang="zh-CN" sz="2400" dirty="0"/>
                  <a:t>,</a:t>
                </a:r>
                <a:r>
                  <a:rPr lang="zh-CN" altLang="en-US" sz="2400" dirty="0"/>
                  <a:t>普通物理学</a:t>
                </a:r>
                <a:r>
                  <a:rPr lang="en-US" altLang="zh-CN" sz="2400" dirty="0"/>
                  <a:t>)</a:t>
                </a:r>
                <a:r>
                  <a:rPr lang="zh-CN" altLang="en-US" sz="2400" dirty="0"/>
                  <a:t>它对应的一组</a:t>
                </a:r>
                <a:r>
                  <a:rPr lang="en-US" altLang="zh-CN" sz="2400" dirty="0"/>
                  <a:t>T</a:t>
                </a:r>
                <a:r>
                  <a:rPr lang="zh-CN" altLang="en-US" sz="2400" dirty="0"/>
                  <a:t>值仍是</a:t>
                </a:r>
                <a:r>
                  <a:rPr lang="en-US" altLang="zh-CN" sz="2400" dirty="0"/>
                  <a:t>{</a:t>
                </a:r>
                <a:r>
                  <a:rPr lang="zh-CN" altLang="en-US" sz="2400" dirty="0"/>
                  <a:t>李勇</a:t>
                </a:r>
                <a:r>
                  <a:rPr lang="en-US" altLang="zh-CN" sz="2400" dirty="0"/>
                  <a:t>,</a:t>
                </a:r>
                <a:r>
                  <a:rPr lang="zh-CN" altLang="en-US" sz="2400" dirty="0"/>
                  <a:t>王军</a:t>
                </a:r>
                <a:r>
                  <a:rPr lang="en-US" altLang="zh-CN" sz="2400" dirty="0"/>
                  <a:t>}</a:t>
                </a:r>
                <a:r>
                  <a:rPr lang="zh-CN" altLang="en-US" sz="2400" dirty="0"/>
                  <a:t>，尽管这时参考书</a:t>
                </a:r>
                <a:r>
                  <a:rPr lang="en-US" altLang="zh-CN" sz="2400" dirty="0"/>
                  <a:t>B</a:t>
                </a:r>
                <a:r>
                  <a:rPr lang="zh-CN" altLang="en-US" sz="2400" dirty="0"/>
                  <a:t>的值已经改变了。因此，</a:t>
                </a:r>
                <a:r>
                  <a:rPr lang="en-US" altLang="zh-CN" sz="2400" dirty="0"/>
                  <a:t>T</a:t>
                </a:r>
                <a:r>
                  <a:rPr lang="zh-CN" altLang="en-US" sz="2400" dirty="0"/>
                  <a:t>多值依赖于</a:t>
                </a:r>
                <a:r>
                  <a:rPr lang="en-US" altLang="zh-CN" sz="2400" dirty="0"/>
                  <a:t>C</a:t>
                </a:r>
                <a:r>
                  <a:rPr lang="zh-CN" altLang="en-US" sz="2400" dirty="0"/>
                  <a:t>，即</a:t>
                </a:r>
                <a14:m>
                  <m:oMath xmlns:m="http://schemas.openxmlformats.org/officeDocument/2006/math">
                    <m:r>
                      <a:rPr lang="en-US" altLang="zh-CN" sz="2400" i="1" dirty="0" smtClean="0">
                        <a:latin typeface="Cambria Math" panose="02040503050406030204" pitchFamily="18" charset="0"/>
                      </a:rPr>
                      <m:t>𝐶</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𝑇</m:t>
                    </m:r>
                  </m:oMath>
                </a14:m>
                <a:endParaRPr lang="zh-CN" altLang="en-US" sz="2400" dirty="0"/>
              </a:p>
              <a:p>
                <a:pPr lvl="1"/>
                <a:endParaRPr lang="en-GB" altLang="zh-CN" dirty="0"/>
              </a:p>
              <a:p>
                <a:pPr lvl="1"/>
                <a:endParaRPr lang="zh-CN" altLang="en-US" i="1"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725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多值依赖</a:t>
                </a:r>
                <a:endParaRPr lang="en-US" altLang="zh-CN" sz="2400" dirty="0"/>
              </a:p>
              <a:p>
                <a:pPr lvl="1"/>
                <a:r>
                  <a:rPr lang="zh-CN" altLang="en-US" sz="2200" dirty="0"/>
                  <a:t>以上对多值依赖进行了一些直观的讨论，下面对</a:t>
                </a:r>
                <a:r>
                  <a:rPr lang="en-US" altLang="zh-CN" sz="2200" dirty="0"/>
                  <a:t>MVD</a:t>
                </a:r>
                <a:r>
                  <a:rPr lang="zh-CN" altLang="en-US" sz="2200" dirty="0"/>
                  <a:t>进行形式化描述</a:t>
                </a:r>
                <a:endParaRPr lang="en-US" altLang="zh-CN" sz="2200" dirty="0"/>
              </a:p>
              <a:p>
                <a:pPr lvl="1"/>
                <a:r>
                  <a:rPr lang="zh-CN" altLang="en-US" sz="2200" dirty="0"/>
                  <a:t>定义</a:t>
                </a:r>
                <a:r>
                  <a:rPr lang="en-US" altLang="zh-CN" sz="2200" dirty="0"/>
                  <a:t>4.11</a:t>
                </a:r>
                <a:r>
                  <a:rPr lang="zh-CN" altLang="en-US" sz="2200" dirty="0"/>
                  <a:t>：设</a:t>
                </a:r>
                <a14:m>
                  <m:oMath xmlns:m="http://schemas.openxmlformats.org/officeDocument/2006/math">
                    <m:r>
                      <a:rPr lang="en-US" altLang="zh-CN" sz="2200" i="1" dirty="0" smtClean="0">
                        <a:latin typeface="Cambria Math" panose="02040503050406030204" pitchFamily="18" charset="0"/>
                      </a:rPr>
                      <m:t>𝑅</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𝑈</m:t>
                    </m:r>
                    <m:r>
                      <a:rPr lang="en-US" altLang="zh-CN" sz="2200" i="1" dirty="0" smtClean="0">
                        <a:latin typeface="Cambria Math" panose="02040503050406030204" pitchFamily="18" charset="0"/>
                      </a:rPr>
                      <m:t>)</m:t>
                    </m:r>
                  </m:oMath>
                </a14:m>
                <a:r>
                  <a:rPr lang="zh-CN" altLang="en-US" sz="2200" dirty="0"/>
                  <a:t>是属性集</a:t>
                </a:r>
                <a:r>
                  <a:rPr lang="en-US" altLang="zh-CN" sz="2200" dirty="0"/>
                  <a:t>U</a:t>
                </a:r>
                <a:r>
                  <a:rPr lang="zh-CN" altLang="en-US" sz="2200" dirty="0"/>
                  <a:t>上的一个关系模式。</a:t>
                </a:r>
                <a14:m>
                  <m:oMath xmlns:m="http://schemas.openxmlformats.org/officeDocument/2006/math">
                    <m:r>
                      <a:rPr lang="en-US" altLang="zh-CN" sz="2200" i="1" dirty="0" smtClean="0">
                        <a:latin typeface="Cambria Math" panose="02040503050406030204" pitchFamily="18" charset="0"/>
                      </a:rPr>
                      <m:t>𝑋</m:t>
                    </m:r>
                    <m:r>
                      <a:rPr lang="zh-CN" altLang="en-US" sz="2200" i="1" dirty="0">
                        <a:latin typeface="Cambria Math" panose="02040503050406030204" pitchFamily="18" charset="0"/>
                      </a:rPr>
                      <m:t>，</m:t>
                    </m:r>
                    <m:r>
                      <a:rPr lang="en-US" altLang="zh-CN" sz="2200" i="1" dirty="0">
                        <a:latin typeface="Cambria Math" panose="02040503050406030204" pitchFamily="18" charset="0"/>
                      </a:rPr>
                      <m:t>𝑌</m:t>
                    </m:r>
                    <m:r>
                      <a:rPr lang="zh-CN" altLang="en-US" sz="2200" i="1" dirty="0">
                        <a:latin typeface="Cambria Math" panose="02040503050406030204" pitchFamily="18" charset="0"/>
                      </a:rPr>
                      <m:t>，</m:t>
                    </m:r>
                    <m:r>
                      <a:rPr lang="en-US" altLang="zh-CN" sz="2200" i="1" dirty="0">
                        <a:latin typeface="Cambria Math" panose="02040503050406030204" pitchFamily="18" charset="0"/>
                      </a:rPr>
                      <m:t>𝑍</m:t>
                    </m:r>
                  </m:oMath>
                </a14:m>
                <a:r>
                  <a:rPr lang="zh-CN" altLang="en-US" sz="2200" dirty="0"/>
                  <a:t>是的</a:t>
                </a:r>
                <a14:m>
                  <m:oMath xmlns:m="http://schemas.openxmlformats.org/officeDocument/2006/math">
                    <m:r>
                      <a:rPr lang="en-US" altLang="zh-CN" sz="2200" i="1" dirty="0">
                        <a:latin typeface="Cambria Math" panose="02040503050406030204" pitchFamily="18" charset="0"/>
                      </a:rPr>
                      <m:t>𝑈</m:t>
                    </m:r>
                  </m:oMath>
                </a14:m>
                <a:r>
                  <a:rPr lang="zh-CN" altLang="en-US" sz="2200" dirty="0"/>
                  <a:t>的子集</a:t>
                </a:r>
                <a:r>
                  <a:rPr lang="en-US" altLang="zh-CN" sz="2200" dirty="0"/>
                  <a:t>,</a:t>
                </a:r>
                <a:r>
                  <a:rPr lang="zh-CN" altLang="en-US" sz="2200" dirty="0"/>
                  <a:t>并且</a:t>
                </a:r>
                <a14:m>
                  <m:oMath xmlns:m="http://schemas.openxmlformats.org/officeDocument/2006/math">
                    <m:r>
                      <a:rPr lang="en-US" altLang="zh-CN" sz="2200" i="1" dirty="0" smtClean="0">
                        <a:latin typeface="Cambria Math" panose="02040503050406030204" pitchFamily="18" charset="0"/>
                      </a:rPr>
                      <m:t>𝑍</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𝑈</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oMath>
                </a14:m>
                <a:r>
                  <a:rPr lang="zh-CN" altLang="en-US" sz="2200" dirty="0"/>
                  <a:t>，如果对</a:t>
                </a:r>
                <a14:m>
                  <m:oMath xmlns:m="http://schemas.openxmlformats.org/officeDocument/2006/math">
                    <m:r>
                      <a:rPr lang="en-US" altLang="zh-CN" sz="2200" i="1" dirty="0">
                        <a:latin typeface="Cambria Math" panose="02040503050406030204" pitchFamily="18" charset="0"/>
                      </a:rPr>
                      <m:t>𝑅</m:t>
                    </m:r>
                    <m:r>
                      <a:rPr lang="en-US" altLang="zh-CN" sz="2200" i="1" dirty="0">
                        <a:latin typeface="Cambria Math" panose="02040503050406030204" pitchFamily="18" charset="0"/>
                      </a:rPr>
                      <m:t>(</m:t>
                    </m:r>
                    <m:r>
                      <a:rPr lang="en-US" altLang="zh-CN" sz="2200" i="1" dirty="0">
                        <a:latin typeface="Cambria Math" panose="02040503050406030204" pitchFamily="18" charset="0"/>
                      </a:rPr>
                      <m:t>𝑈</m:t>
                    </m:r>
                    <m:r>
                      <a:rPr lang="en-US" altLang="zh-CN" sz="2200" i="1" dirty="0">
                        <a:latin typeface="Cambria Math" panose="02040503050406030204" pitchFamily="18" charset="0"/>
                      </a:rPr>
                      <m:t>)</m:t>
                    </m:r>
                  </m:oMath>
                </a14:m>
                <a:r>
                  <a:rPr lang="zh-CN" altLang="en-US" sz="2200" dirty="0"/>
                  <a:t>的任一关系</a:t>
                </a:r>
                <a14:m>
                  <m:oMath xmlns:m="http://schemas.openxmlformats.org/officeDocument/2006/math">
                    <m:r>
                      <a:rPr lang="en-US" altLang="zh-CN" sz="2200" b="0" i="1" smtClean="0">
                        <a:latin typeface="Cambria Math" panose="02040503050406030204" pitchFamily="18" charset="0"/>
                      </a:rPr>
                      <m:t>𝑟</m:t>
                    </m:r>
                  </m:oMath>
                </a14:m>
                <a:r>
                  <a:rPr lang="zh-CN" altLang="en-US" sz="2200" dirty="0"/>
                  <a:t>，都有如下性质：</a:t>
                </a:r>
                <a:endParaRPr lang="zh-CN" altLang="en-US" sz="2200" dirty="0"/>
              </a:p>
              <a:p>
                <a:pPr marL="844550" lvl="1" indent="-387350">
                  <a:lnSpc>
                    <a:spcPct val="80000"/>
                  </a:lnSpc>
                  <a:buNone/>
                </a:pPr>
                <a:r>
                  <a:rPr lang="zh-CN" altLang="en-US" sz="2200" b="0" dirty="0"/>
                  <a:t>     </a:t>
                </a:r>
                <a:r>
                  <a:rPr lang="en-US" altLang="zh-CN" sz="2200" b="0" dirty="0"/>
                  <a:t>	</a:t>
                </a:r>
                <a:r>
                  <a:rPr lang="zh-CN" altLang="en-US" sz="2200" b="0" dirty="0"/>
                  <a:t>如果</a:t>
                </a:r>
                <a14:m>
                  <m:oMath xmlns:m="http://schemas.openxmlformats.org/officeDocument/2006/math">
                    <m:r>
                      <a:rPr lang="en-US" altLang="zh-CN" sz="2200" b="0" i="1">
                        <a:latin typeface="Cambria Math" panose="02040503050406030204" pitchFamily="18" charset="0"/>
                      </a:rPr>
                      <m:t>𝑟</m:t>
                    </m:r>
                  </m:oMath>
                </a14:m>
                <a:r>
                  <a:rPr lang="zh-CN" altLang="en-US" sz="2200" b="0" dirty="0"/>
                  <a:t>中存在</a:t>
                </a:r>
                <a:r>
                  <a:rPr lang="en-US" altLang="zh-CN" sz="2200" b="0" dirty="0"/>
                  <a:t>2</a:t>
                </a:r>
                <a:r>
                  <a:rPr lang="zh-CN" altLang="en-US" sz="2200" b="0" dirty="0"/>
                  <a:t>个元组</a:t>
                </a:r>
                <a14:m>
                  <m:oMath xmlns:m="http://schemas.openxmlformats.org/officeDocument/2006/math">
                    <m:r>
                      <a:rPr lang="en-US" altLang="zh-CN" sz="2200" b="0" i="1" dirty="0" smtClean="0">
                        <a:latin typeface="Cambria Math" panose="02040503050406030204" pitchFamily="18" charset="0"/>
                      </a:rPr>
                      <m:t>𝑠</m:t>
                    </m:r>
                    <m:r>
                      <a:rPr lang="zh-CN" altLang="en-US" sz="2200" b="0" i="1" dirty="0">
                        <a:latin typeface="Cambria Math" panose="02040503050406030204" pitchFamily="18" charset="0"/>
                      </a:rPr>
                      <m:t>、</m:t>
                    </m:r>
                    <m:r>
                      <a:rPr lang="en-US" altLang="zh-CN" sz="2200" b="0" i="1" dirty="0">
                        <a:latin typeface="Cambria Math" panose="02040503050406030204" pitchFamily="18" charset="0"/>
                      </a:rPr>
                      <m:t>𝑡</m:t>
                    </m:r>
                  </m:oMath>
                </a14:m>
                <a:r>
                  <a:rPr lang="zh-CN" altLang="en-US" sz="2200" b="0" dirty="0"/>
                  <a:t>，使得：</a:t>
                </a:r>
                <a:endParaRPr lang="zh-CN" altLang="en-US" sz="2200" b="0" dirty="0"/>
              </a:p>
              <a:p>
                <a:pPr marL="844550" lvl="1" indent="-387350">
                  <a:lnSpc>
                    <a:spcPct val="80000"/>
                  </a:lnSpc>
                  <a:buNone/>
                </a:pPr>
                <a:r>
                  <a:rPr lang="zh-CN" altLang="en-US" sz="2200" b="0" dirty="0"/>
                  <a:t>         </a:t>
                </a:r>
                <a:r>
                  <a:rPr lang="en-US" altLang="zh-CN" sz="2200" b="0" dirty="0"/>
                  <a:t>	     </a:t>
                </a:r>
                <a14:m>
                  <m:oMath xmlns:m="http://schemas.openxmlformats.org/officeDocument/2006/math">
                    <m:r>
                      <a:rPr lang="en-US" altLang="zh-CN" sz="2200" b="0" i="1" smtClean="0">
                        <a:latin typeface="Cambria Math" panose="02040503050406030204" pitchFamily="18" charset="0"/>
                      </a:rPr>
                      <m:t>𝑠</m:t>
                    </m:r>
                    <m:d>
                      <m:dPr>
                        <m:begChr m:val="["/>
                        <m:endChr m:val="]"/>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𝑋</m:t>
                        </m:r>
                      </m:e>
                    </m:d>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𝑡</m:t>
                    </m:r>
                    <m:r>
                      <a:rPr lang="en-US" altLang="zh-CN" sz="2200" b="0" i="1" smtClean="0">
                        <a:latin typeface="Cambria Math" panose="02040503050406030204" pitchFamily="18" charset="0"/>
                      </a:rPr>
                      <m:t>[</m:t>
                    </m:r>
                    <m:r>
                      <a:rPr lang="en-US" altLang="zh-CN" sz="2200" b="0" i="1" smtClean="0">
                        <a:latin typeface="Cambria Math" panose="02040503050406030204" pitchFamily="18" charset="0"/>
                      </a:rPr>
                      <m:t>𝑋</m:t>
                    </m:r>
                    <m:r>
                      <a:rPr lang="en-US" altLang="zh-CN" sz="2200" b="0" i="1" smtClean="0">
                        <a:latin typeface="Cambria Math" panose="02040503050406030204" pitchFamily="18" charset="0"/>
                      </a:rPr>
                      <m:t>]</m:t>
                    </m:r>
                  </m:oMath>
                </a14:m>
                <a:endParaRPr lang="en-US" altLang="zh-CN" sz="2200" b="0" dirty="0"/>
              </a:p>
              <a:p>
                <a:pPr marL="844550" lvl="1" indent="-387350">
                  <a:lnSpc>
                    <a:spcPct val="80000"/>
                  </a:lnSpc>
                  <a:buNone/>
                </a:pPr>
                <a:r>
                  <a:rPr lang="en-US" altLang="zh-CN" sz="2200" b="0" dirty="0"/>
                  <a:t>     	</a:t>
                </a:r>
                <a:r>
                  <a:rPr lang="zh-CN" altLang="en-US" sz="2200" b="0" dirty="0"/>
                  <a:t>则</a:t>
                </a:r>
                <a:r>
                  <a:rPr lang="en-US" altLang="zh-CN" sz="2200" b="0" dirty="0"/>
                  <a:t>r</a:t>
                </a:r>
                <a:r>
                  <a:rPr lang="zh-CN" altLang="en-US" sz="2200" b="0" dirty="0"/>
                  <a:t>中必存在元组</a:t>
                </a:r>
                <a:r>
                  <a:rPr lang="en-US" altLang="zh-CN" sz="2200" b="0" dirty="0"/>
                  <a:t>u</a:t>
                </a:r>
                <a:r>
                  <a:rPr lang="zh-CN" altLang="en-US" sz="2200" b="0" dirty="0"/>
                  <a:t>、</a:t>
                </a:r>
                <a:r>
                  <a:rPr lang="en-US" altLang="zh-CN" sz="2200" b="0" dirty="0"/>
                  <a:t>v,</a:t>
                </a:r>
                <a:r>
                  <a:rPr lang="zh-CN" altLang="en-US" sz="2200" b="0" dirty="0"/>
                  <a:t>使得：</a:t>
                </a:r>
                <a:endParaRPr lang="zh-CN" altLang="en-US" sz="2200" b="0" dirty="0"/>
              </a:p>
              <a:p>
                <a:pPr marL="1758950" lvl="3" indent="-387350">
                  <a:lnSpc>
                    <a:spcPct val="80000"/>
                  </a:lnSpc>
                  <a:buNone/>
                </a:pPr>
                <a:r>
                  <a:rPr lang="zh-CN" altLang="en-US" sz="2200" dirty="0"/>
                  <a:t>        </a:t>
                </a:r>
                <a:r>
                  <a:rPr lang="en-US" altLang="zh-CN" sz="2200" dirty="0"/>
                  <a:t>(1) </a:t>
                </a:r>
                <a14:m>
                  <m:oMath xmlns:m="http://schemas.openxmlformats.org/officeDocument/2006/math">
                    <m:r>
                      <a:rPr lang="en-US" altLang="zh-CN" sz="2200" i="1" dirty="0" smtClean="0">
                        <a:latin typeface="Cambria Math" panose="02040503050406030204" pitchFamily="18" charset="0"/>
                      </a:rPr>
                      <m:t>𝑢</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𝑣</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𝑠</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𝑡</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oMath>
                </a14:m>
                <a:endParaRPr lang="en-US" altLang="zh-CN" sz="2200" dirty="0"/>
              </a:p>
              <a:p>
                <a:pPr marL="1758950" lvl="3" indent="-387350">
                  <a:lnSpc>
                    <a:spcPct val="80000"/>
                  </a:lnSpc>
                  <a:buNone/>
                </a:pPr>
                <a:r>
                  <a:rPr lang="en-US" altLang="zh-CN" sz="2200" dirty="0"/>
                  <a:t>        (2) </a:t>
                </a:r>
                <a14:m>
                  <m:oMath xmlns:m="http://schemas.openxmlformats.org/officeDocument/2006/math">
                    <m:r>
                      <a:rPr lang="en-US" altLang="zh-CN" sz="2200" i="1" dirty="0" smtClean="0">
                        <a:latin typeface="Cambria Math" panose="02040503050406030204" pitchFamily="18" charset="0"/>
                      </a:rPr>
                      <m:t>𝑢</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en-US" altLang="zh-CN" sz="2200" i="1" dirty="0" smtClean="0">
                        <a:latin typeface="Cambria Math" panose="02040503050406030204" pitchFamily="18" charset="0"/>
                      </a:rPr>
                      <m:t>]=</m:t>
                    </m:r>
                    <m:r>
                      <a:rPr lang="en-US" altLang="zh-CN" sz="2200" i="1" dirty="0" smtClean="0">
                        <a:solidFill>
                          <a:srgbClr val="990099"/>
                        </a:solidFill>
                        <a:latin typeface="Cambria Math" panose="02040503050406030204" pitchFamily="18" charset="0"/>
                      </a:rPr>
                      <m:t>𝑡</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en-US" altLang="zh-CN" sz="2200" i="1" dirty="0" smtClean="0">
                        <a:latin typeface="Cambria Math" panose="02040503050406030204" pitchFamily="18" charset="0"/>
                      </a:rPr>
                      <m:t>] </m:t>
                    </m:r>
                    <m:r>
                      <a:rPr lang="zh-CN" altLang="en-US" sz="2200" i="1" dirty="0" smtClean="0">
                        <a:latin typeface="Cambria Math" panose="02040503050406030204" pitchFamily="18" charset="0"/>
                      </a:rPr>
                      <m:t>且</m:t>
                    </m:r>
                    <m:r>
                      <a:rPr lang="zh-CN" altLang="en-US" sz="2200" i="1" dirty="0" smtClean="0">
                        <a:latin typeface="Cambria Math" panose="02040503050406030204" pitchFamily="18" charset="0"/>
                      </a:rPr>
                      <m:t> </m:t>
                    </m:r>
                    <m:r>
                      <a:rPr lang="en-US" altLang="zh-CN" sz="2200" i="1" dirty="0" smtClean="0">
                        <a:latin typeface="Cambria Math" panose="02040503050406030204" pitchFamily="18" charset="0"/>
                      </a:rPr>
                      <m:t>𝑢</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𝑍</m:t>
                    </m:r>
                    <m:r>
                      <a:rPr lang="en-US" altLang="zh-CN" sz="2200" i="1" dirty="0" smtClean="0">
                        <a:latin typeface="Cambria Math" panose="02040503050406030204" pitchFamily="18" charset="0"/>
                      </a:rPr>
                      <m:t>]=</m:t>
                    </m:r>
                    <m:r>
                      <a:rPr lang="en-US" altLang="zh-CN" sz="2200" i="1" dirty="0" smtClean="0">
                        <a:solidFill>
                          <a:srgbClr val="339966"/>
                        </a:solidFill>
                        <a:latin typeface="Cambria Math" panose="02040503050406030204" pitchFamily="18" charset="0"/>
                      </a:rPr>
                      <m:t>𝑠</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𝑍</m:t>
                    </m:r>
                    <m:r>
                      <a:rPr lang="en-US" altLang="zh-CN" sz="2200" i="1" dirty="0" smtClean="0">
                        <a:latin typeface="Cambria Math" panose="02040503050406030204" pitchFamily="18" charset="0"/>
                      </a:rPr>
                      <m:t>]</m:t>
                    </m:r>
                  </m:oMath>
                </a14:m>
                <a:endParaRPr lang="en-US" altLang="zh-CN" sz="2200" dirty="0"/>
              </a:p>
              <a:p>
                <a:pPr marL="1758950" lvl="3" indent="-387350">
                  <a:lnSpc>
                    <a:spcPct val="80000"/>
                  </a:lnSpc>
                  <a:buNone/>
                </a:pPr>
                <a:r>
                  <a:rPr lang="en-US" altLang="zh-CN" sz="2200" dirty="0"/>
                  <a:t>        (3) </a:t>
                </a:r>
                <a14:m>
                  <m:oMath xmlns:m="http://schemas.openxmlformats.org/officeDocument/2006/math">
                    <m:r>
                      <a:rPr lang="en-US" altLang="zh-CN" sz="2200" i="1" dirty="0" smtClean="0">
                        <a:latin typeface="Cambria Math" panose="02040503050406030204" pitchFamily="18" charset="0"/>
                      </a:rPr>
                      <m:t>𝑣</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en-US" altLang="zh-CN" sz="2200" i="1" dirty="0" smtClean="0">
                        <a:latin typeface="Cambria Math" panose="02040503050406030204" pitchFamily="18" charset="0"/>
                      </a:rPr>
                      <m:t>]=</m:t>
                    </m:r>
                    <m:r>
                      <a:rPr lang="en-US" altLang="zh-CN" sz="2200" i="1" dirty="0" smtClean="0">
                        <a:solidFill>
                          <a:srgbClr val="339966"/>
                        </a:solidFill>
                        <a:latin typeface="Cambria Math" panose="02040503050406030204" pitchFamily="18" charset="0"/>
                      </a:rPr>
                      <m:t>𝑠</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en-US" altLang="zh-CN" sz="2200" i="1" dirty="0" smtClean="0">
                        <a:latin typeface="Cambria Math" panose="02040503050406030204" pitchFamily="18" charset="0"/>
                      </a:rPr>
                      <m:t>] </m:t>
                    </m:r>
                    <m:r>
                      <a:rPr lang="zh-CN" altLang="en-US" sz="2200" i="1" dirty="0" smtClean="0">
                        <a:latin typeface="Cambria Math" panose="02040503050406030204" pitchFamily="18" charset="0"/>
                      </a:rPr>
                      <m:t>且</m:t>
                    </m:r>
                    <m:r>
                      <a:rPr lang="zh-CN" altLang="en-US" sz="2200" i="1" dirty="0" smtClean="0">
                        <a:latin typeface="Cambria Math" panose="02040503050406030204" pitchFamily="18" charset="0"/>
                      </a:rPr>
                      <m:t> </m:t>
                    </m:r>
                    <m:r>
                      <a:rPr lang="en-US" altLang="zh-CN" sz="2200" i="1" dirty="0" smtClean="0">
                        <a:latin typeface="Cambria Math" panose="02040503050406030204" pitchFamily="18" charset="0"/>
                      </a:rPr>
                      <m:t>𝑣</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𝑍</m:t>
                    </m:r>
                    <m:r>
                      <a:rPr lang="en-US" altLang="zh-CN" sz="2200" i="1" dirty="0" smtClean="0">
                        <a:latin typeface="Cambria Math" panose="02040503050406030204" pitchFamily="18" charset="0"/>
                      </a:rPr>
                      <m:t>]=</m:t>
                    </m:r>
                    <m:r>
                      <a:rPr lang="en-US" altLang="zh-CN" sz="2200" i="1" dirty="0" smtClean="0">
                        <a:solidFill>
                          <a:srgbClr val="990099"/>
                        </a:solidFill>
                        <a:latin typeface="Cambria Math" panose="02040503050406030204" pitchFamily="18" charset="0"/>
                      </a:rPr>
                      <m:t>𝑡</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𝑍</m:t>
                    </m:r>
                    <m:r>
                      <a:rPr lang="en-US" altLang="zh-CN" sz="2200" i="1" dirty="0" smtClean="0">
                        <a:latin typeface="Cambria Math" panose="02040503050406030204" pitchFamily="18" charset="0"/>
                      </a:rPr>
                      <m:t>]</m:t>
                    </m:r>
                  </m:oMath>
                </a14:m>
                <a:endParaRPr lang="en-US" altLang="zh-CN" sz="2200" dirty="0"/>
              </a:p>
              <a:p>
                <a:pPr marL="844550" lvl="1" indent="-387350">
                  <a:lnSpc>
                    <a:spcPct val="80000"/>
                  </a:lnSpc>
                  <a:buNone/>
                </a:pPr>
                <a:r>
                  <a:rPr lang="en-US" altLang="zh-CN" sz="1800" b="0" dirty="0"/>
                  <a:t>     </a:t>
                </a:r>
                <a:r>
                  <a:rPr lang="en-US" altLang="zh-CN" sz="2200" b="0" dirty="0"/>
                  <a:t>(</a:t>
                </a:r>
                <a:r>
                  <a:rPr lang="zh-CN" altLang="en-US" sz="2200" b="0" dirty="0"/>
                  <a:t>即交换</a:t>
                </a:r>
                <a14:m>
                  <m:oMath xmlns:m="http://schemas.openxmlformats.org/officeDocument/2006/math">
                    <m:r>
                      <a:rPr lang="en-US" altLang="zh-CN" sz="2200" b="0" i="1" dirty="0" smtClean="0">
                        <a:latin typeface="Cambria Math" panose="02040503050406030204" pitchFamily="18" charset="0"/>
                      </a:rPr>
                      <m:t>𝑠</m:t>
                    </m:r>
                    <m:r>
                      <a:rPr lang="zh-CN" altLang="en-US" sz="2200" b="0" i="1" dirty="0">
                        <a:latin typeface="Cambria Math" panose="02040503050406030204" pitchFamily="18" charset="0"/>
                      </a:rPr>
                      <m:t>、</m:t>
                    </m:r>
                    <m:r>
                      <a:rPr lang="en-US" altLang="zh-CN" sz="2200" b="0" i="1" dirty="0">
                        <a:latin typeface="Cambria Math" panose="02040503050406030204" pitchFamily="18" charset="0"/>
                      </a:rPr>
                      <m:t>𝑡</m:t>
                    </m:r>
                  </m:oMath>
                </a14:m>
                <a:r>
                  <a:rPr lang="zh-CN" altLang="en-US" sz="2200" b="0" dirty="0"/>
                  <a:t>在</a:t>
                </a:r>
                <a14:m>
                  <m:oMath xmlns:m="http://schemas.openxmlformats.org/officeDocument/2006/math">
                    <m:r>
                      <a:rPr lang="en-US" altLang="zh-CN" sz="2200" i="1" dirty="0">
                        <a:latin typeface="Cambria Math" panose="02040503050406030204" pitchFamily="18" charset="0"/>
                      </a:rPr>
                      <m:t>𝑌</m:t>
                    </m:r>
                  </m:oMath>
                </a14:m>
                <a:r>
                  <a:rPr lang="zh-CN" altLang="en-US" sz="2200" b="0" dirty="0"/>
                  <a:t>上的值得到的</a:t>
                </a:r>
                <a:r>
                  <a:rPr lang="en-US" altLang="zh-CN" sz="2200" b="0" dirty="0"/>
                  <a:t>2</a:t>
                </a:r>
                <a:r>
                  <a:rPr lang="zh-CN" altLang="en-US" sz="2200" b="0" dirty="0"/>
                  <a:t>个元组必在</a:t>
                </a:r>
                <a14:m>
                  <m:oMath xmlns:m="http://schemas.openxmlformats.org/officeDocument/2006/math">
                    <m:r>
                      <a:rPr lang="en-US" altLang="zh-CN" sz="2200" b="0" i="1">
                        <a:latin typeface="Cambria Math" panose="02040503050406030204" pitchFamily="18" charset="0"/>
                      </a:rPr>
                      <m:t>𝑟</m:t>
                    </m:r>
                  </m:oMath>
                </a14:m>
                <a:r>
                  <a:rPr lang="zh-CN" altLang="en-US" sz="2200" b="0" dirty="0"/>
                  <a:t>中</a:t>
                </a:r>
                <a:r>
                  <a:rPr lang="en-US" altLang="zh-CN" sz="2200" b="0" dirty="0"/>
                  <a:t>)</a:t>
                </a:r>
                <a:endParaRPr lang="en-US" altLang="zh-CN" sz="2200" b="0" dirty="0"/>
              </a:p>
              <a:p>
                <a:pPr marL="844550" lvl="1" indent="-387350">
                  <a:lnSpc>
                    <a:spcPct val="80000"/>
                  </a:lnSpc>
                  <a:buNone/>
                </a:pPr>
                <a:r>
                  <a:rPr lang="en-US" altLang="zh-CN" sz="2200" b="0" dirty="0"/>
                  <a:t>     </a:t>
                </a:r>
                <a:r>
                  <a:rPr lang="zh-CN" altLang="en-US" sz="2200" b="0" dirty="0"/>
                  <a:t>则称关系模式</a:t>
                </a:r>
                <a14:m>
                  <m:oMath xmlns:m="http://schemas.openxmlformats.org/officeDocument/2006/math">
                    <m:r>
                      <a:rPr lang="en-US" altLang="zh-CN" sz="2200" i="1" dirty="0">
                        <a:latin typeface="Cambria Math" panose="02040503050406030204" pitchFamily="18" charset="0"/>
                      </a:rPr>
                      <m:t>𝑅</m:t>
                    </m:r>
                  </m:oMath>
                </a14:m>
                <a:r>
                  <a:rPr lang="zh-CN" altLang="en-US" sz="2200" b="0" dirty="0"/>
                  <a:t>满足多值依赖</a:t>
                </a:r>
                <a14:m>
                  <m:oMath xmlns:m="http://schemas.openxmlformats.org/officeDocument/2006/math">
                    <m:r>
                      <a:rPr lang="en-US" altLang="zh-CN" sz="2200" b="0" i="1" dirty="0" smtClean="0">
                        <a:latin typeface="Cambria Math" panose="02040503050406030204" pitchFamily="18" charset="0"/>
                      </a:rPr>
                      <m:t>𝑋</m:t>
                    </m:r>
                    <m:r>
                      <a:rPr lang="en-US" altLang="zh-CN" sz="2200" b="0" i="1" dirty="0" smtClean="0">
                        <a:latin typeface="Cambria Math" panose="02040503050406030204" pitchFamily="18" charset="0"/>
                      </a:rPr>
                      <m:t>→→</m:t>
                    </m:r>
                    <m:r>
                      <a:rPr lang="en-US" altLang="zh-CN" sz="2200" b="0" i="1" dirty="0" smtClean="0">
                        <a:latin typeface="Cambria Math" panose="02040503050406030204" pitchFamily="18" charset="0"/>
                      </a:rPr>
                      <m:t>𝑌</m:t>
                    </m:r>
                  </m:oMath>
                </a14:m>
                <a:endParaRPr lang="zh-CN" altLang="en-US" sz="2200" b="0" dirty="0"/>
              </a:p>
              <a:p>
                <a:pPr lvl="1"/>
                <a:endParaRPr lang="en-GB" altLang="zh-CN" dirty="0"/>
              </a:p>
              <a:p>
                <a:pPr lvl="1"/>
                <a:endParaRPr lang="zh-CN" altLang="en-US" i="1"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1188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kumimoji="1" lang="zh-CN" altLang="en-US" dirty="0"/>
              <a:t>多值依赖</a:t>
            </a:r>
            <a:endParaRPr lang="en-US" altLang="zh-CN" sz="2400" dirty="0"/>
          </a:p>
          <a:p>
            <a:pPr lvl="1">
              <a:lnSpc>
                <a:spcPct val="150000"/>
              </a:lnSpc>
            </a:pPr>
            <a:r>
              <a:rPr lang="zh-CN" altLang="en-US" dirty="0"/>
              <a:t>一般</a:t>
            </a:r>
            <a:r>
              <a:rPr lang="en-US" altLang="zh-CN" dirty="0"/>
              <a:t>,</a:t>
            </a:r>
            <a:r>
              <a:rPr lang="zh-CN" altLang="en-US" dirty="0"/>
              <a:t>当关系至少有三个属性</a:t>
            </a:r>
            <a:r>
              <a:rPr lang="en-US" altLang="zh-CN" dirty="0"/>
              <a:t>,</a:t>
            </a:r>
            <a:r>
              <a:rPr lang="zh-CN" altLang="en-US" dirty="0"/>
              <a:t>其中的两个是多值时</a:t>
            </a:r>
            <a:r>
              <a:rPr lang="en-US" altLang="zh-CN" dirty="0"/>
              <a:t>,</a:t>
            </a:r>
            <a:r>
              <a:rPr lang="zh-CN" altLang="en-US" dirty="0"/>
              <a:t>且它们的值只依赖于第三个属性时</a:t>
            </a:r>
            <a:r>
              <a:rPr lang="en-US" altLang="zh-CN" dirty="0"/>
              <a:t>,</a:t>
            </a:r>
            <a:r>
              <a:rPr lang="zh-CN" altLang="en-US" dirty="0"/>
              <a:t>才会有多值依赖</a:t>
            </a:r>
            <a:r>
              <a:rPr lang="en-US" altLang="zh-CN" dirty="0"/>
              <a:t>;</a:t>
            </a:r>
            <a:endParaRPr lang="en-US" altLang="zh-CN" dirty="0"/>
          </a:p>
          <a:p>
            <a:pPr lvl="1">
              <a:lnSpc>
                <a:spcPct val="150000"/>
              </a:lnSpc>
            </a:pPr>
            <a:r>
              <a:rPr lang="zh-CN" altLang="en-US" dirty="0"/>
              <a:t>如果关系中存在</a:t>
            </a:r>
            <a:r>
              <a:rPr lang="zh-CN" altLang="en-US" dirty="0">
                <a:solidFill>
                  <a:srgbClr val="FF0000"/>
                </a:solidFill>
              </a:rPr>
              <a:t>非平凡</a:t>
            </a:r>
            <a:r>
              <a:rPr lang="zh-CN" altLang="en-US" dirty="0">
                <a:solidFill>
                  <a:srgbClr val="0070C0"/>
                </a:solidFill>
              </a:rPr>
              <a:t>非</a:t>
            </a:r>
            <a:r>
              <a:rPr lang="en-US" altLang="zh-CN" dirty="0">
                <a:solidFill>
                  <a:srgbClr val="0070C0"/>
                </a:solidFill>
              </a:rPr>
              <a:t>FD</a:t>
            </a:r>
            <a:r>
              <a:rPr lang="zh-CN" altLang="en-US" dirty="0"/>
              <a:t>的多值依赖则会导致</a:t>
            </a:r>
            <a:r>
              <a:rPr lang="zh-CN" altLang="en-US" u="sng" dirty="0"/>
              <a:t>数据冗余</a:t>
            </a:r>
            <a:r>
              <a:rPr lang="zh-CN" altLang="en-US" dirty="0"/>
              <a:t>和</a:t>
            </a:r>
            <a:r>
              <a:rPr lang="zh-CN" altLang="en-US" u="sng" dirty="0"/>
              <a:t>更新异常</a:t>
            </a:r>
            <a:r>
              <a:rPr lang="zh-CN" altLang="en-US" dirty="0"/>
              <a:t>等问题</a:t>
            </a:r>
            <a:r>
              <a:rPr lang="en-US" altLang="zh-CN" dirty="0"/>
              <a:t>,</a:t>
            </a:r>
            <a:r>
              <a:rPr lang="zh-CN" altLang="en-US" dirty="0"/>
              <a:t>所以要消除异常</a:t>
            </a:r>
            <a:r>
              <a:rPr lang="en-US" altLang="zh-CN" dirty="0"/>
              <a:t>,</a:t>
            </a:r>
            <a:r>
              <a:rPr lang="zh-CN" altLang="en-US" dirty="0"/>
              <a:t>必须消除多值依赖</a:t>
            </a:r>
            <a:r>
              <a:rPr lang="en-US" altLang="zh-CN" dirty="0"/>
              <a:t>,</a:t>
            </a:r>
            <a:r>
              <a:rPr lang="zh-CN" altLang="en-US" dirty="0"/>
              <a:t>方法是，通过建立两个关系，让每个关系只存储一个多值属性的数据。</a:t>
            </a:r>
            <a:endParaRPr lang="en-US" altLang="zh-CN" dirty="0"/>
          </a:p>
          <a:p>
            <a:pPr lvl="1"/>
            <a:endParaRPr lang="en-GB" altLang="zh-CN" dirty="0"/>
          </a:p>
          <a:p>
            <a:pPr lvl="1"/>
            <a:endParaRPr lang="zh-CN" altLang="en-US" i="1"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kumimoji="1" lang="en-GB" altLang="zh-CN" dirty="0"/>
              <a:t>MVD</a:t>
            </a:r>
            <a:r>
              <a:rPr kumimoji="1" lang="zh-CN" altLang="en-US" dirty="0"/>
              <a:t>举例</a:t>
            </a:r>
            <a:endParaRPr lang="en-US" altLang="zh-CN" sz="2400" dirty="0"/>
          </a:p>
          <a:p>
            <a:pPr lvl="1"/>
            <a:r>
              <a:rPr lang="zh-CN" altLang="en-US" sz="2000" dirty="0"/>
              <a:t>关系模式</a:t>
            </a:r>
            <a:r>
              <a:rPr lang="en-GB" altLang="zh-CN" sz="2000" dirty="0"/>
              <a:t>WSC(W,S,C)</a:t>
            </a:r>
            <a:r>
              <a:rPr lang="zh-CN" altLang="en-US" sz="2000" dirty="0"/>
              <a:t>中，</a:t>
            </a:r>
            <a:r>
              <a:rPr lang="en-GB" altLang="zh-CN" sz="2000" dirty="0"/>
              <a:t>W</a:t>
            </a:r>
            <a:r>
              <a:rPr lang="zh-CN" altLang="en-US" sz="2000" dirty="0"/>
              <a:t>表示仓库，</a:t>
            </a:r>
            <a:r>
              <a:rPr lang="en-GB" altLang="zh-CN" sz="2000" dirty="0"/>
              <a:t>S</a:t>
            </a:r>
            <a:r>
              <a:rPr lang="zh-CN" altLang="en-US" sz="2000" dirty="0"/>
              <a:t>表示保管员，</a:t>
            </a:r>
            <a:r>
              <a:rPr lang="en-GB" altLang="zh-CN" sz="2000" dirty="0"/>
              <a:t>C</a:t>
            </a:r>
            <a:r>
              <a:rPr lang="zh-CN" altLang="en-US" sz="2000" dirty="0"/>
              <a:t>表示商品。假设每个仓库有若干个保管员，有若干种商品。每个保管员保管所在仓库的所有商品，每种商品被所有保管员保管</a:t>
            </a:r>
            <a:endParaRPr lang="en-GB" altLang="zh-CN" sz="2000" dirty="0"/>
          </a:p>
          <a:p>
            <a:pPr lvl="1"/>
            <a:endParaRPr lang="zh-CN" altLang="en-US" i="1"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graphicFrame>
        <p:nvGraphicFramePr>
          <p:cNvPr id="7" name="Group 4"/>
          <p:cNvGraphicFramePr>
            <a:graphicFrameLocks noGrp="1"/>
          </p:cNvGraphicFramePr>
          <p:nvPr/>
        </p:nvGraphicFramePr>
        <p:xfrm>
          <a:off x="2504208" y="2664824"/>
          <a:ext cx="7239000" cy="4023360"/>
        </p:xfrm>
        <a:graphic>
          <a:graphicData uri="http://schemas.openxmlformats.org/drawingml/2006/table">
            <a:tbl>
              <a:tblPr/>
              <a:tblGrid>
                <a:gridCol w="2489200"/>
                <a:gridCol w="2336800"/>
                <a:gridCol w="2413000"/>
              </a:tblGrid>
              <a:tr h="31172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hlink"/>
                          </a:solidFill>
                          <a:effectLst/>
                          <a:latin typeface="宋体" panose="02010600030101010101" pitchFamily="2" charset="-122"/>
                          <a:ea typeface="楷体_GB2312" pitchFamily="49" charset="-122"/>
                        </a:rPr>
                        <a:t>W</a:t>
                      </a:r>
                      <a:endParaRPr kumimoji="0" lang="en-US" altLang="zh-CN" sz="1800" b="1" i="0" u="none" strike="noStrike" cap="none" normalizeH="0" baseline="0">
                        <a:ln>
                          <a:noFill/>
                        </a:ln>
                        <a:solidFill>
                          <a:schemeClr val="hlink"/>
                        </a:solidFill>
                        <a:effectLst/>
                        <a:latin typeface="宋体" panose="02010600030101010101"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hlink"/>
                          </a:solidFill>
                          <a:effectLst/>
                          <a:latin typeface="宋体" panose="02010600030101010101" pitchFamily="2" charset="-122"/>
                          <a:ea typeface="楷体_GB2312" pitchFamily="49" charset="-122"/>
                        </a:rPr>
                        <a:t>S</a:t>
                      </a:r>
                      <a:endParaRPr kumimoji="0" lang="en-US" altLang="zh-CN" sz="1800" b="1" i="0" u="none" strike="noStrike" cap="none" normalizeH="0" baseline="0">
                        <a:ln>
                          <a:noFill/>
                        </a:ln>
                        <a:solidFill>
                          <a:schemeClr val="hlink"/>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chemeClr val="hlink"/>
                          </a:solidFill>
                          <a:effectLst/>
                          <a:latin typeface="宋体" panose="02010600030101010101" pitchFamily="2" charset="-122"/>
                          <a:ea typeface="楷体_GB2312" pitchFamily="49" charset="-122"/>
                        </a:rPr>
                        <a:t>C</a:t>
                      </a:r>
                      <a:endParaRPr kumimoji="0" lang="en-US" altLang="zh-CN" sz="1800" b="1" i="0" u="none" strike="noStrike" cap="none" normalizeH="0" baseline="0" dirty="0">
                        <a:ln>
                          <a:noFill/>
                        </a:ln>
                        <a:solidFill>
                          <a:schemeClr val="hlink"/>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FFFF00"/>
                    </a:solidFill>
                  </a:tcPr>
                </a:tc>
              </a:tr>
              <a:tr h="31172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W1</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S1</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C1</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172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chemeClr val="tx1"/>
                          </a:solidFill>
                          <a:effectLst/>
                          <a:latin typeface="宋体" panose="02010600030101010101" pitchFamily="2" charset="-122"/>
                          <a:ea typeface="楷体_GB2312" pitchFamily="49" charset="-122"/>
                        </a:rPr>
                        <a:t>W1</a:t>
                      </a:r>
                      <a:endParaRPr kumimoji="0" lang="en-US" altLang="zh-CN" sz="1800" b="1" i="0" u="none" strike="noStrike" cap="none" normalizeH="0" baseline="0" dirty="0">
                        <a:ln>
                          <a:noFill/>
                        </a:ln>
                        <a:solidFill>
                          <a:schemeClr val="tx1"/>
                        </a:solidFill>
                        <a:effectLst/>
                        <a:latin typeface="宋体" panose="02010600030101010101"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S1</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C2</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172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W1</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S1</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C3</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172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W1</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S2</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chemeClr val="tx1"/>
                          </a:solidFill>
                          <a:effectLst/>
                          <a:latin typeface="宋体" panose="02010600030101010101" pitchFamily="2" charset="-122"/>
                          <a:ea typeface="楷体_GB2312" pitchFamily="49" charset="-122"/>
                        </a:rPr>
                        <a:t>C1</a:t>
                      </a:r>
                      <a:endParaRPr kumimoji="0" lang="en-US" altLang="zh-CN" sz="1800" b="1" i="0" u="none" strike="noStrike" cap="none" normalizeH="0" baseline="0" dirty="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172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W1</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S2</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C2</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172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W1</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S2</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C3</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172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W2</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S3</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C4</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172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W2</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S3</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C5</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172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W2</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S4</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C4</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1172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W2</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rPr>
                        <a:t>S4</a:t>
                      </a:r>
                      <a:endParaRPr kumimoji="0" lang="en-US" altLang="zh-CN" sz="1800" b="1" i="0" u="none" strike="noStrike" cap="none" normalizeH="0" baseline="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a:ln>
                            <a:noFill/>
                          </a:ln>
                          <a:solidFill>
                            <a:schemeClr val="tx1"/>
                          </a:solidFill>
                          <a:effectLst/>
                          <a:latin typeface="宋体" panose="02010600030101010101" pitchFamily="2" charset="-122"/>
                          <a:ea typeface="楷体_GB2312" pitchFamily="49" charset="-122"/>
                        </a:rPr>
                        <a:t>C5</a:t>
                      </a:r>
                      <a:endParaRPr kumimoji="0" lang="en-US" altLang="zh-CN" sz="1800" b="1" i="0" u="none" strike="noStrike" cap="none" normalizeH="0" baseline="0" dirty="0">
                        <a:ln>
                          <a:noFill/>
                        </a:ln>
                        <a:solidFill>
                          <a:schemeClr val="tx1"/>
                        </a:solidFill>
                        <a:effectLst/>
                        <a:latin typeface="宋体" panose="02010600030101010101" pitchFamily="2" charset="-122"/>
                        <a:ea typeface="楷体_GB2312" pitchFamily="49"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mc:AlternateContent xmlns:mc="http://schemas.openxmlformats.org/markup-compatibility/2006">
        <mc:Choice xmlns:a14="http://schemas.microsoft.com/office/drawing/2010/main" Requires="a14">
          <p:sp>
            <p:nvSpPr>
              <p:cNvPr id="8" name="Text Box 54"/>
              <p:cNvSpPr txBox="1">
                <a:spLocks noChangeArrowheads="1"/>
              </p:cNvSpPr>
              <p:nvPr/>
            </p:nvSpPr>
            <p:spPr bwMode="auto">
              <a:xfrm>
                <a:off x="7717052" y="-11063"/>
                <a:ext cx="4587875" cy="1196975"/>
              </a:xfrm>
              <a:prstGeom prst="rect">
                <a:avLst/>
              </a:prstGeom>
              <a:solidFill>
                <a:srgbClr val="FFFF00"/>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0"/>
                  </a:spcBef>
                  <a:buNone/>
                </a:pPr>
                <a:r>
                  <a:rPr kumimoji="1" lang="zh-CN" altLang="en-US" sz="2400" b="0" dirty="0">
                    <a:solidFill>
                      <a:srgbClr val="000000"/>
                    </a:solidFill>
                    <a:latin typeface="微软雅黑" panose="020B0503020204020204" pitchFamily="34" charset="-122"/>
                    <a:ea typeface="微软雅黑" panose="020B0503020204020204" pitchFamily="34" charset="-122"/>
                  </a:rPr>
                  <a:t>对于</a:t>
                </a:r>
                <a14:m>
                  <m:oMath xmlns:m="http://schemas.openxmlformats.org/officeDocument/2006/math">
                    <m:r>
                      <a:rPr kumimoji="1" lang="en-US" altLang="zh-CN" sz="2400" i="1" dirty="0">
                        <a:solidFill>
                          <a:srgbClr val="000000"/>
                        </a:solidFill>
                        <a:latin typeface="Cambria Math" panose="02040503050406030204" pitchFamily="18" charset="0"/>
                        <a:ea typeface="微软雅黑" panose="020B0503020204020204" pitchFamily="34" charset="-122"/>
                      </a:rPr>
                      <m:t>𝑊</m:t>
                    </m:r>
                  </m:oMath>
                </a14:m>
                <a:r>
                  <a:rPr kumimoji="1" lang="zh-CN" altLang="en-US" sz="2400" b="0" dirty="0">
                    <a:solidFill>
                      <a:srgbClr val="000000"/>
                    </a:solidFill>
                    <a:latin typeface="微软雅黑" panose="020B0503020204020204" pitchFamily="34" charset="-122"/>
                    <a:ea typeface="微软雅黑" panose="020B0503020204020204" pitchFamily="34" charset="-122"/>
                  </a:rPr>
                  <a:t>的每一个值，</a:t>
                </a:r>
                <a:r>
                  <a:rPr kumimoji="1" lang="en-US" altLang="zh-CN" sz="2400" dirty="0">
                    <a:solidFill>
                      <a:srgbClr val="000000"/>
                    </a:solidFill>
                    <a:ea typeface="微软雅黑" panose="020B0503020204020204" pitchFamily="34" charset="-122"/>
                    <a:sym typeface="Symbol" panose="05050102010706020507" pitchFamily="18" charset="2"/>
                  </a:rPr>
                  <a:t> </a:t>
                </a:r>
                <a14:m>
                  <m:oMath xmlns:m="http://schemas.openxmlformats.org/officeDocument/2006/math">
                    <m:r>
                      <a:rPr kumimoji="1" lang="en-US" altLang="zh-CN" sz="2400" i="1" dirty="0">
                        <a:solidFill>
                          <a:srgbClr val="000000"/>
                        </a:solidFill>
                        <a:latin typeface="Cambria Math" panose="02040503050406030204" pitchFamily="18" charset="0"/>
                        <a:ea typeface="微软雅黑" panose="020B0503020204020204" pitchFamily="34" charset="-122"/>
                        <a:sym typeface="Symbol" panose="05050102010706020507" pitchFamily="18" charset="2"/>
                      </a:rPr>
                      <m:t>𝑆</m:t>
                    </m:r>
                  </m:oMath>
                </a14:m>
                <a:r>
                  <a:rPr kumimoji="1" lang="zh-CN" altLang="en-US" sz="2400" b="0" dirty="0">
                    <a:solidFill>
                      <a:srgbClr val="000000"/>
                    </a:solidFill>
                    <a:latin typeface="微软雅黑" panose="020B0503020204020204" pitchFamily="34" charset="-122"/>
                    <a:ea typeface="微软雅黑" panose="020B0503020204020204" pitchFamily="34" charset="-122"/>
                  </a:rPr>
                  <a:t>有一个完整的集合与它对应，不论</a:t>
                </a:r>
                <a14:m>
                  <m:oMath xmlns:m="http://schemas.openxmlformats.org/officeDocument/2006/math">
                    <m:r>
                      <a:rPr kumimoji="1" lang="en-US" altLang="zh-CN" sz="2400" i="1" dirty="0">
                        <a:solidFill>
                          <a:srgbClr val="000000"/>
                        </a:solidFill>
                        <a:latin typeface="Cambria Math" panose="02040503050406030204" pitchFamily="18" charset="0"/>
                        <a:ea typeface="微软雅黑" panose="020B0503020204020204" pitchFamily="34" charset="-122"/>
                        <a:sym typeface="Symbol" panose="05050102010706020507" pitchFamily="18" charset="2"/>
                      </a:rPr>
                      <m:t>𝑆</m:t>
                    </m:r>
                  </m:oMath>
                </a14:m>
                <a:r>
                  <a:rPr kumimoji="1" lang="zh-CN" altLang="en-US" sz="2400" b="0" dirty="0">
                    <a:solidFill>
                      <a:srgbClr val="000000"/>
                    </a:solidFill>
                    <a:latin typeface="微软雅黑" panose="020B0503020204020204" pitchFamily="34" charset="-122"/>
                    <a:ea typeface="微软雅黑" panose="020B0503020204020204" pitchFamily="34" charset="-122"/>
                  </a:rPr>
                  <a:t>取什么值，所以</a:t>
                </a:r>
                <a14:m>
                  <m:oMath xmlns:m="http://schemas.openxmlformats.org/officeDocument/2006/math">
                    <m:r>
                      <a:rPr kumimoji="1" lang="en-US" altLang="zh-CN" sz="2400" b="0" i="1" dirty="0" smtClean="0">
                        <a:solidFill>
                          <a:srgbClr val="000000"/>
                        </a:solidFill>
                        <a:latin typeface="Cambria Math" panose="02040503050406030204" pitchFamily="18" charset="0"/>
                        <a:ea typeface="微软雅黑" panose="020B0503020204020204" pitchFamily="34" charset="-122"/>
                      </a:rPr>
                      <m:t>𝑊</m:t>
                    </m:r>
                    <m:r>
                      <a:rPr kumimoji="1" lang="en-US" altLang="zh-CN" sz="2400" b="0" i="1" dirty="0" smtClean="0">
                        <a:solidFill>
                          <a:srgbClr val="000000"/>
                        </a:solidFill>
                        <a:latin typeface="Cambria Math" panose="02040503050406030204" pitchFamily="18" charset="0"/>
                        <a:ea typeface="微软雅黑" panose="020B0503020204020204" pitchFamily="34" charset="-122"/>
                      </a:rPr>
                      <m:t>  </m:t>
                    </m:r>
                    <m:r>
                      <a:rPr kumimoji="1" lang="en-US" altLang="zh-CN" sz="2400" b="0" i="1" dirty="0">
                        <a:solidFill>
                          <a:srgbClr val="000000"/>
                        </a:solidFill>
                        <a:latin typeface="Cambria Math" panose="02040503050406030204" pitchFamily="18" charset="0"/>
                        <a:ea typeface="微软雅黑" panose="020B0503020204020204" pitchFamily="34" charset="-122"/>
                        <a:sym typeface="Symbol" panose="05050102010706020507" pitchFamily="18" charset="2"/>
                      </a:rPr>
                      <m:t>𝑆</m:t>
                    </m:r>
                  </m:oMath>
                </a14:m>
                <a:endParaRPr kumimoji="1" lang="en-US" altLang="zh-CN" sz="2400" b="0" dirty="0">
                  <a:solidFill>
                    <a:srgbClr val="000000"/>
                  </a:solidFill>
                  <a:latin typeface="微软雅黑" panose="020B0503020204020204" pitchFamily="34" charset="-122"/>
                  <a:ea typeface="微软雅黑" panose="020B0503020204020204" pitchFamily="34" charset="-122"/>
                  <a:sym typeface="Symbol" panose="05050102010706020507" pitchFamily="18" charset="2"/>
                </a:endParaRPr>
              </a:p>
            </p:txBody>
          </p:sp>
        </mc:Choice>
        <mc:Fallback>
          <p:sp>
            <p:nvSpPr>
              <p:cNvPr id="8" name="Text Box 54"/>
              <p:cNvSpPr txBox="1">
                <a:spLocks noRot="1" noChangeAspect="1" noMove="1" noResize="1" noEditPoints="1" noAdjustHandles="1" noChangeArrowheads="1" noChangeShapeType="1" noTextEdit="1"/>
              </p:cNvSpPr>
              <p:nvPr/>
            </p:nvSpPr>
            <p:spPr bwMode="auto">
              <a:xfrm>
                <a:off x="7717052" y="-11063"/>
                <a:ext cx="4587875" cy="1196975"/>
              </a:xfrm>
              <a:prstGeom prst="rect">
                <a:avLst/>
              </a:prstGeom>
              <a:blipFill rotWithShape="1">
                <a:blip r:embed="rId1"/>
                <a:stretch>
                  <a:fillRect l="-108" t="-349" r="-99" b="-394"/>
                </a:stretch>
              </a:blip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en-GB" altLang="zh-CN" dirty="0"/>
                  <a:t>MVD</a:t>
                </a:r>
                <a:r>
                  <a:rPr kumimoji="1" lang="zh-CN" altLang="en-US" dirty="0"/>
                  <a:t>举例</a:t>
                </a:r>
                <a:endParaRPr lang="en-US" altLang="zh-CN" sz="2000" dirty="0"/>
              </a:p>
              <a:p>
                <a:pPr lvl="1"/>
                <a:r>
                  <a:rPr lang="zh-CN" altLang="en-US" dirty="0"/>
                  <a:t>例</a:t>
                </a:r>
                <a:r>
                  <a:rPr lang="en-US" altLang="zh-CN" dirty="0"/>
                  <a:t>:</a:t>
                </a:r>
                <a:r>
                  <a:rPr lang="zh-CN" altLang="en-US" dirty="0"/>
                  <a:t>设关系模式</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𝐵</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𝐶</m:t>
                    </m:r>
                    <m:r>
                      <a:rPr lang="en-US" altLang="zh-CN" i="1" dirty="0" smtClean="0">
                        <a:latin typeface="Cambria Math" panose="02040503050406030204" pitchFamily="18" charset="0"/>
                      </a:rPr>
                      <m:t>)</m:t>
                    </m:r>
                  </m:oMath>
                </a14:m>
                <a:r>
                  <a:rPr lang="zh-CN" altLang="en-US" dirty="0"/>
                  <a:t>上有一个</a:t>
                </a:r>
                <a:r>
                  <a:rPr lang="en-US" altLang="zh-CN" dirty="0"/>
                  <a:t>MVD </a:t>
                </a:r>
                <a14:m>
                  <m:oMath xmlns:m="http://schemas.openxmlformats.org/officeDocument/2006/math">
                    <m:r>
                      <a:rPr lang="en-US" altLang="zh-CN" i="1" dirty="0" smtClean="0">
                        <a:latin typeface="Cambria Math" panose="02040503050406030204" pitchFamily="18" charset="0"/>
                      </a:rPr>
                      <m:t>𝐴</m:t>
                    </m:r>
                    <m:r>
                      <a:rPr lang="en-US" altLang="zh-CN" i="1" dirty="0" smtClean="0">
                        <a:latin typeface="Cambria Math" panose="02040503050406030204" pitchFamily="18" charset="0"/>
                      </a:rPr>
                      <m:t>  </m:t>
                    </m:r>
                    <m:r>
                      <a:rPr lang="en-US" altLang="zh-CN" i="1" dirty="0">
                        <a:latin typeface="Cambria Math" panose="02040503050406030204" pitchFamily="18" charset="0"/>
                        <a:sym typeface="Symbol" panose="05050102010706020507" pitchFamily="18" charset="2"/>
                      </a:rPr>
                      <m:t>𝐵</m:t>
                    </m:r>
                  </m:oMath>
                </a14:m>
                <a:r>
                  <a:rPr lang="en-US" altLang="zh-CN" dirty="0">
                    <a:sym typeface="Symbol" panose="05050102010706020507" pitchFamily="18" charset="2"/>
                  </a:rPr>
                  <a:t>,</a:t>
                </a:r>
                <a:r>
                  <a:rPr lang="zh-CN" altLang="en-US" dirty="0">
                    <a:sym typeface="Symbol" panose="05050102010706020507" pitchFamily="18" charset="2"/>
                  </a:rPr>
                  <a:t>如果</a:t>
                </a:r>
                <a14:m>
                  <m:oMath xmlns:m="http://schemas.openxmlformats.org/officeDocument/2006/math">
                    <m:r>
                      <a:rPr lang="en-US" altLang="zh-CN" i="1" dirty="0">
                        <a:latin typeface="Cambria Math" panose="02040503050406030204" pitchFamily="18" charset="0"/>
                      </a:rPr>
                      <m:t>𝑅</m:t>
                    </m:r>
                  </m:oMath>
                </a14:m>
                <a:r>
                  <a:rPr lang="zh-CN" altLang="en-US" dirty="0">
                    <a:sym typeface="Symbol" panose="05050102010706020507" pitchFamily="18" charset="2"/>
                  </a:rPr>
                  <a:t>中已有</a:t>
                </a:r>
                <a14:m>
                  <m:oMath xmlns:m="http://schemas.openxmlformats.org/officeDocument/2006/math">
                    <m:r>
                      <a:rPr lang="zh-CN" altLang="en-US" i="1" dirty="0" smtClean="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sym typeface="Symbol" panose="05050102010706020507" pitchFamily="18" charset="2"/>
                      </a:rPr>
                      <m:t>𝑎</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sym typeface="Symbol" panose="05050102010706020507" pitchFamily="18" charset="2"/>
                      </a:rPr>
                      <m:t>𝑏</m:t>
                    </m:r>
                    <m:r>
                      <a:rPr lang="en-US" altLang="zh-CN" i="1" dirty="0">
                        <a:latin typeface="Cambria Math" panose="02040503050406030204" pitchFamily="18" charset="0"/>
                        <a:sym typeface="Symbol" panose="05050102010706020507" pitchFamily="18" charset="2"/>
                      </a:rPr>
                      <m:t>1</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sym typeface="Symbol" panose="05050102010706020507" pitchFamily="18" charset="2"/>
                      </a:rPr>
                      <m:t>𝑐</m:t>
                    </m:r>
                    <m:r>
                      <a:rPr lang="en-US" altLang="zh-CN" i="1" dirty="0">
                        <a:latin typeface="Cambria Math" panose="02040503050406030204" pitchFamily="18" charset="0"/>
                        <a:sym typeface="Symbol" panose="05050102010706020507" pitchFamily="18" charset="2"/>
                      </a:rPr>
                      <m:t>1</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sym typeface="Symbol" panose="05050102010706020507" pitchFamily="18" charset="2"/>
                      </a:rPr>
                      <m:t>𝑎</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sym typeface="Symbol" panose="05050102010706020507" pitchFamily="18" charset="2"/>
                      </a:rPr>
                      <m:t>𝑏</m:t>
                    </m:r>
                    <m:r>
                      <a:rPr lang="en-US" altLang="zh-CN" i="1" dirty="0">
                        <a:latin typeface="Cambria Math" panose="02040503050406030204" pitchFamily="18" charset="0"/>
                        <a:sym typeface="Symbol" panose="05050102010706020507" pitchFamily="18" charset="2"/>
                      </a:rPr>
                      <m:t>2</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sym typeface="Symbol" panose="05050102010706020507" pitchFamily="18" charset="2"/>
                      </a:rPr>
                      <m:t>𝑐</m:t>
                    </m:r>
                    <m:r>
                      <a:rPr lang="en-US" altLang="zh-CN" i="1" dirty="0">
                        <a:latin typeface="Cambria Math" panose="02040503050406030204" pitchFamily="18" charset="0"/>
                        <a:sym typeface="Symbol" panose="05050102010706020507" pitchFamily="18" charset="2"/>
                      </a:rPr>
                      <m:t>2</m:t>
                    </m:r>
                    <m:r>
                      <a:rPr lang="en-US" altLang="zh-CN" i="1" dirty="0">
                        <a:latin typeface="Cambria Math" panose="02040503050406030204" pitchFamily="18" charset="0"/>
                        <a:sym typeface="Symbol" panose="05050102010706020507" pitchFamily="18" charset="2"/>
                      </a:rPr>
                      <m:t>)</m:t>
                    </m:r>
                    <m:r>
                      <a:rPr lang="zh-CN" altLang="en-US"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sym typeface="Symbol" panose="05050102010706020507" pitchFamily="18" charset="2"/>
                      </a:rPr>
                      <m:t>𝑎</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sym typeface="Symbol" panose="05050102010706020507" pitchFamily="18" charset="2"/>
                      </a:rPr>
                      <m:t>𝑏</m:t>
                    </m:r>
                    <m:r>
                      <a:rPr lang="en-US" altLang="zh-CN" i="1" dirty="0">
                        <a:latin typeface="Cambria Math" panose="02040503050406030204" pitchFamily="18" charset="0"/>
                        <a:sym typeface="Symbol" panose="05050102010706020507" pitchFamily="18" charset="2"/>
                      </a:rPr>
                      <m:t>3</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sym typeface="Symbol" panose="05050102010706020507" pitchFamily="18" charset="2"/>
                      </a:rPr>
                      <m:t>𝑐</m:t>
                    </m:r>
                    <m:r>
                      <a:rPr lang="en-US" altLang="zh-CN" i="1" dirty="0">
                        <a:latin typeface="Cambria Math" panose="02040503050406030204" pitchFamily="18" charset="0"/>
                        <a:sym typeface="Symbol" panose="05050102010706020507" pitchFamily="18" charset="2"/>
                      </a:rPr>
                      <m:t>3</m:t>
                    </m:r>
                    <m:r>
                      <a:rPr lang="en-US" altLang="zh-CN" i="1" dirty="0">
                        <a:latin typeface="Cambria Math" panose="02040503050406030204" pitchFamily="18" charset="0"/>
                        <a:sym typeface="Symbol" panose="05050102010706020507" pitchFamily="18" charset="2"/>
                      </a:rPr>
                      <m:t>)</m:t>
                    </m:r>
                  </m:oMath>
                </a14:m>
                <a:r>
                  <a:rPr lang="zh-CN" altLang="en-US" dirty="0">
                    <a:sym typeface="Symbol" panose="05050102010706020507" pitchFamily="18" charset="2"/>
                  </a:rPr>
                  <a:t>，那么这些关系中至少还应该存在哪些元组</a:t>
                </a:r>
                <a:r>
                  <a:rPr lang="en-US" altLang="zh-CN" dirty="0">
                    <a:sym typeface="Symbol" panose="05050102010706020507" pitchFamily="18" charset="2"/>
                  </a:rPr>
                  <a:t>?</a:t>
                </a:r>
                <a:endParaRPr lang="zh-CN" altLang="en-US" i="1"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9" name="Rectangle 3"/>
          <p:cNvSpPr txBox="1">
            <a:spLocks noChangeArrowheads="1"/>
          </p:cNvSpPr>
          <p:nvPr/>
        </p:nvSpPr>
        <p:spPr>
          <a:xfrm>
            <a:off x="3172362" y="3240089"/>
            <a:ext cx="4965700" cy="2017712"/>
          </a:xfrm>
          <a:prstGeom prst="rect">
            <a:avLst/>
          </a:prstGeom>
          <a:solidFill>
            <a:srgbClr val="FFFF00"/>
          </a:solidFill>
          <a:ln>
            <a:solidFill>
              <a:schemeClr val="hlink"/>
            </a:solidFill>
            <a:miter lim="800000"/>
          </a:ln>
        </p:spPr>
        <p:txBody>
          <a:bodyPr vert="horz" lIns="91440" tIns="45720" rIns="91440" bIns="45720" rtlCol="0">
            <a:normAutofit/>
          </a:bodyPr>
          <a:lstStyle>
            <a:lvl1pPr marL="228600" indent="-228600" algn="just"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just"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just"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2600" dirty="0">
                <a:solidFill>
                  <a:srgbClr val="000000"/>
                </a:solidFill>
              </a:rPr>
              <a:t>至少还存在</a:t>
            </a:r>
            <a:r>
              <a:rPr lang="en-US" altLang="zh-CN" sz="2600" dirty="0">
                <a:solidFill>
                  <a:srgbClr val="000000"/>
                </a:solidFill>
              </a:rPr>
              <a:t>6</a:t>
            </a:r>
            <a:r>
              <a:rPr lang="zh-CN" altLang="en-US" sz="2600" dirty="0">
                <a:solidFill>
                  <a:srgbClr val="000000"/>
                </a:solidFill>
              </a:rPr>
              <a:t>个元组：</a:t>
            </a:r>
            <a:endParaRPr lang="zh-CN" altLang="en-US" sz="2600" dirty="0">
              <a:solidFill>
                <a:srgbClr val="000000"/>
              </a:solidFill>
            </a:endParaRPr>
          </a:p>
          <a:p>
            <a:pPr>
              <a:buFontTx/>
              <a:buNone/>
            </a:pPr>
            <a:r>
              <a:rPr lang="en-US" altLang="zh-CN" sz="2600" dirty="0">
                <a:solidFill>
                  <a:srgbClr val="000000"/>
                </a:solidFill>
                <a:sym typeface="Symbol" panose="05050102010706020507" pitchFamily="18" charset="2"/>
              </a:rPr>
              <a:t>(a,b1,c2)(a,b2,c1)(a,b1,c3)</a:t>
            </a:r>
            <a:endParaRPr lang="en-US" altLang="zh-CN" sz="2600" dirty="0">
              <a:solidFill>
                <a:srgbClr val="000000"/>
              </a:solidFill>
              <a:sym typeface="Symbol" panose="05050102010706020507" pitchFamily="18" charset="2"/>
            </a:endParaRPr>
          </a:p>
          <a:p>
            <a:pPr>
              <a:buFontTx/>
              <a:buNone/>
            </a:pPr>
            <a:r>
              <a:rPr lang="en-US" altLang="zh-CN" sz="2600" dirty="0">
                <a:solidFill>
                  <a:srgbClr val="000000"/>
                </a:solidFill>
                <a:sym typeface="Symbol" panose="05050102010706020507" pitchFamily="18" charset="2"/>
              </a:rPr>
              <a:t>(a,b3,c1)(a,b2,c3)(a,b3,c2)</a:t>
            </a:r>
            <a:endParaRPr lang="en-US" altLang="zh-CN" sz="2600" dirty="0">
              <a:solidFill>
                <a:srgbClr val="000000"/>
              </a:solidFill>
            </a:endParaRPr>
          </a:p>
          <a:p>
            <a:pPr>
              <a:buFontTx/>
              <a:buNone/>
            </a:pPr>
            <a:endParaRPr lang="zh-CN" altLang="en-US" dirty="0">
              <a:solidFill>
                <a:srgbClr val="000000"/>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 calcmode="lin" valueType="num">
                                      <p:cBhvr additive="base">
                                        <p:cTn id="7" dur="2000" fill="hold"/>
                                        <p:tgtEl>
                                          <p:spTgt spid="9">
                                            <p:bg/>
                                          </p:spTgt>
                                        </p:tgtEl>
                                        <p:attrNameLst>
                                          <p:attrName>ppt_x</p:attrName>
                                        </p:attrNameLst>
                                      </p:cBhvr>
                                      <p:tavLst>
                                        <p:tav tm="0">
                                          <p:val>
                                            <p:strVal val="#ppt_x"/>
                                          </p:val>
                                        </p:tav>
                                        <p:tav tm="100000">
                                          <p:val>
                                            <p:strVal val="#ppt_x"/>
                                          </p:val>
                                        </p:tav>
                                      </p:tavLst>
                                    </p:anim>
                                    <p:anim calcmode="lin" valueType="num">
                                      <p:cBhvr additive="base">
                                        <p:cTn id="8" dur="2000" fill="hold"/>
                                        <p:tgtEl>
                                          <p:spTgt spid="9">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 calcmode="lin" valueType="num">
                                      <p:cBhvr additive="base">
                                        <p:cTn id="13" dur="20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4" dur="20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anim calcmode="lin" valueType="num">
                                      <p:cBhvr additive="base">
                                        <p:cTn id="19" dur="20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20" dur="20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anim calcmode="lin" valueType="num">
                                      <p:cBhvr additive="base">
                                        <p:cTn id="25" dur="2000" fill="hold"/>
                                        <p:tgtEl>
                                          <p:spTgt spid="9">
                                            <p:txEl>
                                              <p:pRg st="2" end="2"/>
                                            </p:txEl>
                                          </p:spTgt>
                                        </p:tgtEl>
                                        <p:attrNameLst>
                                          <p:attrName>ppt_x</p:attrName>
                                        </p:attrNameLst>
                                      </p:cBhvr>
                                      <p:tavLst>
                                        <p:tav tm="0">
                                          <p:val>
                                            <p:strVal val="#ppt_x"/>
                                          </p:val>
                                        </p:tav>
                                        <p:tav tm="100000">
                                          <p:val>
                                            <p:strVal val="#ppt_x"/>
                                          </p:val>
                                        </p:tav>
                                      </p:tavLst>
                                    </p:anim>
                                    <p:anim calcmode="lin" valueType="num">
                                      <p:cBhvr additive="base">
                                        <p:cTn id="26" dur="2000" fill="hold"/>
                                        <p:tgtEl>
                                          <p:spTgt spid="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build="p"/>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fontScale="92500" lnSpcReduction="10000"/>
              </a:bodyPr>
              <a:lstStyle/>
              <a:p>
                <a:r>
                  <a:rPr kumimoji="1" lang="zh-CN" altLang="en-US" sz="3000" dirty="0"/>
                  <a:t>有关多值依赖的推导规则*</a:t>
                </a:r>
                <a:endParaRPr lang="en-US" altLang="zh-CN" sz="3000" dirty="0"/>
              </a:p>
              <a:p>
                <a:pPr lvl="1"/>
                <a:r>
                  <a:rPr lang="zh-CN" altLang="en-US" dirty="0"/>
                  <a:t>与函数依赖一样，多值依赖也有一组推导规则：</a:t>
                </a:r>
                <a:endParaRPr lang="en-US" altLang="zh-CN" dirty="0"/>
              </a:p>
              <a:p>
                <a:pPr lvl="2"/>
                <a:r>
                  <a:rPr lang="en-US" altLang="zh-CN" sz="2200" dirty="0"/>
                  <a:t>A4</a:t>
                </a:r>
                <a:r>
                  <a:rPr lang="zh-CN" altLang="en-US" sz="2200" dirty="0"/>
                  <a:t>：互补律</a:t>
                </a:r>
                <a:r>
                  <a:rPr lang="en-US" altLang="zh-CN" sz="2200" dirty="0"/>
                  <a:t>(complementation) </a:t>
                </a:r>
                <a:endParaRPr lang="en-US" altLang="zh-CN" sz="2200" dirty="0"/>
              </a:p>
              <a:p>
                <a:pPr marL="723900" lvl="1" indent="-367030">
                  <a:lnSpc>
                    <a:spcPct val="80000"/>
                  </a:lnSpc>
                  <a:buNone/>
                </a:pPr>
                <a:r>
                  <a:rPr lang="en-US" altLang="zh-CN" sz="2200" dirty="0"/>
                  <a:t>		</a:t>
                </a:r>
                <a:r>
                  <a:rPr lang="zh-CN" altLang="en-US" sz="2200" dirty="0"/>
                  <a:t>如果</a:t>
                </a:r>
                <a14:m>
                  <m:oMath xmlns:m="http://schemas.openxmlformats.org/officeDocument/2006/math">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zh-CN" altLang="en-US" sz="2200" i="1" dirty="0">
                        <a:latin typeface="Cambria Math" panose="02040503050406030204" pitchFamily="18" charset="0"/>
                      </a:rPr>
                      <m:t>，则</m:t>
                    </m:r>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𝑈</m:t>
                    </m:r>
                    <m:r>
                      <a:rPr lang="en-US" altLang="zh-CN" sz="2200" i="1" dirty="0">
                        <a:latin typeface="Cambria Math" panose="02040503050406030204" pitchFamily="18" charset="0"/>
                      </a:rPr>
                      <m:t>−</m:t>
                    </m:r>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𝑌</m:t>
                    </m:r>
                    <m:r>
                      <a:rPr lang="en-US" altLang="zh-CN" sz="2200" i="1" dirty="0">
                        <a:latin typeface="Cambria Math" panose="02040503050406030204" pitchFamily="18" charset="0"/>
                      </a:rPr>
                      <m:t>)</m:t>
                    </m:r>
                  </m:oMath>
                </a14:m>
                <a:endParaRPr lang="en-US" altLang="zh-CN" sz="2200" dirty="0"/>
              </a:p>
              <a:p>
                <a:pPr marL="723900" lvl="1" indent="-367030">
                  <a:lnSpc>
                    <a:spcPct val="80000"/>
                  </a:lnSpc>
                  <a:buNone/>
                </a:pPr>
                <a:r>
                  <a:rPr lang="en-US" altLang="zh-CN" sz="2200" dirty="0"/>
                  <a:t>		</a:t>
                </a:r>
                <a:r>
                  <a:rPr lang="zh-CN" altLang="en-US" sz="2200" dirty="0"/>
                  <a:t>以后如果需要，可用</a:t>
                </a:r>
                <a14:m>
                  <m:oMath xmlns:m="http://schemas.openxmlformats.org/officeDocument/2006/math">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en-US" altLang="zh-CN" sz="2200" i="1" dirty="0" smtClean="0">
                        <a:latin typeface="Cambria Math" panose="02040503050406030204" pitchFamily="18" charset="0"/>
                      </a:rPr>
                      <m:t>| (</m:t>
                    </m:r>
                    <m:r>
                      <a:rPr lang="en-US" altLang="zh-CN" sz="2200" i="1" dirty="0" smtClean="0">
                        <a:latin typeface="Cambria Math" panose="02040503050406030204" pitchFamily="18" charset="0"/>
                      </a:rPr>
                      <m:t>𝑈</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𝑋𝑌</m:t>
                    </m:r>
                    <m:r>
                      <a:rPr lang="en-US" altLang="zh-CN" sz="2200" i="1" dirty="0" smtClean="0">
                        <a:latin typeface="Cambria Math" panose="02040503050406030204" pitchFamily="18" charset="0"/>
                      </a:rPr>
                      <m:t>)</m:t>
                    </m:r>
                  </m:oMath>
                </a14:m>
                <a:r>
                  <a:rPr lang="zh-CN" altLang="en-US" sz="2200" dirty="0"/>
                  <a:t>表示多值依赖，以强调其互补关系</a:t>
                </a:r>
                <a:endParaRPr lang="en-US" altLang="zh-CN" sz="2200" dirty="0"/>
              </a:p>
              <a:p>
                <a:pPr lvl="2"/>
                <a:r>
                  <a:rPr lang="en-US" altLang="zh-CN" sz="2200" dirty="0"/>
                  <a:t>A5</a:t>
                </a:r>
                <a:r>
                  <a:rPr lang="zh-CN" altLang="en-US" sz="2200" dirty="0"/>
                  <a:t>：扩展律</a:t>
                </a:r>
                <a:r>
                  <a:rPr lang="en-US" altLang="zh-CN" sz="2200" dirty="0"/>
                  <a:t>(MVD)</a:t>
                </a:r>
                <a:endParaRPr lang="en-US" altLang="zh-CN" sz="2200" dirty="0"/>
              </a:p>
              <a:p>
                <a:pPr marL="914400" lvl="2" indent="0">
                  <a:buNone/>
                </a:pPr>
                <a:r>
                  <a:rPr lang="zh-CN" altLang="en-US" sz="2200" dirty="0"/>
                  <a:t>如果</a:t>
                </a:r>
                <a14:m>
                  <m:oMath xmlns:m="http://schemas.openxmlformats.org/officeDocument/2006/math">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oMath>
                </a14:m>
                <a:r>
                  <a:rPr lang="zh-CN" altLang="en-US" sz="2200" dirty="0"/>
                  <a:t>且</a:t>
                </a:r>
                <a14:m>
                  <m:oMath xmlns:m="http://schemas.openxmlformats.org/officeDocument/2006/math">
                    <m:r>
                      <a:rPr lang="en-US" altLang="zh-CN" sz="2200" i="1" dirty="0" smtClean="0">
                        <a:latin typeface="Cambria Math" panose="02040503050406030204" pitchFamily="18" charset="0"/>
                      </a:rPr>
                      <m:t>𝑉</m:t>
                    </m:r>
                    <m:r>
                      <a:rPr lang="en-US" altLang="zh-CN" sz="2200" i="1" dirty="0">
                        <a:latin typeface="Cambria Math" panose="02040503050406030204" pitchFamily="18" charset="0"/>
                        <a:sym typeface="Symbol" panose="05050102010706020507" pitchFamily="18" charset="2"/>
                      </a:rPr>
                      <m:t></m:t>
                    </m:r>
                    <m:r>
                      <a:rPr lang="en-US" altLang="zh-CN" sz="2200" i="1" dirty="0">
                        <a:latin typeface="Cambria Math" panose="02040503050406030204" pitchFamily="18" charset="0"/>
                        <a:sym typeface="Symbol" panose="05050102010706020507" pitchFamily="18" charset="2"/>
                      </a:rPr>
                      <m:t>𝑊</m:t>
                    </m:r>
                    <m:r>
                      <a:rPr lang="en-US" altLang="zh-CN" sz="2200" i="1" dirty="0" smtClean="0">
                        <a:solidFill>
                          <a:srgbClr val="C00000"/>
                        </a:solidFill>
                        <a:latin typeface="Cambria Math" panose="02040503050406030204" pitchFamily="18" charset="0"/>
                        <a:sym typeface="Symbol" panose="05050102010706020507" pitchFamily="18" charset="2"/>
                      </a:rPr>
                      <m:t></m:t>
                    </m:r>
                    <m:r>
                      <a:rPr lang="en-US" altLang="zh-CN" sz="2200" i="1" dirty="0" smtClean="0">
                        <a:solidFill>
                          <a:srgbClr val="C00000"/>
                        </a:solidFill>
                        <a:latin typeface="Cambria Math" panose="02040503050406030204" pitchFamily="18" charset="0"/>
                        <a:sym typeface="Symbol" panose="05050102010706020507" pitchFamily="18" charset="2"/>
                      </a:rPr>
                      <m:t>𝑈</m:t>
                    </m:r>
                    <m:r>
                      <a:rPr lang="zh-CN" altLang="en-US" sz="2200" i="1" dirty="0">
                        <a:latin typeface="Cambria Math" panose="02040503050406030204" pitchFamily="18" charset="0"/>
                        <a:sym typeface="Symbol" panose="05050102010706020507" pitchFamily="18" charset="2"/>
                      </a:rPr>
                      <m:t>，则</m:t>
                    </m:r>
                    <m:r>
                      <a:rPr lang="en-US" altLang="zh-CN" sz="2200" i="1" dirty="0">
                        <a:latin typeface="Cambria Math" panose="02040503050406030204" pitchFamily="18" charset="0"/>
                        <a:sym typeface="Symbol" panose="05050102010706020507" pitchFamily="18" charset="2"/>
                      </a:rPr>
                      <m:t>𝑊</m:t>
                    </m:r>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𝑉𝑌</m:t>
                    </m:r>
                  </m:oMath>
                </a14:m>
                <a:endParaRPr lang="en-US" altLang="zh-CN" sz="2200" dirty="0"/>
              </a:p>
              <a:p>
                <a:pPr lvl="2"/>
                <a:r>
                  <a:rPr lang="en-US" altLang="zh-CN" sz="2200" dirty="0"/>
                  <a:t>A6</a:t>
                </a:r>
                <a:r>
                  <a:rPr lang="zh-CN" altLang="en-US" sz="2200" dirty="0"/>
                  <a:t>：传递律</a:t>
                </a:r>
                <a:r>
                  <a:rPr lang="en-US" altLang="zh-CN" sz="2200" dirty="0"/>
                  <a:t>(MVD)</a:t>
                </a:r>
                <a:endParaRPr lang="en-US" altLang="zh-CN" sz="2200" dirty="0"/>
              </a:p>
              <a:p>
                <a:pPr marL="914400" lvl="2" indent="0">
                  <a:buNone/>
                </a:pPr>
                <a:r>
                  <a:rPr lang="zh-CN" altLang="en-US" sz="2200" dirty="0"/>
                  <a:t>如果</a:t>
                </a:r>
                <a14:m>
                  <m:oMath xmlns:m="http://schemas.openxmlformats.org/officeDocument/2006/math">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zh-CN" altLang="en-US" sz="2200" i="1" dirty="0">
                        <a:latin typeface="Cambria Math" panose="02040503050406030204" pitchFamily="18" charset="0"/>
                      </a:rPr>
                      <m:t>且</m:t>
                    </m:r>
                    <m:r>
                      <a:rPr lang="en-US" altLang="zh-CN" sz="2200" i="1" dirty="0">
                        <a:latin typeface="Cambria Math" panose="02040503050406030204" pitchFamily="18" charset="0"/>
                      </a:rPr>
                      <m:t>𝑌</m:t>
                    </m:r>
                    <m:r>
                      <a:rPr lang="en-US" altLang="zh-CN" sz="2200" i="1" dirty="0">
                        <a:latin typeface="Cambria Math" panose="02040503050406030204" pitchFamily="18" charset="0"/>
                      </a:rPr>
                      <m:t>→→</m:t>
                    </m:r>
                    <m:r>
                      <a:rPr lang="en-US" altLang="zh-CN" sz="2200" i="1" dirty="0">
                        <a:latin typeface="Cambria Math" panose="02040503050406030204" pitchFamily="18" charset="0"/>
                      </a:rPr>
                      <m:t>𝑍</m:t>
                    </m:r>
                    <m:r>
                      <a:rPr lang="zh-CN" altLang="en-US" sz="2200" i="1" dirty="0">
                        <a:latin typeface="Cambria Math" panose="02040503050406030204" pitchFamily="18" charset="0"/>
                      </a:rPr>
                      <m:t>，则</m:t>
                    </m:r>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smtClean="0">
                        <a:latin typeface="Cambria Math" panose="02040503050406030204" pitchFamily="18" charset="0"/>
                      </a:rPr>
                      <m:t>𝑍</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en-US" altLang="zh-CN" sz="2200" i="1" dirty="0" smtClean="0">
                        <a:latin typeface="Cambria Math" panose="02040503050406030204" pitchFamily="18" charset="0"/>
                      </a:rPr>
                      <m:t>)</m:t>
                    </m:r>
                  </m:oMath>
                </a14:m>
                <a:endParaRPr lang="en-US" altLang="zh-CN" sz="2200" dirty="0"/>
              </a:p>
              <a:p>
                <a:pPr lvl="2"/>
                <a:r>
                  <a:rPr lang="zh-CN" altLang="en-US" sz="2200" dirty="0"/>
                  <a:t>下面两条为</a:t>
                </a:r>
                <a:r>
                  <a:rPr lang="en-US" altLang="zh-CN" sz="2200" dirty="0"/>
                  <a:t>(FD+MVD)</a:t>
                </a:r>
                <a:r>
                  <a:rPr lang="zh-CN" altLang="en-US" sz="2200" dirty="0"/>
                  <a:t>公理：</a:t>
                </a:r>
                <a:endParaRPr lang="en-US" altLang="zh-CN" sz="2200" dirty="0"/>
              </a:p>
              <a:p>
                <a:pPr lvl="2"/>
                <a:r>
                  <a:rPr lang="en-US" altLang="zh-CN" sz="2200" dirty="0"/>
                  <a:t>A7</a:t>
                </a:r>
                <a:r>
                  <a:rPr lang="zh-CN" altLang="en-US" sz="2200" dirty="0"/>
                  <a:t>：如果</a:t>
                </a:r>
                <a14:m>
                  <m:oMath xmlns:m="http://schemas.openxmlformats.org/officeDocument/2006/math">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zh-CN" altLang="en-US" sz="2200" i="1" dirty="0">
                        <a:latin typeface="Cambria Math" panose="02040503050406030204" pitchFamily="18" charset="0"/>
                      </a:rPr>
                      <m:t>，则</m:t>
                    </m:r>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𝑌</m:t>
                    </m:r>
                  </m:oMath>
                </a14:m>
                <a:r>
                  <a:rPr lang="zh-CN" altLang="en-US" sz="2200" dirty="0"/>
                  <a:t>，即</a:t>
                </a:r>
                <a:r>
                  <a:rPr lang="en-US" altLang="zh-CN" sz="2200" dirty="0"/>
                  <a:t>FD</a:t>
                </a:r>
                <a:r>
                  <a:rPr lang="zh-CN" altLang="en-US" sz="2200" dirty="0"/>
                  <a:t>是</a:t>
                </a:r>
                <a:r>
                  <a:rPr lang="en-US" altLang="zh-CN" sz="2200" dirty="0"/>
                  <a:t>MVD</a:t>
                </a:r>
                <a:r>
                  <a:rPr lang="zh-CN" altLang="en-US" sz="2200" dirty="0"/>
                  <a:t>的特例。</a:t>
                </a:r>
                <a:endParaRPr lang="en-US" altLang="zh-CN" sz="2200" dirty="0"/>
              </a:p>
              <a:p>
                <a:pPr lvl="2"/>
                <a:r>
                  <a:rPr lang="en-US" altLang="zh-CN" sz="2200" dirty="0"/>
                  <a:t>A8</a:t>
                </a:r>
                <a:r>
                  <a:rPr lang="zh-CN" altLang="en-US" sz="2200" dirty="0"/>
                  <a:t>：如果</a:t>
                </a:r>
                <a14:m>
                  <m:oMath xmlns:m="http://schemas.openxmlformats.org/officeDocument/2006/math">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zh-CN" altLang="en-US" sz="2200" i="1" dirty="0">
                        <a:latin typeface="Cambria Math" panose="02040503050406030204" pitchFamily="18" charset="0"/>
                      </a:rPr>
                      <m:t>、</m:t>
                    </m:r>
                    <m:r>
                      <a:rPr lang="en-US" altLang="zh-CN" sz="2200" i="1" dirty="0">
                        <a:latin typeface="Cambria Math" panose="02040503050406030204" pitchFamily="18" charset="0"/>
                      </a:rPr>
                      <m:t>𝑍</m:t>
                    </m:r>
                    <m:r>
                      <a:rPr lang="en-US" altLang="zh-CN" sz="2200" i="1" dirty="0">
                        <a:latin typeface="Cambria Math" panose="02040503050406030204" pitchFamily="18" charset="0"/>
                        <a:sym typeface="Symbol" panose="05050102010706020507" pitchFamily="18" charset="2"/>
                      </a:rPr>
                      <m:t></m:t>
                    </m:r>
                    <m:r>
                      <a:rPr lang="en-US" altLang="zh-CN" sz="2200" i="1" dirty="0">
                        <a:latin typeface="Cambria Math" panose="02040503050406030204" pitchFamily="18" charset="0"/>
                        <a:sym typeface="Symbol" panose="05050102010706020507" pitchFamily="18" charset="2"/>
                      </a:rPr>
                      <m:t>𝑌</m:t>
                    </m:r>
                  </m:oMath>
                </a14:m>
                <a:r>
                  <a:rPr lang="zh-CN" altLang="en-US" sz="2200" dirty="0">
                    <a:sym typeface="Symbol" panose="05050102010706020507" pitchFamily="18" charset="2"/>
                  </a:rPr>
                  <a:t>且对某一个与</a:t>
                </a:r>
                <a:r>
                  <a:rPr lang="en-US" altLang="zh-CN" sz="2200" dirty="0">
                    <a:sym typeface="Symbol" panose="05050102010706020507" pitchFamily="18" charset="2"/>
                  </a:rPr>
                  <a:t>Y</a:t>
                </a:r>
                <a:r>
                  <a:rPr lang="zh-CN" altLang="en-US" sz="2200" dirty="0">
                    <a:sym typeface="Symbol" panose="05050102010706020507" pitchFamily="18" charset="2"/>
                  </a:rPr>
                  <a:t>不相交的</a:t>
                </a:r>
                <a:r>
                  <a:rPr lang="en-US" altLang="zh-CN" sz="2200" dirty="0">
                    <a:sym typeface="Symbol" panose="05050102010706020507" pitchFamily="18" charset="2"/>
                  </a:rPr>
                  <a:t>W</a:t>
                </a:r>
                <a:r>
                  <a:rPr lang="zh-CN" altLang="en-US" sz="2200" dirty="0">
                    <a:sym typeface="Symbol" panose="05050102010706020507" pitchFamily="18" charset="2"/>
                  </a:rPr>
                  <a:t>有：如果 </a:t>
                </a:r>
                <a14:m>
                  <m:oMath xmlns:m="http://schemas.openxmlformats.org/officeDocument/2006/math">
                    <m:r>
                      <a:rPr lang="en-US" altLang="zh-CN" sz="2200" i="1" dirty="0" smtClean="0">
                        <a:latin typeface="Cambria Math" panose="02040503050406030204" pitchFamily="18" charset="0"/>
                        <a:sym typeface="Symbol" panose="05050102010706020507" pitchFamily="18" charset="2"/>
                      </a:rPr>
                      <m:t>𝑊</m:t>
                    </m:r>
                    <m:r>
                      <a:rPr lang="en-US" altLang="zh-CN" sz="2200" i="1" dirty="0">
                        <a:latin typeface="Cambria Math" panose="02040503050406030204" pitchFamily="18" charset="0"/>
                      </a:rPr>
                      <m:t>→</m:t>
                    </m:r>
                    <m:r>
                      <a:rPr lang="en-US" altLang="zh-CN" sz="2200" i="1" dirty="0">
                        <a:latin typeface="Cambria Math" panose="02040503050406030204" pitchFamily="18" charset="0"/>
                      </a:rPr>
                      <m:t>𝑍</m:t>
                    </m:r>
                    <m:r>
                      <a:rPr lang="zh-CN" altLang="en-US" sz="2200" i="1" dirty="0">
                        <a:latin typeface="Cambria Math" panose="02040503050406030204" pitchFamily="18" charset="0"/>
                      </a:rPr>
                      <m:t>，则</m:t>
                    </m:r>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𝑍</m:t>
                    </m:r>
                  </m:oMath>
                </a14:m>
                <a:r>
                  <a:rPr lang="zh-CN" altLang="en-US" sz="2200" dirty="0"/>
                  <a:t>。</a:t>
                </a:r>
                <a:endParaRPr lang="zh-CN" altLang="en-US" sz="2200" dirty="0"/>
              </a:p>
              <a:p>
                <a:pPr lvl="1"/>
                <a:endParaRPr lang="zh-CN" altLang="en-US" i="1"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436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a:bodyPr>
              <a:lstStyle/>
              <a:p>
                <a:r>
                  <a:rPr kumimoji="1" lang="zh-CN" altLang="en-US" dirty="0"/>
                  <a:t>有关多值依赖的推导规则*</a:t>
                </a:r>
                <a:endParaRPr lang="en-US" altLang="zh-CN" dirty="0"/>
              </a:p>
              <a:p>
                <a:pPr lvl="1"/>
                <a:r>
                  <a:rPr lang="zh-CN" altLang="en-US" sz="2200" dirty="0"/>
                  <a:t>由上述公理，还可以得出下列四个有关</a:t>
                </a:r>
                <a:r>
                  <a:rPr lang="en-US" altLang="zh-CN" sz="2200" dirty="0"/>
                  <a:t>MVD</a:t>
                </a:r>
                <a:r>
                  <a:rPr lang="zh-CN" altLang="en-US" sz="2200" dirty="0"/>
                  <a:t>的推导规则：</a:t>
                </a:r>
                <a:endParaRPr lang="en-US" altLang="zh-CN" sz="2200" dirty="0"/>
              </a:p>
              <a:p>
                <a:pPr marL="1196975" lvl="2" indent="-282575">
                  <a:lnSpc>
                    <a:spcPct val="90000"/>
                  </a:lnSpc>
                  <a:buFontTx/>
                  <a:buAutoNum type="arabicParenR"/>
                </a:pPr>
                <a:r>
                  <a:rPr lang="en-US" altLang="zh-CN" sz="2200" dirty="0"/>
                  <a:t>MVD</a:t>
                </a:r>
                <a:r>
                  <a:rPr lang="zh-CN" altLang="en-US" sz="2200" dirty="0"/>
                  <a:t>合并规则</a:t>
                </a:r>
                <a:endParaRPr lang="zh-CN" altLang="en-US" sz="2200" dirty="0"/>
              </a:p>
              <a:p>
                <a:pPr marL="1196975" lvl="2" indent="-282575">
                  <a:lnSpc>
                    <a:spcPct val="90000"/>
                  </a:lnSpc>
                  <a:buNone/>
                </a:pPr>
                <a:r>
                  <a:rPr lang="zh-CN" altLang="en-US" sz="2200" dirty="0"/>
                  <a:t>   如果</a:t>
                </a:r>
                <a14:m>
                  <m:oMath xmlns:m="http://schemas.openxmlformats.org/officeDocument/2006/math">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zh-CN" altLang="en-US" sz="2200" i="1" dirty="0">
                        <a:latin typeface="Cambria Math" panose="02040503050406030204" pitchFamily="18" charset="0"/>
                      </a:rPr>
                      <m:t>、</m:t>
                    </m:r>
                    <m:r>
                      <a:rPr lang="en-US" altLang="zh-CN" sz="2200" i="1" dirty="0" smtClean="0">
                        <a:solidFill>
                          <a:srgbClr val="C00000"/>
                        </a:solidFill>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𝑍</m:t>
                    </m:r>
                    <m:r>
                      <a:rPr lang="zh-CN" altLang="en-US" sz="2200" i="1" dirty="0">
                        <a:latin typeface="Cambria Math" panose="02040503050406030204" pitchFamily="18" charset="0"/>
                      </a:rPr>
                      <m:t>，则</m:t>
                    </m:r>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𝑌𝑍</m:t>
                    </m:r>
                  </m:oMath>
                </a14:m>
                <a:endParaRPr lang="en-US" altLang="zh-CN" sz="2200" dirty="0"/>
              </a:p>
              <a:p>
                <a:pPr marL="1196975" lvl="2" indent="-282575">
                  <a:lnSpc>
                    <a:spcPct val="90000"/>
                  </a:lnSpc>
                  <a:buFontTx/>
                  <a:buAutoNum type="arabicParenR" startAt="2"/>
                </a:pPr>
                <a:r>
                  <a:rPr lang="en-US" altLang="zh-CN" sz="2200" dirty="0"/>
                  <a:t>MVD</a:t>
                </a:r>
                <a:r>
                  <a:rPr lang="zh-CN" altLang="en-US" sz="2200" dirty="0"/>
                  <a:t>伪传递规则</a:t>
                </a:r>
                <a:endParaRPr lang="zh-CN" altLang="en-US" sz="2200" dirty="0"/>
              </a:p>
              <a:p>
                <a:pPr marL="1196975" lvl="2" indent="-282575">
                  <a:lnSpc>
                    <a:spcPct val="90000"/>
                  </a:lnSpc>
                  <a:buNone/>
                </a:pPr>
                <a:r>
                  <a:rPr lang="zh-CN" altLang="en-US" sz="2200" dirty="0"/>
                  <a:t>   如果</a:t>
                </a:r>
                <a14:m>
                  <m:oMath xmlns:m="http://schemas.openxmlformats.org/officeDocument/2006/math">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zh-CN" altLang="en-US" sz="2200" i="1" dirty="0">
                        <a:latin typeface="Cambria Math" panose="02040503050406030204" pitchFamily="18" charset="0"/>
                      </a:rPr>
                      <m:t>、</m:t>
                    </m:r>
                    <m:r>
                      <a:rPr lang="en-US" altLang="zh-CN" sz="2200" i="1" dirty="0">
                        <a:latin typeface="Cambria Math" panose="02040503050406030204" pitchFamily="18" charset="0"/>
                      </a:rPr>
                      <m:t>𝑊𝑌</m:t>
                    </m:r>
                    <m:r>
                      <a:rPr lang="en-US" altLang="zh-CN" sz="2200" i="1" dirty="0">
                        <a:latin typeface="Cambria Math" panose="02040503050406030204" pitchFamily="18" charset="0"/>
                      </a:rPr>
                      <m:t>→→</m:t>
                    </m:r>
                    <m:r>
                      <a:rPr lang="en-US" altLang="zh-CN" sz="2200" i="1" dirty="0">
                        <a:latin typeface="Cambria Math" panose="02040503050406030204" pitchFamily="18" charset="0"/>
                      </a:rPr>
                      <m:t>𝑍</m:t>
                    </m:r>
                    <m:r>
                      <a:rPr lang="zh-CN" altLang="en-US" sz="2200" i="1" dirty="0">
                        <a:latin typeface="Cambria Math" panose="02040503050406030204" pitchFamily="18" charset="0"/>
                      </a:rPr>
                      <m:t>，则</m:t>
                    </m:r>
                    <m:r>
                      <a:rPr lang="en-US" altLang="zh-CN" sz="2200" i="1" dirty="0">
                        <a:latin typeface="Cambria Math" panose="02040503050406030204" pitchFamily="18" charset="0"/>
                      </a:rPr>
                      <m:t>𝑊𝑋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𝑍</m:t>
                    </m:r>
                    <m:r>
                      <a:rPr lang="en-US" altLang="zh-CN" sz="2200" i="1" dirty="0">
                        <a:latin typeface="Cambria Math" panose="02040503050406030204" pitchFamily="18" charset="0"/>
                      </a:rPr>
                      <m:t>−</m:t>
                    </m:r>
                    <m:r>
                      <a:rPr lang="en-US" altLang="zh-CN" sz="2200" i="1" dirty="0">
                        <a:latin typeface="Cambria Math" panose="02040503050406030204" pitchFamily="18" charset="0"/>
                      </a:rPr>
                      <m:t>𝑊𝑌</m:t>
                    </m:r>
                    <m:r>
                      <a:rPr lang="zh-CN" altLang="en-US" sz="2200" i="1" dirty="0">
                        <a:latin typeface="Cambria Math" panose="02040503050406030204" pitchFamily="18" charset="0"/>
                      </a:rPr>
                      <m:t>）</m:t>
                    </m:r>
                  </m:oMath>
                </a14:m>
                <a:endParaRPr lang="zh-CN" altLang="en-US" sz="2200" dirty="0"/>
              </a:p>
              <a:p>
                <a:pPr marL="1196975" lvl="2" indent="-282575">
                  <a:lnSpc>
                    <a:spcPct val="90000"/>
                  </a:lnSpc>
                  <a:buFontTx/>
                  <a:buAutoNum type="arabicParenR" startAt="3"/>
                </a:pPr>
                <a:r>
                  <a:rPr lang="zh-CN" altLang="en-US" sz="2200" dirty="0"/>
                  <a:t>混合伪传递规则</a:t>
                </a:r>
                <a:endParaRPr lang="zh-CN" altLang="en-US" sz="2200" dirty="0"/>
              </a:p>
              <a:p>
                <a:pPr marL="1196975" lvl="2" indent="-282575">
                  <a:lnSpc>
                    <a:spcPct val="90000"/>
                  </a:lnSpc>
                  <a:buNone/>
                </a:pPr>
                <a:r>
                  <a:rPr lang="zh-CN" altLang="en-US" sz="2200" dirty="0"/>
                  <a:t>   如果</a:t>
                </a:r>
                <a14:m>
                  <m:oMath xmlns:m="http://schemas.openxmlformats.org/officeDocument/2006/math">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zh-CN" altLang="en-US" sz="2200" i="1" dirty="0">
                        <a:latin typeface="Cambria Math" panose="02040503050406030204" pitchFamily="18" charset="0"/>
                      </a:rPr>
                      <m:t>、</m:t>
                    </m:r>
                    <m:r>
                      <a:rPr lang="en-US" altLang="zh-CN" sz="2200" i="1" dirty="0">
                        <a:latin typeface="Cambria Math" panose="02040503050406030204" pitchFamily="18" charset="0"/>
                      </a:rPr>
                      <m:t>𝑋𝑌</m:t>
                    </m:r>
                    <m:r>
                      <a:rPr lang="en-US" altLang="zh-CN" sz="2200" i="1" dirty="0" smtClean="0">
                        <a:solidFill>
                          <a:srgbClr val="C00000"/>
                        </a:solidFill>
                        <a:latin typeface="Cambria Math" panose="02040503050406030204" pitchFamily="18" charset="0"/>
                      </a:rPr>
                      <m:t>→</m:t>
                    </m:r>
                    <m:r>
                      <a:rPr lang="en-US" altLang="zh-CN" sz="2200" i="1" dirty="0">
                        <a:latin typeface="Cambria Math" panose="02040503050406030204" pitchFamily="18" charset="0"/>
                      </a:rPr>
                      <m:t>𝑍</m:t>
                    </m:r>
                    <m:r>
                      <a:rPr lang="zh-CN" altLang="en-US" sz="2200" i="1" dirty="0">
                        <a:latin typeface="Cambria Math" panose="02040503050406030204" pitchFamily="18" charset="0"/>
                      </a:rPr>
                      <m:t>，则</m:t>
                    </m:r>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𝑍</m:t>
                    </m:r>
                    <m:r>
                      <a:rPr lang="en-US" altLang="zh-CN" sz="2200" i="1" dirty="0">
                        <a:latin typeface="Cambria Math" panose="02040503050406030204" pitchFamily="18" charset="0"/>
                      </a:rPr>
                      <m:t>−</m:t>
                    </m:r>
                    <m:r>
                      <a:rPr lang="en-US" altLang="zh-CN" sz="2200" i="1" dirty="0">
                        <a:latin typeface="Cambria Math" panose="02040503050406030204" pitchFamily="18" charset="0"/>
                      </a:rPr>
                      <m:t>𝑌</m:t>
                    </m:r>
                    <m:r>
                      <a:rPr lang="zh-CN" altLang="en-US" sz="2200" i="1" dirty="0">
                        <a:latin typeface="Cambria Math" panose="02040503050406030204" pitchFamily="18" charset="0"/>
                      </a:rPr>
                      <m:t>）</m:t>
                    </m:r>
                  </m:oMath>
                </a14:m>
                <a:endParaRPr lang="zh-CN" altLang="en-US" sz="2200" dirty="0"/>
              </a:p>
              <a:p>
                <a:pPr marL="1196975" lvl="2" indent="-282575">
                  <a:lnSpc>
                    <a:spcPct val="90000"/>
                  </a:lnSpc>
                  <a:buFontTx/>
                  <a:buAutoNum type="arabicParenR" startAt="4"/>
                </a:pPr>
                <a:r>
                  <a:rPr lang="en-US" altLang="zh-CN" sz="2200" dirty="0"/>
                  <a:t>MVD</a:t>
                </a:r>
                <a:r>
                  <a:rPr lang="zh-CN" altLang="en-US" sz="2200" dirty="0"/>
                  <a:t>分解规则</a:t>
                </a:r>
                <a:endParaRPr lang="zh-CN" altLang="en-US" sz="2200" dirty="0"/>
              </a:p>
              <a:p>
                <a:pPr marL="1196975" lvl="2" indent="-282575">
                  <a:lnSpc>
                    <a:spcPct val="90000"/>
                  </a:lnSpc>
                  <a:buNone/>
                </a:pPr>
                <a:r>
                  <a:rPr lang="zh-CN" altLang="en-US" sz="2200" dirty="0"/>
                  <a:t>  如果</a:t>
                </a:r>
                <a14:m>
                  <m:oMath xmlns:m="http://schemas.openxmlformats.org/officeDocument/2006/math">
                    <m:r>
                      <a:rPr lang="en-US" altLang="zh-CN" sz="2200" i="1" dirty="0" smtClean="0">
                        <a:latin typeface="Cambria Math" panose="02040503050406030204" pitchFamily="18" charset="0"/>
                      </a:rPr>
                      <m:t>𝑋</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𝑌</m:t>
                    </m:r>
                    <m:r>
                      <a:rPr lang="zh-CN" altLang="en-US" sz="2200" i="1" dirty="0">
                        <a:latin typeface="Cambria Math" panose="02040503050406030204" pitchFamily="18" charset="0"/>
                      </a:rPr>
                      <m:t>、</m:t>
                    </m:r>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𝑍</m:t>
                    </m:r>
                    <m:r>
                      <a:rPr lang="zh-CN" altLang="en-US" sz="2200" i="1" dirty="0">
                        <a:latin typeface="Cambria Math" panose="02040503050406030204" pitchFamily="18" charset="0"/>
                      </a:rPr>
                      <m:t>，则</m:t>
                    </m:r>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𝑌</m:t>
                    </m:r>
                    <m:r>
                      <a:rPr lang="en-US" altLang="zh-CN" sz="2200" i="1" dirty="0">
                        <a:latin typeface="Cambria Math" panose="02040503050406030204" pitchFamily="18" charset="0"/>
                      </a:rPr>
                      <m:t>∩</m:t>
                    </m:r>
                    <m:r>
                      <a:rPr lang="en-US" altLang="zh-CN" sz="2200" i="1" dirty="0">
                        <a:latin typeface="Cambria Math" panose="02040503050406030204" pitchFamily="18" charset="0"/>
                      </a:rPr>
                      <m:t>𝑍</m:t>
                    </m:r>
                    <m:r>
                      <a:rPr lang="zh-CN" altLang="en-US" sz="2200" i="1" dirty="0">
                        <a:latin typeface="Cambria Math" panose="02040503050406030204" pitchFamily="18" charset="0"/>
                      </a:rPr>
                      <m:t>）、</m:t>
                    </m:r>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𝑌</m:t>
                    </m:r>
                    <m:r>
                      <a:rPr lang="en-US" altLang="zh-CN" sz="2200" i="1" dirty="0">
                        <a:latin typeface="Cambria Math" panose="02040503050406030204" pitchFamily="18" charset="0"/>
                      </a:rPr>
                      <m:t>−</m:t>
                    </m:r>
                    <m:r>
                      <a:rPr lang="en-US" altLang="zh-CN" sz="2200" i="1" dirty="0">
                        <a:latin typeface="Cambria Math" panose="02040503050406030204" pitchFamily="18" charset="0"/>
                      </a:rPr>
                      <m:t>𝑍</m:t>
                    </m:r>
                    <m:r>
                      <a:rPr lang="en-US" altLang="zh-CN" sz="2200" i="1" dirty="0">
                        <a:latin typeface="Cambria Math" panose="02040503050406030204" pitchFamily="18" charset="0"/>
                      </a:rPr>
                      <m:t>)</m:t>
                    </m:r>
                    <m:r>
                      <a:rPr lang="zh-CN" altLang="en-US" sz="2200" i="1" dirty="0">
                        <a:latin typeface="Cambria Math" panose="02040503050406030204" pitchFamily="18" charset="0"/>
                      </a:rPr>
                      <m:t> </m:t>
                    </m:r>
                    <m:r>
                      <a:rPr lang="en-US" altLang="zh-CN" sz="2200" i="1" dirty="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𝑍</m:t>
                    </m:r>
                    <m:r>
                      <a:rPr lang="en-US" altLang="zh-CN" sz="2200" i="1" dirty="0">
                        <a:latin typeface="Cambria Math" panose="02040503050406030204" pitchFamily="18" charset="0"/>
                      </a:rPr>
                      <m:t>−</m:t>
                    </m:r>
                    <m:r>
                      <a:rPr lang="en-US" altLang="zh-CN" sz="2200" i="1" dirty="0">
                        <a:latin typeface="Cambria Math" panose="02040503050406030204" pitchFamily="18" charset="0"/>
                      </a:rPr>
                      <m:t>𝑌</m:t>
                    </m:r>
                    <m:r>
                      <a:rPr lang="zh-CN" altLang="en-US" sz="2200" i="1" dirty="0" smtClean="0">
                        <a:latin typeface="Cambria Math" panose="02040503050406030204" pitchFamily="18" charset="0"/>
                      </a:rPr>
                      <m:t>）</m:t>
                    </m:r>
                  </m:oMath>
                </a14:m>
                <a:r>
                  <a:rPr lang="zh-CN" altLang="en-US" sz="2200" dirty="0"/>
                  <a:t>均成立。</a:t>
                </a:r>
                <a:endParaRPr lang="en-US" altLang="zh-CN" sz="2200" dirty="0"/>
              </a:p>
              <a:p>
                <a:pPr lvl="1"/>
                <a:r>
                  <a:rPr lang="zh-CN" altLang="en-US" sz="2200" dirty="0"/>
                  <a:t>以上规则的证明从略</a:t>
                </a:r>
                <a:endParaRPr lang="zh-CN" altLang="en-US" sz="2200" i="1"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l="-3" r="5"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616646" cy="4957760"/>
              </a:xfrm>
            </p:spPr>
            <p:txBody>
              <a:bodyPr>
                <a:normAutofit/>
              </a:bodyPr>
              <a:lstStyle/>
              <a:p>
                <a:r>
                  <a:rPr kumimoji="1" lang="zh-CN" altLang="en-US" dirty="0"/>
                  <a:t>多值依赖的性质*</a:t>
                </a:r>
                <a:endParaRPr lang="en-US" altLang="zh-CN" sz="2200" dirty="0"/>
              </a:p>
              <a:p>
                <a:pPr lvl="1"/>
                <a:r>
                  <a:rPr lang="zh-CN" altLang="en-US" sz="2400" dirty="0"/>
                  <a:t>定义</a:t>
                </a:r>
                <a:r>
                  <a:rPr lang="en-US" altLang="zh-CN" sz="2400" dirty="0"/>
                  <a:t>4.12</a:t>
                </a:r>
                <a:r>
                  <a:rPr lang="zh-CN" altLang="en-US" sz="2400" dirty="0"/>
                  <a:t>：若</a:t>
                </a:r>
                <a14:m>
                  <m:oMath xmlns:m="http://schemas.openxmlformats.org/officeDocument/2006/math">
                    <m:r>
                      <a:rPr lang="en-US" altLang="zh-CN" sz="2400" b="0" i="1" dirty="0" smtClean="0">
                        <a:latin typeface="Cambria Math" panose="02040503050406030204" pitchFamily="18" charset="0"/>
                      </a:rPr>
                      <m:t>𝑋</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𝑌</m:t>
                    </m:r>
                  </m:oMath>
                </a14:m>
                <a:r>
                  <a:rPr lang="zh-CN" altLang="en-US" sz="2400" dirty="0"/>
                  <a:t>，而</a:t>
                </a:r>
                <a14:m>
                  <m:oMath xmlns:m="http://schemas.openxmlformats.org/officeDocument/2006/math">
                    <m:r>
                      <a:rPr lang="en-US" altLang="zh-CN" sz="2400" b="0" i="1" dirty="0" smtClean="0">
                        <a:latin typeface="Cambria Math" panose="02040503050406030204" pitchFamily="18" charset="0"/>
                      </a:rPr>
                      <m:t>𝑍</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𝑈</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𝑋𝑌</m:t>
                    </m:r>
                  </m:oMath>
                </a14:m>
                <a:r>
                  <a:rPr lang="zh-CN" altLang="en-US" sz="2400" dirty="0"/>
                  <a:t>为空，则称</a:t>
                </a:r>
                <a14:m>
                  <m:oMath xmlns:m="http://schemas.openxmlformats.org/officeDocument/2006/math">
                    <m:r>
                      <a:rPr lang="en-US" altLang="zh-CN" sz="2400" b="0" i="1" dirty="0" smtClean="0">
                        <a:latin typeface="Cambria Math" panose="02040503050406030204" pitchFamily="18" charset="0"/>
                      </a:rPr>
                      <m:t>𝑋</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𝑌</m:t>
                    </m:r>
                    <m:r>
                      <a:rPr lang="en-US" altLang="zh-CN" sz="2400" b="0" i="1" dirty="0" smtClean="0">
                        <a:latin typeface="Cambria Math" panose="02040503050406030204" pitchFamily="18" charset="0"/>
                      </a:rPr>
                      <m:t> </m:t>
                    </m:r>
                  </m:oMath>
                </a14:m>
                <a:r>
                  <a:rPr lang="zh-CN" altLang="en-US" sz="2400" dirty="0"/>
                  <a:t>为平凡的多值依赖</a:t>
                </a:r>
                <a:endParaRPr lang="en-US" altLang="zh-CN" sz="2400" dirty="0"/>
              </a:p>
              <a:p>
                <a:pPr lvl="1"/>
                <a:r>
                  <a:rPr lang="zh-CN" altLang="en-US" sz="2400" dirty="0"/>
                  <a:t>多值依赖具有以下性质：</a:t>
                </a:r>
                <a:endParaRPr lang="zh-CN" altLang="en-US" sz="2400" dirty="0"/>
              </a:p>
              <a:p>
                <a:pPr marL="1041400" lvl="1" indent="-463550">
                  <a:lnSpc>
                    <a:spcPct val="90000"/>
                  </a:lnSpc>
                  <a:buFontTx/>
                  <a:buAutoNum type="arabicParenR"/>
                </a:pPr>
                <a:r>
                  <a:rPr lang="zh-CN" altLang="en-US" dirty="0"/>
                  <a:t>多值依赖具有对称性。即若</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r>
                      <a:rPr lang="zh-CN" altLang="en-US" i="1" dirty="0">
                        <a:latin typeface="Cambria Math" panose="02040503050406030204" pitchFamily="18" charset="0"/>
                      </a:rPr>
                      <m:t>，则</m:t>
                    </m:r>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𝑍</m:t>
                    </m:r>
                    <m:r>
                      <a:rPr lang="zh-CN" altLang="en-US" i="1" dirty="0">
                        <a:latin typeface="Cambria Math" panose="02040503050406030204" pitchFamily="18" charset="0"/>
                      </a:rPr>
                      <m:t>，其中</m:t>
                    </m:r>
                    <m:r>
                      <a:rPr lang="en-US" altLang="zh-CN" i="1" dirty="0">
                        <a:latin typeface="Cambria Math" panose="02040503050406030204" pitchFamily="18" charset="0"/>
                      </a:rPr>
                      <m:t>𝑍</m:t>
                    </m:r>
                    <m:r>
                      <a:rPr lang="zh-CN" altLang="en-US" i="1" dirty="0">
                        <a:latin typeface="Cambria Math" panose="02040503050406030204" pitchFamily="18" charset="0"/>
                      </a:rPr>
                      <m:t>＝</m:t>
                    </m:r>
                    <m:r>
                      <a:rPr lang="en-US" altLang="zh-CN" i="1" dirty="0">
                        <a:latin typeface="Cambria Math" panose="02040503050406030204" pitchFamily="18" charset="0"/>
                      </a:rPr>
                      <m:t>𝑈</m:t>
                    </m:r>
                    <m:r>
                      <a:rPr lang="zh-CN" altLang="en-US" i="1" dirty="0">
                        <a:latin typeface="Cambria Math" panose="02040503050406030204" pitchFamily="18" charset="0"/>
                      </a:rPr>
                      <m:t>－</m:t>
                    </m:r>
                    <m:r>
                      <a:rPr lang="en-US" altLang="zh-CN" i="1" dirty="0">
                        <a:latin typeface="Cambria Math" panose="02040503050406030204" pitchFamily="18" charset="0"/>
                      </a:rPr>
                      <m:t>𝑋𝑌</m:t>
                    </m:r>
                  </m:oMath>
                </a14:m>
                <a:r>
                  <a:rPr lang="zh-CN" altLang="en-US" dirty="0"/>
                  <a:t>。 </a:t>
                </a:r>
                <a:endParaRPr lang="zh-CN" altLang="en-US" dirty="0"/>
              </a:p>
              <a:p>
                <a:pPr marL="1041400" lvl="1" indent="-463550">
                  <a:lnSpc>
                    <a:spcPct val="90000"/>
                  </a:lnSpc>
                  <a:buFontTx/>
                  <a:buAutoNum type="arabicParenR"/>
                </a:pPr>
                <a:r>
                  <a:rPr lang="zh-CN" altLang="en-US" dirty="0"/>
                  <a:t>多值依赖的传递性。即若</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r>
                      <a:rPr lang="zh-CN" altLang="en-US" i="1" dirty="0">
                        <a:latin typeface="Cambria Math" panose="02040503050406030204" pitchFamily="18" charset="0"/>
                      </a:rPr>
                      <m:t>，</m:t>
                    </m:r>
                    <m:r>
                      <a:rPr lang="en-US" altLang="zh-CN" i="1" dirty="0">
                        <a:latin typeface="Cambria Math" panose="02040503050406030204" pitchFamily="18" charset="0"/>
                      </a:rPr>
                      <m:t>𝑌</m:t>
                    </m:r>
                    <m:r>
                      <a:rPr lang="en-US" altLang="zh-CN" i="1" dirty="0">
                        <a:latin typeface="Cambria Math" panose="02040503050406030204" pitchFamily="18" charset="0"/>
                      </a:rPr>
                      <m:t>→→</m:t>
                    </m:r>
                    <m:r>
                      <a:rPr lang="en-US" altLang="zh-CN" i="1" dirty="0">
                        <a:latin typeface="Cambria Math" panose="02040503050406030204" pitchFamily="18" charset="0"/>
                      </a:rPr>
                      <m:t>𝑍</m:t>
                    </m:r>
                    <m:r>
                      <a:rPr lang="zh-CN" altLang="en-US" i="1" dirty="0">
                        <a:latin typeface="Cambria Math" panose="02040503050406030204" pitchFamily="18" charset="0"/>
                      </a:rPr>
                      <m:t>，</m:t>
                    </m:r>
                    <m:r>
                      <a:rPr lang="zh-CN" altLang="en-US" i="1" dirty="0">
                        <a:latin typeface="Cambria Math" panose="02040503050406030204" pitchFamily="18" charset="0"/>
                      </a:rPr>
                      <m:t> </m:t>
                    </m:r>
                    <m:r>
                      <a:rPr lang="zh-CN" altLang="en-US" i="1" dirty="0">
                        <a:latin typeface="Cambria Math" panose="02040503050406030204" pitchFamily="18" charset="0"/>
                      </a:rPr>
                      <m:t>则</m:t>
                    </m:r>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𝑍</m:t>
                    </m:r>
                    <m:r>
                      <a:rPr lang="zh-CN" altLang="en-US" i="1" dirty="0">
                        <a:latin typeface="Cambria Math" panose="02040503050406030204" pitchFamily="18" charset="0"/>
                      </a:rPr>
                      <m:t>－</m:t>
                    </m:r>
                    <m:r>
                      <a:rPr lang="en-US" altLang="zh-CN" i="1" dirty="0">
                        <a:latin typeface="Cambria Math" panose="02040503050406030204" pitchFamily="18" charset="0"/>
                      </a:rPr>
                      <m:t>𝑌</m:t>
                    </m:r>
                  </m:oMath>
                </a14:m>
                <a:r>
                  <a:rPr lang="zh-CN" altLang="en-US" dirty="0"/>
                  <a:t>。 </a:t>
                </a:r>
                <a:endParaRPr lang="zh-CN" altLang="en-US" dirty="0"/>
              </a:p>
              <a:p>
                <a:pPr marL="1041400" lvl="1" indent="-463550">
                  <a:lnSpc>
                    <a:spcPct val="90000"/>
                  </a:lnSpc>
                  <a:buFontTx/>
                  <a:buAutoNum type="arabicParenR"/>
                </a:pPr>
                <a:r>
                  <a:rPr lang="zh-CN" altLang="en-US" dirty="0"/>
                  <a:t>函数依赖可以看作是多值依赖的特殊情况。即若</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r>
                      <a:rPr lang="zh-CN" altLang="en-US" i="1" dirty="0">
                        <a:latin typeface="Cambria Math" panose="02040503050406030204" pitchFamily="18" charset="0"/>
                      </a:rPr>
                      <m:t>，则</m:t>
                    </m:r>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𝑌</m:t>
                    </m:r>
                  </m:oMath>
                </a14:m>
                <a:r>
                  <a:rPr lang="zh-CN" altLang="en-US" dirty="0"/>
                  <a:t>。这是因为当</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r>
                      <a:rPr lang="zh-CN" altLang="en-US" i="1" dirty="0">
                        <a:latin typeface="Cambria Math" panose="02040503050406030204" pitchFamily="18" charset="0"/>
                      </a:rPr>
                      <m:t>时，对</m:t>
                    </m:r>
                    <m:r>
                      <a:rPr lang="en-US" altLang="zh-CN" i="1" dirty="0">
                        <a:latin typeface="Cambria Math" panose="02040503050406030204" pitchFamily="18" charset="0"/>
                      </a:rPr>
                      <m:t>𝑋</m:t>
                    </m:r>
                    <m:r>
                      <a:rPr lang="zh-CN" altLang="en-US" i="1" dirty="0">
                        <a:latin typeface="Cambria Math" panose="02040503050406030204" pitchFamily="18" charset="0"/>
                      </a:rPr>
                      <m:t>的每一个值</m:t>
                    </m:r>
                    <m:r>
                      <a:rPr lang="en-US" altLang="zh-CN" i="1" dirty="0">
                        <a:latin typeface="Cambria Math" panose="02040503050406030204" pitchFamily="18" charset="0"/>
                      </a:rPr>
                      <m:t>𝑥</m:t>
                    </m:r>
                    <m:r>
                      <a:rPr lang="zh-CN" altLang="en-US" i="1" dirty="0">
                        <a:latin typeface="Cambria Math" panose="02040503050406030204" pitchFamily="18" charset="0"/>
                      </a:rPr>
                      <m:t>，</m:t>
                    </m:r>
                    <m:r>
                      <a:rPr lang="en-US" altLang="zh-CN" i="1" dirty="0">
                        <a:latin typeface="Cambria Math" panose="02040503050406030204" pitchFamily="18" charset="0"/>
                      </a:rPr>
                      <m:t>𝑌</m:t>
                    </m:r>
                    <m:r>
                      <a:rPr lang="zh-CN" altLang="en-US" i="1" dirty="0">
                        <a:latin typeface="Cambria Math" panose="02040503050406030204" pitchFamily="18" charset="0"/>
                      </a:rPr>
                      <m:t>有一个确定的值</m:t>
                    </m:r>
                    <m:r>
                      <a:rPr lang="en-US" altLang="zh-CN" i="1" dirty="0">
                        <a:latin typeface="Cambria Math" panose="02040503050406030204" pitchFamily="18" charset="0"/>
                      </a:rPr>
                      <m:t>𝑦</m:t>
                    </m:r>
                    <m:r>
                      <a:rPr lang="zh-CN" altLang="en-US" i="1" dirty="0">
                        <a:latin typeface="Cambria Math" panose="02040503050406030204" pitchFamily="18" charset="0"/>
                      </a:rPr>
                      <m:t>与之对应，所以</m:t>
                    </m:r>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𝑌</m:t>
                    </m:r>
                    <m:r>
                      <a:rPr lang="zh-CN" altLang="en-US" i="1" dirty="0">
                        <a:latin typeface="Cambria Math" panose="02040503050406030204" pitchFamily="18" charset="0"/>
                      </a:rPr>
                      <m:t> </m:t>
                    </m:r>
                  </m:oMath>
                </a14:m>
                <a:endParaRPr lang="zh-CN" altLang="en-US" dirty="0"/>
              </a:p>
              <a:p>
                <a:pPr marL="1041400" lvl="1" indent="-463550">
                  <a:lnSpc>
                    <a:spcPct val="90000"/>
                  </a:lnSpc>
                  <a:buFontTx/>
                  <a:buAutoNum type="arabicParenR"/>
                </a:pPr>
                <a:r>
                  <a:rPr lang="zh-CN" altLang="en-US" dirty="0"/>
                  <a:t>若</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r>
                      <a:rPr lang="zh-CN" altLang="en-US" i="1" dirty="0">
                        <a:latin typeface="Cambria Math" panose="02040503050406030204" pitchFamily="18" charset="0"/>
                      </a:rPr>
                      <m:t>，</m:t>
                    </m:r>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𝑍</m:t>
                    </m:r>
                    <m:r>
                      <a:rPr lang="zh-CN" altLang="en-US" i="1" dirty="0">
                        <a:latin typeface="Cambria Math" panose="02040503050406030204" pitchFamily="18" charset="0"/>
                      </a:rPr>
                      <m:t>，则</m:t>
                    </m:r>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𝑌𝑍</m:t>
                    </m:r>
                    <m:r>
                      <a:rPr lang="zh-CN" altLang="en-US" i="1" dirty="0">
                        <a:latin typeface="Cambria Math" panose="02040503050406030204" pitchFamily="18" charset="0"/>
                      </a:rPr>
                      <m:t> </m:t>
                    </m:r>
                  </m:oMath>
                </a14:m>
                <a:endParaRPr lang="zh-CN" altLang="en-US" dirty="0"/>
              </a:p>
              <a:p>
                <a:pPr marL="1041400" lvl="1" indent="-463550">
                  <a:lnSpc>
                    <a:spcPct val="90000"/>
                  </a:lnSpc>
                  <a:buFontTx/>
                  <a:buAutoNum type="arabicParenR"/>
                </a:pPr>
                <a:r>
                  <a:rPr lang="zh-CN" altLang="en-US" dirty="0"/>
                  <a:t>若</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r>
                      <a:rPr lang="zh-CN" altLang="en-US" i="1" dirty="0">
                        <a:latin typeface="Cambria Math" panose="02040503050406030204" pitchFamily="18" charset="0"/>
                      </a:rPr>
                      <m:t>，</m:t>
                    </m:r>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𝑍</m:t>
                    </m:r>
                    <m:r>
                      <a:rPr lang="zh-CN" altLang="en-US" i="1" dirty="0">
                        <a:latin typeface="Cambria Math" panose="02040503050406030204" pitchFamily="18" charset="0"/>
                      </a:rPr>
                      <m:t>，则</m:t>
                    </m:r>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𝑌</m:t>
                    </m:r>
                    <m:r>
                      <a:rPr lang="en-US" altLang="zh-CN" i="1" dirty="0">
                        <a:latin typeface="Cambria Math" panose="02040503050406030204" pitchFamily="18" charset="0"/>
                      </a:rPr>
                      <m:t>∩</m:t>
                    </m:r>
                    <m:r>
                      <a:rPr lang="en-US" altLang="zh-CN" i="1" dirty="0">
                        <a:latin typeface="Cambria Math" panose="02040503050406030204" pitchFamily="18" charset="0"/>
                      </a:rPr>
                      <m:t>𝑍</m:t>
                    </m:r>
                    <m:r>
                      <a:rPr lang="zh-CN" altLang="en-US" i="1" dirty="0">
                        <a:latin typeface="Cambria Math" panose="02040503050406030204" pitchFamily="18" charset="0"/>
                      </a:rPr>
                      <m:t> </m:t>
                    </m:r>
                  </m:oMath>
                </a14:m>
                <a:endParaRPr lang="zh-CN" altLang="en-US" dirty="0"/>
              </a:p>
              <a:p>
                <a:pPr marL="1041400" lvl="1" indent="-463550">
                  <a:lnSpc>
                    <a:spcPct val="90000"/>
                  </a:lnSpc>
                  <a:buFontTx/>
                  <a:buAutoNum type="arabicParenR"/>
                </a:pPr>
                <a:r>
                  <a:rPr lang="zh-CN" altLang="en-US" dirty="0"/>
                  <a:t>若</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r>
                      <a:rPr lang="zh-CN" altLang="en-US" i="1" dirty="0">
                        <a:latin typeface="Cambria Math" panose="02040503050406030204" pitchFamily="18" charset="0"/>
                      </a:rPr>
                      <m:t>，</m:t>
                    </m:r>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𝑍</m:t>
                    </m:r>
                    <m:r>
                      <a:rPr lang="zh-CN" altLang="en-US" i="1" dirty="0">
                        <a:latin typeface="Cambria Math" panose="02040503050406030204" pitchFamily="18" charset="0"/>
                      </a:rPr>
                      <m:t>，则</m:t>
                    </m:r>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𝑌</m:t>
                    </m:r>
                    <m:r>
                      <a:rPr lang="zh-CN" altLang="en-US" i="1" dirty="0">
                        <a:latin typeface="Cambria Math" panose="02040503050406030204" pitchFamily="18" charset="0"/>
                      </a:rPr>
                      <m:t>－</m:t>
                    </m:r>
                    <m:r>
                      <a:rPr lang="en-US" altLang="zh-CN" i="1" dirty="0">
                        <a:latin typeface="Cambria Math" panose="02040503050406030204" pitchFamily="18" charset="0"/>
                      </a:rPr>
                      <m:t>𝑍</m:t>
                    </m:r>
                    <m:r>
                      <a:rPr lang="zh-CN" altLang="en-US" i="1" dirty="0">
                        <a:latin typeface="Cambria Math" panose="02040503050406030204" pitchFamily="18" charset="0"/>
                      </a:rPr>
                      <m:t>，</m:t>
                    </m:r>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𝑍</m:t>
                    </m:r>
                    <m:r>
                      <a:rPr lang="zh-CN" altLang="en-US" i="1" dirty="0">
                        <a:latin typeface="Cambria Math" panose="02040503050406030204" pitchFamily="18" charset="0"/>
                      </a:rPr>
                      <m:t>－</m:t>
                    </m:r>
                    <m:r>
                      <a:rPr lang="en-US" altLang="zh-CN" i="1" dirty="0">
                        <a:latin typeface="Cambria Math" panose="02040503050406030204" pitchFamily="18" charset="0"/>
                      </a:rPr>
                      <m:t>𝑌</m:t>
                    </m:r>
                    <m:r>
                      <a:rPr lang="zh-CN" altLang="en-US" i="1" dirty="0">
                        <a:latin typeface="Cambria Math" panose="02040503050406030204" pitchFamily="18" charset="0"/>
                      </a:rPr>
                      <m:t>。</m:t>
                    </m:r>
                    <m:r>
                      <a:rPr lang="zh-CN" altLang="en-US" i="1" dirty="0">
                        <a:latin typeface="Cambria Math" panose="02040503050406030204" pitchFamily="18" charset="0"/>
                      </a:rPr>
                      <m:t> </m:t>
                    </m:r>
                  </m:oMath>
                </a14:m>
                <a:endParaRPr lang="zh-CN" altLang="en-US" dirty="0"/>
              </a:p>
              <a:p>
                <a:pPr lvl="1"/>
                <a:endParaRPr lang="zh-CN" altLang="en-US" sz="2200" i="1"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616646" cy="4957760"/>
              </a:xfrm>
              <a:blipFill rotWithShape="1">
                <a:blip r:embed="rId1"/>
                <a:stretch>
                  <a:fillRect l="-2"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616646" cy="4957760"/>
              </a:xfrm>
            </p:spPr>
            <p:txBody>
              <a:bodyPr>
                <a:normAutofit/>
              </a:bodyPr>
              <a:lstStyle/>
              <a:p>
                <a:r>
                  <a:rPr kumimoji="1" lang="zh-CN" altLang="en-US" dirty="0"/>
                  <a:t>多值依赖与函数依赖</a:t>
                </a:r>
                <a:endParaRPr lang="en-US" altLang="zh-CN" sz="2200" dirty="0"/>
              </a:p>
              <a:p>
                <a:pPr lvl="1"/>
                <a:r>
                  <a:rPr lang="zh-CN" altLang="en-US" dirty="0"/>
                  <a:t>区别</a:t>
                </a:r>
                <a:endParaRPr lang="en-US" altLang="zh-CN" dirty="0"/>
              </a:p>
              <a:p>
                <a:pPr lvl="2"/>
                <a:r>
                  <a:rPr lang="zh-CN" altLang="en-US" sz="2400" dirty="0"/>
                  <a:t>函数依赖规定某些元组不能出现在关系中，也称为</a:t>
                </a:r>
                <a:r>
                  <a:rPr lang="zh-CN" altLang="en-US" sz="2400" u="sng" dirty="0"/>
                  <a:t>相等产生依赖</a:t>
                </a:r>
                <a:endParaRPr lang="en-US" altLang="zh-CN" sz="2400" u="sng" dirty="0"/>
              </a:p>
              <a:p>
                <a:pPr lvl="2"/>
                <a:r>
                  <a:rPr lang="zh-CN" altLang="en-US" sz="2400" dirty="0"/>
                  <a:t>多值依赖要求某种形式的其它元组必须在关系中，称为</a:t>
                </a:r>
                <a:r>
                  <a:rPr lang="zh-CN" altLang="en-US" sz="2400" u="sng" dirty="0"/>
                  <a:t>元组产生依赖</a:t>
                </a:r>
                <a:endParaRPr lang="en-US" altLang="zh-CN" sz="2400" u="sng" dirty="0"/>
              </a:p>
              <a:p>
                <a:pPr lvl="1"/>
                <a:r>
                  <a:rPr lang="zh-CN" altLang="en-US" dirty="0"/>
                  <a:t>有效性范围</a:t>
                </a:r>
                <a:endParaRPr lang="zh-CN" altLang="en-US" dirty="0"/>
              </a:p>
              <a:p>
                <a:pPr lvl="2">
                  <a:lnSpc>
                    <a:spcPct val="90000"/>
                  </a:lnSpc>
                  <a:spcBef>
                    <a:spcPct val="35000"/>
                  </a:spcBef>
                </a:pPr>
                <a14:m>
                  <m:oMath xmlns:m="http://schemas.openxmlformats.org/officeDocument/2006/math">
                    <m:r>
                      <a:rPr lang="en-US" altLang="zh-CN" sz="2400" i="1" dirty="0" smtClean="0">
                        <a:latin typeface="Cambria Math" panose="02040503050406030204" pitchFamily="18" charset="0"/>
                      </a:rPr>
                      <m:t>𝑋</m:t>
                    </m:r>
                    <m:r>
                      <a:rPr lang="en-US" altLang="zh-CN" sz="2400" i="1" dirty="0">
                        <a:latin typeface="Cambria Math" panose="02040503050406030204" pitchFamily="18" charset="0"/>
                        <a:sym typeface="Symbol" panose="05050102010706020507" pitchFamily="18" charset="2"/>
                      </a:rPr>
                      <m:t></m:t>
                    </m:r>
                    <m:r>
                      <a:rPr lang="en-US" altLang="zh-CN" sz="2400" i="1" dirty="0">
                        <a:latin typeface="Cambria Math" panose="02040503050406030204" pitchFamily="18" charset="0"/>
                      </a:rPr>
                      <m:t>𝑌</m:t>
                    </m:r>
                  </m:oMath>
                </a14:m>
                <a:r>
                  <a:rPr lang="zh-CN" altLang="en-US" sz="2400" dirty="0"/>
                  <a:t>的有效性仅决定于</a:t>
                </a:r>
                <a14:m>
                  <m:oMath xmlns:m="http://schemas.openxmlformats.org/officeDocument/2006/math">
                    <m:r>
                      <a:rPr lang="en-US" altLang="zh-CN" sz="2400" i="1" dirty="0" smtClean="0">
                        <a:latin typeface="Cambria Math" panose="02040503050406030204" pitchFamily="18" charset="0"/>
                      </a:rPr>
                      <m:t>𝑋</m:t>
                    </m:r>
                    <m:r>
                      <a:rPr lang="zh-CN" altLang="en-US" sz="2400" i="1" dirty="0">
                        <a:latin typeface="Cambria Math" panose="02040503050406030204" pitchFamily="18" charset="0"/>
                      </a:rPr>
                      <m:t>、</m:t>
                    </m:r>
                    <m:r>
                      <a:rPr lang="en-US" altLang="zh-CN" sz="2400" i="1" dirty="0">
                        <a:latin typeface="Cambria Math" panose="02040503050406030204" pitchFamily="18" charset="0"/>
                      </a:rPr>
                      <m:t>𝑌</m:t>
                    </m:r>
                  </m:oMath>
                </a14:m>
                <a:r>
                  <a:rPr lang="zh-CN" altLang="en-US" sz="2400" dirty="0"/>
                  <a:t>属性集上的值，它在任何属性集</a:t>
                </a:r>
                <a14:m>
                  <m:oMath xmlns:m="http://schemas.openxmlformats.org/officeDocument/2006/math">
                    <m:r>
                      <a:rPr lang="en-US" altLang="zh-CN" sz="2400" i="1" dirty="0" smtClean="0">
                        <a:latin typeface="Cambria Math" panose="02040503050406030204" pitchFamily="18" charset="0"/>
                      </a:rPr>
                      <m:t>𝑊</m:t>
                    </m:r>
                    <m:r>
                      <a:rPr lang="zh-CN" altLang="en-US" sz="2400" i="1" dirty="0">
                        <a:latin typeface="Cambria Math" panose="02040503050406030204" pitchFamily="18" charset="0"/>
                      </a:rPr>
                      <m:t>（</m:t>
                    </m:r>
                    <m:r>
                      <a:rPr lang="en-US" altLang="zh-CN" sz="2400" i="1" dirty="0">
                        <a:latin typeface="Cambria Math" panose="02040503050406030204" pitchFamily="18" charset="0"/>
                      </a:rPr>
                      <m:t>𝑋𝑌</m:t>
                    </m:r>
                    <m:r>
                      <a:rPr lang="en-US" altLang="zh-CN" sz="2400" i="1" dirty="0">
                        <a:latin typeface="Cambria Math" panose="02040503050406030204" pitchFamily="18" charset="0"/>
                      </a:rPr>
                      <m:t>  </m:t>
                    </m:r>
                    <m:r>
                      <a:rPr lang="en-US" altLang="zh-CN" sz="2400" i="1" dirty="0">
                        <a:latin typeface="Cambria Math" panose="02040503050406030204" pitchFamily="18" charset="0"/>
                      </a:rPr>
                      <m:t>𝑊</m:t>
                    </m:r>
                    <m:r>
                      <a:rPr lang="en-US" altLang="zh-CN" sz="2400" i="1" dirty="0">
                        <a:latin typeface="Cambria Math" panose="02040503050406030204" pitchFamily="18" charset="0"/>
                      </a:rPr>
                      <m:t>  </m:t>
                    </m:r>
                    <m:r>
                      <a:rPr lang="en-US" altLang="zh-CN" sz="2400" i="1" dirty="0">
                        <a:latin typeface="Cambria Math" panose="02040503050406030204" pitchFamily="18" charset="0"/>
                      </a:rPr>
                      <m:t>𝑈</m:t>
                    </m:r>
                    <m:r>
                      <a:rPr lang="zh-CN" altLang="en-US" sz="2400" i="1" dirty="0">
                        <a:latin typeface="Cambria Math" panose="02040503050406030204" pitchFamily="18" charset="0"/>
                      </a:rPr>
                      <m:t>）</m:t>
                    </m:r>
                  </m:oMath>
                </a14:m>
                <a:r>
                  <a:rPr lang="zh-CN" altLang="en-US" sz="2400" dirty="0"/>
                  <a:t>上都成立。</a:t>
                </a:r>
                <a:endParaRPr lang="zh-CN" altLang="en-US" sz="2400" dirty="0"/>
              </a:p>
              <a:p>
                <a:pPr lvl="1">
                  <a:lnSpc>
                    <a:spcPct val="90000"/>
                  </a:lnSpc>
                  <a:spcBef>
                    <a:spcPct val="35000"/>
                  </a:spcBef>
                  <a:buNone/>
                </a:pPr>
                <a:r>
                  <a:rPr lang="zh-CN" altLang="en-US" dirty="0"/>
                  <a:t>	</a:t>
                </a:r>
                <a:r>
                  <a:rPr lang="en-US" altLang="zh-CN" dirty="0"/>
                  <a:t>	</a:t>
                </a:r>
                <a:r>
                  <a:rPr lang="zh-CN" altLang="en-US" dirty="0"/>
                  <a:t>  若</a:t>
                </a:r>
                <a14:m>
                  <m:oMath xmlns:m="http://schemas.openxmlformats.org/officeDocument/2006/math">
                    <m:r>
                      <a:rPr lang="en-US" altLang="zh-CN" i="1" dirty="0">
                        <a:latin typeface="Cambria Math" panose="02040503050406030204" pitchFamily="18" charset="0"/>
                      </a:rPr>
                      <m:t>𝑋</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rPr>
                      <m:t>𝑌</m:t>
                    </m:r>
                  </m:oMath>
                </a14:m>
                <a:r>
                  <a:rPr lang="zh-CN" altLang="en-US" dirty="0"/>
                  <a:t>在</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𝑈</m:t>
                    </m:r>
                    <m:r>
                      <a:rPr lang="en-US" altLang="zh-CN" i="1" dirty="0" smtClean="0">
                        <a:latin typeface="Cambria Math" panose="02040503050406030204" pitchFamily="18" charset="0"/>
                      </a:rPr>
                      <m:t>)</m:t>
                    </m:r>
                  </m:oMath>
                </a14:m>
                <a:r>
                  <a:rPr lang="zh-CN" altLang="en-US" dirty="0"/>
                  <a:t>上成立，则对于任何</a:t>
                </a:r>
                <a14:m>
                  <m:oMath xmlns:m="http://schemas.openxmlformats.org/officeDocument/2006/math">
                    <m:r>
                      <a:rPr lang="en-US" altLang="zh-CN" i="1" dirty="0" smtClean="0">
                        <a:latin typeface="Cambria Math" panose="02040503050406030204" pitchFamily="18" charset="0"/>
                      </a:rPr>
                      <m:t>𝑌</m:t>
                    </m:r>
                    <m:r>
                      <a:rPr lang="en-US" altLang="zh-CN" i="1" dirty="0" smtClean="0">
                        <a:latin typeface="Cambria Math" panose="02040503050406030204" pitchFamily="18" charset="0"/>
                      </a:rPr>
                      <m:t>′ </m:t>
                    </m:r>
                    <m:r>
                      <a:rPr lang="en-US" altLang="zh-CN" i="1" dirty="0">
                        <a:latin typeface="Cambria Math" panose="02040503050406030204" pitchFamily="18" charset="0"/>
                      </a:rPr>
                      <m:t>𝑌</m:t>
                    </m:r>
                    <m:r>
                      <a:rPr lang="zh-CN" altLang="en-US" i="1" dirty="0">
                        <a:latin typeface="Cambria Math" panose="02040503050406030204" pitchFamily="18" charset="0"/>
                      </a:rPr>
                      <m:t>，均有</m:t>
                    </m:r>
                    <m:r>
                      <a:rPr lang="en-US" altLang="zh-CN" i="1" dirty="0">
                        <a:latin typeface="Cambria Math" panose="02040503050406030204" pitchFamily="18" charset="0"/>
                      </a:rPr>
                      <m:t>𝑋</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rPr>
                      <m:t>𝑌</m:t>
                    </m:r>
                    <m:r>
                      <a:rPr lang="en-US" altLang="zh-CN" i="1" dirty="0">
                        <a:latin typeface="Cambria Math" panose="02040503050406030204" pitchFamily="18" charset="0"/>
                      </a:rPr>
                      <m:t>′</m:t>
                    </m:r>
                  </m:oMath>
                </a14:m>
                <a:r>
                  <a:rPr lang="zh-CN" altLang="en-US" dirty="0"/>
                  <a:t>成立。</a:t>
                </a:r>
                <a:endParaRPr lang="zh-CN" altLang="en-US" dirty="0"/>
              </a:p>
              <a:p>
                <a:pPr lvl="1"/>
                <a:endParaRPr lang="zh-CN" altLang="en-US" sz="2200" i="1"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616646" cy="4957760"/>
              </a:xfrm>
              <a:blipFill rotWithShape="1">
                <a:blip r:embed="rId1"/>
                <a:stretch>
                  <a:fillRect l="-2"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616646" cy="4957760"/>
              </a:xfrm>
            </p:spPr>
            <p:txBody>
              <a:bodyPr>
                <a:normAutofit/>
              </a:bodyPr>
              <a:lstStyle/>
              <a:p>
                <a:r>
                  <a:rPr kumimoji="1" lang="zh-CN" altLang="en-US" dirty="0"/>
                  <a:t>多值依赖与函数依赖</a:t>
                </a:r>
                <a:endParaRPr lang="en-US" altLang="zh-CN" dirty="0"/>
              </a:p>
              <a:p>
                <a:pPr lvl="1"/>
                <a:r>
                  <a:rPr lang="zh-CN" altLang="en-US" dirty="0"/>
                  <a:t>有效性范围</a:t>
                </a:r>
                <a:endParaRPr lang="zh-CN" altLang="en-US" dirty="0"/>
              </a:p>
              <a:p>
                <a:pPr lvl="2">
                  <a:lnSpc>
                    <a:spcPct val="90000"/>
                  </a:lnSpc>
                  <a:spcBef>
                    <a:spcPct val="55000"/>
                  </a:spcBef>
                </a:pPr>
                <a14:m>
                  <m:oMath xmlns:m="http://schemas.openxmlformats.org/officeDocument/2006/math">
                    <m:r>
                      <a:rPr lang="en-US" altLang="zh-CN" sz="2400" i="1" dirty="0" smtClean="0">
                        <a:latin typeface="Cambria Math" panose="02040503050406030204" pitchFamily="18" charset="0"/>
                      </a:rPr>
                      <m:t>𝑋</m:t>
                    </m:r>
                    <m:r>
                      <a:rPr lang="en-US" altLang="zh-CN" sz="2400" i="1" dirty="0">
                        <a:latin typeface="Cambria Math" panose="02040503050406030204" pitchFamily="18" charset="0"/>
                        <a:sym typeface="Symbol" panose="05050102010706020507" pitchFamily="18" charset="2"/>
                      </a:rPr>
                      <m:t></m:t>
                    </m:r>
                    <m:r>
                      <a:rPr lang="en-US" altLang="zh-CN" sz="2400" i="1" dirty="0">
                        <a:latin typeface="Cambria Math" panose="02040503050406030204" pitchFamily="18" charset="0"/>
                      </a:rPr>
                      <m:t>𝑌</m:t>
                    </m:r>
                  </m:oMath>
                </a14:m>
                <a:r>
                  <a:rPr lang="zh-CN" altLang="en-US" sz="2400" dirty="0"/>
                  <a:t>的有效性与属性集范围有关 	</a:t>
                </a:r>
                <a:endParaRPr lang="zh-CN" altLang="en-US" sz="2400" dirty="0"/>
              </a:p>
              <a:p>
                <a:pPr lvl="2">
                  <a:lnSpc>
                    <a:spcPct val="90000"/>
                  </a:lnSpc>
                  <a:spcBef>
                    <a:spcPct val="55000"/>
                  </a:spcBef>
                </a:pPr>
                <a14:m>
                  <m:oMath xmlns:m="http://schemas.openxmlformats.org/officeDocument/2006/math">
                    <m:r>
                      <a:rPr lang="en-US" altLang="zh-CN" sz="2400" i="1" dirty="0" smtClean="0">
                        <a:latin typeface="Cambria Math" panose="02040503050406030204" pitchFamily="18" charset="0"/>
                      </a:rPr>
                      <m:t>𝑋</m:t>
                    </m:r>
                    <m:r>
                      <a:rPr lang="en-US" altLang="zh-CN" sz="2400" i="1" dirty="0">
                        <a:latin typeface="Cambria Math" panose="02040503050406030204" pitchFamily="18" charset="0"/>
                        <a:sym typeface="Symbol" panose="05050102010706020507" pitchFamily="18" charset="2"/>
                      </a:rPr>
                      <m:t></m:t>
                    </m:r>
                    <m:r>
                      <a:rPr lang="en-US" altLang="zh-CN" sz="2400" i="1" dirty="0">
                        <a:latin typeface="Cambria Math" panose="02040503050406030204" pitchFamily="18" charset="0"/>
                      </a:rPr>
                      <m:t>𝑌</m:t>
                    </m:r>
                    <m:r>
                      <a:rPr lang="zh-CN" altLang="en-US" sz="2400" i="1" dirty="0">
                        <a:latin typeface="Cambria Math" panose="02040503050406030204" pitchFamily="18" charset="0"/>
                      </a:rPr>
                      <m:t>在</m:t>
                    </m:r>
                  </m:oMath>
                </a14:m>
                <a:r>
                  <a:rPr lang="zh-CN" altLang="en-US" sz="2400" dirty="0"/>
                  <a:t>属性集</a:t>
                </a:r>
                <a14:m>
                  <m:oMath xmlns:m="http://schemas.openxmlformats.org/officeDocument/2006/math">
                    <m:r>
                      <a:rPr lang="en-US" altLang="zh-CN" sz="2400" i="1" dirty="0" smtClean="0">
                        <a:latin typeface="Cambria Math" panose="02040503050406030204" pitchFamily="18" charset="0"/>
                      </a:rPr>
                      <m:t>𝑊</m:t>
                    </m:r>
                    <m:r>
                      <a:rPr lang="zh-CN" altLang="en-US" sz="2400" i="1" dirty="0">
                        <a:latin typeface="Cambria Math" panose="02040503050406030204" pitchFamily="18" charset="0"/>
                      </a:rPr>
                      <m:t>（</m:t>
                    </m:r>
                    <m:r>
                      <a:rPr lang="en-US" altLang="zh-CN" sz="2400" i="1" dirty="0">
                        <a:latin typeface="Cambria Math" panose="02040503050406030204" pitchFamily="18" charset="0"/>
                      </a:rPr>
                      <m:t>𝑋𝑌</m:t>
                    </m:r>
                    <m:r>
                      <a:rPr lang="en-US" altLang="zh-CN" sz="2400" i="1" dirty="0">
                        <a:latin typeface="Cambria Math" panose="02040503050406030204" pitchFamily="18" charset="0"/>
                      </a:rPr>
                      <m:t>  </m:t>
                    </m:r>
                    <m:r>
                      <a:rPr lang="en-US" altLang="zh-CN" sz="2400" i="1" dirty="0">
                        <a:latin typeface="Cambria Math" panose="02040503050406030204" pitchFamily="18" charset="0"/>
                      </a:rPr>
                      <m:t>𝑊</m:t>
                    </m:r>
                    <m:r>
                      <a:rPr lang="en-US" altLang="zh-CN" sz="2400" i="1" dirty="0">
                        <a:latin typeface="Cambria Math" panose="02040503050406030204" pitchFamily="18" charset="0"/>
                      </a:rPr>
                      <m:t>  </m:t>
                    </m:r>
                    <m:r>
                      <a:rPr lang="en-US" altLang="zh-CN" sz="2400" i="1" dirty="0">
                        <a:latin typeface="Cambria Math" panose="02040503050406030204" pitchFamily="18" charset="0"/>
                      </a:rPr>
                      <m:t>𝑈</m:t>
                    </m:r>
                    <m:r>
                      <a:rPr lang="zh-CN" altLang="en-US" sz="2400" i="1" dirty="0">
                        <a:latin typeface="Cambria Math" panose="02040503050406030204" pitchFamily="18" charset="0"/>
                      </a:rPr>
                      <m:t>）</m:t>
                    </m:r>
                  </m:oMath>
                </a14:m>
                <a:r>
                  <a:rPr lang="zh-CN" altLang="en-US" sz="2400" dirty="0"/>
                  <a:t>上成立，但在</a:t>
                </a:r>
                <a14:m>
                  <m:oMath xmlns:m="http://schemas.openxmlformats.org/officeDocument/2006/math">
                    <m:r>
                      <a:rPr lang="en-US" altLang="zh-CN" sz="2400" i="1" dirty="0">
                        <a:latin typeface="Cambria Math" panose="02040503050406030204" pitchFamily="18" charset="0"/>
                      </a:rPr>
                      <m:t>𝑈</m:t>
                    </m:r>
                  </m:oMath>
                </a14:m>
                <a:r>
                  <a:rPr lang="zh-CN" altLang="en-US" sz="2400" dirty="0"/>
                  <a:t>上不一定成立</a:t>
                </a:r>
                <a:endParaRPr lang="zh-CN" altLang="en-US" sz="2400" dirty="0"/>
              </a:p>
              <a:p>
                <a:pPr lvl="2">
                  <a:lnSpc>
                    <a:spcPct val="90000"/>
                  </a:lnSpc>
                  <a:spcBef>
                    <a:spcPct val="55000"/>
                  </a:spcBef>
                </a:pPr>
                <a14:m>
                  <m:oMath xmlns:m="http://schemas.openxmlformats.org/officeDocument/2006/math">
                    <m:r>
                      <a:rPr lang="en-US" altLang="zh-CN" sz="2400" i="1" dirty="0" smtClean="0">
                        <a:latin typeface="Cambria Math" panose="02040503050406030204" pitchFamily="18" charset="0"/>
                      </a:rPr>
                      <m:t>𝑋</m:t>
                    </m:r>
                    <m:r>
                      <a:rPr lang="en-US" altLang="zh-CN" sz="2400" i="1" dirty="0">
                        <a:latin typeface="Cambria Math" panose="02040503050406030204" pitchFamily="18" charset="0"/>
                        <a:sym typeface="Symbol" panose="05050102010706020507" pitchFamily="18" charset="2"/>
                      </a:rPr>
                      <m:t></m:t>
                    </m:r>
                    <m:r>
                      <a:rPr lang="en-US" altLang="zh-CN" sz="2400" i="1" dirty="0">
                        <a:latin typeface="Cambria Math" panose="02040503050406030204" pitchFamily="18" charset="0"/>
                      </a:rPr>
                      <m:t>𝑌</m:t>
                    </m:r>
                  </m:oMath>
                </a14:m>
                <a:r>
                  <a:rPr lang="zh-CN" altLang="en-US" sz="2400" dirty="0"/>
                  <a:t>在</a:t>
                </a:r>
                <a14:m>
                  <m:oMath xmlns:m="http://schemas.openxmlformats.org/officeDocument/2006/math">
                    <m:r>
                      <a:rPr lang="en-US" altLang="zh-CN" sz="2400" i="1" dirty="0">
                        <a:latin typeface="Cambria Math" panose="02040503050406030204" pitchFamily="18" charset="0"/>
                      </a:rPr>
                      <m:t>𝑈</m:t>
                    </m:r>
                  </m:oMath>
                </a14:m>
                <a:r>
                  <a:rPr lang="zh-CN" altLang="en-US" sz="2400" dirty="0"/>
                  <a:t>上成立 </a:t>
                </a:r>
                <a14:m>
                  <m:oMath xmlns:m="http://schemas.openxmlformats.org/officeDocument/2006/math">
                    <m:r>
                      <a:rPr lang="zh-CN" altLang="en-US" sz="2400" i="1" dirty="0" smtClean="0">
                        <a:latin typeface="Cambria Math" panose="02040503050406030204" pitchFamily="18" charset="0"/>
                        <a:sym typeface="Symbol" panose="05050102010706020507" pitchFamily="18" charset="2"/>
                      </a:rPr>
                      <m:t> </m:t>
                    </m:r>
                    <m:r>
                      <a:rPr lang="en-US" altLang="zh-CN" sz="2400" i="1" dirty="0">
                        <a:latin typeface="Cambria Math" panose="02040503050406030204" pitchFamily="18" charset="0"/>
                      </a:rPr>
                      <m:t>𝑋</m:t>
                    </m:r>
                    <m:r>
                      <a:rPr lang="en-US" altLang="zh-CN" sz="2400" i="1" dirty="0">
                        <a:latin typeface="Cambria Math" panose="02040503050406030204" pitchFamily="18" charset="0"/>
                        <a:sym typeface="Symbol" panose="05050102010706020507" pitchFamily="18" charset="2"/>
                      </a:rPr>
                      <m:t></m:t>
                    </m:r>
                    <m:r>
                      <a:rPr lang="en-US" altLang="zh-CN" sz="2400" i="1" dirty="0">
                        <a:latin typeface="Cambria Math" panose="02040503050406030204" pitchFamily="18" charset="0"/>
                      </a:rPr>
                      <m:t>𝑌</m:t>
                    </m:r>
                  </m:oMath>
                </a14:m>
                <a:r>
                  <a:rPr lang="zh-CN" altLang="en-US" sz="2400" dirty="0"/>
                  <a:t>在属性集</a:t>
                </a:r>
                <a14:m>
                  <m:oMath xmlns:m="http://schemas.openxmlformats.org/officeDocument/2006/math">
                    <m:r>
                      <a:rPr lang="en-US" altLang="zh-CN" sz="2400" i="1" dirty="0" smtClean="0">
                        <a:latin typeface="Cambria Math" panose="02040503050406030204" pitchFamily="18" charset="0"/>
                      </a:rPr>
                      <m:t>𝑊</m:t>
                    </m:r>
                    <m:r>
                      <a:rPr lang="zh-CN" altLang="en-US" sz="2400" i="1" dirty="0">
                        <a:latin typeface="Cambria Math" panose="02040503050406030204" pitchFamily="18" charset="0"/>
                      </a:rPr>
                      <m:t>（</m:t>
                    </m:r>
                    <m:r>
                      <a:rPr lang="en-US" altLang="zh-CN" sz="2400" i="1" dirty="0">
                        <a:latin typeface="Cambria Math" panose="02040503050406030204" pitchFamily="18" charset="0"/>
                      </a:rPr>
                      <m:t>𝑋𝑌</m:t>
                    </m:r>
                    <m:r>
                      <a:rPr lang="en-US" altLang="zh-CN" sz="2400" i="1" dirty="0">
                        <a:latin typeface="Cambria Math" panose="02040503050406030204" pitchFamily="18" charset="0"/>
                      </a:rPr>
                      <m:t>  </m:t>
                    </m:r>
                    <m:r>
                      <a:rPr lang="en-US" altLang="zh-CN" sz="2400" i="1" dirty="0">
                        <a:latin typeface="Cambria Math" panose="02040503050406030204" pitchFamily="18" charset="0"/>
                      </a:rPr>
                      <m:t>𝑊</m:t>
                    </m:r>
                    <m:r>
                      <a:rPr lang="en-US" altLang="zh-CN" sz="2400" i="1" dirty="0">
                        <a:latin typeface="Cambria Math" panose="02040503050406030204" pitchFamily="18" charset="0"/>
                      </a:rPr>
                      <m:t>  </m:t>
                    </m:r>
                    <m:r>
                      <a:rPr lang="en-US" altLang="zh-CN" sz="2400" i="1" dirty="0">
                        <a:latin typeface="Cambria Math" panose="02040503050406030204" pitchFamily="18" charset="0"/>
                      </a:rPr>
                      <m:t>𝑈</m:t>
                    </m:r>
                    <m:r>
                      <a:rPr lang="zh-CN" altLang="en-US" sz="2400" i="1" dirty="0">
                        <a:latin typeface="Cambria Math" panose="02040503050406030204" pitchFamily="18" charset="0"/>
                      </a:rPr>
                      <m:t>）</m:t>
                    </m:r>
                  </m:oMath>
                </a14:m>
                <a:r>
                  <a:rPr lang="zh-CN" altLang="en-US" sz="2400" dirty="0"/>
                  <a:t>上成立</a:t>
                </a:r>
                <a:endParaRPr lang="zh-CN" altLang="en-US" sz="2400" dirty="0"/>
              </a:p>
              <a:p>
                <a:pPr lvl="1"/>
                <a:endParaRPr lang="zh-CN" altLang="en-US" sz="2200" i="1"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616646" cy="4957760"/>
              </a:xfrm>
              <a:blipFill rotWithShape="1">
                <a:blip r:embed="rId1"/>
                <a:stretch>
                  <a:fillRect l="-2"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616646" cy="4957760"/>
              </a:xfrm>
            </p:spPr>
            <p:txBody>
              <a:bodyPr>
                <a:normAutofit/>
              </a:bodyPr>
              <a:lstStyle/>
              <a:p>
                <a:r>
                  <a:rPr kumimoji="1" lang="zh-CN" altLang="en-US" dirty="0"/>
                  <a:t>嵌入型多值依赖</a:t>
                </a:r>
                <a:endParaRPr lang="en-US" altLang="zh-CN" dirty="0"/>
              </a:p>
              <a:p>
                <a:pPr lvl="1"/>
                <a:r>
                  <a:rPr lang="zh-CN" altLang="en-US" dirty="0"/>
                  <a:t>若函数依赖</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oMath>
                </a14:m>
                <a:r>
                  <a:rPr lang="zh-CN" altLang="en-US" dirty="0"/>
                  <a:t>在</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𝑈</m:t>
                    </m:r>
                    <m:r>
                      <a:rPr lang="en-US" altLang="zh-CN" i="1" dirty="0" smtClean="0">
                        <a:latin typeface="Cambria Math" panose="02040503050406030204" pitchFamily="18" charset="0"/>
                      </a:rPr>
                      <m:t>)</m:t>
                    </m:r>
                  </m:oMath>
                </a14:m>
                <a:r>
                  <a:rPr lang="zh-CN" altLang="en-US" dirty="0"/>
                  <a:t>上成立，则对于任何</a:t>
                </a:r>
                <a14:m>
                  <m:oMath xmlns:m="http://schemas.openxmlformats.org/officeDocument/2006/math">
                    <m:r>
                      <a:rPr lang="en-US" altLang="zh-CN" i="1" dirty="0" smtClean="0">
                        <a:latin typeface="Cambria Math" panose="02040503050406030204" pitchFamily="18" charset="0"/>
                      </a:rPr>
                      <m:t>𝑌</m:t>
                    </m:r>
                    <m:r>
                      <a:rPr lang="en-US" altLang="zh-CN" b="0" i="1" dirty="0" smtClean="0">
                        <a:latin typeface="Cambria Math" panose="02040503050406030204" pitchFamily="18" charset="0"/>
                      </a:rPr>
                      <m:t>′</m:t>
                    </m:r>
                    <m:r>
                      <a:rPr lang="en-US" altLang="zh-CN" i="1" dirty="0">
                        <a:latin typeface="Cambria Math" panose="02040503050406030204" pitchFamily="18" charset="0"/>
                      </a:rPr>
                      <m:t> </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rPr>
                      <m:t>𝑌</m:t>
                    </m:r>
                  </m:oMath>
                </a14:m>
                <a:r>
                  <a:rPr lang="zh-CN" altLang="en-US" dirty="0"/>
                  <a:t>均有</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r>
                      <a:rPr lang="en-US" altLang="zh-CN" b="0" i="1" dirty="0" smtClean="0">
                        <a:latin typeface="Cambria Math" panose="02040503050406030204" pitchFamily="18" charset="0"/>
                      </a:rPr>
                      <m:t>′</m:t>
                    </m:r>
                  </m:oMath>
                </a14:m>
                <a:r>
                  <a:rPr lang="zh-CN" altLang="en-US" dirty="0"/>
                  <a:t>成立。而多值依赖</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oMath>
                </a14:m>
                <a:r>
                  <a:rPr lang="zh-CN" altLang="en-US" dirty="0"/>
                  <a:t>若在</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𝑈</m:t>
                    </m:r>
                    <m:r>
                      <a:rPr lang="en-US" altLang="zh-CN" i="1" dirty="0" smtClean="0">
                        <a:latin typeface="Cambria Math" panose="02040503050406030204" pitchFamily="18" charset="0"/>
                      </a:rPr>
                      <m:t>)</m:t>
                    </m:r>
                  </m:oMath>
                </a14:m>
                <a:r>
                  <a:rPr lang="zh-CN" altLang="en-US" dirty="0"/>
                  <a:t>上成立，我们却不能断言对于任何  </a:t>
                </a:r>
                <a14:m>
                  <m:oMath xmlns:m="http://schemas.openxmlformats.org/officeDocument/2006/math">
                    <m:r>
                      <a:rPr lang="en-US" altLang="zh-CN" i="1" dirty="0" smtClean="0">
                        <a:latin typeface="Cambria Math" panose="02040503050406030204" pitchFamily="18" charset="0"/>
                      </a:rPr>
                      <m:t>𝑌</m:t>
                    </m:r>
                    <m:r>
                      <a:rPr lang="en-US" altLang="zh-CN" b="0" i="1" dirty="0" smtClean="0">
                        <a:latin typeface="Cambria Math" panose="02040503050406030204" pitchFamily="18" charset="0"/>
                      </a:rPr>
                      <m:t>′</m:t>
                    </m:r>
                    <m:r>
                      <a:rPr lang="en-US" altLang="zh-CN" i="1" dirty="0">
                        <a:latin typeface="Cambria Math" panose="02040503050406030204" pitchFamily="18" charset="0"/>
                      </a:rPr>
                      <m:t> </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rPr>
                      <m:t> </m:t>
                    </m:r>
                    <m:r>
                      <a:rPr lang="en-US" altLang="zh-CN" i="1" dirty="0">
                        <a:latin typeface="Cambria Math" panose="02040503050406030204" pitchFamily="18" charset="0"/>
                      </a:rPr>
                      <m:t>𝑌</m:t>
                    </m:r>
                  </m:oMath>
                </a14:m>
                <a:r>
                  <a:rPr lang="zh-CN" altLang="en-US" dirty="0"/>
                  <a:t>有</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r>
                      <a:rPr lang="en-US" altLang="zh-CN" b="0" i="1" dirty="0" smtClean="0">
                        <a:latin typeface="Cambria Math" panose="02040503050406030204" pitchFamily="18" charset="0"/>
                      </a:rPr>
                      <m:t>′</m:t>
                    </m:r>
                  </m:oMath>
                </a14:m>
                <a:r>
                  <a:rPr lang="zh-CN" altLang="en-US" dirty="0"/>
                  <a:t>成立。因此有</a:t>
                </a:r>
                <a:r>
                  <a:rPr lang="en-US" altLang="zh-CN" dirty="0"/>
                  <a:t>: </a:t>
                </a:r>
                <a:endParaRPr lang="en-US" altLang="zh-CN" dirty="0"/>
              </a:p>
              <a:p>
                <a:pPr lvl="1"/>
                <a:r>
                  <a:rPr lang="zh-CN" altLang="en-US" dirty="0"/>
                  <a:t>定义</a:t>
                </a:r>
                <a:r>
                  <a:rPr lang="en-US" altLang="zh-CN" dirty="0"/>
                  <a:t>4.13</a:t>
                </a:r>
                <a:r>
                  <a:rPr lang="zh-CN" altLang="en-US" dirty="0"/>
                  <a:t>：设关系模式</a:t>
                </a:r>
                <a14:m>
                  <m:oMath xmlns:m="http://schemas.openxmlformats.org/officeDocument/2006/math">
                    <m:r>
                      <a:rPr lang="en-US" altLang="zh-CN" i="1" dirty="0" smtClean="0">
                        <a:latin typeface="Cambria Math" panose="02040503050406030204" pitchFamily="18" charset="0"/>
                      </a:rPr>
                      <m:t>𝑅</m:t>
                    </m:r>
                    <m:r>
                      <a:rPr lang="en-US" altLang="zh-CN" b="0" i="1" dirty="0" smtClean="0">
                        <a:latin typeface="Cambria Math" panose="02040503050406030204" pitchFamily="18" charset="0"/>
                      </a:rPr>
                      <m:t>(</m:t>
                    </m:r>
                    <m:r>
                      <a:rPr lang="en-US" altLang="zh-CN" i="1" dirty="0">
                        <a:latin typeface="Cambria Math" panose="02040503050406030204" pitchFamily="18" charset="0"/>
                      </a:rPr>
                      <m:t>𝑈</m:t>
                    </m:r>
                    <m:r>
                      <a:rPr lang="en-US" altLang="zh-CN" b="0" i="1" dirty="0" smtClean="0">
                        <a:latin typeface="Cambria Math" panose="02040503050406030204" pitchFamily="18" charset="0"/>
                      </a:rPr>
                      <m:t>)</m:t>
                    </m:r>
                  </m:oMath>
                </a14:m>
                <a:r>
                  <a:rPr lang="zh-CN" altLang="en-US" dirty="0"/>
                  <a:t>，</a:t>
                </a:r>
                <a14:m>
                  <m:oMath xmlns:m="http://schemas.openxmlformats.org/officeDocument/2006/math">
                    <m:r>
                      <a:rPr lang="en-US" altLang="zh-CN" i="1" dirty="0" smtClean="0">
                        <a:latin typeface="Cambria Math" panose="02040503050406030204" pitchFamily="18" charset="0"/>
                      </a:rPr>
                      <m:t>𝑋</m:t>
                    </m:r>
                    <m:r>
                      <a:rPr lang="zh-CN" altLang="en-US" i="1" dirty="0">
                        <a:latin typeface="Cambria Math" panose="02040503050406030204" pitchFamily="18" charset="0"/>
                      </a:rPr>
                      <m:t>和</m:t>
                    </m:r>
                    <m:r>
                      <a:rPr lang="en-US" altLang="zh-CN" i="1" dirty="0">
                        <a:latin typeface="Cambria Math" panose="02040503050406030204" pitchFamily="18" charset="0"/>
                      </a:rPr>
                      <m:t>𝑌</m:t>
                    </m:r>
                  </m:oMath>
                </a14:m>
                <a:r>
                  <a:rPr lang="zh-CN" altLang="en-US" dirty="0"/>
                  <a:t>是属性集</a:t>
                </a:r>
                <a14:m>
                  <m:oMath xmlns:m="http://schemas.openxmlformats.org/officeDocument/2006/math">
                    <m:r>
                      <a:rPr lang="en-US" altLang="zh-CN" i="1" dirty="0">
                        <a:latin typeface="Cambria Math" panose="02040503050406030204" pitchFamily="18" charset="0"/>
                      </a:rPr>
                      <m:t>𝑈</m:t>
                    </m:r>
                  </m:oMath>
                </a14:m>
                <a:r>
                  <a:rPr lang="zh-CN" altLang="en-US" dirty="0"/>
                  <a:t>的子集，</a:t>
                </a:r>
                <a:r>
                  <a:rPr lang="en-US" altLang="zh-CN" dirty="0"/>
                  <a:t> </a:t>
                </a:r>
                <a14:m>
                  <m:oMath xmlns:m="http://schemas.openxmlformats.org/officeDocument/2006/math">
                    <m:r>
                      <a:rPr lang="en-US" altLang="zh-CN" b="0" i="1" smtClean="0">
                        <a:latin typeface="Cambria Math" panose="02040503050406030204" pitchFamily="18" charset="0"/>
                      </a:rPr>
                      <m:t>𝑊</m:t>
                    </m:r>
                  </m:oMath>
                </a14:m>
                <a:r>
                  <a:rPr lang="zh-CN" altLang="en-US" dirty="0"/>
                  <a:t>是</a:t>
                </a:r>
                <a14:m>
                  <m:oMath xmlns:m="http://schemas.openxmlformats.org/officeDocument/2006/math">
                    <m:r>
                      <a:rPr lang="en-US" altLang="zh-CN" i="1" dirty="0">
                        <a:latin typeface="Cambria Math" panose="02040503050406030204" pitchFamily="18" charset="0"/>
                      </a:rPr>
                      <m:t>𝑈</m:t>
                    </m:r>
                  </m:oMath>
                </a14:m>
                <a:r>
                  <a:rPr lang="zh-CN" altLang="en-US" dirty="0"/>
                  <a:t>的真子集，并且</a:t>
                </a:r>
                <a14:m>
                  <m:oMath xmlns:m="http://schemas.openxmlformats.org/officeDocument/2006/math">
                    <m:r>
                      <a:rPr lang="en-US" altLang="zh-CN" i="1" dirty="0" smtClean="0">
                        <a:latin typeface="Cambria Math" panose="02040503050406030204" pitchFamily="18" charset="0"/>
                      </a:rPr>
                      <m:t>𝑋𝑌</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rPr>
                      <m:t>𝑊</m:t>
                    </m:r>
                  </m:oMath>
                </a14:m>
                <a:r>
                  <a:rPr lang="zh-CN" altLang="en-US" dirty="0"/>
                  <a:t>。如果</a:t>
                </a:r>
                <a14:m>
                  <m:oMath xmlns:m="http://schemas.openxmlformats.org/officeDocument/2006/math">
                    <m:r>
                      <a:rPr lang="en-US" altLang="zh-CN" i="1" dirty="0" smtClean="0">
                        <a:latin typeface="Cambria Math" panose="02040503050406030204" pitchFamily="18" charset="0"/>
                      </a:rPr>
                      <m:t>𝑀𝑉𝐷</m:t>
                    </m:r>
                    <m:r>
                      <a:rPr lang="en-US" altLang="zh-CN" i="1" dirty="0" smtClean="0">
                        <a:latin typeface="Cambria Math" panose="02040503050406030204" pitchFamily="18" charset="0"/>
                      </a:rPr>
                      <m:t> </m:t>
                    </m:r>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oMath>
                </a14:m>
                <a:r>
                  <a:rPr lang="zh-CN" altLang="en-US" dirty="0"/>
                  <a:t>在模式</a:t>
                </a:r>
                <a14:m>
                  <m:oMath xmlns:m="http://schemas.openxmlformats.org/officeDocument/2006/math">
                    <m:r>
                      <a:rPr lang="en-US" altLang="zh-CN" i="1" dirty="0">
                        <a:latin typeface="Cambria Math" panose="02040503050406030204" pitchFamily="18" charset="0"/>
                      </a:rPr>
                      <m:t>𝑅</m:t>
                    </m:r>
                  </m:oMath>
                </a14:m>
                <a:r>
                  <a:rPr lang="zh-CN" altLang="en-US" dirty="0"/>
                  <a:t>上不成立，但在模式</a:t>
                </a:r>
                <a14:m>
                  <m:oMath xmlns:m="http://schemas.openxmlformats.org/officeDocument/2006/math">
                    <m:r>
                      <a:rPr lang="en-US" altLang="zh-CN" i="1">
                        <a:latin typeface="Cambria Math" panose="02040503050406030204" pitchFamily="18" charset="0"/>
                      </a:rPr>
                      <m:t>𝑊</m:t>
                    </m:r>
                  </m:oMath>
                </a14:m>
                <a:r>
                  <a:rPr lang="zh-CN" altLang="en-US" dirty="0"/>
                  <a:t>上成立，则称</a:t>
                </a:r>
                <a14:m>
                  <m:oMath xmlns:m="http://schemas.openxmlformats.org/officeDocument/2006/math">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𝑌</m:t>
                    </m:r>
                  </m:oMath>
                </a14:m>
                <a:r>
                  <a:rPr lang="zh-CN" altLang="en-US" dirty="0"/>
                  <a:t>为</a:t>
                </a:r>
                <a14:m>
                  <m:oMath xmlns:m="http://schemas.openxmlformats.org/officeDocument/2006/math">
                    <m:r>
                      <a:rPr lang="en-US" altLang="zh-CN" i="1" dirty="0">
                        <a:latin typeface="Cambria Math" panose="02040503050406030204" pitchFamily="18" charset="0"/>
                      </a:rPr>
                      <m:t>𝑅</m:t>
                    </m:r>
                  </m:oMath>
                </a14:m>
                <a:r>
                  <a:rPr lang="zh-CN" altLang="en-US" dirty="0"/>
                  <a:t>上的嵌入型多值依赖（</a:t>
                </a:r>
                <a:r>
                  <a:rPr lang="en-US" altLang="zh-CN" dirty="0"/>
                  <a:t>Embedded MVD</a:t>
                </a:r>
                <a:r>
                  <a:rPr lang="zh-CN" altLang="en-US" dirty="0"/>
                  <a:t>，简记为</a:t>
                </a:r>
                <a:r>
                  <a:rPr lang="en-US" altLang="zh-CN" dirty="0" err="1"/>
                  <a:t>eMVD</a:t>
                </a:r>
                <a:r>
                  <a:rPr lang="zh-CN" altLang="en-US" dirty="0"/>
                  <a:t>），用符号</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m:t>
                        </m:r>
                        <m:r>
                          <a:rPr lang="en-US" altLang="zh-CN" i="1" dirty="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𝑌</m:t>
                        </m:r>
                        <m:r>
                          <a:rPr lang="en-US" altLang="zh-CN" b="0" i="1" dirty="0" smtClean="0">
                            <a:latin typeface="Cambria Math" panose="02040503050406030204" pitchFamily="18" charset="0"/>
                          </a:rPr>
                          <m:t>)</m:t>
                        </m:r>
                      </m:e>
                      <m:sub>
                        <m:r>
                          <a:rPr lang="en-US" altLang="zh-CN" b="0" i="1" dirty="0" smtClean="0">
                            <a:latin typeface="Cambria Math" panose="02040503050406030204" pitchFamily="18" charset="0"/>
                          </a:rPr>
                          <m:t>𝑊</m:t>
                        </m:r>
                      </m:sub>
                    </m:sSub>
                  </m:oMath>
                </a14:m>
                <a:r>
                  <a:rPr lang="zh-CN" altLang="en-US" dirty="0"/>
                  <a:t>表示 </a:t>
                </a:r>
                <a:endParaRPr lang="zh-CN" altLang="en-US" dirty="0"/>
              </a:p>
              <a:p>
                <a:pPr lvl="1"/>
                <a:endParaRPr lang="zh-CN" altLang="en-US" sz="2200" i="1"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616646" cy="4957760"/>
              </a:xfrm>
              <a:blipFill rotWithShape="1">
                <a:blip r:embed="rId1"/>
                <a:stretch>
                  <a:fillRect l="-2"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4.2 </a:t>
            </a:r>
            <a:r>
              <a:rPr lang="zh-CN" altLang="en-US" dirty="0"/>
              <a:t>数据依赖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graphicFrame>
        <p:nvGraphicFramePr>
          <p:cNvPr id="9" name="Group 258"/>
          <p:cNvGraphicFramePr/>
          <p:nvPr/>
        </p:nvGraphicFramePr>
        <p:xfrm>
          <a:off x="2172595" y="1578935"/>
          <a:ext cx="7086600" cy="3959226"/>
        </p:xfrm>
        <a:graphic>
          <a:graphicData uri="http://schemas.openxmlformats.org/drawingml/2006/table">
            <a:tbl>
              <a:tblPr/>
              <a:tblGrid>
                <a:gridCol w="1771650"/>
                <a:gridCol w="1771650"/>
                <a:gridCol w="1771650"/>
                <a:gridCol w="1771650"/>
              </a:tblGrid>
              <a:tr h="94932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Grade</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6921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PC1</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S1</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080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PC2</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S1</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80</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175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PC1</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S2</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90</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921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cap="flat">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PC2</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S2</a:t>
                      </a:r>
                      <a:endParaRPr kumimoji="0" lang="en-US" altLang="zh-CN" sz="2400" b="0" i="0" u="none" strike="noStrike" cap="none" normalizeH="0" baseline="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cs typeface="Times New Roman" panose="02020603050405020304" pitchFamily="18" charset="0"/>
                        </a:rPr>
                        <a:t>90</a:t>
                      </a:r>
                      <a:endParaRPr kumimoji="0" lang="en-US" altLang="zh-CN" sz="2400" b="0" i="0" u="none" strike="noStrike" cap="none" normalizeH="0" baseline="0" dirty="0">
                        <a:ln>
                          <a:noFill/>
                        </a:ln>
                        <a:solidFill>
                          <a:schemeClr val="accent2"/>
                        </a:solidFill>
                        <a:effectLst/>
                        <a:latin typeface="Arial" panose="020B0604020202020204" pitchFamily="34" charset="0"/>
                        <a:ea typeface="宋体" panose="02010600030101010101" pitchFamily="2" charset="-122"/>
                      </a:endParaRPr>
                    </a:p>
                  </a:txBody>
                  <a:tcPr marL="90000" marR="90000" marT="46800" marB="46800" anchor="ctr" horzOverflow="overflow">
                    <a:lnL>
                      <a:noFill/>
                    </a:lnL>
                    <a:lnR cap="flat">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616646" cy="4957760"/>
          </a:xfrm>
        </p:spPr>
        <p:txBody>
          <a:bodyPr>
            <a:normAutofit/>
          </a:bodyPr>
          <a:lstStyle/>
          <a:p>
            <a:r>
              <a:rPr lang="zh-CN" altLang="en-US" dirty="0"/>
              <a:t>关系模式分解</a:t>
            </a:r>
            <a:endParaRPr lang="en-US" altLang="zh-CN" dirty="0"/>
          </a:p>
          <a:p>
            <a:pPr lvl="1">
              <a:lnSpc>
                <a:spcPct val="150000"/>
              </a:lnSpc>
            </a:pPr>
            <a:r>
              <a:rPr lang="zh-CN" altLang="en-US" dirty="0"/>
              <a:t>我们可以通过把一个“大的”关系模式分解成多个“小的”关系模式，以解决插入异常、删除异常和更新异常等问题</a:t>
            </a:r>
            <a:endParaRPr lang="zh-CN" altLang="en-US" dirty="0"/>
          </a:p>
          <a:p>
            <a:pPr marL="650875" lvl="1" indent="-193675">
              <a:lnSpc>
                <a:spcPct val="150000"/>
              </a:lnSpc>
            </a:pPr>
            <a:r>
              <a:rPr lang="zh-CN" altLang="en-US" dirty="0"/>
              <a:t>实际上，关系模式的分解，不仅仅是属性集合的分解，也是对关系模式上的</a:t>
            </a:r>
            <a:r>
              <a:rPr lang="zh-CN" altLang="en-US" u="sng" dirty="0"/>
              <a:t>函数依赖集</a:t>
            </a:r>
            <a:r>
              <a:rPr lang="zh-CN" altLang="en-US" dirty="0"/>
              <a:t>，以及</a:t>
            </a:r>
            <a:r>
              <a:rPr lang="zh-CN" altLang="en-US" u="sng" dirty="0"/>
              <a:t>关系模式的当前值</a:t>
            </a:r>
            <a:r>
              <a:rPr lang="zh-CN" altLang="en-US" dirty="0"/>
              <a:t>的分解的具体表现</a:t>
            </a:r>
            <a:endParaRPr lang="zh-CN" altLang="en-US" dirty="0"/>
          </a:p>
          <a:p>
            <a:pPr marL="650875" lvl="1" indent="-193675">
              <a:lnSpc>
                <a:spcPct val="150000"/>
              </a:lnSpc>
            </a:pPr>
            <a:r>
              <a:rPr lang="zh-CN" altLang="en-US" dirty="0"/>
              <a:t>关系模式的分解并不是随意的，必须保证原来的关系模式的语义性质和信息不被丢失，即要求分解应当既“</a:t>
            </a:r>
            <a:r>
              <a:rPr lang="zh-CN" altLang="en-US" dirty="0">
                <a:solidFill>
                  <a:srgbClr val="FF9933"/>
                </a:solidFill>
              </a:rPr>
              <a:t>无损联接</a:t>
            </a:r>
            <a:r>
              <a:rPr lang="zh-CN" altLang="en-US" dirty="0"/>
              <a:t>”又“</a:t>
            </a:r>
            <a:r>
              <a:rPr lang="zh-CN" altLang="en-US" dirty="0">
                <a:solidFill>
                  <a:srgbClr val="FF9933"/>
                </a:solidFill>
              </a:rPr>
              <a:t>保持函数依赖</a:t>
            </a:r>
            <a:r>
              <a:rPr lang="zh-CN" altLang="en-US" dirty="0"/>
              <a:t>”</a:t>
            </a:r>
            <a:endParaRPr lang="zh-CN" altLang="en-US" dirty="0"/>
          </a:p>
          <a:p>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9" name="文本框 8"/>
          <p:cNvSpPr txBox="1"/>
          <p:nvPr/>
        </p:nvSpPr>
        <p:spPr>
          <a:xfrm>
            <a:off x="1457619" y="1117027"/>
            <a:ext cx="835415" cy="430887"/>
          </a:xfrm>
          <a:prstGeom prst="rect">
            <a:avLst/>
          </a:prstGeom>
          <a:noFill/>
        </p:spPr>
        <p:txBody>
          <a:bodyPr wrap="square">
            <a:spAutoFit/>
          </a:bodyPr>
          <a:lstStyle/>
          <a:p>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SCT</a:t>
            </a:r>
            <a:endParaRPr lang="zh-CN" altLang="en-US" sz="2200" dirty="0">
              <a:latin typeface="微软雅黑" panose="020B0503020204020204" pitchFamily="34" charset="-122"/>
              <a:ea typeface="微软雅黑" panose="020B0503020204020204" pitchFamily="34" charset="-122"/>
            </a:endParaRPr>
          </a:p>
        </p:txBody>
      </p:sp>
      <p:graphicFrame>
        <p:nvGraphicFramePr>
          <p:cNvPr id="10" name="Group 291"/>
          <p:cNvGraphicFramePr>
            <a:graphicFrameLocks noGrp="1"/>
          </p:cNvGraphicFramePr>
          <p:nvPr/>
        </p:nvGraphicFramePr>
        <p:xfrm>
          <a:off x="2475014" y="1226441"/>
          <a:ext cx="6481762" cy="1889760"/>
        </p:xfrm>
        <a:graphic>
          <a:graphicData uri="http://schemas.openxmlformats.org/drawingml/2006/table">
            <a:tbl>
              <a:tblPr/>
              <a:tblGrid>
                <a:gridCol w="1211262"/>
                <a:gridCol w="1363663"/>
                <a:gridCol w="1187450"/>
                <a:gridCol w="1363662"/>
                <a:gridCol w="1355725"/>
              </a:tblGrid>
              <a:tr h="24273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S#</a:t>
                      </a:r>
                      <a:endPar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a:t>
                      </a:r>
                      <a:endPar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Grade</a:t>
                      </a:r>
                      <a:endPar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Teacher</a:t>
                      </a:r>
                      <a:endPar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Dept</a:t>
                      </a:r>
                      <a:endPar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254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02055019</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02055019</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02055037</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02055066</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02055066</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01</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03</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01</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03</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89</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86</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68</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92</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73</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cs typeface="Times New Roman" panose="02020603050405020304" pitchFamily="18" charset="0"/>
                        </a:rPr>
                        <a:t>刘朝</a:t>
                      </a:r>
                      <a:endParaRPr kumimoji="0" lang="zh-CN" altLang="en-US" sz="16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张莹</a:t>
                      </a:r>
                      <a:endParaRPr kumimoji="0" lang="zh-CN" altLang="en-US" sz="1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cs typeface="Times New Roman" panose="02020603050405020304" pitchFamily="18" charset="0"/>
                        </a:rPr>
                        <a:t>刘朝</a:t>
                      </a:r>
                      <a:endParaRPr kumimoji="0" lang="zh-CN" altLang="en-US" sz="16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林琳</a:t>
                      </a:r>
                      <a:endPar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张莹</a:t>
                      </a:r>
                      <a:endParaRPr kumimoji="0" lang="zh-CN" altLang="en-US" sz="1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计算机</a:t>
                      </a:r>
                      <a:endPar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计算机</a:t>
                      </a:r>
                      <a:endPar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计算机</a:t>
                      </a:r>
                      <a:endPar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计算机</a:t>
                      </a:r>
                      <a:endPar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计算机</a:t>
                      </a:r>
                      <a:endPar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2" name="表格 11"/>
          <p:cNvGraphicFramePr>
            <a:graphicFrameLocks noGrp="1"/>
          </p:cNvGraphicFramePr>
          <p:nvPr/>
        </p:nvGraphicFramePr>
        <p:xfrm>
          <a:off x="1733445" y="4352131"/>
          <a:ext cx="3096343" cy="1889760"/>
        </p:xfrm>
        <a:graphic>
          <a:graphicData uri="http://schemas.openxmlformats.org/drawingml/2006/table">
            <a:tbl>
              <a:tblPr/>
              <a:tblGrid>
                <a:gridCol w="996839"/>
                <a:gridCol w="1122262"/>
                <a:gridCol w="977242"/>
              </a:tblGrid>
              <a:tr h="242736">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S#</a:t>
                      </a:r>
                      <a:endPar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a:t>
                      </a:r>
                      <a:endPar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Grade</a:t>
                      </a:r>
                      <a:endParaRPr kumimoji="0"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2541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02055019</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02055019</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02055037</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02055066</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02055066</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01</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03</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01</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03</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89</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86</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68</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92</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73</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3" name="表格 12"/>
          <p:cNvGraphicFramePr>
            <a:graphicFrameLocks noGrp="1"/>
          </p:cNvGraphicFramePr>
          <p:nvPr/>
        </p:nvGraphicFramePr>
        <p:xfrm>
          <a:off x="5363843" y="4348070"/>
          <a:ext cx="1872208" cy="1402080"/>
        </p:xfrm>
        <a:graphic>
          <a:graphicData uri="http://schemas.openxmlformats.org/drawingml/2006/table">
            <a:tbl>
              <a:tblPr/>
              <a:tblGrid>
                <a:gridCol w="936104"/>
                <a:gridCol w="936104"/>
              </a:tblGrid>
              <a:tr h="21535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a:t>
                      </a:r>
                      <a:endPar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Teacher</a:t>
                      </a:r>
                      <a:endPar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22877">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01</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02</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CS</a:t>
                      </a: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03</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cs typeface="Times New Roman" panose="02020603050405020304" pitchFamily="18" charset="0"/>
                        </a:rPr>
                        <a:t>刘朝</a:t>
                      </a:r>
                      <a:endParaRPr kumimoji="0" lang="zh-CN" altLang="en-US" sz="16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林琳</a:t>
                      </a:r>
                      <a:endPar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张莹</a:t>
                      </a:r>
                      <a:endParaRPr kumimoji="0" lang="zh-CN" altLang="en-US" sz="1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4" name="表格 13"/>
          <p:cNvGraphicFramePr>
            <a:graphicFrameLocks noGrp="1"/>
          </p:cNvGraphicFramePr>
          <p:nvPr/>
        </p:nvGraphicFramePr>
        <p:xfrm>
          <a:off x="7740107" y="4381188"/>
          <a:ext cx="2202249" cy="1411179"/>
        </p:xfrm>
        <a:graphic>
          <a:graphicData uri="http://schemas.openxmlformats.org/drawingml/2006/table">
            <a:tbl>
              <a:tblPr/>
              <a:tblGrid>
                <a:gridCol w="1104338"/>
                <a:gridCol w="1097911"/>
              </a:tblGrid>
              <a:tr h="32052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Teacher</a:t>
                      </a:r>
                      <a:endPar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Dept</a:t>
                      </a:r>
                      <a:endParaRPr kumimoji="0"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758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cs typeface="Times New Roman" panose="02020603050405020304" pitchFamily="18" charset="0"/>
                        </a:rPr>
                        <a:t>刘朝</a:t>
                      </a:r>
                      <a:endParaRPr kumimoji="0" lang="zh-CN" altLang="en-US" sz="16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林琳</a:t>
                      </a:r>
                      <a:endParaRPr kumimoji="0" lang="zh-CN" altLang="en-US"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rPr>
                        <a:t>张莹</a:t>
                      </a:r>
                      <a:endParaRPr kumimoji="0" lang="zh-CN" altLang="en-US" sz="16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计算机</a:t>
                      </a:r>
                      <a:endPar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计算机</a:t>
                      </a:r>
                      <a:endPar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rPr>
                        <a:t>计算机</a:t>
                      </a:r>
                      <a:endParaRPr kumimoji="0" lang="zh-CN" altLang="en-US" sz="1600" b="0" i="0" u="none" strike="noStrike" cap="none" normalizeH="0" baseline="0" dirty="0">
                        <a:ln>
                          <a:noFill/>
                        </a:ln>
                        <a:solidFill>
                          <a:srgbClr val="3366FF"/>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Arial" panose="020B0604020202020204"/>
                          <a:ea typeface="黑体" panose="02010609060101010101" pitchFamily="49" charset="-122"/>
                          <a:cs typeface="Times New Roman" panose="02020603050405020304" pitchFamily="18" charset="0"/>
                        </a:rPr>
                        <a:t>…</a:t>
                      </a:r>
                      <a:endParaRPr kumimoji="0" lang="en-US" altLang="zh-CN" sz="16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5" name="箭头: 下 7"/>
          <p:cNvSpPr/>
          <p:nvPr/>
        </p:nvSpPr>
        <p:spPr bwMode="auto">
          <a:xfrm>
            <a:off x="5723883" y="3337199"/>
            <a:ext cx="648072" cy="576064"/>
          </a:xfrm>
          <a:prstGeom prst="downArrow">
            <a:avLst/>
          </a:prstGeom>
          <a:solidFill>
            <a:schemeClr val="accent2">
              <a:lumMod val="60000"/>
              <a:lumOff val="40000"/>
            </a:schemeClr>
          </a:solidFill>
          <a:ln>
            <a:noFill/>
          </a:ln>
        </p:spPr>
        <p:txBody>
          <a:bodyPr vert="horz" wrap="square" lIns="91440" tIns="45720" rIns="91440" bIns="45720" numCol="1" rtlCol="0" anchor="t" anchorCtr="0" compatLnSpc="1"/>
          <a:lstStyle/>
          <a:p>
            <a:pPr marL="609600" marR="0" indent="-609600" algn="l" defTabSz="914400" rtl="0" eaLnBrk="1" fontAlgn="base" latinLnBrk="0" hangingPunct="1">
              <a:lnSpc>
                <a:spcPct val="160000"/>
              </a:lnSpc>
              <a:spcBef>
                <a:spcPct val="20000"/>
              </a:spcBef>
              <a:spcAft>
                <a:spcPct val="0"/>
              </a:spcAft>
              <a:buClrTx/>
              <a:buSzTx/>
              <a:buFontTx/>
              <a:buNone/>
            </a:pPr>
            <a:endParaRPr kumimoji="0" lang="zh-CN" altLang="en-US" sz="36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文本框 15"/>
          <p:cNvSpPr txBox="1"/>
          <p:nvPr/>
        </p:nvSpPr>
        <p:spPr>
          <a:xfrm>
            <a:off x="1551290" y="3788568"/>
            <a:ext cx="648072" cy="430887"/>
          </a:xfrm>
          <a:prstGeom prst="rect">
            <a:avLst/>
          </a:prstGeom>
          <a:noFill/>
        </p:spPr>
        <p:txBody>
          <a:bodyPr wrap="square">
            <a:spAutoFit/>
          </a:bodyPr>
          <a:lstStyle/>
          <a:p>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SC</a:t>
            </a:r>
            <a:endParaRPr lang="zh-CN" altLang="en-US" sz="2200"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5105810" y="3788569"/>
            <a:ext cx="648072" cy="430887"/>
          </a:xfrm>
          <a:prstGeom prst="rect">
            <a:avLst/>
          </a:prstGeom>
          <a:noFill/>
        </p:spPr>
        <p:txBody>
          <a:bodyPr wrap="square">
            <a:spAutoFit/>
          </a:bodyPr>
          <a:lstStyle/>
          <a:p>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CT</a:t>
            </a:r>
            <a:endParaRPr lang="zh-CN" altLang="en-US" sz="2200"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7812115" y="3788569"/>
            <a:ext cx="648072" cy="430887"/>
          </a:xfrm>
          <a:prstGeom prst="rect">
            <a:avLst/>
          </a:prstGeom>
          <a:noFill/>
        </p:spPr>
        <p:txBody>
          <a:bodyPr wrap="square">
            <a:spAutoFit/>
          </a:bodyPr>
          <a:lstStyle/>
          <a:p>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TD</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7" grpId="0"/>
      <p:bldP spid="1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pic>
        <p:nvPicPr>
          <p:cNvPr id="9" name="图片 8"/>
          <p:cNvPicPr>
            <a:picLocks noChangeAspect="1"/>
          </p:cNvPicPr>
          <p:nvPr/>
        </p:nvPicPr>
        <p:blipFill>
          <a:blip r:embed="rId1"/>
          <a:stretch>
            <a:fillRect/>
          </a:stretch>
        </p:blipFill>
        <p:spPr>
          <a:xfrm>
            <a:off x="3638876" y="1181973"/>
            <a:ext cx="4154037" cy="2557237"/>
          </a:xfrm>
          <a:prstGeom prst="rect">
            <a:avLst/>
          </a:prstGeom>
        </p:spPr>
      </p:pic>
      <p:graphicFrame>
        <p:nvGraphicFramePr>
          <p:cNvPr id="10" name="表格 9"/>
          <p:cNvGraphicFramePr>
            <a:graphicFrameLocks noGrp="1"/>
          </p:cNvGraphicFramePr>
          <p:nvPr/>
        </p:nvGraphicFramePr>
        <p:xfrm>
          <a:off x="2261973" y="3928375"/>
          <a:ext cx="7668054" cy="2234569"/>
        </p:xfrm>
        <a:graphic>
          <a:graphicData uri="http://schemas.openxmlformats.org/drawingml/2006/table">
            <a:tbl>
              <a:tblPr/>
              <a:tblGrid>
                <a:gridCol w="2556018"/>
                <a:gridCol w="2556018"/>
                <a:gridCol w="2556018"/>
              </a:tblGrid>
              <a:tr h="278917">
                <a:tc>
                  <a:txBody>
                    <a:bodyPr/>
                    <a:lstStyle/>
                    <a:p>
                      <a:r>
                        <a:rPr lang="zh-CN" altLang="en-US" sz="1600" dirty="0">
                          <a:effectLst/>
                          <a:latin typeface="微软雅黑" panose="020B0503020204020204" pitchFamily="34" charset="-122"/>
                          <a:ea typeface="微软雅黑" panose="020B0503020204020204" pitchFamily="34" charset="-122"/>
                        </a:rPr>
                        <a:t>‌</a:t>
                      </a:r>
                      <a:r>
                        <a:rPr lang="zh-CN" altLang="en-US" sz="1600" b="1" dirty="0">
                          <a:effectLst/>
                          <a:latin typeface="微软雅黑" panose="020B0503020204020204" pitchFamily="34" charset="-122"/>
                          <a:ea typeface="微软雅黑" panose="020B0503020204020204" pitchFamily="34" charset="-122"/>
                        </a:rPr>
                        <a:t>操作</a:t>
                      </a:r>
                      <a:r>
                        <a:rPr lang="zh-CN" altLang="en-US" sz="1600" dirty="0">
                          <a:effectLst/>
                          <a:latin typeface="微软雅黑" panose="020B0503020204020204" pitchFamily="34" charset="-122"/>
                          <a:ea typeface="微软雅黑" panose="020B0503020204020204" pitchFamily="34" charset="-122"/>
                        </a:rPr>
                        <a:t>‌</a:t>
                      </a:r>
                      <a:endParaRPr lang="zh-CN" altLang="en-US" sz="1600" dirty="0">
                        <a:effectLst/>
                        <a:latin typeface="微软雅黑" panose="020B0503020204020204" pitchFamily="34" charset="-122"/>
                        <a:ea typeface="微软雅黑" panose="020B0503020204020204" pitchFamily="34" charset="-122"/>
                      </a:endParaRPr>
                    </a:p>
                  </a:txBody>
                  <a:tcPr marL="152400" marR="152400" marT="100013" marB="71438" anchor="ctr">
                    <a:lnL w="9525" cap="flat" cmpd="sng" algn="ctr">
                      <a:solidFill>
                        <a:srgbClr val="90F0B1"/>
                      </a:solidFill>
                      <a:prstDash val="solid"/>
                      <a:round/>
                      <a:headEnd type="none" w="med" len="med"/>
                      <a:tailEnd type="none" w="med" len="med"/>
                    </a:lnL>
                    <a:lnR w="9525" cap="flat" cmpd="sng" algn="ctr">
                      <a:solidFill>
                        <a:srgbClr val="90F0B1"/>
                      </a:solidFill>
                      <a:prstDash val="solid"/>
                      <a:round/>
                      <a:headEnd type="none" w="med" len="med"/>
                      <a:tailEnd type="none" w="med" len="med"/>
                    </a:lnR>
                    <a:lnT w="9525" cap="flat" cmpd="sng" algn="ctr">
                      <a:solidFill>
                        <a:srgbClr val="90F0B1"/>
                      </a:solidFill>
                      <a:prstDash val="solid"/>
                      <a:round/>
                      <a:headEnd type="none" w="med" len="med"/>
                      <a:tailEnd type="none" w="med" len="med"/>
                    </a:lnT>
                    <a:lnB w="9525" cap="flat" cmpd="sng" algn="ctr">
                      <a:solidFill>
                        <a:srgbClr val="90F0B1"/>
                      </a:solidFill>
                      <a:prstDash val="solid"/>
                      <a:round/>
                      <a:headEnd type="none" w="med" len="med"/>
                      <a:tailEnd type="none" w="med" len="med"/>
                    </a:lnB>
                    <a:solidFill>
                      <a:srgbClr val="FFFFFF"/>
                    </a:solidFill>
                  </a:tcPr>
                </a:tc>
                <a:tc>
                  <a:txBody>
                    <a:bodyPr/>
                    <a:lstStyle/>
                    <a:p>
                      <a:r>
                        <a:rPr lang="zh-CN" altLang="en-US" sz="1600" dirty="0">
                          <a:effectLst/>
                          <a:latin typeface="微软雅黑" panose="020B0503020204020204" pitchFamily="34" charset="-122"/>
                          <a:ea typeface="微软雅黑" panose="020B0503020204020204" pitchFamily="34" charset="-122"/>
                        </a:rPr>
                        <a:t>‌</a:t>
                      </a:r>
                      <a:r>
                        <a:rPr lang="zh-CN" altLang="en-US" sz="1600" b="1" dirty="0">
                          <a:effectLst/>
                          <a:latin typeface="微软雅黑" panose="020B0503020204020204" pitchFamily="34" charset="-122"/>
                          <a:ea typeface="微软雅黑" panose="020B0503020204020204" pitchFamily="34" charset="-122"/>
                        </a:rPr>
                        <a:t>分解前（冗余）</a:t>
                      </a:r>
                      <a:r>
                        <a:rPr lang="zh-CN" altLang="en-US" sz="1600" dirty="0">
                          <a:effectLst/>
                          <a:latin typeface="微软雅黑" panose="020B0503020204020204" pitchFamily="34" charset="-122"/>
                          <a:ea typeface="微软雅黑" panose="020B0503020204020204" pitchFamily="34" charset="-122"/>
                        </a:rPr>
                        <a:t>‌</a:t>
                      </a:r>
                      <a:endParaRPr lang="zh-CN" altLang="en-US" sz="1600" dirty="0">
                        <a:effectLst/>
                        <a:latin typeface="微软雅黑" panose="020B0503020204020204" pitchFamily="34" charset="-122"/>
                        <a:ea typeface="微软雅黑" panose="020B0503020204020204" pitchFamily="34" charset="-122"/>
                      </a:endParaRPr>
                    </a:p>
                  </a:txBody>
                  <a:tcPr marL="152400" marR="152400" marT="100013" marB="71438" anchor="ctr">
                    <a:lnL w="9525" cap="flat" cmpd="sng" algn="ctr">
                      <a:solidFill>
                        <a:srgbClr val="90F0B1"/>
                      </a:solidFill>
                      <a:prstDash val="solid"/>
                      <a:round/>
                      <a:headEnd type="none" w="med" len="med"/>
                      <a:tailEnd type="none" w="med" len="med"/>
                    </a:lnL>
                    <a:lnR w="9525" cap="flat" cmpd="sng" algn="ctr">
                      <a:solidFill>
                        <a:srgbClr val="70E8B1"/>
                      </a:solidFill>
                      <a:prstDash val="solid"/>
                      <a:round/>
                      <a:headEnd type="none" w="med" len="med"/>
                      <a:tailEnd type="none" w="med" len="med"/>
                    </a:lnR>
                    <a:lnT w="9525" cap="flat" cmpd="sng" algn="ctr">
                      <a:solidFill>
                        <a:srgbClr val="70E8B1"/>
                      </a:solidFill>
                      <a:prstDash val="solid"/>
                      <a:round/>
                      <a:headEnd type="none" w="med" len="med"/>
                      <a:tailEnd type="none" w="med" len="med"/>
                    </a:lnT>
                    <a:lnB w="9525" cap="flat" cmpd="sng" algn="ctr">
                      <a:solidFill>
                        <a:srgbClr val="70E8B1"/>
                      </a:solidFill>
                      <a:prstDash val="solid"/>
                      <a:round/>
                      <a:headEnd type="none" w="med" len="med"/>
                      <a:tailEnd type="none" w="med" len="med"/>
                    </a:lnB>
                    <a:solidFill>
                      <a:srgbClr val="FFFFFF"/>
                    </a:solidFill>
                  </a:tcPr>
                </a:tc>
                <a:tc>
                  <a:txBody>
                    <a:bodyPr/>
                    <a:lstStyle/>
                    <a:p>
                      <a:r>
                        <a:rPr lang="zh-CN" altLang="en-US" sz="1600">
                          <a:effectLst/>
                          <a:latin typeface="微软雅黑" panose="020B0503020204020204" pitchFamily="34" charset="-122"/>
                          <a:ea typeface="微软雅黑" panose="020B0503020204020204" pitchFamily="34" charset="-122"/>
                        </a:rPr>
                        <a:t>‌</a:t>
                      </a:r>
                      <a:r>
                        <a:rPr lang="zh-CN" altLang="en-US" sz="1600" b="1">
                          <a:effectLst/>
                          <a:latin typeface="微软雅黑" panose="020B0503020204020204" pitchFamily="34" charset="-122"/>
                          <a:ea typeface="微软雅黑" panose="020B0503020204020204" pitchFamily="34" charset="-122"/>
                        </a:rPr>
                        <a:t>分解后（无冗余）</a:t>
                      </a:r>
                      <a:r>
                        <a:rPr lang="zh-CN" altLang="en-US" sz="1600">
                          <a:effectLst/>
                          <a:latin typeface="微软雅黑" panose="020B0503020204020204" pitchFamily="34" charset="-122"/>
                          <a:ea typeface="微软雅黑" panose="020B0503020204020204" pitchFamily="34" charset="-122"/>
                        </a:rPr>
                        <a:t>‌</a:t>
                      </a:r>
                      <a:endParaRPr lang="zh-CN" altLang="en-US" sz="1600">
                        <a:effectLst/>
                        <a:latin typeface="微软雅黑" panose="020B0503020204020204" pitchFamily="34" charset="-122"/>
                        <a:ea typeface="微软雅黑" panose="020B0503020204020204" pitchFamily="34" charset="-122"/>
                      </a:endParaRPr>
                    </a:p>
                  </a:txBody>
                  <a:tcPr marL="152400" marR="152400" marT="100013" marB="71438" anchor="ctr">
                    <a:lnL w="9525" cap="flat" cmpd="sng" algn="ctr">
                      <a:solidFill>
                        <a:srgbClr val="70E8B1"/>
                      </a:solidFill>
                      <a:prstDash val="solid"/>
                      <a:round/>
                      <a:headEnd type="none" w="med" len="med"/>
                      <a:tailEnd type="none" w="med" len="med"/>
                    </a:lnL>
                    <a:lnR w="9525" cap="flat" cmpd="sng" algn="ctr">
                      <a:solidFill>
                        <a:srgbClr val="B0EEB1"/>
                      </a:solidFill>
                      <a:prstDash val="solid"/>
                      <a:round/>
                      <a:headEnd type="none" w="med" len="med"/>
                      <a:tailEnd type="none" w="med" len="med"/>
                    </a:lnR>
                    <a:lnT w="9525" cap="flat" cmpd="sng" algn="ctr">
                      <a:solidFill>
                        <a:srgbClr val="B0EEB1"/>
                      </a:solidFill>
                      <a:prstDash val="solid"/>
                      <a:round/>
                      <a:headEnd type="none" w="med" len="med"/>
                      <a:tailEnd type="none" w="med" len="med"/>
                    </a:lnT>
                    <a:lnB w="9525" cap="flat" cmpd="sng" algn="ctr">
                      <a:solidFill>
                        <a:srgbClr val="B0EEB1"/>
                      </a:solidFill>
                      <a:prstDash val="solid"/>
                      <a:round/>
                      <a:headEnd type="none" w="med" len="med"/>
                      <a:tailEnd type="none" w="med" len="med"/>
                    </a:lnB>
                    <a:solidFill>
                      <a:srgbClr val="FFFFFF"/>
                    </a:solidFill>
                  </a:tcPr>
                </a:tc>
              </a:tr>
              <a:tr h="298108">
                <a:tc>
                  <a:txBody>
                    <a:bodyPr/>
                    <a:lstStyle/>
                    <a:p>
                      <a:r>
                        <a:rPr lang="zh-CN" altLang="en-US" sz="1600" dirty="0">
                          <a:effectLst/>
                          <a:latin typeface="微软雅黑" panose="020B0503020204020204" pitchFamily="34" charset="-122"/>
                          <a:ea typeface="微软雅黑" panose="020B0503020204020204" pitchFamily="34" charset="-122"/>
                        </a:rPr>
                        <a:t>存储教师系别信息</a:t>
                      </a:r>
                      <a:endParaRPr lang="zh-CN" altLang="en-US" sz="1600" dirty="0">
                        <a:effectLst/>
                        <a:latin typeface="微软雅黑" panose="020B0503020204020204" pitchFamily="34" charset="-122"/>
                        <a:ea typeface="微软雅黑" panose="020B0503020204020204" pitchFamily="34" charset="-122"/>
                      </a:endParaRPr>
                    </a:p>
                  </a:txBody>
                  <a:tcPr marL="152400" marR="152400" marT="100013" marB="100013" anchor="ctr">
                    <a:lnL w="9525" cap="flat" cmpd="sng" algn="ctr">
                      <a:solidFill>
                        <a:srgbClr val="C0F7B1"/>
                      </a:solidFill>
                      <a:prstDash val="solid"/>
                      <a:round/>
                      <a:headEnd type="none" w="med" len="med"/>
                      <a:tailEnd type="none" w="med" len="med"/>
                    </a:lnL>
                    <a:lnR w="9525" cap="flat" cmpd="sng" algn="ctr">
                      <a:solidFill>
                        <a:srgbClr val="C0F7B1"/>
                      </a:solidFill>
                      <a:prstDash val="solid"/>
                      <a:round/>
                      <a:headEnd type="none" w="med" len="med"/>
                      <a:tailEnd type="none" w="med" len="med"/>
                    </a:lnR>
                    <a:lnT w="9525" cap="flat" cmpd="sng" algn="ctr">
                      <a:solidFill>
                        <a:srgbClr val="90F0B1"/>
                      </a:solidFill>
                      <a:prstDash val="solid"/>
                      <a:round/>
                      <a:headEnd type="none" w="med" len="med"/>
                      <a:tailEnd type="none" w="med" len="med"/>
                    </a:lnT>
                    <a:lnB w="9525" cap="flat" cmpd="sng" algn="ctr">
                      <a:solidFill>
                        <a:srgbClr val="C0F7B1"/>
                      </a:solidFill>
                      <a:prstDash val="solid"/>
                      <a:round/>
                      <a:headEnd type="none" w="med" len="med"/>
                      <a:tailEnd type="none" w="med" len="med"/>
                    </a:lnB>
                    <a:solidFill>
                      <a:srgbClr val="FFFFFF"/>
                    </a:solidFill>
                  </a:tcPr>
                </a:tc>
                <a:tc>
                  <a:txBody>
                    <a:bodyPr/>
                    <a:lstStyle/>
                    <a:p>
                      <a:r>
                        <a:rPr lang="zh-CN" altLang="en-US" sz="1600" dirty="0">
                          <a:effectLst/>
                          <a:latin typeface="微软雅黑" panose="020B0503020204020204" pitchFamily="34" charset="-122"/>
                          <a:ea typeface="微软雅黑" panose="020B0503020204020204" pitchFamily="34" charset="-122"/>
                        </a:rPr>
                        <a:t>每个选课学生重复存储</a:t>
                      </a:r>
                      <a:endParaRPr lang="zh-CN" altLang="en-US" sz="1600" dirty="0">
                        <a:effectLst/>
                        <a:latin typeface="微软雅黑" panose="020B0503020204020204" pitchFamily="34" charset="-122"/>
                        <a:ea typeface="微软雅黑" panose="020B0503020204020204" pitchFamily="34" charset="-122"/>
                      </a:endParaRPr>
                    </a:p>
                  </a:txBody>
                  <a:tcPr marL="152400" marR="152400" marT="100013" marB="100013" anchor="ctr">
                    <a:lnL w="9525" cap="flat" cmpd="sng" algn="ctr">
                      <a:solidFill>
                        <a:srgbClr val="C0F7B1"/>
                      </a:solidFill>
                      <a:prstDash val="solid"/>
                      <a:round/>
                      <a:headEnd type="none" w="med" len="med"/>
                      <a:tailEnd type="none" w="med" len="med"/>
                    </a:lnL>
                    <a:lnR w="9525" cap="flat" cmpd="sng" algn="ctr">
                      <a:solidFill>
                        <a:srgbClr val="C0F7B1"/>
                      </a:solidFill>
                      <a:prstDash val="solid"/>
                      <a:round/>
                      <a:headEnd type="none" w="med" len="med"/>
                      <a:tailEnd type="none" w="med" len="med"/>
                    </a:lnR>
                    <a:lnT w="9525" cap="flat" cmpd="sng" algn="ctr">
                      <a:solidFill>
                        <a:srgbClr val="70E8B1"/>
                      </a:solidFill>
                      <a:prstDash val="solid"/>
                      <a:round/>
                      <a:headEnd type="none" w="med" len="med"/>
                      <a:tailEnd type="none" w="med" len="med"/>
                    </a:lnT>
                    <a:lnB w="9525" cap="flat" cmpd="sng" algn="ctr">
                      <a:solidFill>
                        <a:srgbClr val="C0F7B1"/>
                      </a:solidFill>
                      <a:prstDash val="solid"/>
                      <a:round/>
                      <a:headEnd type="none" w="med" len="med"/>
                      <a:tailEnd type="none" w="med" len="med"/>
                    </a:lnB>
                    <a:solidFill>
                      <a:srgbClr val="FFFFFF"/>
                    </a:solidFill>
                  </a:tcPr>
                </a:tc>
                <a:tc>
                  <a:txBody>
                    <a:bodyPr/>
                    <a:lstStyle/>
                    <a:p>
                      <a:r>
                        <a:rPr lang="zh-CN" altLang="en-US" sz="1600">
                          <a:effectLst/>
                          <a:latin typeface="微软雅黑" panose="020B0503020204020204" pitchFamily="34" charset="-122"/>
                          <a:ea typeface="微软雅黑" panose="020B0503020204020204" pitchFamily="34" charset="-122"/>
                        </a:rPr>
                        <a:t>每个教师仅存储 </a:t>
                      </a:r>
                      <a:r>
                        <a:rPr lang="en-US" altLang="zh-CN" sz="1600">
                          <a:effectLst/>
                          <a:latin typeface="微软雅黑" panose="020B0503020204020204" pitchFamily="34" charset="-122"/>
                          <a:ea typeface="微软雅黑" panose="020B0503020204020204" pitchFamily="34" charset="-122"/>
                        </a:rPr>
                        <a:t>1 </a:t>
                      </a:r>
                      <a:r>
                        <a:rPr lang="zh-CN" altLang="en-US" sz="1600">
                          <a:effectLst/>
                          <a:latin typeface="微软雅黑" panose="020B0503020204020204" pitchFamily="34" charset="-122"/>
                          <a:ea typeface="微软雅黑" panose="020B0503020204020204" pitchFamily="34" charset="-122"/>
                        </a:rPr>
                        <a:t>次</a:t>
                      </a:r>
                      <a:endParaRPr lang="zh-CN" altLang="en-US" sz="1600">
                        <a:effectLst/>
                        <a:latin typeface="微软雅黑" panose="020B0503020204020204" pitchFamily="34" charset="-122"/>
                        <a:ea typeface="微软雅黑" panose="020B0503020204020204" pitchFamily="34" charset="-122"/>
                      </a:endParaRPr>
                    </a:p>
                  </a:txBody>
                  <a:tcPr marL="152400" marR="152400" marT="100013" marB="100013" anchor="ctr">
                    <a:lnL w="9525" cap="flat" cmpd="sng" algn="ctr">
                      <a:solidFill>
                        <a:srgbClr val="C0F7B1"/>
                      </a:solidFill>
                      <a:prstDash val="solid"/>
                      <a:round/>
                      <a:headEnd type="none" w="med" len="med"/>
                      <a:tailEnd type="none" w="med" len="med"/>
                    </a:lnL>
                    <a:lnR w="9525" cap="flat" cmpd="sng" algn="ctr">
                      <a:solidFill>
                        <a:srgbClr val="20E8B1"/>
                      </a:solidFill>
                      <a:prstDash val="solid"/>
                      <a:round/>
                      <a:headEnd type="none" w="med" len="med"/>
                      <a:tailEnd type="none" w="med" len="med"/>
                    </a:lnR>
                    <a:lnT w="9525" cap="flat" cmpd="sng" algn="ctr">
                      <a:solidFill>
                        <a:srgbClr val="B0EEB1"/>
                      </a:solidFill>
                      <a:prstDash val="solid"/>
                      <a:round/>
                      <a:headEnd type="none" w="med" len="med"/>
                      <a:tailEnd type="none" w="med" len="med"/>
                    </a:lnT>
                    <a:lnB w="9525" cap="flat" cmpd="sng" algn="ctr">
                      <a:solidFill>
                        <a:srgbClr val="20E8B1"/>
                      </a:solidFill>
                      <a:prstDash val="solid"/>
                      <a:round/>
                      <a:headEnd type="none" w="med" len="med"/>
                      <a:tailEnd type="none" w="med" len="med"/>
                    </a:lnB>
                    <a:solidFill>
                      <a:srgbClr val="FFFFFF"/>
                    </a:solidFill>
                  </a:tcPr>
                </a:tc>
              </a:tr>
              <a:tr h="461876">
                <a:tc>
                  <a:txBody>
                    <a:bodyPr/>
                    <a:lstStyle/>
                    <a:p>
                      <a:r>
                        <a:rPr lang="zh-CN" altLang="en-US" sz="1600" dirty="0">
                          <a:effectLst/>
                          <a:latin typeface="微软雅黑" panose="020B0503020204020204" pitchFamily="34" charset="-122"/>
                          <a:ea typeface="微软雅黑" panose="020B0503020204020204" pitchFamily="34" charset="-122"/>
                        </a:rPr>
                        <a:t>更新教师系别</a:t>
                      </a:r>
                      <a:endParaRPr lang="zh-CN" altLang="en-US" sz="1600" dirty="0">
                        <a:effectLst/>
                        <a:latin typeface="微软雅黑" panose="020B0503020204020204" pitchFamily="34" charset="-122"/>
                        <a:ea typeface="微软雅黑" panose="020B0503020204020204" pitchFamily="34" charset="-122"/>
                      </a:endParaRPr>
                    </a:p>
                  </a:txBody>
                  <a:tcPr marL="152400" marR="152400" marT="100013" marB="100013" anchor="ctr">
                    <a:lnL w="9525" cap="flat" cmpd="sng" algn="ctr">
                      <a:solidFill>
                        <a:srgbClr val="B0EEB1"/>
                      </a:solidFill>
                      <a:prstDash val="solid"/>
                      <a:round/>
                      <a:headEnd type="none" w="med" len="med"/>
                      <a:tailEnd type="none" w="med" len="med"/>
                    </a:lnL>
                    <a:lnR w="9525" cap="flat" cmpd="sng" algn="ctr">
                      <a:solidFill>
                        <a:srgbClr val="B0EEB1"/>
                      </a:solidFill>
                      <a:prstDash val="solid"/>
                      <a:round/>
                      <a:headEnd type="none" w="med" len="med"/>
                      <a:tailEnd type="none" w="med" len="med"/>
                    </a:lnR>
                    <a:lnT w="9525" cap="flat" cmpd="sng" algn="ctr">
                      <a:solidFill>
                        <a:srgbClr val="C0F7B1"/>
                      </a:solidFill>
                      <a:prstDash val="solid"/>
                      <a:round/>
                      <a:headEnd type="none" w="med" len="med"/>
                      <a:tailEnd type="none" w="med" len="med"/>
                    </a:lnT>
                    <a:lnB w="9525" cap="flat" cmpd="sng" algn="ctr">
                      <a:solidFill>
                        <a:srgbClr val="B0EEB1"/>
                      </a:solidFill>
                      <a:prstDash val="solid"/>
                      <a:round/>
                      <a:headEnd type="none" w="med" len="med"/>
                      <a:tailEnd type="none" w="med" len="med"/>
                    </a:lnB>
                    <a:solidFill>
                      <a:srgbClr val="FFFFFF"/>
                    </a:solidFill>
                  </a:tcPr>
                </a:tc>
                <a:tc>
                  <a:txBody>
                    <a:bodyPr/>
                    <a:lstStyle/>
                    <a:p>
                      <a:r>
                        <a:rPr lang="zh-CN" altLang="en-US" sz="1600" dirty="0">
                          <a:effectLst/>
                          <a:latin typeface="微软雅黑" panose="020B0503020204020204" pitchFamily="34" charset="-122"/>
                          <a:ea typeface="微软雅黑" panose="020B0503020204020204" pitchFamily="34" charset="-122"/>
                        </a:rPr>
                        <a:t>需修改所有相关学生选课记录（</a:t>
                      </a:r>
                      <a:r>
                        <a:rPr lang="en-US" altLang="zh-CN" sz="1600" dirty="0">
                          <a:effectLst/>
                          <a:latin typeface="微软雅黑" panose="020B0503020204020204" pitchFamily="34" charset="-122"/>
                          <a:ea typeface="微软雅黑" panose="020B0503020204020204" pitchFamily="34" charset="-122"/>
                        </a:rPr>
                        <a:t>O(N)</a:t>
                      </a:r>
                      <a:r>
                        <a:rPr lang="zh-CN" altLang="en-US" sz="1600" dirty="0">
                          <a:effectLst/>
                          <a:latin typeface="微软雅黑" panose="020B0503020204020204" pitchFamily="34" charset="-122"/>
                          <a:ea typeface="微软雅黑" panose="020B0503020204020204" pitchFamily="34" charset="-122"/>
                        </a:rPr>
                        <a:t>次）</a:t>
                      </a:r>
                      <a:endParaRPr lang="zh-CN" altLang="en-US" sz="1600" dirty="0">
                        <a:effectLst/>
                        <a:latin typeface="微软雅黑" panose="020B0503020204020204" pitchFamily="34" charset="-122"/>
                        <a:ea typeface="微软雅黑" panose="020B0503020204020204" pitchFamily="34" charset="-122"/>
                      </a:endParaRPr>
                    </a:p>
                  </a:txBody>
                  <a:tcPr marL="152400" marR="152400" marT="100013" marB="100013" anchor="ctr">
                    <a:lnL w="9525" cap="flat" cmpd="sng" algn="ctr">
                      <a:solidFill>
                        <a:srgbClr val="B0EEB1"/>
                      </a:solidFill>
                      <a:prstDash val="solid"/>
                      <a:round/>
                      <a:headEnd type="none" w="med" len="med"/>
                      <a:tailEnd type="none" w="med" len="med"/>
                    </a:lnL>
                    <a:lnR w="9525" cap="flat" cmpd="sng" algn="ctr">
                      <a:solidFill>
                        <a:srgbClr val="F0E5B1"/>
                      </a:solidFill>
                      <a:prstDash val="solid"/>
                      <a:round/>
                      <a:headEnd type="none" w="med" len="med"/>
                      <a:tailEnd type="none" w="med" len="med"/>
                    </a:lnR>
                    <a:lnT w="9525" cap="flat" cmpd="sng" algn="ctr">
                      <a:solidFill>
                        <a:srgbClr val="C0F7B1"/>
                      </a:solidFill>
                      <a:prstDash val="solid"/>
                      <a:round/>
                      <a:headEnd type="none" w="med" len="med"/>
                      <a:tailEnd type="none" w="med" len="med"/>
                    </a:lnT>
                    <a:lnB w="9525" cap="flat" cmpd="sng" algn="ctr">
                      <a:solidFill>
                        <a:srgbClr val="F0E5B1"/>
                      </a:solidFill>
                      <a:prstDash val="solid"/>
                      <a:round/>
                      <a:headEnd type="none" w="med" len="med"/>
                      <a:tailEnd type="none" w="med" len="med"/>
                    </a:lnB>
                    <a:solidFill>
                      <a:srgbClr val="FFFFFF"/>
                    </a:solidFill>
                  </a:tcPr>
                </a:tc>
                <a:tc>
                  <a:txBody>
                    <a:bodyPr/>
                    <a:lstStyle/>
                    <a:p>
                      <a:r>
                        <a:rPr lang="zh-CN" altLang="en-US" sz="1600">
                          <a:effectLst/>
                          <a:latin typeface="微软雅黑" panose="020B0503020204020204" pitchFamily="34" charset="-122"/>
                          <a:ea typeface="微软雅黑" panose="020B0503020204020204" pitchFamily="34" charset="-122"/>
                        </a:rPr>
                        <a:t>仅需修改 ‌</a:t>
                      </a:r>
                      <a:r>
                        <a:rPr lang="en-US" altLang="zh-CN" sz="1600" b="1">
                          <a:effectLst/>
                          <a:latin typeface="微软雅黑" panose="020B0503020204020204" pitchFamily="34" charset="-122"/>
                          <a:ea typeface="微软雅黑" panose="020B0503020204020204" pitchFamily="34" charset="-122"/>
                        </a:rPr>
                        <a:t>TD</a:t>
                      </a:r>
                      <a:r>
                        <a:rPr lang="zh-CN" altLang="en-US" sz="1600">
                          <a:effectLst/>
                          <a:latin typeface="微软雅黑" panose="020B0503020204020204" pitchFamily="34" charset="-122"/>
                          <a:ea typeface="微软雅黑" panose="020B0503020204020204" pitchFamily="34" charset="-122"/>
                        </a:rPr>
                        <a:t>‌ 表（</a:t>
                      </a:r>
                      <a:r>
                        <a:rPr lang="en-US" altLang="zh-CN" sz="1600">
                          <a:effectLst/>
                          <a:latin typeface="微软雅黑" panose="020B0503020204020204" pitchFamily="34" charset="-122"/>
                          <a:ea typeface="微软雅黑" panose="020B0503020204020204" pitchFamily="34" charset="-122"/>
                        </a:rPr>
                        <a:t>O(1)</a:t>
                      </a:r>
                      <a:r>
                        <a:rPr lang="zh-CN" altLang="en-US" sz="1600">
                          <a:effectLst/>
                          <a:latin typeface="微软雅黑" panose="020B0503020204020204" pitchFamily="34" charset="-122"/>
                          <a:ea typeface="微软雅黑" panose="020B0503020204020204" pitchFamily="34" charset="-122"/>
                        </a:rPr>
                        <a:t>次）</a:t>
                      </a:r>
                      <a:endParaRPr lang="zh-CN" altLang="en-US" sz="1600">
                        <a:effectLst/>
                        <a:latin typeface="微软雅黑" panose="020B0503020204020204" pitchFamily="34" charset="-122"/>
                        <a:ea typeface="微软雅黑" panose="020B0503020204020204" pitchFamily="34" charset="-122"/>
                      </a:endParaRPr>
                    </a:p>
                  </a:txBody>
                  <a:tcPr marL="152400" marR="152400" marT="100013" marB="100013" anchor="ctr">
                    <a:lnL w="9525" cap="flat" cmpd="sng" algn="ctr">
                      <a:solidFill>
                        <a:srgbClr val="F0E5B1"/>
                      </a:solidFill>
                      <a:prstDash val="solid"/>
                      <a:round/>
                      <a:headEnd type="none" w="med" len="med"/>
                      <a:tailEnd type="none" w="med" len="med"/>
                    </a:lnL>
                    <a:lnR w="9525" cap="flat" cmpd="sng" algn="ctr">
                      <a:solidFill>
                        <a:srgbClr val="70E8B1"/>
                      </a:solidFill>
                      <a:prstDash val="solid"/>
                      <a:round/>
                      <a:headEnd type="none" w="med" len="med"/>
                      <a:tailEnd type="none" w="med" len="med"/>
                    </a:lnR>
                    <a:lnT w="9525" cap="flat" cmpd="sng" algn="ctr">
                      <a:solidFill>
                        <a:srgbClr val="20E8B1"/>
                      </a:solidFill>
                      <a:prstDash val="solid"/>
                      <a:round/>
                      <a:headEnd type="none" w="med" len="med"/>
                      <a:tailEnd type="none" w="med" len="med"/>
                    </a:lnT>
                    <a:lnB w="9525" cap="flat" cmpd="sng" algn="ctr">
                      <a:solidFill>
                        <a:srgbClr val="70E8B1"/>
                      </a:solidFill>
                      <a:prstDash val="solid"/>
                      <a:round/>
                      <a:headEnd type="none" w="med" len="med"/>
                      <a:tailEnd type="none" w="med" len="med"/>
                    </a:lnB>
                    <a:solidFill>
                      <a:srgbClr val="FFFFFF"/>
                    </a:solidFill>
                  </a:tcPr>
                </a:tc>
              </a:tr>
              <a:tr h="461876">
                <a:tc>
                  <a:txBody>
                    <a:bodyPr/>
                    <a:lstStyle/>
                    <a:p>
                      <a:r>
                        <a:rPr lang="zh-CN" altLang="en-US" sz="1600">
                          <a:effectLst/>
                          <a:latin typeface="微软雅黑" panose="020B0503020204020204" pitchFamily="34" charset="-122"/>
                          <a:ea typeface="微软雅黑" panose="020B0503020204020204" pitchFamily="34" charset="-122"/>
                        </a:rPr>
                        <a:t>存储空间</a:t>
                      </a:r>
                      <a:endParaRPr lang="zh-CN" altLang="en-US" sz="1600">
                        <a:effectLst/>
                        <a:latin typeface="微软雅黑" panose="020B0503020204020204" pitchFamily="34" charset="-122"/>
                        <a:ea typeface="微软雅黑" panose="020B0503020204020204" pitchFamily="34" charset="-122"/>
                      </a:endParaRPr>
                    </a:p>
                  </a:txBody>
                  <a:tcPr marL="152400" marR="152400" marT="100013" marB="100013" anchor="ctr">
                    <a:lnL w="9525" cap="flat" cmpd="sng" algn="ctr">
                      <a:solidFill>
                        <a:srgbClr val="40E6B1"/>
                      </a:solidFill>
                      <a:prstDash val="solid"/>
                      <a:round/>
                      <a:headEnd type="none" w="med" len="med"/>
                      <a:tailEnd type="none" w="med" len="med"/>
                    </a:lnL>
                    <a:lnR w="9525" cap="flat" cmpd="sng" algn="ctr">
                      <a:solidFill>
                        <a:srgbClr val="40E6B1"/>
                      </a:solidFill>
                      <a:prstDash val="solid"/>
                      <a:round/>
                      <a:headEnd type="none" w="med" len="med"/>
                      <a:tailEnd type="none" w="med" len="med"/>
                    </a:lnR>
                    <a:lnT w="9525" cap="flat" cmpd="sng" algn="ctr">
                      <a:solidFill>
                        <a:srgbClr val="B0EEB1"/>
                      </a:solidFill>
                      <a:prstDash val="solid"/>
                      <a:round/>
                      <a:headEnd type="none" w="med" len="med"/>
                      <a:tailEnd type="none" w="med" len="med"/>
                    </a:lnT>
                    <a:lnB w="9525" cap="flat" cmpd="sng" algn="ctr">
                      <a:solidFill>
                        <a:srgbClr val="40E6B1"/>
                      </a:solidFill>
                      <a:prstDash val="solid"/>
                      <a:round/>
                      <a:headEnd type="none" w="med" len="med"/>
                      <a:tailEnd type="none" w="med" len="med"/>
                    </a:lnB>
                    <a:solidFill>
                      <a:srgbClr val="FFFFFF"/>
                    </a:solidFill>
                  </a:tcPr>
                </a:tc>
                <a:tc>
                  <a:txBody>
                    <a:bodyPr/>
                    <a:lstStyle/>
                    <a:p>
                      <a:r>
                        <a:rPr lang="zh-CN" altLang="en-US" sz="1600" dirty="0">
                          <a:effectLst/>
                          <a:latin typeface="微软雅黑" panose="020B0503020204020204" pitchFamily="34" charset="-122"/>
                          <a:ea typeface="微软雅黑" panose="020B0503020204020204" pitchFamily="34" charset="-122"/>
                        </a:rPr>
                        <a:t>冗余度高（空间复杂度 </a:t>
                      </a:r>
                      <a:r>
                        <a:rPr lang="en-US" sz="1600" dirty="0">
                          <a:effectLst/>
                          <a:latin typeface="微软雅黑" panose="020B0503020204020204" pitchFamily="34" charset="-122"/>
                          <a:ea typeface="微软雅黑" panose="020B0503020204020204" pitchFamily="34" charset="-122"/>
                        </a:rPr>
                        <a:t>O(N)）</a:t>
                      </a:r>
                      <a:endParaRPr lang="en-US" sz="1600" dirty="0">
                        <a:effectLst/>
                        <a:latin typeface="微软雅黑" panose="020B0503020204020204" pitchFamily="34" charset="-122"/>
                        <a:ea typeface="微软雅黑" panose="020B0503020204020204" pitchFamily="34" charset="-122"/>
                      </a:endParaRPr>
                    </a:p>
                  </a:txBody>
                  <a:tcPr marL="152400" marR="152400" marT="100013" marB="100013" anchor="ctr">
                    <a:lnL w="9525" cap="flat" cmpd="sng" algn="ctr">
                      <a:solidFill>
                        <a:srgbClr val="40E6B1"/>
                      </a:solidFill>
                      <a:prstDash val="solid"/>
                      <a:round/>
                      <a:headEnd type="none" w="med" len="med"/>
                      <a:tailEnd type="none" w="med" len="med"/>
                    </a:lnL>
                    <a:lnR w="9525" cap="flat" cmpd="sng" algn="ctr">
                      <a:solidFill>
                        <a:srgbClr val="40E6B1"/>
                      </a:solidFill>
                      <a:prstDash val="solid"/>
                      <a:round/>
                      <a:headEnd type="none" w="med" len="med"/>
                      <a:tailEnd type="none" w="med" len="med"/>
                    </a:lnR>
                    <a:lnT w="9525" cap="flat" cmpd="sng" algn="ctr">
                      <a:solidFill>
                        <a:srgbClr val="F0E5B1"/>
                      </a:solidFill>
                      <a:prstDash val="solid"/>
                      <a:round/>
                      <a:headEnd type="none" w="med" len="med"/>
                      <a:tailEnd type="none" w="med" len="med"/>
                    </a:lnT>
                    <a:lnB w="9525" cap="flat" cmpd="sng" algn="ctr">
                      <a:solidFill>
                        <a:srgbClr val="40E6B1"/>
                      </a:solidFill>
                      <a:prstDash val="solid"/>
                      <a:round/>
                      <a:headEnd type="none" w="med" len="med"/>
                      <a:tailEnd type="none" w="med" len="med"/>
                    </a:lnB>
                    <a:solidFill>
                      <a:srgbClr val="FFFFFF"/>
                    </a:solidFill>
                  </a:tcPr>
                </a:tc>
                <a:tc>
                  <a:txBody>
                    <a:bodyPr/>
                    <a:lstStyle/>
                    <a:p>
                      <a:r>
                        <a:rPr lang="zh-CN" altLang="en-US" sz="1600" dirty="0">
                          <a:effectLst/>
                          <a:latin typeface="微软雅黑" panose="020B0503020204020204" pitchFamily="34" charset="-122"/>
                          <a:ea typeface="微软雅黑" panose="020B0503020204020204" pitchFamily="34" charset="-122"/>
                        </a:rPr>
                        <a:t>冗余消除（空间复杂度 </a:t>
                      </a:r>
                      <a:r>
                        <a:rPr lang="en-US" sz="1600" dirty="0">
                          <a:effectLst/>
                          <a:latin typeface="微软雅黑" panose="020B0503020204020204" pitchFamily="34" charset="-122"/>
                          <a:ea typeface="微软雅黑" panose="020B0503020204020204" pitchFamily="34" charset="-122"/>
                        </a:rPr>
                        <a:t>O(M), M ≪ N）</a:t>
                      </a:r>
                      <a:endParaRPr lang="en-US" sz="1600" dirty="0">
                        <a:effectLst/>
                        <a:latin typeface="微软雅黑" panose="020B0503020204020204" pitchFamily="34" charset="-122"/>
                        <a:ea typeface="微软雅黑" panose="020B0503020204020204" pitchFamily="34" charset="-122"/>
                      </a:endParaRPr>
                    </a:p>
                  </a:txBody>
                  <a:tcPr marL="152400" marR="152400" marT="100013" marB="100013" anchor="ctr">
                    <a:lnL w="9525" cap="flat" cmpd="sng" algn="ctr">
                      <a:solidFill>
                        <a:srgbClr val="40E6B1"/>
                      </a:solidFill>
                      <a:prstDash val="solid"/>
                      <a:round/>
                      <a:headEnd type="none" w="med" len="med"/>
                      <a:tailEnd type="none" w="med" len="med"/>
                    </a:lnL>
                    <a:lnR w="9525" cap="flat" cmpd="sng" algn="ctr">
                      <a:solidFill>
                        <a:srgbClr val="E0F0B1"/>
                      </a:solidFill>
                      <a:prstDash val="solid"/>
                      <a:round/>
                      <a:headEnd type="none" w="med" len="med"/>
                      <a:tailEnd type="none" w="med" len="med"/>
                    </a:lnR>
                    <a:lnT w="9525" cap="flat" cmpd="sng" algn="ctr">
                      <a:solidFill>
                        <a:srgbClr val="70E8B1"/>
                      </a:solidFill>
                      <a:prstDash val="solid"/>
                      <a:round/>
                      <a:headEnd type="none" w="med" len="med"/>
                      <a:tailEnd type="none" w="med" len="med"/>
                    </a:lnT>
                    <a:lnB w="9525" cap="flat" cmpd="sng" algn="ctr">
                      <a:solidFill>
                        <a:srgbClr val="E0F0B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616646" cy="4957760"/>
              </a:xfrm>
            </p:spPr>
            <p:txBody>
              <a:bodyPr>
                <a:normAutofit/>
              </a:bodyPr>
              <a:lstStyle/>
              <a:p>
                <a:r>
                  <a:rPr lang="zh-CN" altLang="en-US" dirty="0"/>
                  <a:t>泛关系假设</a:t>
                </a:r>
                <a:endParaRPr lang="en-US" altLang="zh-CN" dirty="0"/>
              </a:p>
              <a:p>
                <a:pPr lvl="1"/>
                <a:r>
                  <a:rPr lang="zh-CN" altLang="en-US" dirty="0"/>
                  <a:t>假设已知一个数据库</a:t>
                </a:r>
                <a14:m>
                  <m:oMath xmlns:m="http://schemas.openxmlformats.org/officeDocument/2006/math">
                    <m:r>
                      <a:rPr lang="en-US" altLang="zh-CN" i="1" dirty="0" smtClean="0">
                        <a:latin typeface="Cambria Math" panose="02040503050406030204" pitchFamily="18" charset="0"/>
                      </a:rPr>
                      <m:t>𝜎</m:t>
                    </m:r>
                    <m:r>
                      <a:rPr lang="en-US" altLang="zh-CN" i="1" dirty="0">
                        <a:latin typeface="Cambria Math" panose="02040503050406030204" pitchFamily="18" charset="0"/>
                      </a:rPr>
                      <m:t>=</m:t>
                    </m:r>
                    <m:r>
                      <a:rPr lang="en-US" altLang="zh-CN" i="1" dirty="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𝑟</m:t>
                        </m:r>
                      </m:e>
                      <m:sub>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m:t>
                    </m:r>
                    <m:r>
                      <a:rPr lang="en-US" altLang="zh-CN" i="1" dirty="0">
                        <a:latin typeface="Cambria Math" panose="02040503050406030204" pitchFamily="18" charset="0"/>
                      </a:rPr>
                      <m:t>…</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𝑟</m:t>
                        </m:r>
                      </m:e>
                      <m:sub>
                        <m:r>
                          <a:rPr lang="en-US" altLang="zh-CN" b="0" i="1" dirty="0" smtClean="0">
                            <a:latin typeface="Cambria Math" panose="02040503050406030204" pitchFamily="18" charset="0"/>
                          </a:rPr>
                          <m:t>𝑘</m:t>
                        </m:r>
                      </m:sub>
                    </m:sSub>
                    <m:r>
                      <a:rPr lang="en-US" altLang="zh-CN" i="1" dirty="0">
                        <a:latin typeface="Cambria Math" panose="02040503050406030204" pitchFamily="18" charset="0"/>
                      </a:rPr>
                      <m:t>＞</m:t>
                    </m:r>
                  </m:oMath>
                </a14:m>
                <a:r>
                  <a:rPr lang="zh-CN" altLang="en-US" dirty="0"/>
                  <a:t>，存在着仅由单个关系模式</a:t>
                </a:r>
                <a14:m>
                  <m:oMath xmlns:m="http://schemas.openxmlformats.org/officeDocument/2006/math">
                    <m:r>
                      <a:rPr lang="en-US" altLang="zh-CN" b="0" i="1" smtClean="0">
                        <a:latin typeface="Cambria Math" panose="02040503050406030204" pitchFamily="18" charset="0"/>
                      </a:rPr>
                      <m:t>𝑅</m:t>
                    </m:r>
                  </m:oMath>
                </a14:m>
                <a:r>
                  <a:rPr lang="zh-CN" altLang="en-US" dirty="0"/>
                  <a:t>上的对应实例</a:t>
                </a:r>
                <a14:m>
                  <m:oMath xmlns:m="http://schemas.openxmlformats.org/officeDocument/2006/math">
                    <m:r>
                      <a:rPr lang="en-US" altLang="zh-CN" b="0" i="1" dirty="0" smtClean="0">
                        <a:latin typeface="Cambria Math" panose="02040503050406030204" pitchFamily="18" charset="0"/>
                      </a:rPr>
                      <m:t>𝑟</m:t>
                    </m:r>
                  </m:oMath>
                </a14:m>
                <a:r>
                  <a:rPr lang="zh-CN" altLang="en-US" dirty="0"/>
                  <a:t>与之等价。</a:t>
                </a:r>
                <a:endParaRPr lang="en-US" altLang="zh-CN" dirty="0"/>
              </a:p>
              <a:p>
                <a:pPr lvl="1"/>
                <a:r>
                  <a:rPr lang="zh-CN" altLang="en-US" dirty="0"/>
                  <a:t>或者说，对于一个关系数据库，可以将所有属性放入一张（非常宽的）大表中，其同时可以被分解为多个小表。</a:t>
                </a:r>
                <a:endParaRPr lang="en-US" altLang="zh-CN" dirty="0"/>
              </a:p>
              <a:p>
                <a:pPr lvl="1"/>
                <a:r>
                  <a:rPr lang="zh-CN" altLang="en-US" dirty="0"/>
                  <a:t>再或者，先存在一个</a:t>
                </a:r>
                <a:r>
                  <a:rPr lang="en-US" altLang="zh-CN" dirty="0"/>
                  <a:t>r</a:t>
                </a:r>
                <a:r>
                  <a:rPr lang="zh-CN" altLang="en-US" dirty="0"/>
                  <a:t>的情况下，再去谈论分解。</a:t>
                </a:r>
                <a:endParaRPr lang="zh-CN" altLang="en-US" dirty="0"/>
              </a:p>
              <a:p>
                <a:pPr lvl="1"/>
                <a:endParaRPr lang="zh-CN" altLang="en-US"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616646" cy="4957760"/>
              </a:xfrm>
              <a:blipFill rotWithShape="1">
                <a:blip r:embed="rId1"/>
                <a:stretch>
                  <a:fillRect l="-2"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616646" cy="4957760"/>
              </a:xfrm>
            </p:spPr>
            <p:txBody>
              <a:bodyPr>
                <a:normAutofit/>
              </a:bodyPr>
              <a:lstStyle/>
              <a:p>
                <a:r>
                  <a:rPr lang="zh-CN" altLang="en-US" dirty="0"/>
                  <a:t>关系模式分解的定义</a:t>
                </a:r>
                <a:endParaRPr lang="en-US" altLang="zh-CN" dirty="0"/>
              </a:p>
              <a:p>
                <a:pPr lvl="1"/>
                <a:r>
                  <a:rPr lang="zh-CN" altLang="en-US" sz="2400" dirty="0"/>
                  <a:t>定义</a:t>
                </a:r>
                <a:r>
                  <a:rPr lang="en-US" altLang="zh-CN" sz="2400" dirty="0"/>
                  <a:t>4.14</a:t>
                </a:r>
                <a:r>
                  <a:rPr lang="zh-CN" altLang="en-US" sz="2400" dirty="0"/>
                  <a:t>：设</a:t>
                </a:r>
                <a14:m>
                  <m:oMath xmlns:m="http://schemas.openxmlformats.org/officeDocument/2006/math">
                    <m:r>
                      <a:rPr lang="en-US" altLang="zh-CN" sz="2400" i="1" dirty="0" smtClean="0">
                        <a:latin typeface="Cambria Math" panose="02040503050406030204" pitchFamily="18" charset="0"/>
                      </a:rPr>
                      <m:t>𝑅</m:t>
                    </m:r>
                    <m:r>
                      <a:rPr lang="en-US" altLang="zh-CN" sz="2400" i="1" dirty="0" smtClean="0">
                        <a:latin typeface="Cambria Math" panose="02040503050406030204" pitchFamily="18" charset="0"/>
                      </a:rPr>
                      <m:t>(</m:t>
                    </m:r>
                    <m:r>
                      <a:rPr lang="en-US" altLang="zh-CN" sz="2400" i="1" dirty="0" smtClean="0">
                        <a:latin typeface="Cambria Math" panose="02040503050406030204" pitchFamily="18" charset="0"/>
                      </a:rPr>
                      <m:t>𝑈</m:t>
                    </m:r>
                    <m:r>
                      <a:rPr lang="en-US" altLang="zh-CN" sz="2400" i="1" dirty="0" smtClean="0">
                        <a:latin typeface="Cambria Math" panose="02040503050406030204" pitchFamily="18" charset="0"/>
                      </a:rPr>
                      <m:t>)</m:t>
                    </m:r>
                  </m:oMath>
                </a14:m>
                <a:r>
                  <a:rPr lang="zh-CN" altLang="en-US" sz="2400" dirty="0"/>
                  <a:t>为关系模式，则称</a:t>
                </a:r>
                <a:r>
                  <a:rPr lang="en-US" altLang="zh-CN" sz="2400" dirty="0"/>
                  <a:t>:</a:t>
                </a:r>
                <a14:m>
                  <m:oMath xmlns:m="http://schemas.openxmlformats.org/officeDocument/2006/math">
                    <m:r>
                      <a:rPr lang="en-US" altLang="zh-CN" sz="2400" i="1" dirty="0" smtClean="0">
                        <a:latin typeface="Cambria Math" panose="02040503050406030204" pitchFamily="18" charset="0"/>
                      </a:rPr>
                      <m:t>𝜌</m:t>
                    </m:r>
                    <m:r>
                      <a:rPr lang="en-US" altLang="zh-CN" sz="2400" i="1" dirty="0">
                        <a:latin typeface="Cambria Math" panose="02040503050406030204" pitchFamily="18" charset="0"/>
                      </a:rPr>
                      <m:t>={</m:t>
                    </m:r>
                    <m:r>
                      <a:rPr lang="en-US" altLang="zh-CN" sz="2400" i="1" dirty="0">
                        <a:latin typeface="Cambria Math" panose="02040503050406030204" pitchFamily="18" charset="0"/>
                      </a:rPr>
                      <m:t>𝑅</m:t>
                    </m:r>
                    <m:r>
                      <a:rPr lang="en-US" altLang="zh-CN" sz="2400" i="1" baseline="-25000" dirty="0">
                        <a:latin typeface="Cambria Math" panose="02040503050406030204" pitchFamily="18" charset="0"/>
                      </a:rPr>
                      <m:t>1</m:t>
                    </m:r>
                    <m:r>
                      <a:rPr lang="en-US" altLang="zh-CN" sz="2400" i="1" dirty="0">
                        <a:latin typeface="Cambria Math" panose="02040503050406030204" pitchFamily="18" charset="0"/>
                      </a:rPr>
                      <m:t>(</m:t>
                    </m:r>
                    <m:r>
                      <a:rPr lang="en-US" altLang="zh-CN" sz="2400" i="1" dirty="0">
                        <a:latin typeface="Cambria Math" panose="02040503050406030204" pitchFamily="18" charset="0"/>
                      </a:rPr>
                      <m:t>𝑈</m:t>
                    </m:r>
                    <m:r>
                      <a:rPr lang="en-US" altLang="zh-CN" sz="2400" i="1" baseline="-25000" dirty="0">
                        <a:latin typeface="Cambria Math" panose="02040503050406030204" pitchFamily="18" charset="0"/>
                      </a:rPr>
                      <m:t>1</m:t>
                    </m:r>
                    <m:r>
                      <a:rPr lang="en-US" altLang="zh-CN" sz="2400" i="1" dirty="0">
                        <a:latin typeface="Cambria Math" panose="02040503050406030204" pitchFamily="18" charset="0"/>
                      </a:rPr>
                      <m:t>),</m:t>
                    </m:r>
                    <m:r>
                      <a:rPr lang="en-US" altLang="zh-CN" sz="2400" i="1" dirty="0">
                        <a:latin typeface="Cambria Math" panose="02040503050406030204" pitchFamily="18" charset="0"/>
                      </a:rPr>
                      <m:t>𝑅</m:t>
                    </m:r>
                    <m:r>
                      <a:rPr lang="en-US" altLang="zh-CN" sz="2400" i="1" baseline="-25000" dirty="0">
                        <a:latin typeface="Cambria Math" panose="02040503050406030204" pitchFamily="18" charset="0"/>
                      </a:rPr>
                      <m:t>2</m:t>
                    </m:r>
                    <m:r>
                      <a:rPr lang="en-US" altLang="zh-CN" sz="2400" i="1" dirty="0">
                        <a:latin typeface="Cambria Math" panose="02040503050406030204" pitchFamily="18" charset="0"/>
                      </a:rPr>
                      <m:t>(</m:t>
                    </m:r>
                    <m:r>
                      <a:rPr lang="en-US" altLang="zh-CN" sz="2400" i="1" dirty="0">
                        <a:latin typeface="Cambria Math" panose="02040503050406030204" pitchFamily="18" charset="0"/>
                      </a:rPr>
                      <m:t>𝑈</m:t>
                    </m:r>
                    <m:r>
                      <a:rPr lang="en-US" altLang="zh-CN" sz="2400" i="1" baseline="-25000" dirty="0">
                        <a:latin typeface="Cambria Math" panose="02040503050406030204" pitchFamily="18" charset="0"/>
                      </a:rPr>
                      <m:t>2</m:t>
                    </m:r>
                    <m:r>
                      <a:rPr lang="en-US" altLang="zh-CN" sz="2400" i="1" dirty="0">
                        <a:latin typeface="Cambria Math" panose="02040503050406030204" pitchFamily="18" charset="0"/>
                      </a:rPr>
                      <m:t>),…,</m:t>
                    </m:r>
                    <m:r>
                      <a:rPr lang="en-US" altLang="zh-CN" sz="2400" i="1" dirty="0" err="1">
                        <a:latin typeface="Cambria Math" panose="02040503050406030204" pitchFamily="18" charset="0"/>
                      </a:rPr>
                      <m:t>𝑅</m:t>
                    </m:r>
                    <m:r>
                      <a:rPr lang="en-US" altLang="zh-CN" sz="2400" i="1" baseline="-25000" dirty="0" err="1">
                        <a:latin typeface="Cambria Math" panose="02040503050406030204" pitchFamily="18" charset="0"/>
                      </a:rPr>
                      <m:t>𝑘</m:t>
                    </m:r>
                    <m:r>
                      <a:rPr lang="en-US" altLang="zh-CN" sz="2400" i="1" dirty="0">
                        <a:latin typeface="Cambria Math" panose="02040503050406030204" pitchFamily="18" charset="0"/>
                      </a:rPr>
                      <m:t>(</m:t>
                    </m:r>
                    <m:r>
                      <a:rPr lang="en-US" altLang="zh-CN" sz="2400" i="1" dirty="0">
                        <a:latin typeface="Cambria Math" panose="02040503050406030204" pitchFamily="18" charset="0"/>
                      </a:rPr>
                      <m:t>𝑈𝑘</m:t>
                    </m:r>
                    <m:r>
                      <a:rPr lang="en-US" altLang="zh-CN" sz="2400" i="1" dirty="0">
                        <a:latin typeface="Cambria Math" panose="02040503050406030204" pitchFamily="18" charset="0"/>
                      </a:rPr>
                      <m:t>)} </m:t>
                    </m:r>
                  </m:oMath>
                </a14:m>
                <a:r>
                  <a:rPr lang="en-US" altLang="zh-CN" sz="2400" dirty="0"/>
                  <a:t>(</a:t>
                </a:r>
                <a:r>
                  <a:rPr lang="zh-CN" altLang="en-US" sz="2400" dirty="0"/>
                  <a:t>其中</a:t>
                </a:r>
                <a14:m>
                  <m:oMath xmlns:m="http://schemas.openxmlformats.org/officeDocument/2006/math">
                    <m:r>
                      <a:rPr lang="en-US" altLang="zh-CN" sz="2400" b="0" i="1" smtClean="0">
                        <a:latin typeface="Cambria Math" panose="02040503050406030204" pitchFamily="18" charset="0"/>
                      </a:rPr>
                      <m:t>𝑈</m:t>
                    </m:r>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𝑘</m:t>
                        </m:r>
                      </m:sup>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𝑈</m:t>
                            </m:r>
                          </m:e>
                          <m:sub>
                            <m:r>
                              <a:rPr lang="en-US" altLang="zh-CN" sz="2400" b="0" i="1" smtClean="0">
                                <a:latin typeface="Cambria Math" panose="02040503050406030204" pitchFamily="18" charset="0"/>
                              </a:rPr>
                              <m:t>𝑖</m:t>
                            </m:r>
                          </m:sub>
                        </m:sSub>
                      </m:e>
                    </m:nary>
                  </m:oMath>
                </a14:m>
                <a:r>
                  <a:rPr lang="en-US" altLang="zh-CN" sz="2400" dirty="0"/>
                  <a:t>,</a:t>
                </a:r>
                <a:r>
                  <a:rPr lang="zh-CN" altLang="en-US" sz="2400" dirty="0"/>
                  <a:t>且对于任意的</a:t>
                </a:r>
                <a14:m>
                  <m:oMath xmlns:m="http://schemas.openxmlformats.org/officeDocument/2006/math">
                    <m:r>
                      <a:rPr lang="en-US" altLang="zh-CN" sz="2400" i="1" dirty="0" smtClean="0">
                        <a:latin typeface="Cambria Math" panose="02040503050406030204" pitchFamily="18" charset="0"/>
                      </a:rPr>
                      <m:t>1</m:t>
                    </m:r>
                    <m:r>
                      <a:rPr lang="en-US" altLang="en-US" sz="2400" i="1" dirty="0">
                        <a:latin typeface="Cambria Math" panose="02040503050406030204" pitchFamily="18" charset="0"/>
                      </a:rPr>
                      <m:t>≤</m:t>
                    </m:r>
                    <m:r>
                      <a:rPr lang="en-US" altLang="en-US" sz="2400" i="1" dirty="0">
                        <a:latin typeface="Cambria Math" panose="02040503050406030204" pitchFamily="18" charset="0"/>
                      </a:rPr>
                      <m:t>𝑖</m:t>
                    </m:r>
                    <m:r>
                      <a:rPr lang="en-US" altLang="en-US" sz="2400" i="1" dirty="0">
                        <a:latin typeface="Cambria Math" panose="02040503050406030204" pitchFamily="18" charset="0"/>
                      </a:rPr>
                      <m:t>,</m:t>
                    </m:r>
                    <m:r>
                      <a:rPr lang="en-US" altLang="en-US" sz="2400" i="1" dirty="0">
                        <a:latin typeface="Cambria Math" panose="02040503050406030204" pitchFamily="18" charset="0"/>
                      </a:rPr>
                      <m:t>𝑗</m:t>
                    </m:r>
                    <m:r>
                      <a:rPr lang="en-US" altLang="en-US" sz="2400" i="1" dirty="0">
                        <a:latin typeface="Cambria Math" panose="02040503050406030204" pitchFamily="18" charset="0"/>
                      </a:rPr>
                      <m:t>≤</m:t>
                    </m:r>
                    <m:r>
                      <a:rPr lang="en-US" altLang="en-US" sz="2400" i="1" dirty="0">
                        <a:latin typeface="Cambria Math" panose="02040503050406030204" pitchFamily="18" charset="0"/>
                      </a:rPr>
                      <m:t>𝑘</m:t>
                    </m:r>
                  </m:oMath>
                </a14:m>
                <a:r>
                  <a:rPr lang="en-US" altLang="zh-CN" sz="2400" dirty="0"/>
                  <a:t>没有</a:t>
                </a:r>
                <a14:m>
                  <m:oMath xmlns:m="http://schemas.openxmlformats.org/officeDocument/2006/math">
                    <m:r>
                      <a:rPr lang="en-US" altLang="zh-CN" sz="2400" i="1" dirty="0" smtClean="0">
                        <a:latin typeface="Cambria Math" panose="02040503050406030204" pitchFamily="18" charset="0"/>
                      </a:rPr>
                      <m:t>𝑈</m:t>
                    </m:r>
                    <m:r>
                      <a:rPr lang="en-US" altLang="zh-CN" sz="2400" i="1" baseline="-25000" dirty="0">
                        <a:latin typeface="Cambria Math" panose="02040503050406030204" pitchFamily="18" charset="0"/>
                      </a:rPr>
                      <m:t>𝑖</m:t>
                    </m:r>
                    <m:r>
                      <a:rPr lang="en-US" altLang="zh-CN" sz="2400" i="1" dirty="0">
                        <a:latin typeface="Cambria Math" panose="02040503050406030204" pitchFamily="18" charset="0"/>
                        <a:sym typeface="Symbol" panose="05050102010706020507" pitchFamily="18" charset="2"/>
                      </a:rPr>
                      <m:t></m:t>
                    </m:r>
                    <m:r>
                      <a:rPr lang="en-US" altLang="zh-CN" sz="2400" i="1" dirty="0">
                        <a:latin typeface="Cambria Math" panose="02040503050406030204" pitchFamily="18" charset="0"/>
                      </a:rPr>
                      <m:t>𝑈</m:t>
                    </m:r>
                    <m:r>
                      <a:rPr lang="en-US" altLang="zh-CN" sz="2400" i="1" baseline="-25000" dirty="0">
                        <a:latin typeface="Cambria Math" panose="02040503050406030204" pitchFamily="18" charset="0"/>
                      </a:rPr>
                      <m:t>𝑗</m:t>
                    </m:r>
                  </m:oMath>
                </a14:m>
                <a:r>
                  <a:rPr lang="en-US" altLang="zh-CN" sz="2400" dirty="0"/>
                  <a:t>)</a:t>
                </a:r>
                <a:r>
                  <a:rPr lang="zh-CN" altLang="en-US" sz="2400" dirty="0"/>
                  <a:t>为</a:t>
                </a:r>
                <a14:m>
                  <m:oMath xmlns:m="http://schemas.openxmlformats.org/officeDocument/2006/math">
                    <m:r>
                      <a:rPr lang="en-US" altLang="zh-CN" i="1" dirty="0">
                        <a:latin typeface="Cambria Math" panose="02040503050406030204" pitchFamily="18" charset="0"/>
                      </a:rPr>
                      <m:t>𝑅</m:t>
                    </m:r>
                  </m:oMath>
                </a14:m>
                <a:r>
                  <a:rPr lang="zh-CN" altLang="en-US" sz="2400" dirty="0"/>
                  <a:t>的一个分解。</a:t>
                </a:r>
                <a:endParaRPr lang="en-US" altLang="zh-CN" sz="2400" dirty="0"/>
              </a:p>
              <a:p>
                <a:pPr lvl="1"/>
                <a:r>
                  <a:rPr lang="zh-CN" altLang="en-US" sz="2400" dirty="0"/>
                  <a:t>定义</a:t>
                </a:r>
                <a:r>
                  <a:rPr lang="en-US" altLang="zh-CN" sz="2400" dirty="0"/>
                  <a:t>4.15</a:t>
                </a:r>
                <a:r>
                  <a:rPr lang="zh-CN" altLang="en-US" sz="2400" dirty="0"/>
                  <a:t>：函数依赖集</a:t>
                </a:r>
                <a14:m>
                  <m:oMath xmlns:m="http://schemas.openxmlformats.org/officeDocument/2006/math">
                    <m:r>
                      <a:rPr lang="en-US" altLang="zh-CN" sz="2400" i="1" dirty="0" smtClean="0">
                        <a:latin typeface="Cambria Math" panose="02040503050406030204" pitchFamily="18" charset="0"/>
                      </a:rPr>
                      <m:t>𝐹</m:t>
                    </m:r>
                  </m:oMath>
                </a14:m>
                <a:r>
                  <a:rPr lang="zh-CN" altLang="en-US" sz="2400" dirty="0"/>
                  <a:t>在属性集</a:t>
                </a:r>
                <a14:m>
                  <m:oMath xmlns:m="http://schemas.openxmlformats.org/officeDocument/2006/math">
                    <m:r>
                      <a:rPr lang="en-US" altLang="zh-CN" i="1" dirty="0">
                        <a:latin typeface="Cambria Math" panose="02040503050406030204" pitchFamily="18" charset="0"/>
                      </a:rPr>
                      <m:t>𝑈</m:t>
                    </m:r>
                    <m:r>
                      <a:rPr lang="en-US" altLang="zh-CN" i="1" baseline="-25000" dirty="0">
                        <a:latin typeface="Cambria Math" panose="02040503050406030204" pitchFamily="18" charset="0"/>
                      </a:rPr>
                      <m:t>𝑖</m:t>
                    </m:r>
                    <m:r>
                      <a:rPr lang="en-US" altLang="zh-CN" i="1" baseline="-25000" dirty="0">
                        <a:latin typeface="Cambria Math" panose="02040503050406030204" pitchFamily="18" charset="0"/>
                      </a:rPr>
                      <m:t> </m:t>
                    </m:r>
                    <m:r>
                      <a:rPr lang="en-US" altLang="zh-CN" sz="2400" i="1" dirty="0" smtClean="0">
                        <a:latin typeface="Cambria Math" panose="02040503050406030204" pitchFamily="18" charset="0"/>
                      </a:rPr>
                      <m:t>(</m:t>
                    </m:r>
                    <m:r>
                      <a:rPr lang="en-US" altLang="zh-CN" sz="2400" i="1" dirty="0">
                        <a:latin typeface="Cambria Math" panose="02040503050406030204" pitchFamily="18" charset="0"/>
                        <a:sym typeface="Symbol" panose="05050102010706020507" pitchFamily="18" charset="2"/>
                      </a:rPr>
                      <m:t></m:t>
                    </m:r>
                    <m:r>
                      <a:rPr lang="en-US" altLang="zh-CN" sz="2400" i="1" dirty="0">
                        <a:latin typeface="Cambria Math" panose="02040503050406030204" pitchFamily="18" charset="0"/>
                      </a:rPr>
                      <m:t>𝑈</m:t>
                    </m:r>
                    <m:r>
                      <a:rPr lang="en-US" altLang="zh-CN" sz="2400" i="1" dirty="0">
                        <a:latin typeface="Cambria Math" panose="02040503050406030204" pitchFamily="18" charset="0"/>
                      </a:rPr>
                      <m:t>)</m:t>
                    </m:r>
                  </m:oMath>
                </a14:m>
                <a:r>
                  <a:rPr lang="zh-CN" altLang="en-US" sz="2400" dirty="0"/>
                  <a:t>上的投影定义为：</a:t>
                </a:r>
                <a:endParaRPr lang="en-US" altLang="zh-CN" sz="2400" dirty="0"/>
              </a:p>
              <a:p>
                <a:pPr marL="457200" lvl="1" indent="0">
                  <a:buNone/>
                </a:pPr>
                <a14:m>
                  <m:oMathPara xmlns:m="http://schemas.openxmlformats.org/officeDocument/2006/math">
                    <m:oMathParaPr>
                      <m:jc m:val="centerGroup"/>
                    </m:oMathParaPr>
                    <m:oMath xmlns:m="http://schemas.openxmlformats.org/officeDocument/2006/math">
                      <m:nary>
                        <m:naryPr>
                          <m:chr m:val="∏"/>
                          <m:limLoc m:val="subSup"/>
                          <m:supHide m:val="on"/>
                          <m:ctrlPr>
                            <a:rPr lang="en-US" altLang="zh-CN" sz="2400" i="1" smtClean="0">
                              <a:latin typeface="Cambria Math" panose="02040503050406030204" pitchFamily="18" charset="0"/>
                            </a:rPr>
                          </m:ctrlPr>
                        </m:naryPr>
                        <m:sub>
                          <m:r>
                            <a:rPr lang="en-US" altLang="zh-CN" i="1" dirty="0">
                              <a:latin typeface="Cambria Math" panose="02040503050406030204" pitchFamily="18" charset="0"/>
                            </a:rPr>
                            <m:t>𝑈</m:t>
                          </m:r>
                          <m:r>
                            <a:rPr lang="en-US" altLang="zh-CN" i="1" baseline="-25000" dirty="0">
                              <a:latin typeface="Cambria Math" panose="02040503050406030204" pitchFamily="18" charset="0"/>
                            </a:rPr>
                            <m:t>𝑖</m:t>
                          </m:r>
                        </m:sub>
                        <m:sup/>
                        <m:e>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𝐹</m:t>
                              </m:r>
                            </m:e>
                          </m:d>
                          <m:r>
                            <a:rPr lang="en-US" altLang="zh-CN" sz="2400" b="0" i="1" smtClean="0">
                              <a:latin typeface="Cambria Math" panose="02040503050406030204" pitchFamily="18" charset="0"/>
                            </a:rPr>
                            <m:t>=</m:t>
                          </m:r>
                        </m:e>
                      </m:nary>
                      <m:r>
                        <a:rPr lang="en-US" altLang="zh-CN" sz="2400" b="0" i="1" smtClean="0">
                          <a:latin typeface="Cambria Math" panose="02040503050406030204" pitchFamily="18" charset="0"/>
                        </a:rPr>
                        <m:t>{</m:t>
                      </m:r>
                      <m:r>
                        <a:rPr lang="en-US" altLang="zh-CN" i="1" dirty="0">
                          <a:latin typeface="Cambria Math" panose="02040503050406030204" pitchFamily="18" charset="0"/>
                        </a:rPr>
                        <m:t>𝑋</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rPr>
                        <m:t>𝑌</m:t>
                      </m:r>
                      <m:r>
                        <a:rPr lang="en-US" altLang="zh-CN" b="0" i="1" dirty="0" smtClean="0">
                          <a:latin typeface="Cambria Math" panose="02040503050406030204" pitchFamily="18" charset="0"/>
                        </a:rPr>
                        <m:t>|</m:t>
                      </m:r>
                      <m:r>
                        <a:rPr lang="en-US" altLang="zh-CN" i="1" dirty="0">
                          <a:latin typeface="Cambria Math" panose="02040503050406030204" pitchFamily="18" charset="0"/>
                        </a:rPr>
                        <m:t>𝑋</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rPr>
                        <m:t>𝑌</m:t>
                      </m:r>
                      <m:r>
                        <a:rPr lang="en-US" altLang="zh-CN" i="1" dirty="0" smtClean="0">
                          <a:latin typeface="Cambria Math" panose="02040503050406030204" pitchFamily="18" charset="0"/>
                          <a:ea typeface="Cambria Math" panose="02040503050406030204" pitchFamily="18" charset="0"/>
                        </a:rPr>
                        <m:t>∈</m:t>
                      </m:r>
                      <m:sSup>
                        <m:sSupPr>
                          <m:ctrlPr>
                            <a:rPr lang="en-US" altLang="zh-CN" i="1" dirty="0" smtClean="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𝐹</m:t>
                          </m:r>
                        </m:e>
                        <m:sup>
                          <m:r>
                            <a:rPr lang="en-US" altLang="zh-CN" b="0" i="1" dirty="0" smtClean="0">
                              <a:latin typeface="Cambria Math" panose="02040503050406030204" pitchFamily="18" charset="0"/>
                              <a:ea typeface="Cambria Math" panose="02040503050406030204" pitchFamily="18" charset="0"/>
                            </a:rPr>
                            <m:t>+</m:t>
                          </m:r>
                        </m:sup>
                      </m:sSup>
                      <m:r>
                        <a:rPr lang="en-US" altLang="zh-CN"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𝑋𝑌</m:t>
                      </m:r>
                      <m:r>
                        <a:rPr lang="en-US" altLang="zh-CN" i="1" dirty="0">
                          <a:latin typeface="Cambria Math" panose="02040503050406030204" pitchFamily="18" charset="0"/>
                          <a:sym typeface="Symbol" panose="05050102010706020507" pitchFamily="18" charset="2"/>
                        </a:rPr>
                        <m:t></m:t>
                      </m:r>
                      <m:r>
                        <a:rPr lang="en-US" altLang="zh-CN" i="1" dirty="0">
                          <a:latin typeface="Cambria Math" panose="02040503050406030204" pitchFamily="18" charset="0"/>
                        </a:rPr>
                        <m:t>𝑈</m:t>
                      </m:r>
                      <m:r>
                        <a:rPr lang="en-US" altLang="zh-CN" i="1" baseline="-25000" dirty="0">
                          <a:latin typeface="Cambria Math" panose="02040503050406030204" pitchFamily="18" charset="0"/>
                        </a:rPr>
                        <m:t>𝑖</m:t>
                      </m:r>
                      <m:r>
                        <a:rPr lang="en-US" altLang="zh-CN" sz="2400" b="0" i="1" smtClean="0">
                          <a:latin typeface="Cambria Math" panose="02040503050406030204" pitchFamily="18" charset="0"/>
                        </a:rPr>
                        <m:t>}</m:t>
                      </m:r>
                    </m:oMath>
                  </m:oMathPara>
                </a14:m>
                <a:endParaRPr lang="en-US" altLang="zh-CN" sz="2400" dirty="0"/>
              </a:p>
              <a:p>
                <a:pPr lvl="1"/>
                <a14:m>
                  <m:oMath xmlns:m="http://schemas.openxmlformats.org/officeDocument/2006/math">
                    <m:r>
                      <a:rPr lang="en-US" altLang="zh-CN" i="1" dirty="0">
                        <a:latin typeface="Cambria Math" panose="02040503050406030204" pitchFamily="18" charset="0"/>
                      </a:rPr>
                      <m:t>𝑅</m:t>
                    </m:r>
                  </m:oMath>
                </a14:m>
                <a:r>
                  <a:rPr lang="zh-CN" altLang="en-US" sz="2400" dirty="0"/>
                  <a:t>称为泛关系模式，</a:t>
                </a:r>
                <a:r>
                  <a:rPr lang="en-US" altLang="zh-CN" dirty="0"/>
                  <a:t> </a:t>
                </a:r>
                <a14:m>
                  <m:oMath xmlns:m="http://schemas.openxmlformats.org/officeDocument/2006/math">
                    <m:r>
                      <a:rPr lang="en-US" altLang="zh-CN" i="1" dirty="0">
                        <a:latin typeface="Cambria Math" panose="02040503050406030204" pitchFamily="18" charset="0"/>
                      </a:rPr>
                      <m:t>𝑅</m:t>
                    </m:r>
                  </m:oMath>
                </a14:m>
                <a:r>
                  <a:rPr lang="zh-CN" altLang="en-US" sz="2400" dirty="0"/>
                  <a:t>对应的当前值称为泛关系</a:t>
                </a:r>
                <a:endParaRPr lang="en-US" altLang="zh-CN" sz="2400" dirty="0"/>
              </a:p>
              <a:p>
                <a:pPr lvl="1"/>
                <a:r>
                  <a:rPr lang="zh-CN" altLang="en-US" sz="2400" dirty="0"/>
                  <a:t>数据库对应的当前值</a:t>
                </a:r>
                <a14:m>
                  <m:oMath xmlns:m="http://schemas.openxmlformats.org/officeDocument/2006/math">
                    <m:r>
                      <a:rPr lang="en-US" altLang="zh-CN" i="1" dirty="0">
                        <a:latin typeface="Cambria Math" panose="02040503050406030204" pitchFamily="18" charset="0"/>
                      </a:rPr>
                      <m:t>𝜎</m:t>
                    </m:r>
                  </m:oMath>
                </a14:m>
                <a:r>
                  <a:rPr lang="zh-CN" altLang="en-US" sz="2400" dirty="0"/>
                  <a:t>称为数据库实例，它是由数据库模式中的每一个关系模式的当前值组成，即</a:t>
                </a:r>
                <a:endParaRPr lang="en-US" altLang="zh-CN" sz="2400" dirty="0"/>
              </a:p>
              <a:p>
                <a:pPr marL="457200" lvl="1" indent="0">
                  <a:buNone/>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𝜎</m:t>
                      </m:r>
                      <m:r>
                        <a:rPr lang="en-US" altLang="zh-CN" i="1" dirty="0">
                          <a:latin typeface="Cambria Math" panose="02040503050406030204" pitchFamily="18" charset="0"/>
                        </a:rPr>
                        <m:t>=</m:t>
                      </m:r>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𝑟</m:t>
                          </m:r>
                        </m:e>
                        <m:sub>
                          <m:r>
                            <a:rPr lang="en-US" altLang="zh-CN" i="1" dirty="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𝑟</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r>
                        <a:rPr lang="en-US" altLang="zh-CN" i="1" dirty="0">
                          <a:latin typeface="Cambria Math" panose="02040503050406030204" pitchFamily="18" charset="0"/>
                        </a:rPr>
                        <m:t>…</m:t>
                      </m:r>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𝑟</m:t>
                          </m:r>
                        </m:e>
                        <m:sub>
                          <m:r>
                            <a:rPr lang="en-US" altLang="zh-CN" i="1" dirty="0">
                              <a:latin typeface="Cambria Math" panose="02040503050406030204" pitchFamily="18" charset="0"/>
                            </a:rPr>
                            <m:t>𝑘</m:t>
                          </m:r>
                        </m:sub>
                      </m:sSub>
                      <m:r>
                        <a:rPr lang="en-US" altLang="zh-CN" i="1" dirty="0">
                          <a:latin typeface="Cambria Math" panose="02040503050406030204" pitchFamily="18" charset="0"/>
                        </a:rPr>
                        <m:t>＞</m:t>
                      </m:r>
                    </m:oMath>
                  </m:oMathPara>
                </a14:m>
                <a:endParaRPr lang="zh-CN" altLang="en-US" sz="2400" dirty="0"/>
              </a:p>
              <a:p>
                <a:pPr lvl="1"/>
                <a:endParaRPr lang="zh-CN" altLang="en-US"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616646" cy="4957760"/>
              </a:xfrm>
              <a:blipFill rotWithShape="1">
                <a:blip r:embed="rId1"/>
                <a:stretch>
                  <a:fillRect l="-2" r="2" b="-1944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616646" cy="4957760"/>
          </a:xfrm>
        </p:spPr>
        <p:txBody>
          <a:bodyPr>
            <a:normAutofit/>
          </a:bodyPr>
          <a:lstStyle/>
          <a:p>
            <a:r>
              <a:rPr lang="zh-CN" altLang="en-US" dirty="0"/>
              <a:t>泛关系模式</a:t>
            </a:r>
            <a:endParaRPr lang="en-US" altLang="zh-CN" dirty="0"/>
          </a:p>
          <a:p>
            <a:pPr lvl="1"/>
            <a:endParaRPr lang="zh-CN" altLang="en-US" dirty="0"/>
          </a:p>
          <a:p>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8" name="Text Box 6"/>
          <p:cNvSpPr txBox="1">
            <a:spLocks noChangeArrowheads="1"/>
          </p:cNvSpPr>
          <p:nvPr/>
        </p:nvSpPr>
        <p:spPr bwMode="auto">
          <a:xfrm>
            <a:off x="4603530" y="5110520"/>
            <a:ext cx="298494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lang="zh-CN" altLang="en-US" sz="2200" dirty="0">
                <a:latin typeface="微软雅黑" panose="020B0503020204020204" pitchFamily="34" charset="-122"/>
                <a:ea typeface="微软雅黑" panose="020B0503020204020204" pitchFamily="34" charset="-122"/>
              </a:rPr>
              <a:t>图</a:t>
            </a:r>
            <a:r>
              <a:rPr lang="en-US" altLang="zh-CN" sz="2200" dirty="0">
                <a:latin typeface="微软雅黑" panose="020B0503020204020204" pitchFamily="34" charset="-122"/>
                <a:ea typeface="微软雅黑" panose="020B0503020204020204" pitchFamily="34" charset="-122"/>
              </a:rPr>
              <a:t>4.5  </a:t>
            </a:r>
            <a:r>
              <a:rPr lang="zh-CN" altLang="en-US" sz="2200" dirty="0">
                <a:latin typeface="微软雅黑" panose="020B0503020204020204" pitchFamily="34" charset="-122"/>
                <a:ea typeface="微软雅黑" panose="020B0503020204020204" pitchFamily="34" charset="-122"/>
              </a:rPr>
              <a:t>模式分解示意图</a:t>
            </a:r>
            <a:r>
              <a:rPr lang="zh-CN" altLang="en-US" sz="2200" b="0" dirty="0">
                <a:latin typeface="微软雅黑" panose="020B0503020204020204" pitchFamily="34" charset="-122"/>
                <a:ea typeface="微软雅黑" panose="020B0503020204020204" pitchFamily="34" charset="-122"/>
              </a:rPr>
              <a:t> </a:t>
            </a:r>
            <a:endParaRPr lang="zh-CN" altLang="en-US" sz="2200" b="0" dirty="0">
              <a:latin typeface="微软雅黑" panose="020B0503020204020204" pitchFamily="34" charset="-122"/>
              <a:ea typeface="微软雅黑" panose="020B0503020204020204" pitchFamily="34" charset="-122"/>
            </a:endParaRPr>
          </a:p>
        </p:txBody>
      </p:sp>
      <p:sp>
        <p:nvSpPr>
          <p:cNvPr id="9" name="文本框 8"/>
          <p:cNvSpPr txBox="1"/>
          <p:nvPr/>
        </p:nvSpPr>
        <p:spPr>
          <a:xfrm>
            <a:off x="3502855" y="1885071"/>
            <a:ext cx="1645920" cy="430887"/>
          </a:xfrm>
          <a:prstGeom prst="rect">
            <a:avLst/>
          </a:prstGeom>
          <a:noFill/>
        </p:spPr>
        <p:txBody>
          <a:bodyPr wrap="square" rtlCol="0">
            <a:spAutoFit/>
          </a:bodyPr>
          <a:lstStyle/>
          <a:p>
            <a:r>
              <a:rPr kumimoji="1" lang="zh-CN" altLang="en-US" sz="2200" dirty="0">
                <a:latin typeface="微软雅黑" panose="020B0503020204020204" pitchFamily="34" charset="-122"/>
                <a:ea typeface="微软雅黑" panose="020B0503020204020204" pitchFamily="34" charset="-122"/>
              </a:rPr>
              <a:t>泛关系模式</a:t>
            </a:r>
            <a:endParaRPr kumimoji="1" lang="zh-CN" altLang="en-US" sz="22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7472675" y="1885071"/>
            <a:ext cx="1645920" cy="430887"/>
          </a:xfrm>
          <a:prstGeom prst="rect">
            <a:avLst/>
          </a:prstGeom>
          <a:noFill/>
        </p:spPr>
        <p:txBody>
          <a:bodyPr wrap="square" rtlCol="0">
            <a:spAutoFit/>
          </a:bodyPr>
          <a:lstStyle/>
          <a:p>
            <a:r>
              <a:rPr kumimoji="1" lang="zh-CN" altLang="en-US" sz="2200" dirty="0">
                <a:latin typeface="微软雅黑" panose="020B0503020204020204" pitchFamily="34" charset="-122"/>
                <a:ea typeface="微软雅黑" panose="020B0503020204020204" pitchFamily="34" charset="-122"/>
              </a:rPr>
              <a:t>数据库模式</a:t>
            </a:r>
            <a:endParaRPr kumimoji="1" lang="zh-CN" altLang="en-US" sz="22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1" name="文本框 10"/>
              <p:cNvSpPr txBox="1"/>
              <p:nvPr/>
            </p:nvSpPr>
            <p:spPr>
              <a:xfrm>
                <a:off x="3502855" y="2530926"/>
                <a:ext cx="1645920" cy="43088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kumimoji="1" lang="en-US" altLang="zh-CN" sz="2200" b="0" i="1" smtClean="0">
                          <a:latin typeface="Cambria Math" panose="02040503050406030204" pitchFamily="18" charset="0"/>
                          <a:ea typeface="微软雅黑" panose="020B0503020204020204" pitchFamily="34" charset="-122"/>
                        </a:rPr>
                        <m:t>𝑅</m:t>
                      </m:r>
                    </m:oMath>
                  </m:oMathPara>
                </a14:m>
                <a:endParaRPr kumimoji="1" lang="zh-CN" altLang="en-US" sz="2200" dirty="0">
                  <a:latin typeface="微软雅黑" panose="020B0503020204020204" pitchFamily="34" charset="-122"/>
                  <a:ea typeface="微软雅黑" panose="020B0503020204020204" pitchFamily="34"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3502855" y="2530926"/>
                <a:ext cx="1645920" cy="430887"/>
              </a:xfrm>
              <a:prstGeom prst="rect">
                <a:avLst/>
              </a:prstGeom>
              <a:blipFill rotWithShape="1">
                <a:blip r:embed="rId1"/>
                <a:stretch>
                  <a:fillRect l="-12" t="-105" r="12"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7380820" y="2530927"/>
                <a:ext cx="2227349" cy="43088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kumimoji="1" lang="en-US" altLang="zh-CN" sz="2200" b="0" i="1" smtClean="0">
                          <a:latin typeface="Cambria Math" panose="02040503050406030204" pitchFamily="18" charset="0"/>
                          <a:ea typeface="Cambria Math" panose="02040503050406030204" pitchFamily="18" charset="0"/>
                        </a:rPr>
                        <m:t>𝜌</m:t>
                      </m:r>
                      <m:r>
                        <a:rPr kumimoji="1" lang="en-US" altLang="zh-CN" sz="2200" b="0" i="1" smtClean="0">
                          <a:latin typeface="Cambria Math" panose="02040503050406030204" pitchFamily="18" charset="0"/>
                          <a:ea typeface="Cambria Math" panose="02040503050406030204" pitchFamily="18" charset="0"/>
                        </a:rPr>
                        <m:t>={</m:t>
                      </m:r>
                      <m:sSub>
                        <m:sSubPr>
                          <m:ctrlPr>
                            <a:rPr kumimoji="1" lang="en-US" altLang="zh-CN" sz="2200" b="0" i="1" smtClean="0">
                              <a:latin typeface="Cambria Math" panose="02040503050406030204" pitchFamily="18" charset="0"/>
                              <a:ea typeface="Cambria Math" panose="02040503050406030204" pitchFamily="18" charset="0"/>
                            </a:rPr>
                          </m:ctrlPr>
                        </m:sSubPr>
                        <m:e>
                          <m:r>
                            <a:rPr kumimoji="1" lang="en-US" altLang="zh-CN" sz="2200" b="0" i="1" smtClean="0">
                              <a:latin typeface="Cambria Math" panose="02040503050406030204" pitchFamily="18" charset="0"/>
                              <a:ea typeface="Cambria Math" panose="02040503050406030204" pitchFamily="18" charset="0"/>
                            </a:rPr>
                            <m:t>𝑅</m:t>
                          </m:r>
                        </m:e>
                        <m:sub>
                          <m:r>
                            <a:rPr kumimoji="1" lang="en-US" altLang="zh-CN" sz="2200" b="0" i="1" smtClean="0">
                              <a:latin typeface="Cambria Math" panose="02040503050406030204" pitchFamily="18" charset="0"/>
                              <a:ea typeface="Cambria Math" panose="02040503050406030204" pitchFamily="18" charset="0"/>
                            </a:rPr>
                            <m:t>1</m:t>
                          </m:r>
                        </m:sub>
                      </m:sSub>
                      <m:r>
                        <a:rPr kumimoji="1" lang="en-US" altLang="zh-CN" sz="2200" b="0" i="1" smtClean="0">
                          <a:latin typeface="Cambria Math" panose="02040503050406030204" pitchFamily="18" charset="0"/>
                          <a:ea typeface="Cambria Math" panose="02040503050406030204" pitchFamily="18" charset="0"/>
                        </a:rPr>
                        <m:t>,…,</m:t>
                      </m:r>
                      <m:sSub>
                        <m:sSubPr>
                          <m:ctrlPr>
                            <a:rPr kumimoji="1" lang="en-US" altLang="zh-CN" sz="2200" i="1">
                              <a:latin typeface="Cambria Math" panose="02040503050406030204" pitchFamily="18" charset="0"/>
                              <a:ea typeface="Cambria Math" panose="02040503050406030204" pitchFamily="18" charset="0"/>
                            </a:rPr>
                          </m:ctrlPr>
                        </m:sSubPr>
                        <m:e>
                          <m:r>
                            <a:rPr kumimoji="1" lang="en-US" altLang="zh-CN" sz="2200" i="1">
                              <a:latin typeface="Cambria Math" panose="02040503050406030204" pitchFamily="18" charset="0"/>
                              <a:ea typeface="Cambria Math" panose="02040503050406030204" pitchFamily="18" charset="0"/>
                            </a:rPr>
                            <m:t>𝑅</m:t>
                          </m:r>
                        </m:e>
                        <m:sub>
                          <m:r>
                            <a:rPr kumimoji="1" lang="en-US" altLang="zh-CN" sz="2200" b="0" i="1" smtClean="0">
                              <a:latin typeface="Cambria Math" panose="02040503050406030204" pitchFamily="18" charset="0"/>
                              <a:ea typeface="Cambria Math" panose="02040503050406030204" pitchFamily="18" charset="0"/>
                            </a:rPr>
                            <m:t>𝑘</m:t>
                          </m:r>
                        </m:sub>
                      </m:sSub>
                      <m:r>
                        <a:rPr kumimoji="1" lang="en-US" altLang="zh-CN" sz="2200" b="0" i="1" smtClean="0">
                          <a:latin typeface="Cambria Math" panose="02040503050406030204" pitchFamily="18" charset="0"/>
                          <a:ea typeface="Cambria Math" panose="02040503050406030204" pitchFamily="18" charset="0"/>
                        </a:rPr>
                        <m:t>}</m:t>
                      </m:r>
                    </m:oMath>
                  </m:oMathPara>
                </a14:m>
                <a:endParaRPr kumimoji="1" lang="zh-CN" altLang="en-US" sz="2200" dirty="0">
                  <a:latin typeface="微软雅黑" panose="020B0503020204020204" pitchFamily="34" charset="-122"/>
                  <a:ea typeface="微软雅黑" panose="020B0503020204020204" pitchFamily="34"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7380820" y="2530927"/>
                <a:ext cx="2227349" cy="430887"/>
              </a:xfrm>
              <a:prstGeom prst="rect">
                <a:avLst/>
              </a:prstGeom>
              <a:blipFill rotWithShape="1">
                <a:blip r:embed="rId2"/>
                <a:stretch>
                  <a:fillRect l="-10" t="-105" r="28"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3502855" y="3495464"/>
                <a:ext cx="1645920" cy="43088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kumimoji="1" lang="en-US" altLang="zh-CN" sz="2200" b="0" i="1" smtClean="0">
                          <a:latin typeface="Cambria Math" panose="02040503050406030204" pitchFamily="18" charset="0"/>
                          <a:ea typeface="微软雅黑" panose="020B0503020204020204" pitchFamily="34" charset="-122"/>
                        </a:rPr>
                        <m:t>𝑟</m:t>
                      </m:r>
                    </m:oMath>
                  </m:oMathPara>
                </a14:m>
                <a:endParaRPr kumimoji="1" lang="zh-CN" altLang="en-US" sz="2200" dirty="0">
                  <a:latin typeface="微软雅黑" panose="020B0503020204020204" pitchFamily="34" charset="-122"/>
                  <a:ea typeface="微软雅黑" panose="020B0503020204020204" pitchFamily="34" charset="-122"/>
                </a:endParaRPr>
              </a:p>
            </p:txBody>
          </p:sp>
        </mc:Choice>
        <mc:Fallback>
          <p:sp>
            <p:nvSpPr>
              <p:cNvPr id="13" name="文本框 12"/>
              <p:cNvSpPr txBox="1">
                <a:spLocks noRot="1" noChangeAspect="1" noMove="1" noResize="1" noEditPoints="1" noAdjustHandles="1" noChangeArrowheads="1" noChangeShapeType="1" noTextEdit="1"/>
              </p:cNvSpPr>
              <p:nvPr/>
            </p:nvSpPr>
            <p:spPr>
              <a:xfrm>
                <a:off x="3502855" y="3495464"/>
                <a:ext cx="1645920" cy="430887"/>
              </a:xfrm>
              <a:prstGeom prst="rect">
                <a:avLst/>
              </a:prstGeom>
              <a:blipFill rotWithShape="1">
                <a:blip r:embed="rId3"/>
                <a:stretch>
                  <a:fillRect l="-12" t="-98" r="12" b="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7380819" y="3495464"/>
                <a:ext cx="2227349" cy="43088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kumimoji="1" lang="en-US" altLang="zh-CN" sz="2200" b="0" i="1" smtClean="0">
                          <a:latin typeface="Cambria Math" panose="02040503050406030204" pitchFamily="18" charset="0"/>
                          <a:ea typeface="Cambria Math" panose="02040503050406030204" pitchFamily="18" charset="0"/>
                        </a:rPr>
                        <m:t>𝜎</m:t>
                      </m:r>
                      <m:r>
                        <a:rPr kumimoji="1" lang="en-US" altLang="zh-CN" sz="2200" b="0" i="1" smtClean="0">
                          <a:latin typeface="Cambria Math" panose="02040503050406030204" pitchFamily="18" charset="0"/>
                          <a:ea typeface="Cambria Math" panose="02040503050406030204" pitchFamily="18" charset="0"/>
                        </a:rPr>
                        <m:t>=&lt;</m:t>
                      </m:r>
                      <m:sSub>
                        <m:sSubPr>
                          <m:ctrlPr>
                            <a:rPr kumimoji="1" lang="en-US" altLang="zh-CN" sz="2200" i="1">
                              <a:latin typeface="Cambria Math" panose="02040503050406030204" pitchFamily="18" charset="0"/>
                              <a:ea typeface="Cambria Math" panose="02040503050406030204" pitchFamily="18" charset="0"/>
                            </a:rPr>
                          </m:ctrlPr>
                        </m:sSubPr>
                        <m:e>
                          <m:r>
                            <a:rPr kumimoji="1" lang="en-US" altLang="zh-CN" sz="2200" b="0" i="1" smtClean="0">
                              <a:latin typeface="Cambria Math" panose="02040503050406030204" pitchFamily="18" charset="0"/>
                              <a:ea typeface="Cambria Math" panose="02040503050406030204" pitchFamily="18" charset="0"/>
                            </a:rPr>
                            <m:t>𝑟</m:t>
                          </m:r>
                        </m:e>
                        <m:sub>
                          <m:r>
                            <a:rPr kumimoji="1" lang="en-US" altLang="zh-CN" sz="2200" i="1">
                              <a:latin typeface="Cambria Math" panose="02040503050406030204" pitchFamily="18" charset="0"/>
                              <a:ea typeface="Cambria Math" panose="02040503050406030204" pitchFamily="18" charset="0"/>
                            </a:rPr>
                            <m:t>1</m:t>
                          </m:r>
                        </m:sub>
                      </m:sSub>
                      <m:r>
                        <a:rPr kumimoji="1" lang="en-US" altLang="zh-CN" sz="2200" i="1">
                          <a:latin typeface="Cambria Math" panose="02040503050406030204" pitchFamily="18" charset="0"/>
                          <a:ea typeface="Cambria Math" panose="02040503050406030204" pitchFamily="18" charset="0"/>
                        </a:rPr>
                        <m:t>,…,</m:t>
                      </m:r>
                      <m:sSub>
                        <m:sSubPr>
                          <m:ctrlPr>
                            <a:rPr kumimoji="1" lang="en-US" altLang="zh-CN" sz="2200" i="1">
                              <a:latin typeface="Cambria Math" panose="02040503050406030204" pitchFamily="18" charset="0"/>
                              <a:ea typeface="Cambria Math" panose="02040503050406030204" pitchFamily="18" charset="0"/>
                            </a:rPr>
                          </m:ctrlPr>
                        </m:sSubPr>
                        <m:e>
                          <m:r>
                            <a:rPr kumimoji="1" lang="en-US" altLang="zh-CN" sz="2200" b="0" i="1" smtClean="0">
                              <a:latin typeface="Cambria Math" panose="02040503050406030204" pitchFamily="18" charset="0"/>
                              <a:ea typeface="Cambria Math" panose="02040503050406030204" pitchFamily="18" charset="0"/>
                            </a:rPr>
                            <m:t>𝑟</m:t>
                          </m:r>
                        </m:e>
                        <m:sub>
                          <m:r>
                            <a:rPr kumimoji="1" lang="en-US" altLang="zh-CN" sz="2200" i="1">
                              <a:latin typeface="Cambria Math" panose="02040503050406030204" pitchFamily="18" charset="0"/>
                              <a:ea typeface="Cambria Math" panose="02040503050406030204" pitchFamily="18" charset="0"/>
                            </a:rPr>
                            <m:t>𝑘</m:t>
                          </m:r>
                        </m:sub>
                      </m:sSub>
                      <m:r>
                        <a:rPr kumimoji="1" lang="en-US" altLang="zh-CN" sz="2200" b="0" i="1" smtClean="0">
                          <a:latin typeface="Cambria Math" panose="02040503050406030204" pitchFamily="18" charset="0"/>
                          <a:ea typeface="Cambria Math" panose="02040503050406030204" pitchFamily="18" charset="0"/>
                        </a:rPr>
                        <m:t>&gt;</m:t>
                      </m:r>
                    </m:oMath>
                  </m:oMathPara>
                </a14:m>
                <a:endParaRPr kumimoji="1" lang="zh-CN" altLang="en-US" sz="2200" dirty="0">
                  <a:latin typeface="微软雅黑" panose="020B0503020204020204" pitchFamily="34" charset="-122"/>
                  <a:ea typeface="微软雅黑" panose="020B0503020204020204" pitchFamily="34" charset="-122"/>
                </a:endParaRPr>
              </a:p>
            </p:txBody>
          </p:sp>
        </mc:Choice>
        <mc:Fallback>
          <p:sp>
            <p:nvSpPr>
              <p:cNvPr id="14" name="文本框 13"/>
              <p:cNvSpPr txBox="1">
                <a:spLocks noRot="1" noChangeAspect="1" noMove="1" noResize="1" noEditPoints="1" noAdjustHandles="1" noChangeArrowheads="1" noChangeShapeType="1" noTextEdit="1"/>
              </p:cNvSpPr>
              <p:nvPr/>
            </p:nvSpPr>
            <p:spPr>
              <a:xfrm>
                <a:off x="7380819" y="3495464"/>
                <a:ext cx="2227349" cy="430887"/>
              </a:xfrm>
              <a:prstGeom prst="rect">
                <a:avLst/>
              </a:prstGeom>
              <a:blipFill rotWithShape="1">
                <a:blip r:embed="rId4"/>
                <a:stretch>
                  <a:fillRect l="-10" t="-98" r="28" b="34"/>
                </a:stretch>
              </a:blipFill>
            </p:spPr>
            <p:txBody>
              <a:bodyPr/>
              <a:lstStyle/>
              <a:p>
                <a:r>
                  <a:rPr lang="zh-CN" altLang="en-US">
                    <a:noFill/>
                  </a:rPr>
                  <a:t> </a:t>
                </a:r>
              </a:p>
            </p:txBody>
          </p:sp>
        </mc:Fallback>
      </mc:AlternateContent>
      <p:sp>
        <p:nvSpPr>
          <p:cNvPr id="15" name="文本框 14"/>
          <p:cNvSpPr txBox="1"/>
          <p:nvPr/>
        </p:nvSpPr>
        <p:spPr>
          <a:xfrm>
            <a:off x="3775476" y="4302992"/>
            <a:ext cx="1100675" cy="430887"/>
          </a:xfrm>
          <a:prstGeom prst="rect">
            <a:avLst/>
          </a:prstGeom>
          <a:noFill/>
        </p:spPr>
        <p:txBody>
          <a:bodyPr wrap="square" rtlCol="0">
            <a:spAutoFit/>
          </a:bodyPr>
          <a:lstStyle/>
          <a:p>
            <a:r>
              <a:rPr kumimoji="1" lang="zh-CN" altLang="en-US" sz="2200" dirty="0">
                <a:latin typeface="微软雅黑" panose="020B0503020204020204" pitchFamily="34" charset="-122"/>
                <a:ea typeface="微软雅黑" panose="020B0503020204020204" pitchFamily="34" charset="-122"/>
              </a:rPr>
              <a:t>泛关系</a:t>
            </a:r>
            <a:endParaRPr kumimoji="1" lang="zh-CN" altLang="en-US" sz="2200"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7315850" y="4247967"/>
            <a:ext cx="2796740" cy="430887"/>
          </a:xfrm>
          <a:prstGeom prst="rect">
            <a:avLst/>
          </a:prstGeom>
          <a:noFill/>
        </p:spPr>
        <p:txBody>
          <a:bodyPr wrap="square" rtlCol="0">
            <a:spAutoFit/>
          </a:bodyPr>
          <a:lstStyle/>
          <a:p>
            <a:r>
              <a:rPr kumimoji="1" lang="zh-CN" altLang="en-US" sz="2200" dirty="0">
                <a:latin typeface="微软雅黑" panose="020B0503020204020204" pitchFamily="34" charset="-122"/>
                <a:ea typeface="微软雅黑" panose="020B0503020204020204" pitchFamily="34" charset="-122"/>
              </a:rPr>
              <a:t>数据库实例（数据库）</a:t>
            </a:r>
            <a:endParaRPr kumimoji="1" lang="zh-CN" altLang="en-US" sz="2200" dirty="0">
              <a:latin typeface="微软雅黑" panose="020B0503020204020204" pitchFamily="34" charset="-122"/>
              <a:ea typeface="微软雅黑" panose="020B0503020204020204" pitchFamily="34" charset="-122"/>
            </a:endParaRPr>
          </a:p>
        </p:txBody>
      </p:sp>
      <p:sp>
        <p:nvSpPr>
          <p:cNvPr id="17" name="右箭头 16"/>
          <p:cNvSpPr/>
          <p:nvPr/>
        </p:nvSpPr>
        <p:spPr>
          <a:xfrm>
            <a:off x="5303520" y="2746369"/>
            <a:ext cx="1364566" cy="215444"/>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18" name="右箭头 17"/>
          <p:cNvSpPr/>
          <p:nvPr/>
        </p:nvSpPr>
        <p:spPr>
          <a:xfrm>
            <a:off x="5303520" y="3858252"/>
            <a:ext cx="1364566" cy="215444"/>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616646" cy="4957760"/>
          </a:xfrm>
        </p:spPr>
        <p:txBody>
          <a:bodyPr>
            <a:normAutofit/>
          </a:bodyPr>
          <a:lstStyle/>
          <a:p>
            <a:r>
              <a:rPr lang="zh-CN" altLang="en-US" dirty="0"/>
              <a:t>泛关系模式</a:t>
            </a:r>
            <a:endParaRPr lang="en-US" altLang="zh-CN" dirty="0"/>
          </a:p>
          <a:p>
            <a:pPr lvl="1"/>
            <a:endParaRPr lang="zh-CN" altLang="en-US" dirty="0"/>
          </a:p>
          <a:p>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9" name="Rectangle 5"/>
          <p:cNvSpPr>
            <a:spLocks noChangeArrowheads="1"/>
          </p:cNvSpPr>
          <p:nvPr/>
        </p:nvSpPr>
        <p:spPr bwMode="auto">
          <a:xfrm>
            <a:off x="6818142" y="1712355"/>
            <a:ext cx="1524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000">
              <a:solidFill>
                <a:schemeClr val="bg1"/>
              </a:solidFill>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Rectangle 9"/>
              <p:cNvSpPr>
                <a:spLocks noChangeArrowheads="1"/>
              </p:cNvSpPr>
              <p:nvPr/>
            </p:nvSpPr>
            <p:spPr bwMode="auto">
              <a:xfrm>
                <a:off x="2875670" y="1321830"/>
                <a:ext cx="2286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pPr>
                <a:r>
                  <a:rPr lang="zh-CN" altLang="en-US" sz="2600" b="0" dirty="0">
                    <a:latin typeface="微软雅黑" panose="020B0503020204020204" pitchFamily="34" charset="-122"/>
                    <a:ea typeface="微软雅黑" panose="020B0503020204020204" pitchFamily="34" charset="-122"/>
                  </a:rPr>
                  <a:t>泛关系模式</a:t>
                </a:r>
                <a:endParaRPr lang="zh-CN" altLang="en-US" sz="2600" b="0" dirty="0">
                  <a:latin typeface="微软雅黑" panose="020B0503020204020204" pitchFamily="34" charset="-122"/>
                  <a:ea typeface="微软雅黑" panose="020B0503020204020204" pitchFamily="34" charset="-122"/>
                </a:endParaRPr>
              </a:p>
              <a:p>
                <a:pPr algn="ctr" eaLnBrk="1" hangingPunct="1">
                  <a:lnSpc>
                    <a:spcPct val="120000"/>
                  </a:lnSpc>
                </a:pPr>
                <a14:m>
                  <m:oMathPara xmlns:m="http://schemas.openxmlformats.org/officeDocument/2006/math">
                    <m:oMathParaPr>
                      <m:jc m:val="centerGroup"/>
                    </m:oMathParaPr>
                    <m:oMath xmlns:m="http://schemas.openxmlformats.org/officeDocument/2006/math">
                      <m:r>
                        <a:rPr lang="en-US" altLang="zh-CN" sz="2600" b="0" i="1" dirty="0" smtClean="0">
                          <a:latin typeface="Cambria Math" panose="02040503050406030204" pitchFamily="18" charset="0"/>
                          <a:ea typeface="微软雅黑" panose="020B0503020204020204" pitchFamily="34" charset="-122"/>
                        </a:rPr>
                        <m:t>𝑅</m:t>
                      </m:r>
                    </m:oMath>
                  </m:oMathPara>
                </a14:m>
                <a:endParaRPr lang="en-US" altLang="zh-CN" sz="2600" b="0" dirty="0">
                  <a:latin typeface="微软雅黑" panose="020B0503020204020204" pitchFamily="34" charset="-122"/>
                  <a:ea typeface="微软雅黑" panose="020B0503020204020204" pitchFamily="34" charset="-122"/>
                </a:endParaRPr>
              </a:p>
            </p:txBody>
          </p:sp>
        </mc:Choice>
        <mc:Fallback>
          <p:sp>
            <p:nvSpPr>
              <p:cNvPr id="12" name="Rectangle 9"/>
              <p:cNvSpPr>
                <a:spLocks noRot="1" noChangeAspect="1" noMove="1" noResize="1" noEditPoints="1" noAdjustHandles="1" noChangeArrowheads="1" noChangeShapeType="1" noTextEdit="1"/>
              </p:cNvSpPr>
              <p:nvPr/>
            </p:nvSpPr>
            <p:spPr bwMode="auto">
              <a:xfrm>
                <a:off x="2875670" y="1321830"/>
                <a:ext cx="2286000" cy="1066800"/>
              </a:xfrm>
              <a:prstGeom prst="rect">
                <a:avLst/>
              </a:prstGeom>
              <a:blipFill rotWithShape="1">
                <a:blip r:embed="rId1"/>
                <a:stretch>
                  <a:fillRect l="-17" t="-37" r="17" b="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3" name="Rectangle 10"/>
          <p:cNvSpPr>
            <a:spLocks noChangeArrowheads="1"/>
          </p:cNvSpPr>
          <p:nvPr/>
        </p:nvSpPr>
        <p:spPr bwMode="auto">
          <a:xfrm>
            <a:off x="3256670" y="2589302"/>
            <a:ext cx="1524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bIns="0"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pPr>
            <a:r>
              <a:rPr lang="en-US" altLang="zh-CN" sz="2600" b="0" dirty="0">
                <a:latin typeface="微软雅黑" panose="020B0503020204020204" pitchFamily="34" charset="-122"/>
                <a:ea typeface="微软雅黑" panose="020B0503020204020204" pitchFamily="34" charset="-122"/>
              </a:rPr>
              <a:t>r</a:t>
            </a:r>
            <a:endParaRPr lang="en-US" altLang="zh-CN" sz="2600" b="0" dirty="0">
              <a:latin typeface="微软雅黑" panose="020B0503020204020204" pitchFamily="34" charset="-122"/>
              <a:ea typeface="微软雅黑" panose="020B0503020204020204" pitchFamily="34" charset="-122"/>
            </a:endParaRPr>
          </a:p>
          <a:p>
            <a:pPr algn="ctr" eaLnBrk="1" hangingPunct="1">
              <a:lnSpc>
                <a:spcPct val="120000"/>
              </a:lnSpc>
            </a:pPr>
            <a:r>
              <a:rPr lang="zh-CN" altLang="en-US" sz="2600" b="0" dirty="0">
                <a:latin typeface="微软雅黑" panose="020B0503020204020204" pitchFamily="34" charset="-122"/>
                <a:ea typeface="微软雅黑" panose="020B0503020204020204" pitchFamily="34" charset="-122"/>
              </a:rPr>
              <a:t>泛关系</a:t>
            </a:r>
            <a:endParaRPr lang="zh-CN" altLang="en-US" sz="2600" b="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4" name="Rectangle 12"/>
              <p:cNvSpPr>
                <a:spLocks noChangeArrowheads="1"/>
              </p:cNvSpPr>
              <p:nvPr/>
            </p:nvSpPr>
            <p:spPr bwMode="auto">
              <a:xfrm>
                <a:off x="6488141" y="2606192"/>
                <a:ext cx="4724400" cy="1011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a:lnSpc>
                    <a:spcPct val="120000"/>
                  </a:lnSpc>
                </a:pPr>
                <a14:m>
                  <m:oMathPara xmlns:m="http://schemas.openxmlformats.org/officeDocument/2006/math">
                    <m:oMathParaPr>
                      <m:jc m:val="centerGroup"/>
                    </m:oMathParaPr>
                    <m:oMath xmlns:m="http://schemas.openxmlformats.org/officeDocument/2006/math">
                      <m:r>
                        <a:rPr lang="en-US" altLang="zh-CN" sz="2600" i="1" dirty="0">
                          <a:latin typeface="Cambria Math" panose="02040503050406030204" pitchFamily="18" charset="0"/>
                        </a:rPr>
                        <m:t>𝜎</m:t>
                      </m:r>
                      <m:r>
                        <a:rPr lang="en-US" altLang="zh-CN" sz="2600" i="1" dirty="0">
                          <a:latin typeface="Cambria Math" panose="02040503050406030204" pitchFamily="18" charset="0"/>
                        </a:rPr>
                        <m:t>=</m:t>
                      </m:r>
                      <m:r>
                        <a:rPr lang="en-US" altLang="zh-CN" sz="2600" i="1" dirty="0">
                          <a:latin typeface="Cambria Math" panose="02040503050406030204" pitchFamily="18" charset="0"/>
                        </a:rPr>
                        <m:t>＜</m:t>
                      </m:r>
                      <m:sSub>
                        <m:sSubPr>
                          <m:ctrlPr>
                            <a:rPr lang="en-US" altLang="zh-CN" sz="2600" i="1" dirty="0">
                              <a:latin typeface="Cambria Math" panose="02040503050406030204" pitchFamily="18" charset="0"/>
                            </a:rPr>
                          </m:ctrlPr>
                        </m:sSubPr>
                        <m:e>
                          <m:r>
                            <a:rPr lang="en-US" altLang="zh-CN" sz="2600" i="1" dirty="0">
                              <a:latin typeface="Cambria Math" panose="02040503050406030204" pitchFamily="18" charset="0"/>
                            </a:rPr>
                            <m:t>𝑟</m:t>
                          </m:r>
                        </m:e>
                        <m:sub>
                          <m:r>
                            <a:rPr lang="en-US" altLang="zh-CN" sz="2600" i="1" dirty="0">
                              <a:latin typeface="Cambria Math" panose="02040503050406030204" pitchFamily="18" charset="0"/>
                            </a:rPr>
                            <m:t>1</m:t>
                          </m:r>
                        </m:sub>
                      </m:sSub>
                      <m:r>
                        <a:rPr lang="en-US" altLang="zh-CN" sz="2600" b="0" i="1" dirty="0">
                          <a:latin typeface="Cambria Math" panose="02040503050406030204" pitchFamily="18" charset="0"/>
                        </a:rPr>
                        <m:t>,</m:t>
                      </m:r>
                      <m:sSub>
                        <m:sSubPr>
                          <m:ctrlPr>
                            <a:rPr lang="en-US" altLang="zh-CN" sz="2600" i="1" dirty="0">
                              <a:latin typeface="Cambria Math" panose="02040503050406030204" pitchFamily="18" charset="0"/>
                            </a:rPr>
                          </m:ctrlPr>
                        </m:sSubPr>
                        <m:e>
                          <m:r>
                            <a:rPr lang="en-US" altLang="zh-CN" sz="2600" i="1" dirty="0">
                              <a:latin typeface="Cambria Math" panose="02040503050406030204" pitchFamily="18" charset="0"/>
                            </a:rPr>
                            <m:t>𝑟</m:t>
                          </m:r>
                        </m:e>
                        <m:sub>
                          <m:r>
                            <a:rPr lang="en-US" altLang="zh-CN" sz="2600" b="0" i="1" dirty="0">
                              <a:latin typeface="Cambria Math" panose="02040503050406030204" pitchFamily="18" charset="0"/>
                            </a:rPr>
                            <m:t>2</m:t>
                          </m:r>
                        </m:sub>
                      </m:sSub>
                      <m:r>
                        <a:rPr lang="en-US" altLang="zh-CN" sz="2600" b="0" i="1" dirty="0">
                          <a:latin typeface="Cambria Math" panose="02040503050406030204" pitchFamily="18" charset="0"/>
                        </a:rPr>
                        <m:t>,</m:t>
                      </m:r>
                      <m:r>
                        <a:rPr lang="en-US" altLang="zh-CN" sz="2600" i="1" dirty="0">
                          <a:latin typeface="Cambria Math" panose="02040503050406030204" pitchFamily="18" charset="0"/>
                        </a:rPr>
                        <m:t>…</m:t>
                      </m:r>
                      <m:r>
                        <a:rPr lang="en-US" altLang="zh-CN" sz="2600" b="0" i="1" dirty="0">
                          <a:latin typeface="Cambria Math" panose="02040503050406030204" pitchFamily="18" charset="0"/>
                        </a:rPr>
                        <m:t>,</m:t>
                      </m:r>
                      <m:sSub>
                        <m:sSubPr>
                          <m:ctrlPr>
                            <a:rPr lang="en-US" altLang="zh-CN" sz="2600" i="1" dirty="0">
                              <a:latin typeface="Cambria Math" panose="02040503050406030204" pitchFamily="18" charset="0"/>
                            </a:rPr>
                          </m:ctrlPr>
                        </m:sSubPr>
                        <m:e>
                          <m:r>
                            <a:rPr lang="en-US" altLang="zh-CN" sz="2600" i="1" dirty="0">
                              <a:latin typeface="Cambria Math" panose="02040503050406030204" pitchFamily="18" charset="0"/>
                            </a:rPr>
                            <m:t>𝑟</m:t>
                          </m:r>
                        </m:e>
                        <m:sub>
                          <m:r>
                            <a:rPr lang="en-US" altLang="zh-CN" sz="2600" i="1" dirty="0">
                              <a:latin typeface="Cambria Math" panose="02040503050406030204" pitchFamily="18" charset="0"/>
                            </a:rPr>
                            <m:t>𝑘</m:t>
                          </m:r>
                        </m:sub>
                      </m:sSub>
                      <m:r>
                        <a:rPr lang="en-US" altLang="zh-CN" sz="2600" i="1" dirty="0">
                          <a:latin typeface="Cambria Math" panose="02040503050406030204" pitchFamily="18" charset="0"/>
                        </a:rPr>
                        <m:t>＞</m:t>
                      </m:r>
                    </m:oMath>
                  </m:oMathPara>
                </a14:m>
                <a:endParaRPr lang="en-US" altLang="zh-CN" sz="2600" b="0" dirty="0">
                  <a:latin typeface="微软雅黑" panose="020B0503020204020204" pitchFamily="34" charset="-122"/>
                  <a:ea typeface="微软雅黑" panose="020B0503020204020204" pitchFamily="34" charset="-122"/>
                </a:endParaRPr>
              </a:p>
              <a:p>
                <a:pPr algn="ctr">
                  <a:lnSpc>
                    <a:spcPct val="120000"/>
                  </a:lnSpc>
                </a:pPr>
                <a:r>
                  <a:rPr lang="zh-CN" altLang="en-US" sz="2600" b="0" dirty="0">
                    <a:latin typeface="微软雅黑" panose="020B0503020204020204" pitchFamily="34" charset="-122"/>
                    <a:ea typeface="微软雅黑" panose="020B0503020204020204" pitchFamily="34" charset="-122"/>
                  </a:rPr>
                  <a:t>数据库实例(数据库)</a:t>
                </a:r>
                <a:endParaRPr lang="zh-CN" altLang="en-US" sz="2600" b="0" dirty="0">
                  <a:latin typeface="微软雅黑" panose="020B0503020204020204" pitchFamily="34" charset="-122"/>
                  <a:ea typeface="微软雅黑" panose="020B0503020204020204" pitchFamily="34" charset="-122"/>
                </a:endParaRPr>
              </a:p>
            </p:txBody>
          </p:sp>
        </mc:Choice>
        <mc:Fallback>
          <p:sp>
            <p:nvSpPr>
              <p:cNvPr id="14" name="Rectangle 12"/>
              <p:cNvSpPr>
                <a:spLocks noRot="1" noChangeAspect="1" noMove="1" noResize="1" noEditPoints="1" noAdjustHandles="1" noChangeArrowheads="1" noChangeShapeType="1" noTextEdit="1"/>
              </p:cNvSpPr>
              <p:nvPr/>
            </p:nvSpPr>
            <p:spPr bwMode="auto">
              <a:xfrm>
                <a:off x="6488141" y="2606192"/>
                <a:ext cx="4724400" cy="1011880"/>
              </a:xfrm>
              <a:prstGeom prst="rect">
                <a:avLst/>
              </a:prstGeom>
              <a:blipFill rotWithShape="1">
                <a:blip r:embed="rId2"/>
                <a:stretch>
                  <a:fillRect l="-7" t="-15" r="7" b="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Rectangle 13"/>
              <p:cNvSpPr>
                <a:spLocks noChangeArrowheads="1"/>
              </p:cNvSpPr>
              <p:nvPr/>
            </p:nvSpPr>
            <p:spPr bwMode="auto">
              <a:xfrm>
                <a:off x="2570870" y="3795155"/>
                <a:ext cx="2819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600" b="0" dirty="0">
                    <a:latin typeface="微软雅黑" panose="020B0503020204020204" pitchFamily="34" charset="-122"/>
                    <a:ea typeface="微软雅黑" panose="020B0503020204020204" pitchFamily="34" charset="-122"/>
                  </a:rPr>
                  <a:t>函数依赖集</a:t>
                </a:r>
                <a14:m>
                  <m:oMath xmlns:m="http://schemas.openxmlformats.org/officeDocument/2006/math">
                    <m:r>
                      <a:rPr lang="en-US" altLang="zh-CN" sz="2600" b="0" i="1" dirty="0" smtClean="0">
                        <a:latin typeface="Cambria Math" panose="02040503050406030204" pitchFamily="18" charset="0"/>
                        <a:ea typeface="微软雅黑" panose="020B0503020204020204" pitchFamily="34" charset="-122"/>
                      </a:rPr>
                      <m:t>𝐹</m:t>
                    </m:r>
                  </m:oMath>
                </a14:m>
                <a:endParaRPr lang="en-US" altLang="zh-CN" sz="2600" b="0" dirty="0">
                  <a:latin typeface="微软雅黑" panose="020B0503020204020204" pitchFamily="34" charset="-122"/>
                  <a:ea typeface="微软雅黑" panose="020B0503020204020204" pitchFamily="34" charset="-122"/>
                </a:endParaRPr>
              </a:p>
            </p:txBody>
          </p:sp>
        </mc:Choice>
        <mc:Fallback>
          <p:sp>
            <p:nvSpPr>
              <p:cNvPr id="15" name="Rectangle 13"/>
              <p:cNvSpPr>
                <a:spLocks noRot="1" noChangeAspect="1" noMove="1" noResize="1" noEditPoints="1" noAdjustHandles="1" noChangeArrowheads="1" noChangeShapeType="1" noTextEdit="1"/>
              </p:cNvSpPr>
              <p:nvPr/>
            </p:nvSpPr>
            <p:spPr bwMode="auto">
              <a:xfrm>
                <a:off x="2570870" y="3795155"/>
                <a:ext cx="2819400" cy="685800"/>
              </a:xfrm>
              <a:prstGeom prst="rect">
                <a:avLst/>
              </a:prstGeom>
              <a:blipFill rotWithShape="1">
                <a:blip r:embed="rId3"/>
                <a:stretch>
                  <a:fillRect l="-14" t="-58" r="14" b="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6" name="Rectangle 14"/>
          <p:cNvSpPr>
            <a:spLocks noChangeArrowheads="1"/>
          </p:cNvSpPr>
          <p:nvPr/>
        </p:nvSpPr>
        <p:spPr bwMode="auto">
          <a:xfrm>
            <a:off x="5031547" y="3781649"/>
            <a:ext cx="1905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tIns="0" bIns="0"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600" dirty="0">
                <a:latin typeface="微软雅黑" panose="020B0503020204020204" pitchFamily="34" charset="-122"/>
                <a:ea typeface="微软雅黑" panose="020B0503020204020204" pitchFamily="34" charset="-122"/>
              </a:rPr>
              <a:t>………</a:t>
            </a:r>
            <a:endParaRPr lang="en-US" altLang="zh-CN" sz="26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7" name="Rectangle 15"/>
              <p:cNvSpPr>
                <a:spLocks noChangeArrowheads="1"/>
              </p:cNvSpPr>
              <p:nvPr/>
            </p:nvSpPr>
            <p:spPr bwMode="auto">
              <a:xfrm>
                <a:off x="7593041" y="3795155"/>
                <a:ext cx="2819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14:m>
                  <m:oMathPara xmlns:m="http://schemas.openxmlformats.org/officeDocument/2006/math">
                    <m:oMathParaPr>
                      <m:jc m:val="centerGroup"/>
                    </m:oMathParaPr>
                    <m:oMath xmlns:m="http://schemas.openxmlformats.org/officeDocument/2006/math">
                      <m:r>
                        <a:rPr lang="en-US" altLang="zh-CN" sz="2600" i="1" dirty="0" smtClean="0">
                          <a:latin typeface="Cambria Math" panose="02040503050406030204" pitchFamily="18" charset="0"/>
                        </a:rPr>
                        <m:t>{</m:t>
                      </m:r>
                      <m:r>
                        <a:rPr lang="en-US" altLang="zh-CN" sz="2600" i="1" dirty="0" smtClean="0">
                          <a:latin typeface="Cambria Math" panose="02040503050406030204" pitchFamily="18" charset="0"/>
                        </a:rPr>
                        <m:t>𝐹</m:t>
                      </m:r>
                      <m:r>
                        <a:rPr lang="en-US" altLang="zh-CN" sz="2600" i="1" baseline="-25000" dirty="0">
                          <a:latin typeface="Cambria Math" panose="02040503050406030204" pitchFamily="18" charset="0"/>
                        </a:rPr>
                        <m:t>1</m:t>
                      </m:r>
                      <m:r>
                        <a:rPr lang="en-US" altLang="zh-CN" sz="2600" i="1" dirty="0">
                          <a:latin typeface="Cambria Math" panose="02040503050406030204" pitchFamily="18" charset="0"/>
                        </a:rPr>
                        <m:t>，</m:t>
                      </m:r>
                      <m:r>
                        <a:rPr lang="en-US" altLang="zh-CN" sz="2600" i="1" dirty="0">
                          <a:latin typeface="Cambria Math" panose="02040503050406030204" pitchFamily="18" charset="0"/>
                        </a:rPr>
                        <m:t>…</m:t>
                      </m:r>
                      <m:r>
                        <a:rPr lang="en-US" altLang="zh-CN" sz="2600" i="1" dirty="0">
                          <a:latin typeface="Cambria Math" panose="02040503050406030204" pitchFamily="18" charset="0"/>
                        </a:rPr>
                        <m:t>，</m:t>
                      </m:r>
                      <m:r>
                        <a:rPr lang="en-US" altLang="zh-CN" sz="2600" i="1" dirty="0" err="1">
                          <a:latin typeface="Cambria Math" panose="02040503050406030204" pitchFamily="18" charset="0"/>
                        </a:rPr>
                        <m:t>𝐹</m:t>
                      </m:r>
                      <m:r>
                        <a:rPr lang="en-US" altLang="zh-CN" sz="2600" i="1" baseline="-25000" dirty="0" err="1">
                          <a:latin typeface="Cambria Math" panose="02040503050406030204" pitchFamily="18" charset="0"/>
                        </a:rPr>
                        <m:t>𝑘</m:t>
                      </m:r>
                      <m:r>
                        <a:rPr lang="en-US" altLang="zh-CN" sz="2600" i="1" dirty="0">
                          <a:latin typeface="Cambria Math" panose="02040503050406030204" pitchFamily="18" charset="0"/>
                        </a:rPr>
                        <m:t>}</m:t>
                      </m:r>
                    </m:oMath>
                  </m:oMathPara>
                </a14:m>
                <a:endParaRPr lang="en-US" altLang="zh-CN" sz="2600" dirty="0"/>
              </a:p>
            </p:txBody>
          </p:sp>
        </mc:Choice>
        <mc:Fallback>
          <p:sp>
            <p:nvSpPr>
              <p:cNvPr id="17" name="Rectangle 15"/>
              <p:cNvSpPr>
                <a:spLocks noRot="1" noChangeAspect="1" noMove="1" noResize="1" noEditPoints="1" noAdjustHandles="1" noChangeArrowheads="1" noChangeShapeType="1" noTextEdit="1"/>
              </p:cNvSpPr>
              <p:nvPr/>
            </p:nvSpPr>
            <p:spPr bwMode="auto">
              <a:xfrm>
                <a:off x="7593041" y="3795155"/>
                <a:ext cx="2819400" cy="685800"/>
              </a:xfrm>
              <a:prstGeom prst="rect">
                <a:avLst/>
              </a:prstGeom>
              <a:blipFill rotWithShape="1">
                <a:blip r:embed="rId4"/>
                <a:stretch>
                  <a:fillRect l="-12" t="-58" r="12" b="5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Rectangle 11"/>
              <p:cNvSpPr>
                <a:spLocks noChangeArrowheads="1"/>
              </p:cNvSpPr>
              <p:nvPr/>
            </p:nvSpPr>
            <p:spPr bwMode="auto">
              <a:xfrm>
                <a:off x="6795789" y="1296952"/>
                <a:ext cx="3944479" cy="105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a:lnSpc>
                    <a:spcPct val="120000"/>
                  </a:lnSpc>
                </a:pPr>
                <a:r>
                  <a:rPr lang="zh-CN" altLang="en-US" sz="2600" b="0" dirty="0">
                    <a:latin typeface="微软雅黑" panose="020B0503020204020204" pitchFamily="34" charset="-122"/>
                    <a:ea typeface="微软雅黑" panose="020B0503020204020204" pitchFamily="34" charset="-122"/>
                  </a:rPr>
                  <a:t>数据库模式</a:t>
                </a:r>
                <a:endParaRPr lang="zh-CN" altLang="en-US" sz="2600" b="0" dirty="0">
                  <a:latin typeface="微软雅黑" panose="020B0503020204020204" pitchFamily="34" charset="-122"/>
                  <a:ea typeface="微软雅黑" panose="020B0503020204020204" pitchFamily="34" charset="-122"/>
                </a:endParaRPr>
              </a:p>
              <a:p>
                <a:pPr>
                  <a:lnSpc>
                    <a:spcPct val="120000"/>
                  </a:lnSpc>
                </a:pPr>
                <a14:m>
                  <m:oMathPara xmlns:m="http://schemas.openxmlformats.org/officeDocument/2006/math">
                    <m:oMathParaPr>
                      <m:jc m:val="centerGroup"/>
                    </m:oMathParaPr>
                    <m:oMath xmlns:m="http://schemas.openxmlformats.org/officeDocument/2006/math">
                      <m:r>
                        <a:rPr lang="en-US" altLang="zh-CN" sz="2600" b="0" i="1" dirty="0" smtClean="0">
                          <a:latin typeface="Cambria Math" panose="02040503050406030204" pitchFamily="18" charset="0"/>
                          <a:ea typeface="微软雅黑" panose="020B0503020204020204" pitchFamily="34" charset="-122"/>
                        </a:rPr>
                        <m:t>𝜌</m:t>
                      </m:r>
                      <m:r>
                        <a:rPr lang="en-US" altLang="zh-CN" sz="2600" b="0" i="1" dirty="0">
                          <a:latin typeface="Cambria Math" panose="02040503050406030204" pitchFamily="18" charset="0"/>
                          <a:ea typeface="微软雅黑" panose="020B0503020204020204" pitchFamily="34" charset="-122"/>
                        </a:rPr>
                        <m:t>={</m:t>
                      </m:r>
                      <m:r>
                        <a:rPr lang="en-US" altLang="zh-CN" sz="2600" b="0" i="1" dirty="0">
                          <a:latin typeface="Cambria Math" panose="02040503050406030204" pitchFamily="18" charset="0"/>
                          <a:ea typeface="微软雅黑" panose="020B0503020204020204" pitchFamily="34" charset="-122"/>
                        </a:rPr>
                        <m:t>𝑅</m:t>
                      </m:r>
                      <m:r>
                        <a:rPr lang="en-US" altLang="zh-CN" sz="2600" b="0" i="1" baseline="-25000" dirty="0">
                          <a:latin typeface="Cambria Math" panose="02040503050406030204" pitchFamily="18" charset="0"/>
                          <a:ea typeface="微软雅黑" panose="020B0503020204020204" pitchFamily="34" charset="-122"/>
                        </a:rPr>
                        <m:t>1</m:t>
                      </m:r>
                      <m:r>
                        <a:rPr lang="en-US" altLang="zh-CN" sz="2600" b="0" i="1" dirty="0">
                          <a:latin typeface="Cambria Math" panose="02040503050406030204" pitchFamily="18" charset="0"/>
                          <a:ea typeface="微软雅黑" panose="020B0503020204020204" pitchFamily="34" charset="-122"/>
                        </a:rPr>
                        <m:t>，</m:t>
                      </m:r>
                      <m:r>
                        <a:rPr lang="en-US" altLang="zh-CN" sz="2600" b="0" i="1" dirty="0">
                          <a:latin typeface="Cambria Math" panose="02040503050406030204" pitchFamily="18" charset="0"/>
                          <a:ea typeface="微软雅黑" panose="020B0503020204020204" pitchFamily="34" charset="-122"/>
                        </a:rPr>
                        <m:t>…</m:t>
                      </m:r>
                      <m:r>
                        <a:rPr lang="en-US" altLang="zh-CN" sz="2600" b="0" i="1" dirty="0">
                          <a:latin typeface="Cambria Math" panose="02040503050406030204" pitchFamily="18" charset="0"/>
                          <a:ea typeface="微软雅黑" panose="020B0503020204020204" pitchFamily="34" charset="-122"/>
                        </a:rPr>
                        <m:t>，</m:t>
                      </m:r>
                      <m:r>
                        <a:rPr lang="en-US" altLang="zh-CN" sz="2600" b="0" i="1" dirty="0" err="1">
                          <a:latin typeface="Cambria Math" panose="02040503050406030204" pitchFamily="18" charset="0"/>
                          <a:ea typeface="微软雅黑" panose="020B0503020204020204" pitchFamily="34" charset="-122"/>
                        </a:rPr>
                        <m:t>𝑅</m:t>
                      </m:r>
                      <m:r>
                        <a:rPr lang="en-US" altLang="zh-CN" sz="2600" b="0" i="1" baseline="-25000" dirty="0" err="1">
                          <a:latin typeface="Cambria Math" panose="02040503050406030204" pitchFamily="18" charset="0"/>
                          <a:ea typeface="微软雅黑" panose="020B0503020204020204" pitchFamily="34" charset="-122"/>
                        </a:rPr>
                        <m:t>𝑘</m:t>
                      </m:r>
                      <m:r>
                        <a:rPr lang="en-US" altLang="zh-CN" sz="2600" b="0" i="1" dirty="0">
                          <a:latin typeface="Cambria Math" panose="02040503050406030204" pitchFamily="18" charset="0"/>
                          <a:ea typeface="微软雅黑" panose="020B0503020204020204" pitchFamily="34" charset="-122"/>
                        </a:rPr>
                        <m:t>}</m:t>
                      </m:r>
                    </m:oMath>
                  </m:oMathPara>
                </a14:m>
                <a:endParaRPr lang="zh-CN" altLang="en-US" sz="2600" b="0" dirty="0">
                  <a:latin typeface="微软雅黑" panose="020B0503020204020204" pitchFamily="34" charset="-122"/>
                  <a:ea typeface="微软雅黑" panose="020B0503020204020204" pitchFamily="34" charset="-122"/>
                </a:endParaRPr>
              </a:p>
            </p:txBody>
          </p:sp>
        </mc:Choice>
        <mc:Fallback>
          <p:sp>
            <p:nvSpPr>
              <p:cNvPr id="18" name="Rectangle 11"/>
              <p:cNvSpPr>
                <a:spLocks noRot="1" noChangeAspect="1" noMove="1" noResize="1" noEditPoints="1" noAdjustHandles="1" noChangeArrowheads="1" noChangeShapeType="1" noTextEdit="1"/>
              </p:cNvSpPr>
              <p:nvPr/>
            </p:nvSpPr>
            <p:spPr bwMode="auto">
              <a:xfrm>
                <a:off x="6795789" y="1296952"/>
                <a:ext cx="3944479" cy="1052596"/>
              </a:xfrm>
              <a:prstGeom prst="rect">
                <a:avLst/>
              </a:prstGeom>
              <a:blipFill rotWithShape="1">
                <a:blip r:embed="rId5"/>
                <a:stretch>
                  <a:fillRect t="-27" r="13" b="-84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900868" y="4625055"/>
                <a:ext cx="8634147" cy="1822230"/>
              </a:xfrm>
              <a:prstGeom prst="rect">
                <a:avLst/>
              </a:prstGeom>
              <a:noFill/>
            </p:spPr>
            <p:txBody>
              <a:bodyPr wrap="square">
                <a:spAutoFit/>
              </a:bodyPr>
              <a:lstStyle/>
              <a:p>
                <a:pPr eaLnBrk="1" hangingPunct="1">
                  <a:lnSpc>
                    <a:spcPct val="150000"/>
                  </a:lnSpc>
                </a:pPr>
                <a:r>
                  <a:rPr lang="zh-CN" altLang="en-US" sz="2600" dirty="0">
                    <a:latin typeface="微软雅黑" panose="020B0503020204020204" pitchFamily="34" charset="-122"/>
                    <a:ea typeface="微软雅黑" panose="020B0503020204020204" pitchFamily="34" charset="-122"/>
                  </a:rPr>
                  <a:t>这里有两个问题：</a:t>
                </a:r>
                <a:endParaRPr lang="zh-CN" altLang="en-US" sz="2600" dirty="0">
                  <a:latin typeface="微软雅黑" panose="020B0503020204020204" pitchFamily="34" charset="-122"/>
                  <a:ea typeface="微软雅黑" panose="020B0503020204020204" pitchFamily="34" charset="-122"/>
                </a:endParaRPr>
              </a:p>
              <a:p>
                <a:pPr eaLnBrk="1" hangingPunct="1">
                  <a:lnSpc>
                    <a:spcPct val="150000"/>
                  </a:lnSpc>
                </a:pPr>
                <a:r>
                  <a:rPr lang="zh-CN" altLang="en-US" sz="2600" dirty="0">
                    <a:latin typeface="微软雅黑" panose="020B0503020204020204" pitchFamily="34" charset="-122"/>
                    <a:ea typeface="微软雅黑" panose="020B0503020204020204" pitchFamily="34" charset="-122"/>
                  </a:rPr>
                  <a:t>①</a:t>
                </a:r>
                <a14:m>
                  <m:oMath xmlns:m="http://schemas.openxmlformats.org/officeDocument/2006/math">
                    <m:r>
                      <a:rPr lang="en-US" altLang="zh-CN" sz="2600" i="1" dirty="0" smtClean="0">
                        <a:latin typeface="Cambria Math" panose="02040503050406030204" pitchFamily="18" charset="0"/>
                        <a:ea typeface="微软雅黑" panose="020B0503020204020204" pitchFamily="34" charset="-122"/>
                      </a:rPr>
                      <m:t>𝜎</m:t>
                    </m:r>
                    <m:r>
                      <a:rPr lang="zh-CN" altLang="en-US" sz="2600" i="1" dirty="0">
                        <a:latin typeface="Cambria Math" panose="02040503050406030204" pitchFamily="18" charset="0"/>
                        <a:ea typeface="微软雅黑" panose="020B0503020204020204" pitchFamily="34" charset="-122"/>
                      </a:rPr>
                      <m:t>和</m:t>
                    </m:r>
                    <m:r>
                      <a:rPr lang="en-US" altLang="zh-CN" sz="2600" i="1" dirty="0">
                        <a:latin typeface="Cambria Math" panose="02040503050406030204" pitchFamily="18" charset="0"/>
                        <a:ea typeface="微软雅黑" panose="020B0503020204020204" pitchFamily="34" charset="-122"/>
                      </a:rPr>
                      <m:t>𝑟</m:t>
                    </m:r>
                  </m:oMath>
                </a14:m>
                <a:r>
                  <a:rPr lang="zh-CN" altLang="en-US" sz="2600" dirty="0">
                    <a:latin typeface="微软雅黑" panose="020B0503020204020204" pitchFamily="34" charset="-122"/>
                    <a:ea typeface="微软雅黑" panose="020B0503020204020204" pitchFamily="34" charset="-122"/>
                  </a:rPr>
                  <a:t>是否等价? 	   用“无损分解”表示</a:t>
                </a:r>
                <a:endParaRPr lang="zh-CN" altLang="en-US" sz="2600" dirty="0">
                  <a:latin typeface="微软雅黑" panose="020B0503020204020204" pitchFamily="34" charset="-122"/>
                  <a:ea typeface="微软雅黑" panose="020B0503020204020204" pitchFamily="34" charset="-122"/>
                </a:endParaRPr>
              </a:p>
              <a:p>
                <a:pPr eaLnBrk="1" hangingPunct="1">
                  <a:lnSpc>
                    <a:spcPct val="150000"/>
                  </a:lnSpc>
                </a:pPr>
                <a:r>
                  <a:rPr lang="zh-CN" altLang="en-US" sz="2600" dirty="0">
                    <a:latin typeface="微软雅黑" panose="020B0503020204020204" pitchFamily="34" charset="-122"/>
                    <a:ea typeface="微软雅黑" panose="020B0503020204020204" pitchFamily="34" charset="-122"/>
                  </a:rPr>
                  <a:t>②</a:t>
                </a:r>
                <a14:m>
                  <m:oMath xmlns:m="http://schemas.openxmlformats.org/officeDocument/2006/math">
                    <m:r>
                      <a:rPr lang="zh-CN" altLang="en-US" sz="2600" i="1" dirty="0" smtClean="0">
                        <a:latin typeface="Cambria Math" panose="02040503050406030204" pitchFamily="18" charset="0"/>
                        <a:ea typeface="微软雅黑" panose="020B0503020204020204" pitchFamily="34" charset="-122"/>
                      </a:rPr>
                      <m:t>{</m:t>
                    </m:r>
                    <m:r>
                      <a:rPr lang="en-US" altLang="zh-CN" sz="2600" i="1" dirty="0">
                        <a:latin typeface="Cambria Math" panose="02040503050406030204" pitchFamily="18" charset="0"/>
                        <a:ea typeface="微软雅黑" panose="020B0503020204020204" pitchFamily="34" charset="-122"/>
                      </a:rPr>
                      <m:t>𝐹</m:t>
                    </m:r>
                    <m:r>
                      <a:rPr lang="en-US" altLang="zh-CN" sz="2600" i="1" baseline="-30000" dirty="0">
                        <a:latin typeface="Cambria Math" panose="02040503050406030204" pitchFamily="18" charset="0"/>
                        <a:ea typeface="微软雅黑" panose="020B0503020204020204" pitchFamily="34" charset="-122"/>
                      </a:rPr>
                      <m:t>1</m:t>
                    </m:r>
                    <m:r>
                      <a:rPr lang="en-US" altLang="zh-CN" sz="2600" i="1" dirty="0">
                        <a:latin typeface="Cambria Math" panose="02040503050406030204" pitchFamily="18" charset="0"/>
                        <a:ea typeface="微软雅黑" panose="020B0503020204020204" pitchFamily="34" charset="-122"/>
                      </a:rPr>
                      <m:t>,</m:t>
                    </m:r>
                    <m:r>
                      <a:rPr lang="en-US" altLang="zh-CN" sz="2600" i="1" baseline="24000" dirty="0">
                        <a:latin typeface="Cambria Math" panose="02040503050406030204" pitchFamily="18" charset="0"/>
                        <a:ea typeface="微软雅黑" panose="020B0503020204020204" pitchFamily="34" charset="-122"/>
                      </a:rPr>
                      <m:t>…</m:t>
                    </m:r>
                    <m:r>
                      <a:rPr lang="en-US" altLang="zh-CN" sz="2600" i="1" dirty="0">
                        <a:latin typeface="Cambria Math" panose="02040503050406030204" pitchFamily="18" charset="0"/>
                        <a:ea typeface="微软雅黑" panose="020B0503020204020204" pitchFamily="34" charset="-122"/>
                      </a:rPr>
                      <m:t>,</m:t>
                    </m:r>
                    <m:r>
                      <a:rPr lang="en-US" altLang="zh-CN" sz="2600" i="1" dirty="0" err="1">
                        <a:latin typeface="Cambria Math" panose="02040503050406030204" pitchFamily="18" charset="0"/>
                        <a:ea typeface="微软雅黑" panose="020B0503020204020204" pitchFamily="34" charset="-122"/>
                      </a:rPr>
                      <m:t>𝐹</m:t>
                    </m:r>
                    <m:r>
                      <a:rPr lang="en-US" altLang="zh-CN" sz="2600" i="1" baseline="-30000" dirty="0" err="1">
                        <a:latin typeface="Cambria Math" panose="02040503050406030204" pitchFamily="18" charset="0"/>
                        <a:ea typeface="微软雅黑" panose="020B0503020204020204" pitchFamily="34" charset="-122"/>
                      </a:rPr>
                      <m:t>𝑘</m:t>
                    </m:r>
                    <m:r>
                      <a:rPr lang="en-US" altLang="zh-CN" sz="2600" i="1" dirty="0">
                        <a:latin typeface="Cambria Math" panose="02040503050406030204" pitchFamily="18" charset="0"/>
                        <a:ea typeface="微软雅黑" panose="020B0503020204020204" pitchFamily="34" charset="-122"/>
                      </a:rPr>
                      <m:t>}</m:t>
                    </m:r>
                    <m:r>
                      <a:rPr lang="zh-CN" altLang="en-US" sz="2600" i="1" dirty="0">
                        <a:latin typeface="Cambria Math" panose="02040503050406030204" pitchFamily="18" charset="0"/>
                        <a:ea typeface="微软雅黑" panose="020B0503020204020204" pitchFamily="34" charset="-122"/>
                      </a:rPr>
                      <m:t>与</m:t>
                    </m:r>
                    <m:r>
                      <a:rPr lang="en-US" altLang="zh-CN" sz="2600" i="1" dirty="0">
                        <a:latin typeface="Cambria Math" panose="02040503050406030204" pitchFamily="18" charset="0"/>
                        <a:ea typeface="微软雅黑" panose="020B0503020204020204" pitchFamily="34" charset="-122"/>
                      </a:rPr>
                      <m:t>𝐹</m:t>
                    </m:r>
                  </m:oMath>
                </a14:m>
                <a:r>
                  <a:rPr lang="zh-CN" altLang="en-US" sz="2600" dirty="0">
                    <a:latin typeface="微软雅黑" panose="020B0503020204020204" pitchFamily="34" charset="-122"/>
                    <a:ea typeface="微软雅黑" panose="020B0503020204020204" pitchFamily="34" charset="-122"/>
                  </a:rPr>
                  <a:t>是否等价? 用“保持依赖”表示</a:t>
                </a:r>
                <a:endParaRPr lang="zh-CN" altLang="en-US" sz="2600" dirty="0">
                  <a:latin typeface="微软雅黑" panose="020B0503020204020204" pitchFamily="34" charset="-122"/>
                  <a:ea typeface="微软雅黑" panose="020B0503020204020204" pitchFamily="34" charset="-122"/>
                </a:endParaRPr>
              </a:p>
            </p:txBody>
          </p:sp>
        </mc:Choice>
        <mc:Fallback>
          <p:sp>
            <p:nvSpPr>
              <p:cNvPr id="20" name="文本框 19"/>
              <p:cNvSpPr txBox="1">
                <a:spLocks noRot="1" noChangeAspect="1" noMove="1" noResize="1" noEditPoints="1" noAdjustHandles="1" noChangeArrowheads="1" noChangeShapeType="1" noTextEdit="1"/>
              </p:cNvSpPr>
              <p:nvPr/>
            </p:nvSpPr>
            <p:spPr>
              <a:xfrm>
                <a:off x="900868" y="4625055"/>
                <a:ext cx="8634147" cy="1822230"/>
              </a:xfrm>
              <a:prstGeom prst="rect">
                <a:avLst/>
              </a:prstGeom>
              <a:blipFill rotWithShape="1">
                <a:blip r:embed="rId6"/>
                <a:stretch>
                  <a:fillRect l="-5" t="-19" r="6" b="-7485"/>
                </a:stretch>
              </a:blipFill>
            </p:spPr>
            <p:txBody>
              <a:bodyPr/>
              <a:lstStyle/>
              <a:p>
                <a:r>
                  <a:rPr lang="zh-CN" altLang="en-US">
                    <a:noFill/>
                  </a:rPr>
                  <a:t> </a:t>
                </a:r>
              </a:p>
            </p:txBody>
          </p:sp>
        </mc:Fallback>
      </mc:AlternateContent>
      <p:sp>
        <p:nvSpPr>
          <p:cNvPr id="7" name="右箭头 6"/>
          <p:cNvSpPr/>
          <p:nvPr/>
        </p:nvSpPr>
        <p:spPr>
          <a:xfrm>
            <a:off x="5300972" y="1767922"/>
            <a:ext cx="1364566" cy="215444"/>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
        <p:nvSpPr>
          <p:cNvPr id="8" name="右箭头 7"/>
          <p:cNvSpPr/>
          <p:nvPr/>
        </p:nvSpPr>
        <p:spPr>
          <a:xfrm>
            <a:off x="5300972" y="3014980"/>
            <a:ext cx="1364566" cy="215444"/>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无损联接分解</a:t>
                </a:r>
                <a:endParaRPr lang="en-US" altLang="zh-CN" dirty="0"/>
              </a:p>
              <a:p>
                <a:pPr lvl="1"/>
                <a:r>
                  <a:rPr lang="zh-CN" altLang="en-US" dirty="0"/>
                  <a:t>定义</a:t>
                </a:r>
                <a:r>
                  <a:rPr lang="en-US" altLang="zh-CN" dirty="0"/>
                  <a:t>4.16</a:t>
                </a:r>
                <a:r>
                  <a:rPr lang="zh-CN" altLang="en-US" dirty="0"/>
                  <a:t>：设</a:t>
                </a:r>
                <a14:m>
                  <m:oMath xmlns:m="http://schemas.openxmlformats.org/officeDocument/2006/math">
                    <m:r>
                      <a:rPr lang="en-US" altLang="zh-CN" i="1" dirty="0" smtClean="0">
                        <a:latin typeface="Cambria Math" panose="02040503050406030204" pitchFamily="18" charset="0"/>
                      </a:rPr>
                      <m:t>𝑅</m:t>
                    </m:r>
                  </m:oMath>
                </a14:m>
                <a:r>
                  <a:rPr lang="zh-CN" altLang="en-US" dirty="0"/>
                  <a:t>是一个关系模式，</a:t>
                </a:r>
                <a14:m>
                  <m:oMath xmlns:m="http://schemas.openxmlformats.org/officeDocument/2006/math">
                    <m:r>
                      <a:rPr lang="en-US" altLang="zh-CN" i="1" dirty="0" smtClean="0">
                        <a:latin typeface="Cambria Math" panose="02040503050406030204" pitchFamily="18" charset="0"/>
                      </a:rPr>
                      <m:t>𝐹</m:t>
                    </m:r>
                  </m:oMath>
                </a14:m>
                <a:r>
                  <a:rPr lang="zh-CN" altLang="en-US" dirty="0"/>
                  <a:t>是</a:t>
                </a:r>
                <a14:m>
                  <m:oMath xmlns:m="http://schemas.openxmlformats.org/officeDocument/2006/math">
                    <m:r>
                      <a:rPr lang="en-US" altLang="zh-CN" i="1" dirty="0" smtClean="0">
                        <a:latin typeface="Cambria Math" panose="02040503050406030204" pitchFamily="18" charset="0"/>
                      </a:rPr>
                      <m:t>𝑅</m:t>
                    </m:r>
                  </m:oMath>
                </a14:m>
                <a:r>
                  <a:rPr lang="zh-CN" altLang="en-US" dirty="0"/>
                  <a:t>上的一个</a:t>
                </a:r>
                <a14:m>
                  <m:oMath xmlns:m="http://schemas.openxmlformats.org/officeDocument/2006/math">
                    <m:r>
                      <a:rPr lang="en-US" altLang="zh-CN" i="1" dirty="0" smtClean="0">
                        <a:latin typeface="Cambria Math" panose="02040503050406030204" pitchFamily="18" charset="0"/>
                      </a:rPr>
                      <m:t>𝐹𝐷</m:t>
                    </m:r>
                  </m:oMath>
                </a14:m>
                <a:r>
                  <a:rPr lang="zh-CN" altLang="en-US" dirty="0"/>
                  <a:t>集，</a:t>
                </a:r>
                <a14:m>
                  <m:oMath xmlns:m="http://schemas.openxmlformats.org/officeDocument/2006/math">
                    <m:r>
                      <a:rPr lang="en-US" altLang="zh-CN" i="1" smtClean="0">
                        <a:latin typeface="Cambria Math" panose="02040503050406030204" pitchFamily="18" charset="0"/>
                        <a:ea typeface="Cambria Math" panose="02040503050406030204" pitchFamily="18" charset="0"/>
                      </a:rPr>
                      <m:t>𝜌</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𝑅</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b="0" i="1" smtClean="0">
                            <a:latin typeface="Cambria Math" panose="02040503050406030204" pitchFamily="18" charset="0"/>
                            <a:ea typeface="Cambria Math" panose="02040503050406030204" pitchFamily="18" charset="0"/>
                          </a:rPr>
                          <m:t>𝑘</m:t>
                        </m:r>
                      </m:sub>
                    </m:sSub>
                    <m:r>
                      <a:rPr lang="en-US" altLang="zh-CN" b="0" i="1" smtClean="0">
                        <a:latin typeface="Cambria Math" panose="02040503050406030204" pitchFamily="18" charset="0"/>
                        <a:ea typeface="Cambria Math" panose="02040503050406030204" pitchFamily="18" charset="0"/>
                      </a:rPr>
                      <m:t>}</m:t>
                    </m:r>
                  </m:oMath>
                </a14:m>
                <a:r>
                  <a:rPr lang="zh-CN" altLang="en-US" dirty="0"/>
                  <a:t>为</a:t>
                </a:r>
                <a14:m>
                  <m:oMath xmlns:m="http://schemas.openxmlformats.org/officeDocument/2006/math">
                    <m:r>
                      <a:rPr lang="en-US" altLang="zh-CN" i="1" dirty="0">
                        <a:latin typeface="Cambria Math" panose="02040503050406030204" pitchFamily="18" charset="0"/>
                      </a:rPr>
                      <m:t>𝑅</m:t>
                    </m:r>
                  </m:oMath>
                </a14:m>
                <a:r>
                  <a:rPr lang="zh-CN" altLang="en-US" dirty="0"/>
                  <a:t>的一个分解</a:t>
                </a:r>
                <a:r>
                  <a:rPr lang="en-US" altLang="zh-CN" dirty="0"/>
                  <a:t>,</a:t>
                </a:r>
                <a:r>
                  <a:rPr lang="zh-CN" altLang="en-US" dirty="0"/>
                  <a:t>如果对</a:t>
                </a:r>
                <a14:m>
                  <m:oMath xmlns:m="http://schemas.openxmlformats.org/officeDocument/2006/math">
                    <m:r>
                      <a:rPr lang="en-US" altLang="zh-CN" i="1" dirty="0">
                        <a:latin typeface="Cambria Math" panose="02040503050406030204" pitchFamily="18" charset="0"/>
                      </a:rPr>
                      <m:t>𝑅</m:t>
                    </m:r>
                  </m:oMath>
                </a14:m>
                <a:r>
                  <a:rPr lang="zh-CN" altLang="en-US" dirty="0"/>
                  <a:t>中满足</a:t>
                </a:r>
                <a14:m>
                  <m:oMath xmlns:m="http://schemas.openxmlformats.org/officeDocument/2006/math">
                    <m:r>
                      <a:rPr lang="en-US" altLang="zh-CN" i="1" dirty="0">
                        <a:latin typeface="Cambria Math" panose="02040503050406030204" pitchFamily="18" charset="0"/>
                      </a:rPr>
                      <m:t>𝐹</m:t>
                    </m:r>
                  </m:oMath>
                </a14:m>
                <a:r>
                  <a:rPr lang="zh-CN" altLang="en-US" dirty="0"/>
                  <a:t>的每一个关系</a:t>
                </a:r>
                <a14:m>
                  <m:oMath xmlns:m="http://schemas.openxmlformats.org/officeDocument/2006/math">
                    <m:r>
                      <a:rPr lang="en-US" altLang="zh-CN" b="0" i="1" smtClean="0">
                        <a:latin typeface="Cambria Math" panose="02040503050406030204" pitchFamily="18" charset="0"/>
                      </a:rPr>
                      <m:t>𝑟</m:t>
                    </m:r>
                  </m:oMath>
                </a14:m>
                <a:r>
                  <a:rPr lang="zh-CN" altLang="en-US" dirty="0"/>
                  <a:t>，都有</a:t>
                </a:r>
                <a:endParaRPr lang="en-US" altLang="zh-CN" dirty="0"/>
              </a:p>
              <a:p>
                <a:pPr marL="457200" lvl="1"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𝑟</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𝜋</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1</m:t>
                              </m:r>
                            </m:sub>
                          </m:sSub>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𝑟</m:t>
                          </m:r>
                        </m:e>
                      </m:d>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𝜋</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2</m:t>
                              </m:r>
                            </m:sub>
                          </m:sSub>
                        </m:sub>
                      </m:sSub>
                      <m:d>
                        <m:dPr>
                          <m:ctrlPr>
                            <a:rPr lang="en-US" altLang="zh-CN" i="1">
                              <a:latin typeface="Cambria Math" panose="02040503050406030204" pitchFamily="18" charset="0"/>
                            </a:rPr>
                          </m:ctrlPr>
                        </m:dPr>
                        <m:e>
                          <m:r>
                            <a:rPr lang="en-US" altLang="zh-CN" i="1">
                              <a:latin typeface="Cambria Math" panose="02040503050406030204" pitchFamily="18" charset="0"/>
                            </a:rPr>
                            <m:t>𝑟</m:t>
                          </m:r>
                        </m:e>
                      </m:d>
                      <m:r>
                        <a:rPr lang="en-US" altLang="zh-CN" i="1" smtClean="0">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𝜋</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𝑘</m:t>
                              </m:r>
                            </m:sub>
                          </m:sSub>
                        </m:sub>
                      </m:sSub>
                      <m:d>
                        <m:dPr>
                          <m:ctrlPr>
                            <a:rPr lang="en-US" altLang="zh-CN" i="1">
                              <a:latin typeface="Cambria Math" panose="02040503050406030204" pitchFamily="18" charset="0"/>
                            </a:rPr>
                          </m:ctrlPr>
                        </m:dPr>
                        <m:e>
                          <m:r>
                            <a:rPr lang="en-US" altLang="zh-CN" i="1">
                              <a:latin typeface="Cambria Math" panose="02040503050406030204" pitchFamily="18" charset="0"/>
                            </a:rPr>
                            <m:t>𝑟</m:t>
                          </m:r>
                        </m:e>
                      </m:d>
                    </m:oMath>
                  </m:oMathPara>
                </a14:m>
                <a:endParaRPr lang="en-US" altLang="zh-CN" dirty="0"/>
              </a:p>
              <a:p>
                <a:pPr lvl="1"/>
                <a:r>
                  <a:rPr lang="zh-CN" altLang="en-US" dirty="0"/>
                  <a:t>则称分解</a:t>
                </a:r>
                <a14:m>
                  <m:oMath xmlns:m="http://schemas.openxmlformats.org/officeDocument/2006/math">
                    <m:r>
                      <a:rPr lang="en-US" altLang="zh-CN" i="1">
                        <a:latin typeface="Cambria Math" panose="02040503050406030204" pitchFamily="18" charset="0"/>
                        <a:ea typeface="Cambria Math" panose="02040503050406030204" pitchFamily="18" charset="0"/>
                      </a:rPr>
                      <m:t>𝜌</m:t>
                    </m:r>
                  </m:oMath>
                </a14:m>
                <a:r>
                  <a:rPr lang="zh-CN" altLang="en-US" dirty="0"/>
                  <a:t>相对于</a:t>
                </a:r>
                <a14:m>
                  <m:oMath xmlns:m="http://schemas.openxmlformats.org/officeDocument/2006/math">
                    <m:r>
                      <a:rPr lang="en-US" altLang="zh-CN" i="1" dirty="0">
                        <a:latin typeface="Cambria Math" panose="02040503050406030204" pitchFamily="18" charset="0"/>
                      </a:rPr>
                      <m:t>𝑅</m:t>
                    </m:r>
                  </m:oMath>
                </a14:m>
                <a:r>
                  <a:rPr lang="zh-CN" altLang="en-US" dirty="0"/>
                  <a:t>是“无损联接分解”</a:t>
                </a:r>
                <a:r>
                  <a:rPr lang="en-US" altLang="zh-CN" dirty="0"/>
                  <a:t>(lossless join decomposition)</a:t>
                </a:r>
                <a:r>
                  <a:rPr lang="zh-CN" altLang="en-US" dirty="0"/>
                  <a:t>，简称“无损分解”，否则，称</a:t>
                </a:r>
                <a14:m>
                  <m:oMath xmlns:m="http://schemas.openxmlformats.org/officeDocument/2006/math">
                    <m:r>
                      <a:rPr lang="en-US" altLang="zh-CN" i="1">
                        <a:latin typeface="Cambria Math" panose="02040503050406030204" pitchFamily="18" charset="0"/>
                        <a:ea typeface="Cambria Math" panose="02040503050406030204" pitchFamily="18" charset="0"/>
                      </a:rPr>
                      <m:t>𝜌</m:t>
                    </m:r>
                  </m:oMath>
                </a14:m>
                <a:r>
                  <a:rPr lang="zh-CN" altLang="en-US" dirty="0"/>
                  <a:t>为</a:t>
                </a:r>
                <a:r>
                  <a:rPr lang="en-US" altLang="zh-CN" dirty="0"/>
                  <a:t>”</a:t>
                </a:r>
                <a:r>
                  <a:rPr lang="zh-CN" altLang="en-US" dirty="0"/>
                  <a:t>有损联接分解</a:t>
                </a:r>
                <a:r>
                  <a:rPr lang="en-US" altLang="zh-CN" dirty="0"/>
                  <a:t>” (loss join decomposition),</a:t>
                </a:r>
                <a:r>
                  <a:rPr lang="zh-CN" altLang="en-US" dirty="0"/>
                  <a:t>简称</a:t>
                </a:r>
                <a:r>
                  <a:rPr lang="en-US" altLang="zh-CN" dirty="0"/>
                  <a:t>“</a:t>
                </a:r>
                <a:r>
                  <a:rPr lang="zh-CN" altLang="en-US" dirty="0"/>
                  <a:t>有损分解”。</a:t>
                </a:r>
                <a:endParaRPr lang="en-US" altLang="zh-CN" dirty="0"/>
              </a:p>
              <a:p>
                <a:pPr lvl="1"/>
                <a:endParaRPr lang="zh-CN" altLang="en-US"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kumimoji="1" lang="zh-CN" altLang="en-US" dirty="0"/>
              <a:t>无损联接分解</a:t>
            </a:r>
            <a:endParaRPr kumimoji="1"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grpSp>
        <p:nvGrpSpPr>
          <p:cNvPr id="6" name="Group 11"/>
          <p:cNvGrpSpPr/>
          <p:nvPr/>
        </p:nvGrpSpPr>
        <p:grpSpPr bwMode="auto">
          <a:xfrm>
            <a:off x="1510607" y="2095574"/>
            <a:ext cx="8410575" cy="1741487"/>
            <a:chOff x="204" y="1515"/>
            <a:chExt cx="5298" cy="1097"/>
          </a:xfrm>
        </p:grpSpPr>
        <p:sp>
          <p:nvSpPr>
            <p:cNvPr id="7" name="Rectangle 12"/>
            <p:cNvSpPr>
              <a:spLocks noChangeArrowheads="1"/>
            </p:cNvSpPr>
            <p:nvPr/>
          </p:nvSpPr>
          <p:spPr bwMode="auto">
            <a:xfrm>
              <a:off x="320" y="1536"/>
              <a:ext cx="6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solidFill>
                    <a:srgbClr val="000000"/>
                  </a:solidFill>
                  <a:latin typeface="ËÎÌå" charset="0"/>
                </a:rPr>
                <a:t>r</a:t>
              </a:r>
              <a:endParaRPr lang="en-US" altLang="zh-CN" sz="1800" b="0">
                <a:latin typeface="Arial" panose="020B0604020202020204" pitchFamily="34" charset="0"/>
              </a:endParaRPr>
            </a:p>
          </p:txBody>
        </p:sp>
        <p:sp>
          <p:nvSpPr>
            <p:cNvPr id="8" name="Rectangle 13"/>
            <p:cNvSpPr>
              <a:spLocks noChangeArrowheads="1"/>
            </p:cNvSpPr>
            <p:nvPr/>
          </p:nvSpPr>
          <p:spPr bwMode="auto">
            <a:xfrm>
              <a:off x="600" y="1574"/>
              <a:ext cx="13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solidFill>
                    <a:srgbClr val="000000"/>
                  </a:solidFill>
                  <a:latin typeface="Times New Roman" panose="02020603050405020304" pitchFamily="18" charset="0"/>
                </a:rPr>
                <a:t>A</a:t>
              </a:r>
              <a:endParaRPr lang="en-US" altLang="zh-CN" sz="2400" b="0">
                <a:solidFill>
                  <a:srgbClr val="000000"/>
                </a:solidFill>
                <a:latin typeface="Times New Roman" panose="02020603050405020304" pitchFamily="18" charset="0"/>
              </a:endParaRPr>
            </a:p>
          </p:txBody>
        </p:sp>
        <p:sp>
          <p:nvSpPr>
            <p:cNvPr id="9" name="Rectangle 14"/>
            <p:cNvSpPr>
              <a:spLocks noChangeArrowheads="1"/>
            </p:cNvSpPr>
            <p:nvPr/>
          </p:nvSpPr>
          <p:spPr bwMode="auto">
            <a:xfrm>
              <a:off x="996" y="1574"/>
              <a:ext cx="1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solidFill>
                    <a:srgbClr val="000000"/>
                  </a:solidFill>
                  <a:latin typeface="Times New Roman" panose="02020603050405020304" pitchFamily="18" charset="0"/>
                </a:rPr>
                <a:t>B</a:t>
              </a:r>
              <a:endParaRPr lang="en-US" altLang="zh-CN" sz="2400" b="0">
                <a:solidFill>
                  <a:srgbClr val="000000"/>
                </a:solidFill>
                <a:latin typeface="Times New Roman" panose="02020603050405020304" pitchFamily="18" charset="0"/>
              </a:endParaRPr>
            </a:p>
          </p:txBody>
        </p:sp>
        <p:sp>
          <p:nvSpPr>
            <p:cNvPr id="10" name="Rectangle 15"/>
            <p:cNvSpPr>
              <a:spLocks noChangeArrowheads="1"/>
            </p:cNvSpPr>
            <p:nvPr/>
          </p:nvSpPr>
          <p:spPr bwMode="auto">
            <a:xfrm>
              <a:off x="1392" y="1574"/>
              <a:ext cx="1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solidFill>
                    <a:srgbClr val="000000"/>
                  </a:solidFill>
                  <a:latin typeface="Times New Roman" panose="02020603050405020304" pitchFamily="18" charset="0"/>
                </a:rPr>
                <a:t>C</a:t>
              </a:r>
              <a:endParaRPr lang="en-US" altLang="zh-CN" sz="1800" b="0">
                <a:latin typeface="Times New Roman" panose="02020603050405020304" pitchFamily="18" charset="0"/>
              </a:endParaRPr>
            </a:p>
          </p:txBody>
        </p:sp>
        <p:sp>
          <p:nvSpPr>
            <p:cNvPr id="11" name="Rectangle 16"/>
            <p:cNvSpPr>
              <a:spLocks noChangeArrowheads="1"/>
            </p:cNvSpPr>
            <p:nvPr/>
          </p:nvSpPr>
          <p:spPr bwMode="auto">
            <a:xfrm>
              <a:off x="2672" y="1515"/>
              <a:ext cx="6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solidFill>
                    <a:srgbClr val="000000"/>
                  </a:solidFill>
                  <a:latin typeface="ËÎÌå" charset="0"/>
                </a:rPr>
                <a:t>r</a:t>
              </a:r>
              <a:endParaRPr lang="en-US" altLang="zh-CN" sz="1800" b="0">
                <a:latin typeface="Arial" panose="020B0604020202020204" pitchFamily="34" charset="0"/>
              </a:endParaRPr>
            </a:p>
          </p:txBody>
        </p:sp>
        <p:sp>
          <p:nvSpPr>
            <p:cNvPr id="12" name="Rectangle 17"/>
            <p:cNvSpPr>
              <a:spLocks noChangeArrowheads="1"/>
            </p:cNvSpPr>
            <p:nvPr/>
          </p:nvSpPr>
          <p:spPr bwMode="auto">
            <a:xfrm>
              <a:off x="2768" y="163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400" b="0">
                  <a:solidFill>
                    <a:srgbClr val="000000"/>
                  </a:solidFill>
                  <a:latin typeface="ËÎÌå" charset="0"/>
                </a:rPr>
                <a:t>1</a:t>
              </a:r>
              <a:endParaRPr lang="zh-CN" altLang="en-US" sz="1400" b="0">
                <a:latin typeface="Arial" panose="020B0604020202020204" pitchFamily="34" charset="0"/>
              </a:endParaRPr>
            </a:p>
          </p:txBody>
        </p:sp>
        <p:sp>
          <p:nvSpPr>
            <p:cNvPr id="13" name="Rectangle 18"/>
            <p:cNvSpPr>
              <a:spLocks noChangeArrowheads="1"/>
            </p:cNvSpPr>
            <p:nvPr/>
          </p:nvSpPr>
          <p:spPr bwMode="auto">
            <a:xfrm>
              <a:off x="2961" y="1574"/>
              <a:ext cx="215"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solidFill>
                    <a:srgbClr val="000000"/>
                  </a:solidFill>
                  <a:latin typeface="ËÎÌå" charset="0"/>
                </a:rPr>
                <a:t>A</a:t>
              </a:r>
              <a:endParaRPr lang="en-US" altLang="zh-CN" sz="1800" b="0">
                <a:latin typeface="Arial" panose="020B0604020202020204" pitchFamily="34" charset="0"/>
              </a:endParaRPr>
            </a:p>
          </p:txBody>
        </p:sp>
        <p:sp>
          <p:nvSpPr>
            <p:cNvPr id="14" name="Rectangle 19"/>
            <p:cNvSpPr>
              <a:spLocks noChangeArrowheads="1"/>
            </p:cNvSpPr>
            <p:nvPr/>
          </p:nvSpPr>
          <p:spPr bwMode="auto">
            <a:xfrm>
              <a:off x="3340" y="1574"/>
              <a:ext cx="215"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solidFill>
                    <a:srgbClr val="000000"/>
                  </a:solidFill>
                  <a:latin typeface="ËÎÌå" charset="0"/>
                </a:rPr>
                <a:t>B</a:t>
              </a:r>
              <a:endParaRPr lang="en-US" altLang="zh-CN" sz="1800" b="0">
                <a:latin typeface="Arial" panose="020B0604020202020204" pitchFamily="34" charset="0"/>
              </a:endParaRPr>
            </a:p>
          </p:txBody>
        </p:sp>
        <p:sp>
          <p:nvSpPr>
            <p:cNvPr id="15" name="Rectangle 20"/>
            <p:cNvSpPr>
              <a:spLocks noChangeArrowheads="1"/>
            </p:cNvSpPr>
            <p:nvPr/>
          </p:nvSpPr>
          <p:spPr bwMode="auto">
            <a:xfrm>
              <a:off x="4608" y="1622"/>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200" b="0">
                  <a:solidFill>
                    <a:srgbClr val="000000"/>
                  </a:solidFill>
                  <a:latin typeface="ËÎÌå" charset="0"/>
                </a:rPr>
                <a:t>2</a:t>
              </a:r>
              <a:endParaRPr lang="zh-CN" altLang="en-US" sz="1200" b="0">
                <a:latin typeface="Arial" panose="020B0604020202020204" pitchFamily="34" charset="0"/>
              </a:endParaRPr>
            </a:p>
          </p:txBody>
        </p:sp>
        <p:sp>
          <p:nvSpPr>
            <p:cNvPr id="16" name="Rectangle 21"/>
            <p:cNvSpPr>
              <a:spLocks noChangeArrowheads="1"/>
            </p:cNvSpPr>
            <p:nvPr/>
          </p:nvSpPr>
          <p:spPr bwMode="auto">
            <a:xfrm>
              <a:off x="4908" y="1574"/>
              <a:ext cx="215"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400" b="0">
                  <a:solidFill>
                    <a:srgbClr val="000000"/>
                  </a:solidFill>
                  <a:latin typeface="ËÎÌå" charset="0"/>
                </a:rPr>
                <a:t>A</a:t>
              </a:r>
              <a:endParaRPr lang="en-US" altLang="zh-CN" sz="1800" b="0">
                <a:latin typeface="Arial" panose="020B0604020202020204" pitchFamily="34" charset="0"/>
              </a:endParaRPr>
            </a:p>
          </p:txBody>
        </p:sp>
        <p:sp>
          <p:nvSpPr>
            <p:cNvPr id="17" name="Rectangle 22"/>
            <p:cNvSpPr>
              <a:spLocks noChangeArrowheads="1"/>
            </p:cNvSpPr>
            <p:nvPr/>
          </p:nvSpPr>
          <p:spPr bwMode="auto">
            <a:xfrm>
              <a:off x="600" y="1768"/>
              <a:ext cx="19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400" b="0">
                  <a:solidFill>
                    <a:srgbClr val="000000"/>
                  </a:solidFill>
                  <a:latin typeface="ËÎÌå" charset="0"/>
                </a:rPr>
                <a:t>1</a:t>
              </a:r>
              <a:endParaRPr lang="zh-CN" altLang="en-US" sz="1800" b="0">
                <a:latin typeface="Arial" panose="020B0604020202020204" pitchFamily="34" charset="0"/>
              </a:endParaRPr>
            </a:p>
          </p:txBody>
        </p:sp>
        <p:sp>
          <p:nvSpPr>
            <p:cNvPr id="18" name="Rectangle 23"/>
            <p:cNvSpPr>
              <a:spLocks noChangeArrowheads="1"/>
            </p:cNvSpPr>
            <p:nvPr/>
          </p:nvSpPr>
          <p:spPr bwMode="auto">
            <a:xfrm>
              <a:off x="996" y="1768"/>
              <a:ext cx="19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400" b="0">
                  <a:solidFill>
                    <a:srgbClr val="000000"/>
                  </a:solidFill>
                  <a:latin typeface="ËÎÌå" charset="0"/>
                </a:rPr>
                <a:t>1</a:t>
              </a:r>
              <a:endParaRPr lang="zh-CN" altLang="en-US" sz="1800" b="0">
                <a:latin typeface="Arial" panose="020B0604020202020204" pitchFamily="34" charset="0"/>
              </a:endParaRPr>
            </a:p>
          </p:txBody>
        </p:sp>
        <p:sp>
          <p:nvSpPr>
            <p:cNvPr id="19" name="Rectangle 24"/>
            <p:cNvSpPr>
              <a:spLocks noChangeArrowheads="1"/>
            </p:cNvSpPr>
            <p:nvPr/>
          </p:nvSpPr>
          <p:spPr bwMode="auto">
            <a:xfrm>
              <a:off x="1392" y="1768"/>
              <a:ext cx="19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400" b="0">
                  <a:solidFill>
                    <a:srgbClr val="000000"/>
                  </a:solidFill>
                  <a:latin typeface="ËÎÌå" charset="0"/>
                </a:rPr>
                <a:t>1</a:t>
              </a:r>
              <a:endParaRPr lang="zh-CN" altLang="en-US" sz="1800" b="0">
                <a:latin typeface="Arial" panose="020B0604020202020204" pitchFamily="34" charset="0"/>
              </a:endParaRPr>
            </a:p>
          </p:txBody>
        </p:sp>
        <p:sp>
          <p:nvSpPr>
            <p:cNvPr id="20" name="Rectangle 25"/>
            <p:cNvSpPr>
              <a:spLocks noChangeArrowheads="1"/>
            </p:cNvSpPr>
            <p:nvPr/>
          </p:nvSpPr>
          <p:spPr bwMode="auto">
            <a:xfrm>
              <a:off x="2961" y="1768"/>
              <a:ext cx="19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400" b="0">
                  <a:solidFill>
                    <a:srgbClr val="000000"/>
                  </a:solidFill>
                  <a:latin typeface="ËÎÌå" charset="0"/>
                </a:rPr>
                <a:t>1</a:t>
              </a:r>
              <a:endParaRPr lang="zh-CN" altLang="en-US" sz="1800" b="0">
                <a:latin typeface="Arial" panose="020B0604020202020204" pitchFamily="34" charset="0"/>
              </a:endParaRPr>
            </a:p>
          </p:txBody>
        </p:sp>
        <p:sp>
          <p:nvSpPr>
            <p:cNvPr id="21" name="Rectangle 26"/>
            <p:cNvSpPr>
              <a:spLocks noChangeArrowheads="1"/>
            </p:cNvSpPr>
            <p:nvPr/>
          </p:nvSpPr>
          <p:spPr bwMode="auto">
            <a:xfrm>
              <a:off x="3340" y="1768"/>
              <a:ext cx="19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400" b="0">
                  <a:solidFill>
                    <a:srgbClr val="000000"/>
                  </a:solidFill>
                  <a:latin typeface="ËÎÌå" charset="0"/>
                </a:rPr>
                <a:t>1</a:t>
              </a:r>
              <a:endParaRPr lang="zh-CN" altLang="en-US" sz="1800" b="0">
                <a:latin typeface="Arial" panose="020B0604020202020204" pitchFamily="34" charset="0"/>
              </a:endParaRPr>
            </a:p>
          </p:txBody>
        </p:sp>
        <p:sp>
          <p:nvSpPr>
            <p:cNvPr id="22" name="Rectangle 27"/>
            <p:cNvSpPr>
              <a:spLocks noChangeArrowheads="1"/>
            </p:cNvSpPr>
            <p:nvPr/>
          </p:nvSpPr>
          <p:spPr bwMode="auto">
            <a:xfrm>
              <a:off x="4908" y="1768"/>
              <a:ext cx="19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400" b="0">
                  <a:solidFill>
                    <a:srgbClr val="000000"/>
                  </a:solidFill>
                  <a:latin typeface="ËÎÌå" charset="0"/>
                </a:rPr>
                <a:t>1</a:t>
              </a:r>
              <a:endParaRPr lang="zh-CN" altLang="en-US" sz="1800" b="0">
                <a:latin typeface="Arial" panose="020B0604020202020204" pitchFamily="34" charset="0"/>
              </a:endParaRPr>
            </a:p>
          </p:txBody>
        </p:sp>
        <p:sp>
          <p:nvSpPr>
            <p:cNvPr id="23" name="Rectangle 28"/>
            <p:cNvSpPr>
              <a:spLocks noChangeArrowheads="1"/>
            </p:cNvSpPr>
            <p:nvPr/>
          </p:nvSpPr>
          <p:spPr bwMode="auto">
            <a:xfrm>
              <a:off x="5304" y="1768"/>
              <a:ext cx="19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400" b="0">
                  <a:solidFill>
                    <a:srgbClr val="000000"/>
                  </a:solidFill>
                  <a:latin typeface="ËÎÌå" charset="0"/>
                </a:rPr>
                <a:t>1</a:t>
              </a:r>
              <a:endParaRPr lang="zh-CN" altLang="en-US" sz="1800" b="0">
                <a:latin typeface="Arial" panose="020B0604020202020204" pitchFamily="34" charset="0"/>
              </a:endParaRPr>
            </a:p>
          </p:txBody>
        </p:sp>
        <p:sp>
          <p:nvSpPr>
            <p:cNvPr id="24" name="Rectangle 29"/>
            <p:cNvSpPr>
              <a:spLocks noChangeArrowheads="1"/>
            </p:cNvSpPr>
            <p:nvPr/>
          </p:nvSpPr>
          <p:spPr bwMode="auto">
            <a:xfrm>
              <a:off x="600" y="1947"/>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400" b="0">
                  <a:solidFill>
                    <a:srgbClr val="000000"/>
                  </a:solidFill>
                  <a:latin typeface="Times New Roman" panose="02020603050405020304" pitchFamily="18" charset="0"/>
                </a:rPr>
                <a:t>1</a:t>
              </a:r>
              <a:endParaRPr lang="zh-CN" altLang="en-US" sz="2400" b="0">
                <a:solidFill>
                  <a:srgbClr val="000000"/>
                </a:solidFill>
                <a:latin typeface="Times New Roman" panose="02020603050405020304" pitchFamily="18" charset="0"/>
              </a:endParaRPr>
            </a:p>
          </p:txBody>
        </p:sp>
        <p:sp>
          <p:nvSpPr>
            <p:cNvPr id="25" name="Rectangle 30"/>
            <p:cNvSpPr>
              <a:spLocks noChangeArrowheads="1"/>
            </p:cNvSpPr>
            <p:nvPr/>
          </p:nvSpPr>
          <p:spPr bwMode="auto">
            <a:xfrm>
              <a:off x="996" y="1947"/>
              <a:ext cx="19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400" b="0">
                  <a:solidFill>
                    <a:srgbClr val="000000"/>
                  </a:solidFill>
                  <a:latin typeface="ËÎÌå" charset="0"/>
                </a:rPr>
                <a:t>2</a:t>
              </a:r>
              <a:endParaRPr lang="zh-CN" altLang="en-US" sz="1800" b="0">
                <a:latin typeface="Arial" panose="020B0604020202020204" pitchFamily="34" charset="0"/>
              </a:endParaRPr>
            </a:p>
          </p:txBody>
        </p:sp>
        <p:sp>
          <p:nvSpPr>
            <p:cNvPr id="26" name="Rectangle 31"/>
            <p:cNvSpPr>
              <a:spLocks noChangeArrowheads="1"/>
            </p:cNvSpPr>
            <p:nvPr/>
          </p:nvSpPr>
          <p:spPr bwMode="auto">
            <a:xfrm>
              <a:off x="1392" y="1947"/>
              <a:ext cx="19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400" b="0">
                  <a:solidFill>
                    <a:srgbClr val="000000"/>
                  </a:solidFill>
                  <a:latin typeface="ËÎÌå" charset="0"/>
                </a:rPr>
                <a:t>1</a:t>
              </a:r>
              <a:endParaRPr lang="zh-CN" altLang="en-US" sz="1800" b="0">
                <a:latin typeface="Arial" panose="020B0604020202020204" pitchFamily="34" charset="0"/>
              </a:endParaRPr>
            </a:p>
          </p:txBody>
        </p:sp>
        <p:sp>
          <p:nvSpPr>
            <p:cNvPr id="27" name="Rectangle 32"/>
            <p:cNvSpPr>
              <a:spLocks noChangeArrowheads="1"/>
            </p:cNvSpPr>
            <p:nvPr/>
          </p:nvSpPr>
          <p:spPr bwMode="auto">
            <a:xfrm>
              <a:off x="2961" y="1947"/>
              <a:ext cx="19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400" b="0">
                  <a:solidFill>
                    <a:srgbClr val="000000"/>
                  </a:solidFill>
                  <a:latin typeface="ËÎÌå" charset="0"/>
                </a:rPr>
                <a:t>1</a:t>
              </a:r>
              <a:endParaRPr lang="zh-CN" altLang="en-US" sz="1800" b="0">
                <a:latin typeface="Arial" panose="020B0604020202020204" pitchFamily="34" charset="0"/>
              </a:endParaRPr>
            </a:p>
          </p:txBody>
        </p:sp>
        <p:sp>
          <p:nvSpPr>
            <p:cNvPr id="28" name="Rectangle 33"/>
            <p:cNvSpPr>
              <a:spLocks noChangeArrowheads="1"/>
            </p:cNvSpPr>
            <p:nvPr/>
          </p:nvSpPr>
          <p:spPr bwMode="auto">
            <a:xfrm>
              <a:off x="3340" y="1947"/>
              <a:ext cx="19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400" b="0">
                  <a:solidFill>
                    <a:srgbClr val="000000"/>
                  </a:solidFill>
                  <a:latin typeface="ËÎÌå" charset="0"/>
                </a:rPr>
                <a:t>2</a:t>
              </a:r>
              <a:endParaRPr lang="zh-CN" altLang="en-US" sz="1800" b="0">
                <a:latin typeface="Arial" panose="020B0604020202020204" pitchFamily="34" charset="0"/>
              </a:endParaRPr>
            </a:p>
          </p:txBody>
        </p:sp>
        <p:sp>
          <p:nvSpPr>
            <p:cNvPr id="29" name="Line 34"/>
            <p:cNvSpPr>
              <a:spLocks noChangeShapeType="1"/>
            </p:cNvSpPr>
            <p:nvPr/>
          </p:nvSpPr>
          <p:spPr bwMode="auto">
            <a:xfrm>
              <a:off x="204" y="1776"/>
              <a:ext cx="140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35"/>
            <p:cNvSpPr>
              <a:spLocks noChangeShapeType="1"/>
            </p:cNvSpPr>
            <p:nvPr/>
          </p:nvSpPr>
          <p:spPr bwMode="auto">
            <a:xfrm>
              <a:off x="4560" y="1776"/>
              <a:ext cx="90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36"/>
            <p:cNvSpPr>
              <a:spLocks noChangeShapeType="1"/>
            </p:cNvSpPr>
            <p:nvPr/>
          </p:nvSpPr>
          <p:spPr bwMode="auto">
            <a:xfrm>
              <a:off x="480" y="1584"/>
              <a:ext cx="0" cy="72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37"/>
            <p:cNvSpPr>
              <a:spLocks noChangeShapeType="1"/>
            </p:cNvSpPr>
            <p:nvPr/>
          </p:nvSpPr>
          <p:spPr bwMode="auto">
            <a:xfrm>
              <a:off x="2544" y="1776"/>
              <a:ext cx="100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38"/>
            <p:cNvSpPr>
              <a:spLocks noChangeShapeType="1"/>
            </p:cNvSpPr>
            <p:nvPr/>
          </p:nvSpPr>
          <p:spPr bwMode="auto">
            <a:xfrm>
              <a:off x="2880" y="1584"/>
              <a:ext cx="0" cy="62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39"/>
            <p:cNvSpPr>
              <a:spLocks noChangeShapeType="1"/>
            </p:cNvSpPr>
            <p:nvPr/>
          </p:nvSpPr>
          <p:spPr bwMode="auto">
            <a:xfrm>
              <a:off x="4752" y="1632"/>
              <a:ext cx="0" cy="5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Text Box 40"/>
            <p:cNvSpPr txBox="1">
              <a:spLocks noChangeArrowheads="1"/>
            </p:cNvSpPr>
            <p:nvPr/>
          </p:nvSpPr>
          <p:spPr bwMode="auto">
            <a:xfrm>
              <a:off x="2160" y="2400"/>
              <a:ext cx="16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lang="zh-CN" altLang="en-US" sz="1600" b="0"/>
                <a:t>图</a:t>
              </a:r>
              <a:r>
                <a:rPr lang="en-US" altLang="zh-CN" sz="1600" b="0"/>
                <a:t>  </a:t>
              </a:r>
              <a:r>
                <a:rPr lang="zh-CN" altLang="en-US" sz="1600" b="0"/>
                <a:t>未丢失信息的分解</a:t>
              </a:r>
              <a:r>
                <a:rPr lang="zh-CN" altLang="en-US" sz="1600" b="0">
                  <a:latin typeface="Arial" panose="020B0604020202020204" pitchFamily="34" charset="0"/>
                </a:rPr>
                <a:t> </a:t>
              </a:r>
              <a:endParaRPr lang="zh-CN" altLang="en-US" sz="1600" b="0">
                <a:latin typeface="Arial" panose="020B0604020202020204" pitchFamily="34" charset="0"/>
              </a:endParaRPr>
            </a:p>
          </p:txBody>
        </p:sp>
        <p:sp>
          <p:nvSpPr>
            <p:cNvPr id="36" name="Rectangle 41"/>
            <p:cNvSpPr>
              <a:spLocks noChangeArrowheads="1"/>
            </p:cNvSpPr>
            <p:nvPr/>
          </p:nvSpPr>
          <p:spPr bwMode="auto">
            <a:xfrm>
              <a:off x="2976" y="2208"/>
              <a:ext cx="4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a:t>
              </a:r>
              <a:r>
                <a:rPr lang="en-US" altLang="zh-CN" sz="2000" b="0">
                  <a:solidFill>
                    <a:srgbClr val="000000"/>
                  </a:solidFill>
                  <a:latin typeface="ËÎÌå" charset="0"/>
                </a:rPr>
                <a:t>b）</a:t>
              </a:r>
              <a:endParaRPr lang="en-US" altLang="zh-CN" sz="1800" b="0">
                <a:latin typeface="Arial" panose="020B0604020202020204" pitchFamily="34" charset="0"/>
              </a:endParaRPr>
            </a:p>
          </p:txBody>
        </p:sp>
        <p:sp>
          <p:nvSpPr>
            <p:cNvPr id="37" name="Rectangle 42"/>
            <p:cNvSpPr>
              <a:spLocks noChangeArrowheads="1"/>
            </p:cNvSpPr>
            <p:nvPr/>
          </p:nvSpPr>
          <p:spPr bwMode="auto">
            <a:xfrm>
              <a:off x="4944" y="2160"/>
              <a:ext cx="3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dirty="0">
                  <a:solidFill>
                    <a:srgbClr val="000000"/>
                  </a:solidFill>
                  <a:latin typeface="ËÎÌå" charset="0"/>
                </a:rPr>
                <a:t>（</a:t>
              </a:r>
              <a:r>
                <a:rPr lang="en-US" altLang="zh-CN" sz="2000" b="0" dirty="0">
                  <a:solidFill>
                    <a:srgbClr val="000000"/>
                  </a:solidFill>
                  <a:latin typeface="ËÎÌå" charset="0"/>
                </a:rPr>
                <a:t>c）</a:t>
              </a:r>
              <a:endParaRPr lang="en-US" altLang="zh-CN" sz="1800" b="0" dirty="0">
                <a:latin typeface="Arial" panose="020B0604020202020204" pitchFamily="34" charset="0"/>
              </a:endParaRPr>
            </a:p>
          </p:txBody>
        </p:sp>
        <p:sp>
          <p:nvSpPr>
            <p:cNvPr id="38" name="Rectangle 43"/>
            <p:cNvSpPr>
              <a:spLocks noChangeArrowheads="1"/>
            </p:cNvSpPr>
            <p:nvPr/>
          </p:nvSpPr>
          <p:spPr bwMode="auto">
            <a:xfrm>
              <a:off x="816" y="2208"/>
              <a:ext cx="3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a:t>
              </a:r>
              <a:r>
                <a:rPr lang="en-US" altLang="zh-CN" sz="2000" b="0">
                  <a:solidFill>
                    <a:srgbClr val="000000"/>
                  </a:solidFill>
                  <a:latin typeface="ËÎÌå" charset="0"/>
                </a:rPr>
                <a:t>a）</a:t>
              </a:r>
              <a:endParaRPr lang="en-US" altLang="zh-CN" sz="1800" b="0">
                <a:latin typeface="Arial" panose="020B0604020202020204" pitchFamily="34" charset="0"/>
              </a:endParaRPr>
            </a:p>
          </p:txBody>
        </p:sp>
      </p:grpSp>
      <p:grpSp>
        <p:nvGrpSpPr>
          <p:cNvPr id="39" name="Group 44"/>
          <p:cNvGrpSpPr/>
          <p:nvPr/>
        </p:nvGrpSpPr>
        <p:grpSpPr bwMode="auto">
          <a:xfrm>
            <a:off x="1635156" y="4598989"/>
            <a:ext cx="8451850" cy="1784350"/>
            <a:chOff x="243" y="2976"/>
            <a:chExt cx="5324" cy="1124"/>
          </a:xfrm>
        </p:grpSpPr>
        <p:sp>
          <p:nvSpPr>
            <p:cNvPr id="40" name="Rectangle 45"/>
            <p:cNvSpPr>
              <a:spLocks noChangeArrowheads="1"/>
            </p:cNvSpPr>
            <p:nvPr/>
          </p:nvSpPr>
          <p:spPr bwMode="auto">
            <a:xfrm>
              <a:off x="243" y="3024"/>
              <a:ext cx="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 </a:t>
              </a:r>
              <a:r>
                <a:rPr lang="en-US" altLang="zh-CN" sz="2000" b="0">
                  <a:solidFill>
                    <a:srgbClr val="000000"/>
                  </a:solidFill>
                  <a:latin typeface="ËÎÌå" charset="0"/>
                </a:rPr>
                <a:t>r</a:t>
              </a:r>
              <a:endParaRPr lang="en-US" altLang="zh-CN" sz="1800" b="0">
                <a:latin typeface="Arial" panose="020B0604020202020204" pitchFamily="34" charset="0"/>
              </a:endParaRPr>
            </a:p>
          </p:txBody>
        </p:sp>
        <p:sp>
          <p:nvSpPr>
            <p:cNvPr id="41" name="Rectangle 46"/>
            <p:cNvSpPr>
              <a:spLocks noChangeArrowheads="1"/>
            </p:cNvSpPr>
            <p:nvPr/>
          </p:nvSpPr>
          <p:spPr bwMode="auto">
            <a:xfrm>
              <a:off x="527" y="3065"/>
              <a:ext cx="1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000" b="0">
                  <a:solidFill>
                    <a:srgbClr val="000000"/>
                  </a:solidFill>
                  <a:latin typeface="ËÎÌå" charset="0"/>
                </a:rPr>
                <a:t>A</a:t>
              </a:r>
              <a:endParaRPr lang="en-US" altLang="zh-CN" sz="2400" b="0">
                <a:solidFill>
                  <a:srgbClr val="000000"/>
                </a:solidFill>
                <a:latin typeface="ËÎÌå" charset="0"/>
              </a:endParaRPr>
            </a:p>
          </p:txBody>
        </p:sp>
        <p:sp>
          <p:nvSpPr>
            <p:cNvPr id="42" name="Rectangle 47"/>
            <p:cNvSpPr>
              <a:spLocks noChangeArrowheads="1"/>
            </p:cNvSpPr>
            <p:nvPr/>
          </p:nvSpPr>
          <p:spPr bwMode="auto">
            <a:xfrm>
              <a:off x="824" y="3065"/>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000" b="0">
                  <a:solidFill>
                    <a:srgbClr val="000000"/>
                  </a:solidFill>
                  <a:latin typeface="ËÎÌå" charset="0"/>
                </a:rPr>
                <a:t>B</a:t>
              </a:r>
              <a:endParaRPr lang="en-US" altLang="zh-CN" sz="2000" b="0">
                <a:solidFill>
                  <a:srgbClr val="000000"/>
                </a:solidFill>
                <a:latin typeface="ËÎÌå" charset="0"/>
              </a:endParaRPr>
            </a:p>
          </p:txBody>
        </p:sp>
        <p:sp>
          <p:nvSpPr>
            <p:cNvPr id="43" name="Rectangle 48"/>
            <p:cNvSpPr>
              <a:spLocks noChangeArrowheads="1"/>
            </p:cNvSpPr>
            <p:nvPr/>
          </p:nvSpPr>
          <p:spPr bwMode="auto">
            <a:xfrm>
              <a:off x="1134" y="3065"/>
              <a:ext cx="20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000" b="0">
                  <a:solidFill>
                    <a:srgbClr val="000000"/>
                  </a:solidFill>
                  <a:latin typeface="ËÎÌå" charset="0"/>
                </a:rPr>
                <a:t>C</a:t>
              </a:r>
              <a:endParaRPr lang="en-US" altLang="zh-CN" sz="1800" b="0">
                <a:latin typeface="Arial" panose="020B0604020202020204" pitchFamily="34" charset="0"/>
              </a:endParaRPr>
            </a:p>
          </p:txBody>
        </p:sp>
        <p:sp>
          <p:nvSpPr>
            <p:cNvPr id="44" name="Rectangle 49"/>
            <p:cNvSpPr>
              <a:spLocks noChangeArrowheads="1"/>
            </p:cNvSpPr>
            <p:nvPr/>
          </p:nvSpPr>
          <p:spPr bwMode="auto">
            <a:xfrm>
              <a:off x="1728" y="3024"/>
              <a:ext cx="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000" b="0">
                  <a:solidFill>
                    <a:srgbClr val="000000"/>
                  </a:solidFill>
                  <a:latin typeface="ËÎÌå" charset="0"/>
                </a:rPr>
                <a:t>r</a:t>
              </a:r>
              <a:endParaRPr lang="en-US" altLang="zh-CN" sz="1800" b="0">
                <a:latin typeface="Arial" panose="020B0604020202020204" pitchFamily="34" charset="0"/>
              </a:endParaRPr>
            </a:p>
          </p:txBody>
        </p:sp>
        <p:sp>
          <p:nvSpPr>
            <p:cNvPr id="45" name="Rectangle 50"/>
            <p:cNvSpPr>
              <a:spLocks noChangeArrowheads="1"/>
            </p:cNvSpPr>
            <p:nvPr/>
          </p:nvSpPr>
          <p:spPr bwMode="auto">
            <a:xfrm>
              <a:off x="1818" y="3120"/>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1</a:t>
              </a:r>
              <a:endParaRPr lang="zh-CN" altLang="en-US" sz="1800" b="0">
                <a:latin typeface="Arial" panose="020B0604020202020204" pitchFamily="34" charset="0"/>
              </a:endParaRPr>
            </a:p>
          </p:txBody>
        </p:sp>
        <p:sp>
          <p:nvSpPr>
            <p:cNvPr id="46" name="Rectangle 51"/>
            <p:cNvSpPr>
              <a:spLocks noChangeArrowheads="1"/>
            </p:cNvSpPr>
            <p:nvPr/>
          </p:nvSpPr>
          <p:spPr bwMode="auto">
            <a:xfrm>
              <a:off x="2050" y="3065"/>
              <a:ext cx="194"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000" b="0">
                  <a:solidFill>
                    <a:srgbClr val="000000"/>
                  </a:solidFill>
                  <a:latin typeface="ËÎÌå" charset="0"/>
                </a:rPr>
                <a:t>A</a:t>
              </a:r>
              <a:endParaRPr lang="en-US" altLang="zh-CN" sz="1800" b="0">
                <a:latin typeface="Arial" panose="020B0604020202020204" pitchFamily="34" charset="0"/>
              </a:endParaRPr>
            </a:p>
          </p:txBody>
        </p:sp>
        <p:sp>
          <p:nvSpPr>
            <p:cNvPr id="47" name="Rectangle 52"/>
            <p:cNvSpPr>
              <a:spLocks noChangeArrowheads="1"/>
            </p:cNvSpPr>
            <p:nvPr/>
          </p:nvSpPr>
          <p:spPr bwMode="auto">
            <a:xfrm>
              <a:off x="2360" y="3065"/>
              <a:ext cx="194"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000" b="0">
                  <a:solidFill>
                    <a:srgbClr val="000000"/>
                  </a:solidFill>
                  <a:latin typeface="ËÎÌå" charset="0"/>
                </a:rPr>
                <a:t>B</a:t>
              </a:r>
              <a:endParaRPr lang="en-US" altLang="zh-CN" sz="1800" b="0">
                <a:latin typeface="Arial" panose="020B0604020202020204" pitchFamily="34" charset="0"/>
              </a:endParaRPr>
            </a:p>
          </p:txBody>
        </p:sp>
        <p:sp>
          <p:nvSpPr>
            <p:cNvPr id="48" name="Rectangle 53"/>
            <p:cNvSpPr>
              <a:spLocks noChangeArrowheads="1"/>
            </p:cNvSpPr>
            <p:nvPr/>
          </p:nvSpPr>
          <p:spPr bwMode="auto">
            <a:xfrm>
              <a:off x="2928" y="3024"/>
              <a:ext cx="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000" b="0">
                  <a:solidFill>
                    <a:srgbClr val="000000"/>
                  </a:solidFill>
                  <a:latin typeface="ËÎÌå" charset="0"/>
                </a:rPr>
                <a:t>r</a:t>
              </a:r>
              <a:endParaRPr lang="en-US" altLang="zh-CN" sz="1800" b="0">
                <a:latin typeface="Arial" panose="020B0604020202020204" pitchFamily="34" charset="0"/>
              </a:endParaRPr>
            </a:p>
          </p:txBody>
        </p:sp>
        <p:sp>
          <p:nvSpPr>
            <p:cNvPr id="49" name="Rectangle 54"/>
            <p:cNvSpPr>
              <a:spLocks noChangeArrowheads="1"/>
            </p:cNvSpPr>
            <p:nvPr/>
          </p:nvSpPr>
          <p:spPr bwMode="auto">
            <a:xfrm>
              <a:off x="3020" y="3120"/>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2</a:t>
              </a:r>
              <a:endParaRPr lang="zh-CN" altLang="en-US" sz="1800" b="0">
                <a:latin typeface="Arial" panose="020B0604020202020204" pitchFamily="34" charset="0"/>
              </a:endParaRPr>
            </a:p>
          </p:txBody>
        </p:sp>
        <p:sp>
          <p:nvSpPr>
            <p:cNvPr id="50" name="Rectangle 55"/>
            <p:cNvSpPr>
              <a:spLocks noChangeArrowheads="1"/>
            </p:cNvSpPr>
            <p:nvPr/>
          </p:nvSpPr>
          <p:spPr bwMode="auto">
            <a:xfrm>
              <a:off x="3277" y="3065"/>
              <a:ext cx="194"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000" b="0">
                  <a:solidFill>
                    <a:srgbClr val="000000"/>
                  </a:solidFill>
                  <a:latin typeface="ËÎÌå" charset="0"/>
                </a:rPr>
                <a:t>A</a:t>
              </a:r>
              <a:endParaRPr lang="en-US" altLang="zh-CN" sz="1800" b="0">
                <a:latin typeface="Arial" panose="020B0604020202020204" pitchFamily="34" charset="0"/>
              </a:endParaRPr>
            </a:p>
          </p:txBody>
        </p:sp>
        <p:sp>
          <p:nvSpPr>
            <p:cNvPr id="51" name="Rectangle 56"/>
            <p:cNvSpPr>
              <a:spLocks noChangeArrowheads="1"/>
            </p:cNvSpPr>
            <p:nvPr/>
          </p:nvSpPr>
          <p:spPr bwMode="auto">
            <a:xfrm>
              <a:off x="3587" y="3065"/>
              <a:ext cx="20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000" b="0">
                  <a:solidFill>
                    <a:srgbClr val="000000"/>
                  </a:solidFill>
                  <a:latin typeface="ËÎÌå" charset="0"/>
                </a:rPr>
                <a:t>C</a:t>
              </a:r>
              <a:endParaRPr lang="en-US" altLang="zh-CN" sz="1800" b="0">
                <a:latin typeface="Arial" panose="020B0604020202020204" pitchFamily="34" charset="0"/>
              </a:endParaRPr>
            </a:p>
          </p:txBody>
        </p:sp>
        <p:sp>
          <p:nvSpPr>
            <p:cNvPr id="52" name="Rectangle 57"/>
            <p:cNvSpPr>
              <a:spLocks noChangeArrowheads="1"/>
            </p:cNvSpPr>
            <p:nvPr/>
          </p:nvSpPr>
          <p:spPr bwMode="auto">
            <a:xfrm>
              <a:off x="4212" y="2976"/>
              <a:ext cx="9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 </a:t>
              </a:r>
              <a:r>
                <a:rPr lang="en-US" altLang="zh-CN" sz="2000" b="0">
                  <a:solidFill>
                    <a:srgbClr val="000000"/>
                  </a:solidFill>
                  <a:latin typeface="ËÎÌå" charset="0"/>
                </a:rPr>
                <a:t>r</a:t>
              </a:r>
              <a:endParaRPr lang="en-US" altLang="zh-CN" sz="1800" b="0">
                <a:latin typeface="Arial" panose="020B0604020202020204" pitchFamily="34" charset="0"/>
              </a:endParaRPr>
            </a:p>
          </p:txBody>
        </p:sp>
        <p:sp>
          <p:nvSpPr>
            <p:cNvPr id="53" name="Rectangle 58"/>
            <p:cNvSpPr>
              <a:spLocks noChangeArrowheads="1"/>
            </p:cNvSpPr>
            <p:nvPr/>
          </p:nvSpPr>
          <p:spPr bwMode="auto">
            <a:xfrm>
              <a:off x="4364" y="3072"/>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1</a:t>
              </a:r>
              <a:endParaRPr lang="zh-CN" altLang="en-US" sz="1800" b="0">
                <a:latin typeface="Arial" panose="020B0604020202020204" pitchFamily="34" charset="0"/>
              </a:endParaRPr>
            </a:p>
          </p:txBody>
        </p:sp>
        <p:sp>
          <p:nvSpPr>
            <p:cNvPr id="54" name="Rectangle 59"/>
            <p:cNvSpPr>
              <a:spLocks noChangeArrowheads="1"/>
            </p:cNvSpPr>
            <p:nvPr/>
          </p:nvSpPr>
          <p:spPr bwMode="auto">
            <a:xfrm>
              <a:off x="4603" y="2976"/>
              <a:ext cx="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000" b="0">
                  <a:solidFill>
                    <a:srgbClr val="000000"/>
                  </a:solidFill>
                  <a:latin typeface="ËÎÌå" charset="0"/>
                </a:rPr>
                <a:t>r</a:t>
              </a:r>
              <a:endParaRPr lang="en-US" altLang="zh-CN" sz="1800" b="0">
                <a:latin typeface="Arial" panose="020B0604020202020204" pitchFamily="34" charset="0"/>
              </a:endParaRPr>
            </a:p>
          </p:txBody>
        </p:sp>
        <p:sp>
          <p:nvSpPr>
            <p:cNvPr id="55" name="Rectangle 60"/>
            <p:cNvSpPr>
              <a:spLocks noChangeArrowheads="1"/>
            </p:cNvSpPr>
            <p:nvPr/>
          </p:nvSpPr>
          <p:spPr bwMode="auto">
            <a:xfrm>
              <a:off x="4688" y="3072"/>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2</a:t>
              </a:r>
              <a:endParaRPr lang="zh-CN" altLang="en-US" sz="1800" b="0">
                <a:latin typeface="Arial" panose="020B0604020202020204" pitchFamily="34" charset="0"/>
              </a:endParaRPr>
            </a:p>
          </p:txBody>
        </p:sp>
        <p:sp>
          <p:nvSpPr>
            <p:cNvPr id="56" name="Rectangle 61"/>
            <p:cNvSpPr>
              <a:spLocks noChangeArrowheads="1"/>
            </p:cNvSpPr>
            <p:nvPr/>
          </p:nvSpPr>
          <p:spPr bwMode="auto">
            <a:xfrm>
              <a:off x="4814" y="3065"/>
              <a:ext cx="194"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000" b="0">
                  <a:solidFill>
                    <a:srgbClr val="000000"/>
                  </a:solidFill>
                  <a:latin typeface="ËÎÌå" charset="0"/>
                </a:rPr>
                <a:t>A</a:t>
              </a:r>
              <a:endParaRPr lang="en-US" altLang="zh-CN" sz="1800" b="0">
                <a:latin typeface="Arial" panose="020B0604020202020204" pitchFamily="34" charset="0"/>
              </a:endParaRPr>
            </a:p>
          </p:txBody>
        </p:sp>
        <p:sp>
          <p:nvSpPr>
            <p:cNvPr id="57" name="Rectangle 62"/>
            <p:cNvSpPr>
              <a:spLocks noChangeArrowheads="1"/>
            </p:cNvSpPr>
            <p:nvPr/>
          </p:nvSpPr>
          <p:spPr bwMode="auto">
            <a:xfrm>
              <a:off x="5111" y="3065"/>
              <a:ext cx="194"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2000" b="0">
                  <a:solidFill>
                    <a:srgbClr val="000000"/>
                  </a:solidFill>
                  <a:latin typeface="ËÎÌå" charset="0"/>
                </a:rPr>
                <a:t>B</a:t>
              </a:r>
              <a:endParaRPr lang="en-US" altLang="zh-CN" sz="1800" b="0">
                <a:latin typeface="Arial" panose="020B0604020202020204" pitchFamily="34" charset="0"/>
              </a:endParaRPr>
            </a:p>
          </p:txBody>
        </p:sp>
        <p:sp>
          <p:nvSpPr>
            <p:cNvPr id="58" name="Rectangle 63"/>
            <p:cNvSpPr>
              <a:spLocks noChangeArrowheads="1"/>
            </p:cNvSpPr>
            <p:nvPr/>
          </p:nvSpPr>
          <p:spPr bwMode="auto">
            <a:xfrm>
              <a:off x="527" y="3225"/>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1800" b="0">
                <a:latin typeface="Arial" panose="020B0604020202020204" pitchFamily="34" charset="0"/>
              </a:endParaRPr>
            </a:p>
          </p:txBody>
        </p:sp>
        <p:sp>
          <p:nvSpPr>
            <p:cNvPr id="59" name="Rectangle 64"/>
            <p:cNvSpPr>
              <a:spLocks noChangeArrowheads="1"/>
            </p:cNvSpPr>
            <p:nvPr/>
          </p:nvSpPr>
          <p:spPr bwMode="auto">
            <a:xfrm>
              <a:off x="824" y="3225"/>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1800" b="0">
                <a:latin typeface="Arial" panose="020B0604020202020204" pitchFamily="34" charset="0"/>
              </a:endParaRPr>
            </a:p>
          </p:txBody>
        </p:sp>
        <p:sp>
          <p:nvSpPr>
            <p:cNvPr id="60" name="Rectangle 65"/>
            <p:cNvSpPr>
              <a:spLocks noChangeArrowheads="1"/>
            </p:cNvSpPr>
            <p:nvPr/>
          </p:nvSpPr>
          <p:spPr bwMode="auto">
            <a:xfrm>
              <a:off x="1134" y="3225"/>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4</a:t>
              </a:r>
              <a:endParaRPr lang="zh-CN" altLang="en-US" sz="1800" b="0">
                <a:latin typeface="Arial" panose="020B0604020202020204" pitchFamily="34" charset="0"/>
              </a:endParaRPr>
            </a:p>
          </p:txBody>
        </p:sp>
        <p:sp>
          <p:nvSpPr>
            <p:cNvPr id="61" name="Rectangle 66"/>
            <p:cNvSpPr>
              <a:spLocks noChangeArrowheads="1"/>
            </p:cNvSpPr>
            <p:nvPr/>
          </p:nvSpPr>
          <p:spPr bwMode="auto">
            <a:xfrm>
              <a:off x="2050" y="3225"/>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1800" b="0">
                <a:latin typeface="Arial" panose="020B0604020202020204" pitchFamily="34" charset="0"/>
              </a:endParaRPr>
            </a:p>
          </p:txBody>
        </p:sp>
        <p:sp>
          <p:nvSpPr>
            <p:cNvPr id="62" name="Rectangle 67"/>
            <p:cNvSpPr>
              <a:spLocks noChangeArrowheads="1"/>
            </p:cNvSpPr>
            <p:nvPr/>
          </p:nvSpPr>
          <p:spPr bwMode="auto">
            <a:xfrm>
              <a:off x="2360" y="3225"/>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1800" b="0">
                <a:latin typeface="Arial" panose="020B0604020202020204" pitchFamily="34" charset="0"/>
              </a:endParaRPr>
            </a:p>
          </p:txBody>
        </p:sp>
        <p:sp>
          <p:nvSpPr>
            <p:cNvPr id="63" name="Rectangle 68"/>
            <p:cNvSpPr>
              <a:spLocks noChangeArrowheads="1"/>
            </p:cNvSpPr>
            <p:nvPr/>
          </p:nvSpPr>
          <p:spPr bwMode="auto">
            <a:xfrm>
              <a:off x="3277" y="3225"/>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1800" b="0">
                <a:latin typeface="Arial" panose="020B0604020202020204" pitchFamily="34" charset="0"/>
              </a:endParaRPr>
            </a:p>
          </p:txBody>
        </p:sp>
        <p:sp>
          <p:nvSpPr>
            <p:cNvPr id="64" name="Rectangle 69"/>
            <p:cNvSpPr>
              <a:spLocks noChangeArrowheads="1"/>
            </p:cNvSpPr>
            <p:nvPr/>
          </p:nvSpPr>
          <p:spPr bwMode="auto">
            <a:xfrm>
              <a:off x="3587" y="3225"/>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4</a:t>
              </a:r>
              <a:endParaRPr lang="zh-CN" altLang="en-US" sz="1800" b="0">
                <a:latin typeface="Arial" panose="020B0604020202020204" pitchFamily="34" charset="0"/>
              </a:endParaRPr>
            </a:p>
          </p:txBody>
        </p:sp>
        <p:sp>
          <p:nvSpPr>
            <p:cNvPr id="65" name="Rectangle 70"/>
            <p:cNvSpPr>
              <a:spLocks noChangeArrowheads="1"/>
            </p:cNvSpPr>
            <p:nvPr/>
          </p:nvSpPr>
          <p:spPr bwMode="auto">
            <a:xfrm>
              <a:off x="4814" y="3225"/>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1800" b="0">
                <a:latin typeface="Arial" panose="020B0604020202020204" pitchFamily="34" charset="0"/>
              </a:endParaRPr>
            </a:p>
          </p:txBody>
        </p:sp>
        <p:sp>
          <p:nvSpPr>
            <p:cNvPr id="66" name="Rectangle 71"/>
            <p:cNvSpPr>
              <a:spLocks noChangeArrowheads="1"/>
            </p:cNvSpPr>
            <p:nvPr/>
          </p:nvSpPr>
          <p:spPr bwMode="auto">
            <a:xfrm>
              <a:off x="5111" y="3225"/>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1800" b="0">
                <a:latin typeface="Arial" panose="020B0604020202020204" pitchFamily="34" charset="0"/>
              </a:endParaRPr>
            </a:p>
          </p:txBody>
        </p:sp>
        <p:sp>
          <p:nvSpPr>
            <p:cNvPr id="67" name="Rectangle 72"/>
            <p:cNvSpPr>
              <a:spLocks noChangeArrowheads="1"/>
            </p:cNvSpPr>
            <p:nvPr/>
          </p:nvSpPr>
          <p:spPr bwMode="auto">
            <a:xfrm>
              <a:off x="527" y="337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2000" b="0">
                <a:solidFill>
                  <a:srgbClr val="000000"/>
                </a:solidFill>
                <a:latin typeface="ËÎÌå" charset="0"/>
              </a:endParaRPr>
            </a:p>
          </p:txBody>
        </p:sp>
        <p:sp>
          <p:nvSpPr>
            <p:cNvPr id="68" name="Rectangle 73"/>
            <p:cNvSpPr>
              <a:spLocks noChangeArrowheads="1"/>
            </p:cNvSpPr>
            <p:nvPr/>
          </p:nvSpPr>
          <p:spPr bwMode="auto">
            <a:xfrm>
              <a:off x="824" y="337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2</a:t>
              </a:r>
              <a:endParaRPr lang="zh-CN" altLang="en-US" sz="2000" b="0">
                <a:solidFill>
                  <a:srgbClr val="000000"/>
                </a:solidFill>
                <a:latin typeface="ËÎÌå" charset="0"/>
              </a:endParaRPr>
            </a:p>
          </p:txBody>
        </p:sp>
        <p:sp>
          <p:nvSpPr>
            <p:cNvPr id="69" name="Rectangle 74"/>
            <p:cNvSpPr>
              <a:spLocks noChangeArrowheads="1"/>
            </p:cNvSpPr>
            <p:nvPr/>
          </p:nvSpPr>
          <p:spPr bwMode="auto">
            <a:xfrm>
              <a:off x="1134" y="337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3</a:t>
              </a:r>
              <a:endParaRPr lang="zh-CN" altLang="en-US" sz="2000" b="0">
                <a:solidFill>
                  <a:srgbClr val="000000"/>
                </a:solidFill>
                <a:latin typeface="ËÎÌå" charset="0"/>
              </a:endParaRPr>
            </a:p>
          </p:txBody>
        </p:sp>
        <p:sp>
          <p:nvSpPr>
            <p:cNvPr id="70" name="Rectangle 75"/>
            <p:cNvSpPr>
              <a:spLocks noChangeArrowheads="1"/>
            </p:cNvSpPr>
            <p:nvPr/>
          </p:nvSpPr>
          <p:spPr bwMode="auto">
            <a:xfrm>
              <a:off x="2050" y="3373"/>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1800" b="0">
                <a:latin typeface="Arial" panose="020B0604020202020204" pitchFamily="34" charset="0"/>
              </a:endParaRPr>
            </a:p>
          </p:txBody>
        </p:sp>
        <p:sp>
          <p:nvSpPr>
            <p:cNvPr id="71" name="Rectangle 76"/>
            <p:cNvSpPr>
              <a:spLocks noChangeArrowheads="1"/>
            </p:cNvSpPr>
            <p:nvPr/>
          </p:nvSpPr>
          <p:spPr bwMode="auto">
            <a:xfrm>
              <a:off x="2360" y="3373"/>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2</a:t>
              </a:r>
              <a:endParaRPr lang="zh-CN" altLang="en-US" sz="1800" b="0">
                <a:latin typeface="Arial" panose="020B0604020202020204" pitchFamily="34" charset="0"/>
              </a:endParaRPr>
            </a:p>
          </p:txBody>
        </p:sp>
        <p:sp>
          <p:nvSpPr>
            <p:cNvPr id="72" name="Rectangle 77"/>
            <p:cNvSpPr>
              <a:spLocks noChangeArrowheads="1"/>
            </p:cNvSpPr>
            <p:nvPr/>
          </p:nvSpPr>
          <p:spPr bwMode="auto">
            <a:xfrm>
              <a:off x="3277" y="3373"/>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1800" b="0">
                <a:latin typeface="Arial" panose="020B0604020202020204" pitchFamily="34" charset="0"/>
              </a:endParaRPr>
            </a:p>
          </p:txBody>
        </p:sp>
        <p:sp>
          <p:nvSpPr>
            <p:cNvPr id="73" name="Rectangle 78"/>
            <p:cNvSpPr>
              <a:spLocks noChangeArrowheads="1"/>
            </p:cNvSpPr>
            <p:nvPr/>
          </p:nvSpPr>
          <p:spPr bwMode="auto">
            <a:xfrm>
              <a:off x="3587" y="3373"/>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3</a:t>
              </a:r>
              <a:endParaRPr lang="zh-CN" altLang="en-US" sz="1800" b="0">
                <a:latin typeface="Arial" panose="020B0604020202020204" pitchFamily="34" charset="0"/>
              </a:endParaRPr>
            </a:p>
          </p:txBody>
        </p:sp>
        <p:sp>
          <p:nvSpPr>
            <p:cNvPr id="74" name="Rectangle 79"/>
            <p:cNvSpPr>
              <a:spLocks noChangeArrowheads="1"/>
            </p:cNvSpPr>
            <p:nvPr/>
          </p:nvSpPr>
          <p:spPr bwMode="auto">
            <a:xfrm>
              <a:off x="4814" y="3373"/>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1800" b="0">
                <a:latin typeface="Arial" panose="020B0604020202020204" pitchFamily="34" charset="0"/>
              </a:endParaRPr>
            </a:p>
          </p:txBody>
        </p:sp>
        <p:sp>
          <p:nvSpPr>
            <p:cNvPr id="75" name="Rectangle 80"/>
            <p:cNvSpPr>
              <a:spLocks noChangeArrowheads="1"/>
            </p:cNvSpPr>
            <p:nvPr/>
          </p:nvSpPr>
          <p:spPr bwMode="auto">
            <a:xfrm>
              <a:off x="5111" y="3373"/>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1800" b="0">
                <a:latin typeface="Arial" panose="020B0604020202020204" pitchFamily="34" charset="0"/>
              </a:endParaRPr>
            </a:p>
          </p:txBody>
        </p:sp>
        <p:sp>
          <p:nvSpPr>
            <p:cNvPr id="76" name="Rectangle 81"/>
            <p:cNvSpPr>
              <a:spLocks noChangeArrowheads="1"/>
            </p:cNvSpPr>
            <p:nvPr/>
          </p:nvSpPr>
          <p:spPr bwMode="auto">
            <a:xfrm>
              <a:off x="4816" y="3534"/>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1800" b="0">
                <a:latin typeface="Arial" panose="020B0604020202020204" pitchFamily="34" charset="0"/>
              </a:endParaRPr>
            </a:p>
          </p:txBody>
        </p:sp>
        <p:sp>
          <p:nvSpPr>
            <p:cNvPr id="77" name="Rectangle 82"/>
            <p:cNvSpPr>
              <a:spLocks noChangeArrowheads="1"/>
            </p:cNvSpPr>
            <p:nvPr/>
          </p:nvSpPr>
          <p:spPr bwMode="auto">
            <a:xfrm>
              <a:off x="5111" y="3534"/>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2</a:t>
              </a:r>
              <a:endParaRPr lang="zh-CN" altLang="en-US" sz="1800" b="0">
                <a:latin typeface="Arial" panose="020B0604020202020204" pitchFamily="34" charset="0"/>
              </a:endParaRPr>
            </a:p>
          </p:txBody>
        </p:sp>
        <p:sp>
          <p:nvSpPr>
            <p:cNvPr id="78" name="Rectangle 83"/>
            <p:cNvSpPr>
              <a:spLocks noChangeArrowheads="1"/>
            </p:cNvSpPr>
            <p:nvPr/>
          </p:nvSpPr>
          <p:spPr bwMode="auto">
            <a:xfrm>
              <a:off x="4816" y="3695"/>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1</a:t>
              </a:r>
              <a:endParaRPr lang="zh-CN" altLang="en-US" sz="1800" b="0">
                <a:latin typeface="Arial" panose="020B0604020202020204" pitchFamily="34" charset="0"/>
              </a:endParaRPr>
            </a:p>
          </p:txBody>
        </p:sp>
        <p:sp>
          <p:nvSpPr>
            <p:cNvPr id="79" name="Rectangle 84"/>
            <p:cNvSpPr>
              <a:spLocks noChangeArrowheads="1"/>
            </p:cNvSpPr>
            <p:nvPr/>
          </p:nvSpPr>
          <p:spPr bwMode="auto">
            <a:xfrm>
              <a:off x="5111" y="3695"/>
              <a:ext cx="168"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2</a:t>
              </a:r>
              <a:endParaRPr lang="zh-CN" altLang="en-US" sz="1800" b="0">
                <a:latin typeface="Arial" panose="020B0604020202020204" pitchFamily="34" charset="0"/>
              </a:endParaRPr>
            </a:p>
          </p:txBody>
        </p:sp>
        <p:sp>
          <p:nvSpPr>
            <p:cNvPr id="80" name="Rectangle 85"/>
            <p:cNvSpPr>
              <a:spLocks noChangeArrowheads="1"/>
            </p:cNvSpPr>
            <p:nvPr/>
          </p:nvSpPr>
          <p:spPr bwMode="auto">
            <a:xfrm>
              <a:off x="665" y="3600"/>
              <a:ext cx="3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a:t>
              </a:r>
              <a:r>
                <a:rPr lang="en-US" altLang="zh-CN" sz="2000" b="0">
                  <a:solidFill>
                    <a:srgbClr val="000000"/>
                  </a:solidFill>
                  <a:latin typeface="ËÎÌå" charset="0"/>
                </a:rPr>
                <a:t>a）</a:t>
              </a:r>
              <a:endParaRPr lang="en-US" altLang="zh-CN" sz="1800" b="0">
                <a:latin typeface="Arial" panose="020B0604020202020204" pitchFamily="34" charset="0"/>
              </a:endParaRPr>
            </a:p>
          </p:txBody>
        </p:sp>
        <p:sp>
          <p:nvSpPr>
            <p:cNvPr id="81" name="Rectangle 86"/>
            <p:cNvSpPr>
              <a:spLocks noChangeArrowheads="1"/>
            </p:cNvSpPr>
            <p:nvPr/>
          </p:nvSpPr>
          <p:spPr bwMode="auto">
            <a:xfrm>
              <a:off x="2050" y="3648"/>
              <a:ext cx="4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dirty="0">
                  <a:solidFill>
                    <a:srgbClr val="000000"/>
                  </a:solidFill>
                  <a:latin typeface="ËÎÌå" charset="0"/>
                </a:rPr>
                <a:t>（</a:t>
              </a:r>
              <a:r>
                <a:rPr lang="en-US" altLang="zh-CN" sz="2000" b="0" dirty="0">
                  <a:solidFill>
                    <a:srgbClr val="000000"/>
                  </a:solidFill>
                  <a:latin typeface="ËÎÌå" charset="0"/>
                </a:rPr>
                <a:t>b）</a:t>
              </a:r>
              <a:endParaRPr lang="en-US" altLang="zh-CN" sz="1800" b="0" dirty="0">
                <a:latin typeface="Arial" panose="020B0604020202020204" pitchFamily="34" charset="0"/>
              </a:endParaRPr>
            </a:p>
          </p:txBody>
        </p:sp>
        <p:sp>
          <p:nvSpPr>
            <p:cNvPr id="82" name="Rectangle 87"/>
            <p:cNvSpPr>
              <a:spLocks noChangeArrowheads="1"/>
            </p:cNvSpPr>
            <p:nvPr/>
          </p:nvSpPr>
          <p:spPr bwMode="auto">
            <a:xfrm>
              <a:off x="3277" y="3648"/>
              <a:ext cx="3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a:t>
              </a:r>
              <a:r>
                <a:rPr lang="en-US" altLang="zh-CN" sz="2000" b="0">
                  <a:solidFill>
                    <a:srgbClr val="000000"/>
                  </a:solidFill>
                  <a:latin typeface="ËÎÌå" charset="0"/>
                </a:rPr>
                <a:t>c）</a:t>
              </a:r>
              <a:endParaRPr lang="en-US" altLang="zh-CN" sz="1800" b="0">
                <a:latin typeface="Arial" panose="020B0604020202020204" pitchFamily="34" charset="0"/>
              </a:endParaRPr>
            </a:p>
          </p:txBody>
        </p:sp>
        <p:sp>
          <p:nvSpPr>
            <p:cNvPr id="83" name="Rectangle 88"/>
            <p:cNvSpPr>
              <a:spLocks noChangeArrowheads="1"/>
            </p:cNvSpPr>
            <p:nvPr/>
          </p:nvSpPr>
          <p:spPr bwMode="auto">
            <a:xfrm>
              <a:off x="4976" y="3888"/>
              <a:ext cx="40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2000" b="0">
                  <a:solidFill>
                    <a:srgbClr val="000000"/>
                  </a:solidFill>
                  <a:latin typeface="ËÎÌå" charset="0"/>
                </a:rPr>
                <a:t>（</a:t>
              </a:r>
              <a:r>
                <a:rPr lang="en-US" altLang="zh-CN" sz="2000" b="0">
                  <a:solidFill>
                    <a:srgbClr val="000000"/>
                  </a:solidFill>
                  <a:latin typeface="ËÎÌå" charset="0"/>
                </a:rPr>
                <a:t>d）</a:t>
              </a:r>
              <a:endParaRPr lang="en-US" altLang="zh-CN" sz="1800" b="0">
                <a:latin typeface="Arial" panose="020B0604020202020204" pitchFamily="34" charset="0"/>
              </a:endParaRPr>
            </a:p>
          </p:txBody>
        </p:sp>
        <p:sp>
          <p:nvSpPr>
            <p:cNvPr id="84" name="Line 89"/>
            <p:cNvSpPr>
              <a:spLocks noChangeShapeType="1"/>
            </p:cNvSpPr>
            <p:nvPr/>
          </p:nvSpPr>
          <p:spPr bwMode="auto">
            <a:xfrm>
              <a:off x="259" y="3248"/>
              <a:ext cx="1043"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 name="Line 90"/>
            <p:cNvSpPr>
              <a:spLocks noChangeShapeType="1"/>
            </p:cNvSpPr>
            <p:nvPr/>
          </p:nvSpPr>
          <p:spPr bwMode="auto">
            <a:xfrm>
              <a:off x="1728" y="3248"/>
              <a:ext cx="7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 name="Line 91"/>
            <p:cNvSpPr>
              <a:spLocks noChangeShapeType="1"/>
            </p:cNvSpPr>
            <p:nvPr/>
          </p:nvSpPr>
          <p:spPr bwMode="auto">
            <a:xfrm>
              <a:off x="2976" y="3237"/>
              <a:ext cx="72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7" name="Line 92"/>
            <p:cNvSpPr>
              <a:spLocks noChangeShapeType="1"/>
            </p:cNvSpPr>
            <p:nvPr/>
          </p:nvSpPr>
          <p:spPr bwMode="auto">
            <a:xfrm>
              <a:off x="4283" y="3247"/>
              <a:ext cx="128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 name="Line 93"/>
            <p:cNvSpPr>
              <a:spLocks noChangeShapeType="1"/>
            </p:cNvSpPr>
            <p:nvPr/>
          </p:nvSpPr>
          <p:spPr bwMode="auto">
            <a:xfrm>
              <a:off x="3168" y="3072"/>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 name="Line 94"/>
            <p:cNvSpPr>
              <a:spLocks noChangeShapeType="1"/>
            </p:cNvSpPr>
            <p:nvPr/>
          </p:nvSpPr>
          <p:spPr bwMode="auto">
            <a:xfrm>
              <a:off x="1920" y="3072"/>
              <a:ext cx="0"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 name="Line 95"/>
            <p:cNvSpPr>
              <a:spLocks noChangeShapeType="1"/>
            </p:cNvSpPr>
            <p:nvPr/>
          </p:nvSpPr>
          <p:spPr bwMode="auto">
            <a:xfrm>
              <a:off x="432" y="3072"/>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 name="Line 96"/>
            <p:cNvSpPr>
              <a:spLocks noChangeShapeType="1"/>
            </p:cNvSpPr>
            <p:nvPr/>
          </p:nvSpPr>
          <p:spPr bwMode="auto">
            <a:xfrm>
              <a:off x="4752" y="3024"/>
              <a:ext cx="0" cy="9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 name="Text Box 97"/>
            <p:cNvSpPr txBox="1">
              <a:spLocks noChangeArrowheads="1"/>
            </p:cNvSpPr>
            <p:nvPr/>
          </p:nvSpPr>
          <p:spPr bwMode="auto">
            <a:xfrm>
              <a:off x="2064" y="3888"/>
              <a:ext cx="16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lang="zh-CN" altLang="en-US" sz="1600" b="0"/>
                <a:t>图</a:t>
              </a:r>
              <a:r>
                <a:rPr lang="en-US" altLang="zh-CN" sz="1600" b="0"/>
                <a:t>  </a:t>
              </a:r>
              <a:r>
                <a:rPr lang="zh-CN" altLang="en-US" sz="1600" b="0"/>
                <a:t>丢失信息的分解</a:t>
              </a:r>
              <a:r>
                <a:rPr lang="zh-CN" altLang="en-US" sz="1600" b="0">
                  <a:latin typeface="Arial" panose="020B0604020202020204" pitchFamily="34" charset="0"/>
                </a:rPr>
                <a:t> </a:t>
              </a:r>
              <a:endParaRPr lang="zh-CN" altLang="en-US" sz="1600" b="0">
                <a:latin typeface="Arial" panose="020B0604020202020204" pitchFamily="34" charset="0"/>
              </a:endParaRPr>
            </a:p>
          </p:txBody>
        </p:sp>
        <p:pic>
          <p:nvPicPr>
            <p:cNvPr id="93" name="Picture 98" descr="未标题-1 拷贝"/>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416" y="3042"/>
              <a:ext cx="161"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投影连接运算</a:t>
                </a:r>
                <a:endParaRPr lang="en-US" altLang="zh-CN" dirty="0"/>
              </a:p>
              <a:p>
                <a:pPr lvl="1"/>
                <a:r>
                  <a:rPr lang="zh-CN" altLang="en-US" dirty="0"/>
                  <a:t>定义</a:t>
                </a:r>
                <a:r>
                  <a:rPr lang="en-US" altLang="zh-CN" dirty="0"/>
                  <a:t>4.17</a:t>
                </a:r>
                <a:r>
                  <a:rPr lang="zh-CN" altLang="en-US" dirty="0"/>
                  <a:t>：设</a:t>
                </a:r>
                <a14:m>
                  <m:oMath xmlns:m="http://schemas.openxmlformats.org/officeDocument/2006/math">
                    <m:r>
                      <a:rPr lang="en-US" altLang="zh-CN" i="1">
                        <a:latin typeface="Cambria Math" panose="02040503050406030204" pitchFamily="18" charset="0"/>
                        <a:ea typeface="Cambria Math" panose="02040503050406030204" pitchFamily="18" charset="0"/>
                      </a:rPr>
                      <m:t>𝜌</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i="1">
                            <a:latin typeface="Cambria Math" panose="02040503050406030204" pitchFamily="18" charset="0"/>
                            <a:ea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i="1">
                            <a:latin typeface="Cambria Math" panose="02040503050406030204" pitchFamily="18" charset="0"/>
                            <a:ea typeface="Cambria Math" panose="02040503050406030204" pitchFamily="18" charset="0"/>
                          </a:rPr>
                          <m:t>𝑘</m:t>
                        </m:r>
                      </m:sub>
                    </m:sSub>
                    <m:r>
                      <a:rPr lang="en-US" altLang="zh-CN" i="1">
                        <a:latin typeface="Cambria Math" panose="02040503050406030204" pitchFamily="18" charset="0"/>
                        <a:ea typeface="Cambria Math" panose="02040503050406030204" pitchFamily="18" charset="0"/>
                      </a:rPr>
                      <m:t>}</m:t>
                    </m:r>
                  </m:oMath>
                </a14:m>
                <a:r>
                  <a:rPr lang="zh-CN" altLang="en-US" dirty="0"/>
                  <a:t>为</a:t>
                </a:r>
                <a14:m>
                  <m:oMath xmlns:m="http://schemas.openxmlformats.org/officeDocument/2006/math">
                    <m:r>
                      <a:rPr lang="en-US" altLang="zh-CN" i="1" dirty="0" smtClean="0">
                        <a:latin typeface="Cambria Math" panose="02040503050406030204" pitchFamily="18" charset="0"/>
                      </a:rPr>
                      <m:t>𝑅</m:t>
                    </m:r>
                  </m:oMath>
                </a14:m>
                <a:r>
                  <a:rPr lang="zh-CN" altLang="en-US" dirty="0"/>
                  <a:t>的一个分解，</a:t>
                </a:r>
                <a14:m>
                  <m:oMath xmlns:m="http://schemas.openxmlformats.org/officeDocument/2006/math">
                    <m:r>
                      <a:rPr lang="en-US" altLang="zh-CN" i="1" dirty="0" smtClean="0">
                        <a:latin typeface="Cambria Math" panose="02040503050406030204" pitchFamily="18" charset="0"/>
                      </a:rPr>
                      <m:t>𝑟</m:t>
                    </m:r>
                  </m:oMath>
                </a14:m>
                <a:r>
                  <a:rPr lang="zh-CN" altLang="en-US" dirty="0"/>
                  <a:t>是</a:t>
                </a:r>
                <a14:m>
                  <m:oMath xmlns:m="http://schemas.openxmlformats.org/officeDocument/2006/math">
                    <m:r>
                      <a:rPr lang="en-US" altLang="zh-CN" i="1" dirty="0">
                        <a:latin typeface="Cambria Math" panose="02040503050406030204" pitchFamily="18" charset="0"/>
                      </a:rPr>
                      <m:t>𝑅</m:t>
                    </m:r>
                  </m:oMath>
                </a14:m>
                <a:r>
                  <a:rPr lang="zh-CN" altLang="en-US" dirty="0"/>
                  <a:t>上的任意一个具体关系，则</a:t>
                </a:r>
                <a14:m>
                  <m:oMath xmlns:m="http://schemas.openxmlformats.org/officeDocument/2006/math">
                    <m:r>
                      <a:rPr lang="en-US" altLang="zh-CN" i="1" dirty="0">
                        <a:latin typeface="Cambria Math" panose="02040503050406030204" pitchFamily="18" charset="0"/>
                      </a:rPr>
                      <m:t>𝑟</m:t>
                    </m:r>
                  </m:oMath>
                </a14:m>
                <a:r>
                  <a:rPr lang="zh-CN" altLang="en-US" dirty="0"/>
                  <a:t>对于</a:t>
                </a:r>
                <a14:m>
                  <m:oMath xmlns:m="http://schemas.openxmlformats.org/officeDocument/2006/math">
                    <m:r>
                      <a:rPr lang="en-US" altLang="zh-CN" i="1">
                        <a:latin typeface="Cambria Math" panose="02040503050406030204" pitchFamily="18" charset="0"/>
                        <a:ea typeface="Cambria Math" panose="02040503050406030204" pitchFamily="18" charset="0"/>
                      </a:rPr>
                      <m:t>𝜌</m:t>
                    </m:r>
                  </m:oMath>
                </a14:m>
                <a:r>
                  <a:rPr lang="zh-CN" altLang="en-US" dirty="0"/>
                  <a:t>的投影连接运算定义为：</a:t>
                </a:r>
                <a:endParaRPr lang="en-US" altLang="zh-CN"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𝑚</m:t>
                          </m:r>
                        </m:e>
                        <m:sub>
                          <m:r>
                            <a:rPr lang="en-US" altLang="zh-CN" i="1">
                              <a:latin typeface="Cambria Math" panose="02040503050406030204" pitchFamily="18" charset="0"/>
                              <a:ea typeface="Cambria Math" panose="02040503050406030204" pitchFamily="18" charset="0"/>
                            </a:rPr>
                            <m:t>𝜌</m:t>
                          </m:r>
                        </m:sub>
                      </m:sSub>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𝑟</m:t>
                          </m:r>
                        </m:e>
                      </m:d>
                      <m:r>
                        <a:rPr lang="en-US" altLang="zh-CN" b="0" i="1" smtClean="0">
                          <a:latin typeface="Cambria Math" panose="02040503050406030204" pitchFamily="18" charset="0"/>
                          <a:ea typeface="Cambria Math" panose="02040503050406030204" pitchFamily="18" charset="0"/>
                        </a:rPr>
                        <m:t>=</m:t>
                      </m:r>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m:t>
                          </m:r>
                        </m:e>
                        <m:sub>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sub>
                        <m:sup>
                          <m:r>
                            <a:rPr lang="en-US" altLang="zh-CN" b="0" i="1" smtClean="0">
                              <a:latin typeface="Cambria Math" panose="02040503050406030204" pitchFamily="18" charset="0"/>
                              <a:ea typeface="Cambria Math" panose="02040503050406030204" pitchFamily="18" charset="0"/>
                            </a:rPr>
                            <m:t>𝑘</m:t>
                          </m:r>
                        </m:sup>
                      </m:sSubSup>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𝜋</m:t>
                          </m:r>
                        </m:e>
                        <m:sub>
                          <m:sSub>
                            <m:sSubPr>
                              <m:ctrlPr>
                                <a:rPr lang="en-US" altLang="zh-CN" i="1" smtClean="0">
                                  <a:latin typeface="Cambria Math" panose="02040503050406030204" pitchFamily="18" charset="0"/>
                                  <a:ea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m:t>
                              </m:r>
                            </m:e>
                            <m:sub>
                              <m:r>
                                <a:rPr lang="en-US" altLang="zh-CN" b="0" i="1" smtClean="0">
                                  <a:latin typeface="Cambria Math" panose="02040503050406030204" pitchFamily="18" charset="0"/>
                                  <a:ea typeface="Cambria Math" panose="02040503050406030204" pitchFamily="18" charset="0"/>
                                </a:rPr>
                                <m:t>𝑖</m:t>
                              </m:r>
                            </m:sub>
                          </m:sSub>
                        </m:sub>
                      </m:sSub>
                      <m:d>
                        <m:dPr>
                          <m:ctrlPr>
                            <a:rPr lang="en-US" altLang="zh-CN" i="1">
                              <a:latin typeface="Cambria Math" panose="02040503050406030204" pitchFamily="18" charset="0"/>
                            </a:rPr>
                          </m:ctrlPr>
                        </m:dPr>
                        <m:e>
                          <m:r>
                            <a:rPr lang="en-US" altLang="zh-CN" i="1">
                              <a:latin typeface="Cambria Math" panose="02040503050406030204" pitchFamily="18" charset="0"/>
                            </a:rPr>
                            <m:t>𝑟</m:t>
                          </m:r>
                        </m:e>
                      </m:d>
                    </m:oMath>
                  </m:oMathPara>
                </a14:m>
                <a:endParaRPr lang="en-US" altLang="zh-CN" dirty="0"/>
              </a:p>
              <a:p>
                <a:pPr lvl="1"/>
                <a:r>
                  <a:rPr lang="zh-CN" altLang="en-US" dirty="0"/>
                  <a:t>引理</a:t>
                </a:r>
                <a:r>
                  <a:rPr lang="en-US" altLang="zh-CN" dirty="0"/>
                  <a:t>4.4</a:t>
                </a:r>
                <a:r>
                  <a:rPr lang="zh-CN" altLang="en-US" dirty="0"/>
                  <a:t>：设</a:t>
                </a:r>
                <a14:m>
                  <m:oMath xmlns:m="http://schemas.openxmlformats.org/officeDocument/2006/math">
                    <m:r>
                      <a:rPr lang="en-US" altLang="zh-CN" i="1">
                        <a:latin typeface="Cambria Math" panose="02040503050406030204" pitchFamily="18" charset="0"/>
                        <a:ea typeface="Cambria Math" panose="02040503050406030204" pitchFamily="18" charset="0"/>
                      </a:rPr>
                      <m:t>𝜌</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i="1">
                            <a:latin typeface="Cambria Math" panose="02040503050406030204" pitchFamily="18" charset="0"/>
                            <a:ea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i="1">
                            <a:latin typeface="Cambria Math" panose="02040503050406030204" pitchFamily="18" charset="0"/>
                            <a:ea typeface="Cambria Math" panose="02040503050406030204" pitchFamily="18" charset="0"/>
                          </a:rPr>
                          <m:t>𝑘</m:t>
                        </m:r>
                      </m:sub>
                    </m:sSub>
                    <m:r>
                      <a:rPr lang="en-US" altLang="zh-CN" i="1">
                        <a:latin typeface="Cambria Math" panose="02040503050406030204" pitchFamily="18" charset="0"/>
                        <a:ea typeface="Cambria Math" panose="02040503050406030204" pitchFamily="18" charset="0"/>
                      </a:rPr>
                      <m:t>}</m:t>
                    </m:r>
                  </m:oMath>
                </a14:m>
                <a:r>
                  <a:rPr lang="zh-CN" altLang="en-US" dirty="0"/>
                  <a:t>是</a:t>
                </a:r>
                <a14:m>
                  <m:oMath xmlns:m="http://schemas.openxmlformats.org/officeDocument/2006/math">
                    <m:r>
                      <a:rPr lang="en-US" altLang="zh-CN" i="1" dirty="0">
                        <a:latin typeface="Cambria Math" panose="02040503050406030204" pitchFamily="18" charset="0"/>
                      </a:rPr>
                      <m:t>𝑅</m:t>
                    </m:r>
                  </m:oMath>
                </a14:m>
                <a:r>
                  <a:rPr lang="zh-CN" altLang="en-US" dirty="0"/>
                  <a:t>的一个分解，</a:t>
                </a:r>
                <a14:m>
                  <m:oMath xmlns:m="http://schemas.openxmlformats.org/officeDocument/2006/math">
                    <m:r>
                      <a:rPr lang="en-US" altLang="zh-CN" i="1" dirty="0">
                        <a:latin typeface="Cambria Math" panose="02040503050406030204" pitchFamily="18" charset="0"/>
                      </a:rPr>
                      <m:t>𝑟</m:t>
                    </m:r>
                  </m:oMath>
                </a14:m>
                <a:r>
                  <a:rPr lang="zh-CN" altLang="en-US" dirty="0"/>
                  <a:t>是</a:t>
                </a:r>
                <a14:m>
                  <m:oMath xmlns:m="http://schemas.openxmlformats.org/officeDocument/2006/math">
                    <m:r>
                      <a:rPr lang="en-US" altLang="zh-CN" i="1" dirty="0">
                        <a:latin typeface="Cambria Math" panose="02040503050406030204" pitchFamily="18" charset="0"/>
                      </a:rPr>
                      <m:t>𝑅</m:t>
                    </m:r>
                  </m:oMath>
                </a14:m>
                <a:r>
                  <a:rPr lang="zh-CN" altLang="en-US" dirty="0"/>
                  <a:t>的任一关系，</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𝜋</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𝑖</m:t>
                            </m:r>
                          </m:sub>
                        </m:sSub>
                      </m:sub>
                    </m:sSub>
                    <m:d>
                      <m:dPr>
                        <m:ctrlPr>
                          <a:rPr lang="en-US" altLang="zh-CN" i="1">
                            <a:latin typeface="Cambria Math" panose="02040503050406030204" pitchFamily="18" charset="0"/>
                          </a:rPr>
                        </m:ctrlPr>
                      </m:dPr>
                      <m:e>
                        <m:r>
                          <a:rPr lang="en-US" altLang="zh-CN" i="1">
                            <a:latin typeface="Cambria Math" panose="02040503050406030204" pitchFamily="18" charset="0"/>
                          </a:rPr>
                          <m:t>𝑟</m:t>
                        </m:r>
                      </m:e>
                    </m:d>
                    <m:r>
                      <a:rPr lang="en-US" altLang="zh-CN" b="0" i="1" smtClean="0">
                        <a:latin typeface="Cambria Math" panose="02040503050406030204" pitchFamily="18" charset="0"/>
                      </a:rPr>
                      <m:t>(</m:t>
                    </m:r>
                    <m:r>
                      <a:rPr lang="en-US" altLang="zh-CN" i="1" dirty="0" smtClean="0">
                        <a:latin typeface="Cambria Math" panose="02040503050406030204" pitchFamily="18" charset="0"/>
                      </a:rPr>
                      <m:t>1</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𝑖</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𝑘</m:t>
                    </m:r>
                    <m:r>
                      <a:rPr lang="en-US" altLang="zh-CN" b="0" i="1" dirty="0" smtClean="0">
                        <a:latin typeface="Cambria Math" panose="02040503050406030204" pitchFamily="18" charset="0"/>
                      </a:rPr>
                      <m:t>)</m:t>
                    </m:r>
                  </m:oMath>
                </a14:m>
                <a:r>
                  <a:rPr lang="zh-CN" altLang="en-US" dirty="0"/>
                  <a:t>，那么有下列性质：</a:t>
                </a:r>
                <a:endParaRPr lang="en-US" altLang="zh-CN" dirty="0"/>
              </a:p>
              <a:p>
                <a:pPr lvl="2"/>
                <a14:m>
                  <m:oMath xmlns:m="http://schemas.openxmlformats.org/officeDocument/2006/math">
                    <m:r>
                      <a:rPr lang="en-US" altLang="zh-CN" sz="2400" b="0" i="1" smtClean="0">
                        <a:latin typeface="Cambria Math" panose="02040503050406030204" pitchFamily="18" charset="0"/>
                      </a:rPr>
                      <m:t>𝑟</m:t>
                    </m:r>
                    <m:r>
                      <a:rPr lang="en-US" altLang="zh-CN" sz="2400" b="0" i="1" smtClean="0">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𝑚</m:t>
                        </m:r>
                      </m:e>
                      <m:sub>
                        <m:r>
                          <a:rPr lang="en-US" altLang="zh-CN" sz="2400" i="1">
                            <a:latin typeface="Cambria Math" panose="02040503050406030204" pitchFamily="18" charset="0"/>
                            <a:ea typeface="Cambria Math" panose="02040503050406030204" pitchFamily="18" charset="0"/>
                          </a:rPr>
                          <m:t>𝜌</m:t>
                        </m:r>
                      </m:sub>
                    </m:sSub>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𝑟</m:t>
                    </m:r>
                    <m:r>
                      <a:rPr lang="en-US" altLang="zh-CN" sz="2400" i="1">
                        <a:latin typeface="Cambria Math" panose="02040503050406030204" pitchFamily="18" charset="0"/>
                        <a:ea typeface="Cambria Math" panose="02040503050406030204" pitchFamily="18" charset="0"/>
                      </a:rPr>
                      <m:t>)</m:t>
                    </m:r>
                  </m:oMath>
                </a14:m>
                <a:r>
                  <a:rPr lang="zh-CN" altLang="en-US" sz="2400" dirty="0"/>
                  <a:t>；</a:t>
                </a:r>
                <a:endParaRPr lang="en-US" altLang="zh-CN" sz="2400" dirty="0"/>
              </a:p>
              <a:p>
                <a:pPr lvl="2"/>
                <a:r>
                  <a:rPr lang="zh-CN" altLang="en-US" sz="2400" dirty="0"/>
                  <a:t>若</a:t>
                </a:r>
                <a14:m>
                  <m:oMath xmlns:m="http://schemas.openxmlformats.org/officeDocument/2006/math">
                    <m:r>
                      <a:rPr lang="en-US" altLang="zh-CN" sz="2400" b="0" i="1" smtClean="0">
                        <a:latin typeface="Cambria Math" panose="02040503050406030204" pitchFamily="18" charset="0"/>
                      </a:rPr>
                      <m:t>𝑠</m:t>
                    </m:r>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𝑚</m:t>
                        </m:r>
                      </m:e>
                      <m:sub>
                        <m:r>
                          <a:rPr lang="en-US" altLang="zh-CN" sz="2400" i="1">
                            <a:latin typeface="Cambria Math" panose="02040503050406030204" pitchFamily="18" charset="0"/>
                            <a:ea typeface="Cambria Math" panose="02040503050406030204" pitchFamily="18" charset="0"/>
                          </a:rPr>
                          <m:t>𝜌</m:t>
                        </m:r>
                      </m:sub>
                    </m:sSub>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𝑟</m:t>
                    </m:r>
                    <m:r>
                      <a:rPr lang="en-US" altLang="zh-CN" sz="2400" i="1">
                        <a:latin typeface="Cambria Math" panose="02040503050406030204" pitchFamily="18" charset="0"/>
                        <a:ea typeface="Cambria Math" panose="02040503050406030204" pitchFamily="18" charset="0"/>
                      </a:rPr>
                      <m:t>)</m:t>
                    </m:r>
                  </m:oMath>
                </a14:m>
                <a:r>
                  <a:rPr lang="en-US" altLang="zh-CN" sz="2400" i="1" dirty="0"/>
                  <a:t> </a:t>
                </a:r>
                <a:r>
                  <a:rPr lang="zh-CN" altLang="en-US" sz="2400" dirty="0"/>
                  <a:t>，则</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𝜋</m:t>
                        </m:r>
                      </m:e>
                      <m: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𝑅</m:t>
                            </m:r>
                          </m:e>
                          <m:sub>
                            <m:r>
                              <a:rPr lang="en-US" altLang="zh-CN" sz="2400" i="1">
                                <a:latin typeface="Cambria Math" panose="02040503050406030204" pitchFamily="18" charset="0"/>
                              </a:rPr>
                              <m:t>𝑖</m:t>
                            </m:r>
                          </m:sub>
                        </m:sSub>
                      </m:sub>
                    </m:sSub>
                    <m:d>
                      <m:dPr>
                        <m:ctrlPr>
                          <a:rPr lang="en-US" altLang="zh-CN" sz="2400" i="1">
                            <a:latin typeface="Cambria Math" panose="02040503050406030204" pitchFamily="18" charset="0"/>
                          </a:rPr>
                        </m:ctrlPr>
                      </m:dPr>
                      <m:e>
                        <m:r>
                          <a:rPr lang="en-US" altLang="zh-CN" sz="2400" i="1">
                            <a:latin typeface="Cambria Math" panose="02040503050406030204" pitchFamily="18" charset="0"/>
                          </a:rPr>
                          <m:t>𝑟</m:t>
                        </m:r>
                      </m:e>
                    </m:d>
                    <m:r>
                      <a:rPr lang="en-US" altLang="zh-CN" sz="2400" b="0" i="1" smtClean="0">
                        <a:latin typeface="Cambria Math" panose="02040503050406030204" pitchFamily="18" charset="0"/>
                      </a:rPr>
                      <m:t>=</m:t>
                    </m:r>
                  </m:oMath>
                </a14:m>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𝑟</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 </m:t>
                    </m:r>
                  </m:oMath>
                </a14:m>
                <a:r>
                  <a:rPr lang="zh-CN" altLang="en-US" sz="2400" dirty="0"/>
                  <a:t>；</a:t>
                </a:r>
                <a:endParaRPr lang="en-US" altLang="zh-CN" sz="2400" dirty="0"/>
              </a:p>
              <a:p>
                <a:pPr lvl="2"/>
                <a14:m>
                  <m:oMath xmlns:m="http://schemas.openxmlformats.org/officeDocument/2006/math">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𝑚</m:t>
                        </m:r>
                      </m:e>
                      <m:sub>
                        <m:r>
                          <a:rPr lang="en-US" altLang="zh-CN" sz="2400" i="1">
                            <a:latin typeface="Cambria Math" panose="02040503050406030204" pitchFamily="18" charset="0"/>
                            <a:ea typeface="Cambria Math" panose="02040503050406030204" pitchFamily="18" charset="0"/>
                          </a:rPr>
                          <m:t>𝜌</m:t>
                        </m:r>
                      </m:sub>
                    </m:sSub>
                    <m:d>
                      <m:dPr>
                        <m:ctrlPr>
                          <a:rPr lang="en-US" altLang="zh-CN" sz="2400" i="1">
                            <a:latin typeface="Cambria Math" panose="02040503050406030204" pitchFamily="18" charset="0"/>
                            <a:ea typeface="Cambria Math" panose="02040503050406030204" pitchFamily="18" charset="0"/>
                          </a:rPr>
                        </m:ctrlPr>
                      </m:dPr>
                      <m:e>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𝑚</m:t>
                            </m:r>
                          </m:e>
                          <m:sub>
                            <m:r>
                              <a:rPr lang="en-US" altLang="zh-CN" sz="2400" i="1">
                                <a:latin typeface="Cambria Math" panose="02040503050406030204" pitchFamily="18" charset="0"/>
                                <a:ea typeface="Cambria Math" panose="02040503050406030204" pitchFamily="18" charset="0"/>
                              </a:rPr>
                              <m:t>𝜌</m:t>
                            </m:r>
                          </m:sub>
                        </m:sSub>
                        <m:d>
                          <m:dPr>
                            <m:ctrlPr>
                              <a:rPr lang="en-US" altLang="zh-CN" sz="2400" i="1">
                                <a:latin typeface="Cambria Math" panose="02040503050406030204" pitchFamily="18" charset="0"/>
                                <a:ea typeface="Cambria Math" panose="02040503050406030204" pitchFamily="18" charset="0"/>
                              </a:rPr>
                            </m:ctrlPr>
                          </m:dPr>
                          <m:e>
                            <m:r>
                              <a:rPr lang="en-US" altLang="zh-CN" sz="2400" i="1">
                                <a:latin typeface="Cambria Math" panose="02040503050406030204" pitchFamily="18" charset="0"/>
                                <a:ea typeface="Cambria Math" panose="02040503050406030204" pitchFamily="18" charset="0"/>
                              </a:rPr>
                              <m:t>𝑟</m:t>
                            </m:r>
                          </m:e>
                        </m:d>
                      </m:e>
                    </m:d>
                    <m:r>
                      <a:rPr lang="en-US" altLang="zh-CN" sz="2400" b="0" i="1" smtClean="0">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𝑚</m:t>
                        </m:r>
                      </m:e>
                      <m:sub>
                        <m:r>
                          <a:rPr lang="en-US" altLang="zh-CN" sz="2400" i="1">
                            <a:latin typeface="Cambria Math" panose="02040503050406030204" pitchFamily="18" charset="0"/>
                            <a:ea typeface="Cambria Math" panose="02040503050406030204" pitchFamily="18" charset="0"/>
                          </a:rPr>
                          <m:t>𝜌</m:t>
                        </m:r>
                      </m:sub>
                    </m:sSub>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Cambria Math" panose="02040503050406030204" pitchFamily="18" charset="0"/>
                      </a:rPr>
                      <m:t>𝑟</m:t>
                    </m:r>
                    <m:r>
                      <a:rPr lang="en-US" altLang="zh-CN" sz="2400" b="0" i="1" smtClean="0">
                        <a:latin typeface="Cambria Math" panose="02040503050406030204" pitchFamily="18" charset="0"/>
                        <a:ea typeface="Cambria Math" panose="02040503050406030204" pitchFamily="18" charset="0"/>
                      </a:rPr>
                      <m:t>)</m:t>
                    </m:r>
                  </m:oMath>
                </a14:m>
                <a:r>
                  <a:rPr lang="zh-CN" altLang="en-US" sz="2400" dirty="0"/>
                  <a:t>，这个性质称为幂等性</a:t>
                </a:r>
                <a:r>
                  <a:rPr lang="en-US" altLang="zh-CN" sz="2400" dirty="0"/>
                  <a:t>(Idempotent)</a:t>
                </a:r>
                <a:endParaRPr lang="zh-CN" altLang="en-US" sz="2400" dirty="0"/>
              </a:p>
              <a:p>
                <a:pPr lvl="1"/>
                <a:endParaRPr lang="zh-CN" altLang="en-US"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1793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fontScale="92500" lnSpcReduction="20000"/>
              </a:bodyPr>
              <a:lstStyle/>
              <a:p>
                <a:r>
                  <a:rPr lang="zh-CN" altLang="en-US" sz="3000" dirty="0"/>
                  <a:t>投影连接运算</a:t>
                </a:r>
                <a:endParaRPr lang="en-US" altLang="zh-CN" sz="3000" dirty="0"/>
              </a:p>
              <a:p>
                <a:r>
                  <a:rPr lang="zh-CN" altLang="en-US" sz="2400" dirty="0"/>
                  <a:t>证明：</a:t>
                </a:r>
                <a:endParaRPr lang="zh-CN" altLang="en-US" sz="2400" dirty="0"/>
              </a:p>
              <a:p>
                <a:pPr marL="650875" lvl="1" indent="-193675">
                  <a:lnSpc>
                    <a:spcPct val="130000"/>
                  </a:lnSpc>
                  <a:buNone/>
                </a:pPr>
                <a:r>
                  <a:rPr lang="en-US" altLang="zh-CN" dirty="0"/>
                  <a:t>(1) </a:t>
                </a:r>
                <a:r>
                  <a:rPr lang="zh-CN" altLang="en-US" dirty="0"/>
                  <a:t>任取</a:t>
                </a:r>
                <a14:m>
                  <m:oMath xmlns:m="http://schemas.openxmlformats.org/officeDocument/2006/math">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𝑟</m:t>
                    </m:r>
                  </m:oMath>
                </a14:m>
                <a:r>
                  <a:rPr lang="en-US" altLang="zh-CN" dirty="0"/>
                  <a:t>,</a:t>
                </a:r>
                <a:r>
                  <a:rPr lang="zh-CN" altLang="en-US" dirty="0"/>
                  <a:t>则</a:t>
                </a:r>
                <a14:m>
                  <m:oMath xmlns:m="http://schemas.openxmlformats.org/officeDocument/2006/math">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rPr>
                          <m:t>𝑖</m:t>
                        </m:r>
                      </m:sub>
                    </m:sSub>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𝑟</m:t>
                        </m:r>
                      </m:e>
                      <m:sub>
                        <m:r>
                          <a:rPr lang="en-US" altLang="zh-CN" b="0" i="1" dirty="0" smtClean="0">
                            <a:latin typeface="Cambria Math" panose="02040503050406030204" pitchFamily="18" charset="0"/>
                          </a:rPr>
                          <m:t>𝑖</m:t>
                        </m:r>
                      </m:sub>
                    </m:sSub>
                    <m:r>
                      <a:rPr lang="en-US" altLang="zh-CN" i="1" dirty="0">
                        <a:latin typeface="Cambria Math" panose="02040503050406030204" pitchFamily="18" charset="0"/>
                      </a:rPr>
                      <m:t> (</m:t>
                    </m:r>
                    <m:r>
                      <a:rPr lang="en-US" altLang="zh-CN" b="0" i="1" dirty="0" smtClean="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1</m:t>
                    </m:r>
                    <m:r>
                      <a:rPr lang="en-US" altLang="zh-CN" i="1" dirty="0">
                        <a:latin typeface="Cambria Math" panose="02040503050406030204" pitchFamily="18" charset="0"/>
                      </a:rPr>
                      <m:t>,</m:t>
                    </m:r>
                    <m:r>
                      <a:rPr lang="en-US" altLang="zh-CN" i="1" dirty="0">
                        <a:latin typeface="Cambria Math" panose="02040503050406030204" pitchFamily="18" charset="0"/>
                      </a:rPr>
                      <m:t>2</m:t>
                    </m:r>
                    <m:r>
                      <a:rPr lang="en-US" altLang="zh-CN" i="1" dirty="0">
                        <a:latin typeface="Cambria Math" panose="02040503050406030204" pitchFamily="18" charset="0"/>
                      </a:rPr>
                      <m:t>,…,</m:t>
                    </m:r>
                    <m:r>
                      <a:rPr lang="en-US" altLang="zh-CN" i="1" dirty="0">
                        <a:latin typeface="Cambria Math" panose="02040503050406030204" pitchFamily="18" charset="0"/>
                      </a:rPr>
                      <m:t>𝑘</m:t>
                    </m:r>
                    <m:r>
                      <a:rPr lang="en-US" altLang="zh-CN" i="1" dirty="0">
                        <a:latin typeface="Cambria Math" panose="02040503050406030204" pitchFamily="18" charset="0"/>
                      </a:rPr>
                      <m:t>)</m:t>
                    </m:r>
                  </m:oMath>
                </a14:m>
                <a:r>
                  <a:rPr lang="zh-CN" altLang="en-US" dirty="0"/>
                  <a:t>。由于</a:t>
                </a:r>
                <a14:m>
                  <m:oMath xmlns:m="http://schemas.openxmlformats.org/officeDocument/2006/math">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sSub>
                      <m:sSubPr>
                        <m:ctrlPr>
                          <a:rPr lang="en-US" altLang="zh-CN" i="1" dirty="0">
                            <a:latin typeface="Cambria Math" panose="02040503050406030204" pitchFamily="18" charset="0"/>
                          </a:rPr>
                        </m:ctrlPr>
                      </m:sSubPr>
                      <m:e>
                        <m:r>
                          <a:rPr lang="en-US" altLang="zh-CN" b="0" i="1" dirty="0" smtClean="0">
                            <a:latin typeface="Cambria Math" panose="02040503050406030204" pitchFamily="18" charset="0"/>
                          </a:rPr>
                          <m:t>[</m:t>
                        </m:r>
                        <m:r>
                          <a:rPr lang="en-US" altLang="zh-CN" i="1" dirty="0">
                            <a:latin typeface="Cambria Math" panose="02040503050406030204" pitchFamily="18" charset="0"/>
                          </a:rPr>
                          <m:t>𝑅</m:t>
                        </m:r>
                      </m:e>
                      <m:sub>
                        <m:r>
                          <a:rPr lang="en-US" altLang="zh-CN" b="0" i="1" dirty="0" smtClean="0">
                            <a:latin typeface="Cambria Math" panose="02040503050406030204" pitchFamily="18" charset="0"/>
                          </a:rPr>
                          <m:t>𝑘</m:t>
                        </m:r>
                      </m:sub>
                    </m:sSub>
                    <m:r>
                      <a:rPr lang="en-US" altLang="zh-CN" i="1" dirty="0">
                        <a:latin typeface="Cambria Math" panose="02040503050406030204" pitchFamily="18" charset="0"/>
                      </a:rPr>
                      <m:t>]</m:t>
                    </m:r>
                  </m:oMath>
                </a14:m>
                <a:r>
                  <a:rPr lang="zh-CN" altLang="en-US" dirty="0"/>
                  <a:t>本来取自</a:t>
                </a:r>
                <a14:m>
                  <m:oMath xmlns:m="http://schemas.openxmlformats.org/officeDocument/2006/math">
                    <m:r>
                      <a:rPr lang="en-US" altLang="zh-CN" i="1" dirty="0">
                        <a:latin typeface="Cambria Math" panose="02040503050406030204" pitchFamily="18" charset="0"/>
                      </a:rPr>
                      <m:t>𝑡</m:t>
                    </m:r>
                  </m:oMath>
                </a14:m>
                <a:r>
                  <a:rPr lang="zh-CN" altLang="en-US" dirty="0"/>
                  <a:t>在</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i="1" dirty="0">
                            <a:latin typeface="Cambria Math" panose="02040503050406030204" pitchFamily="18" charset="0"/>
                          </a:rPr>
                          <m:t>𝑖</m:t>
                        </m:r>
                      </m:sub>
                    </m:sSub>
                  </m:oMath>
                </a14:m>
                <a:r>
                  <a:rPr lang="zh-CN" altLang="en-US" dirty="0"/>
                  <a:t>上的投影，因此在进行连接时，必然相互匹配，拼接成元组</a:t>
                </a:r>
                <a14:m>
                  <m:oMath xmlns:m="http://schemas.openxmlformats.org/officeDocument/2006/math">
                    <m:r>
                      <a:rPr lang="en-US" altLang="zh-CN" i="1" dirty="0">
                        <a:latin typeface="Cambria Math" panose="02040503050406030204" pitchFamily="18" charset="0"/>
                      </a:rPr>
                      <m:t>𝑡</m:t>
                    </m:r>
                    <m:r>
                      <a:rPr lang="en-US" altLang="zh-CN" i="1" dirty="0">
                        <a:latin typeface="Cambria Math" panose="02040503050406030204" pitchFamily="18" charset="0"/>
                      </a:rPr>
                      <m:t> </m:t>
                    </m:r>
                  </m:oMath>
                </a14:m>
                <a:r>
                  <a:rPr lang="zh-CN" altLang="en-US" dirty="0"/>
                  <a:t>，故</a:t>
                </a:r>
                <a14:m>
                  <m:oMath xmlns:m="http://schemas.openxmlformats.org/officeDocument/2006/math">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𝑚</m:t>
                        </m:r>
                      </m:e>
                      <m:sub>
                        <m:r>
                          <a:rPr lang="en-US" altLang="zh-CN" i="1" dirty="0" smtClean="0">
                            <a:latin typeface="Cambria Math" panose="02040503050406030204" pitchFamily="18" charset="0"/>
                            <a:ea typeface="Cambria Math" panose="02040503050406030204" pitchFamily="18" charset="0"/>
                          </a:rPr>
                          <m:t>𝜌</m:t>
                        </m:r>
                      </m:sub>
                    </m:sSub>
                    <m:r>
                      <a:rPr lang="en-US" altLang="zh-CN" i="1" dirty="0" smtClean="0">
                        <a:latin typeface="Cambria Math" panose="02040503050406030204" pitchFamily="18" charset="0"/>
                      </a:rPr>
                      <m:t> </m:t>
                    </m:r>
                    <m:r>
                      <a:rPr lang="en-US" altLang="zh-CN" i="1" dirty="0">
                        <a:latin typeface="Cambria Math" panose="02040503050406030204" pitchFamily="18" charset="0"/>
                      </a:rPr>
                      <m:t>(</m:t>
                    </m:r>
                    <m:r>
                      <a:rPr lang="en-US" altLang="zh-CN" i="1" dirty="0">
                        <a:latin typeface="Cambria Math" panose="02040503050406030204" pitchFamily="18" charset="0"/>
                      </a:rPr>
                      <m:t>𝑟</m:t>
                    </m:r>
                    <m:r>
                      <a:rPr lang="en-US" altLang="zh-CN" i="1" dirty="0">
                        <a:latin typeface="Cambria Math" panose="02040503050406030204" pitchFamily="18" charset="0"/>
                      </a:rPr>
                      <m:t>) </m:t>
                    </m:r>
                  </m:oMath>
                </a14:m>
                <a:r>
                  <a:rPr lang="zh-CN" altLang="en-US" dirty="0"/>
                  <a:t>，即 </a:t>
                </a:r>
                <a14:m>
                  <m:oMath xmlns:m="http://schemas.openxmlformats.org/officeDocument/2006/math">
                    <m:r>
                      <a:rPr lang="en-US" altLang="zh-CN" i="1" dirty="0" smtClean="0">
                        <a:latin typeface="Cambria Math" panose="02040503050406030204" pitchFamily="18" charset="0"/>
                      </a:rPr>
                      <m:t>𝑟</m:t>
                    </m:r>
                    <m:r>
                      <a:rPr lang="en-US" altLang="zh-CN" i="1" dirty="0"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𝑚</m:t>
                        </m:r>
                      </m:e>
                      <m:sub>
                        <m:r>
                          <a:rPr lang="en-US" altLang="zh-CN" i="1" dirty="0">
                            <a:latin typeface="Cambria Math" panose="02040503050406030204" pitchFamily="18" charset="0"/>
                            <a:ea typeface="Cambria Math" panose="02040503050406030204" pitchFamily="18" charset="0"/>
                          </a:rPr>
                          <m:t>𝜌</m:t>
                        </m:r>
                      </m:sub>
                    </m:sSub>
                    <m:r>
                      <a:rPr lang="en-US" altLang="zh-CN" i="1" dirty="0">
                        <a:latin typeface="Cambria Math" panose="02040503050406030204" pitchFamily="18" charset="0"/>
                      </a:rPr>
                      <m:t> (</m:t>
                    </m:r>
                    <m:r>
                      <a:rPr lang="en-US" altLang="zh-CN" i="1" dirty="0">
                        <a:latin typeface="Cambria Math" panose="02040503050406030204" pitchFamily="18" charset="0"/>
                      </a:rPr>
                      <m:t>𝑟</m:t>
                    </m:r>
                    <m:r>
                      <a:rPr lang="en-US" altLang="zh-CN" i="1" dirty="0">
                        <a:latin typeface="Cambria Math" panose="02040503050406030204" pitchFamily="18" charset="0"/>
                      </a:rPr>
                      <m:t>)</m:t>
                    </m:r>
                  </m:oMath>
                </a14:m>
                <a:endParaRPr lang="en-US" altLang="zh-CN" dirty="0"/>
              </a:p>
              <a:p>
                <a:pPr marL="650875" lvl="1" indent="-193675">
                  <a:lnSpc>
                    <a:spcPct val="130000"/>
                  </a:lnSpc>
                  <a:buNone/>
                </a:pPr>
                <a:r>
                  <a:rPr lang="en-US" altLang="zh-CN" dirty="0"/>
                  <a:t>(2) </a:t>
                </a:r>
                <a:r>
                  <a:rPr lang="zh-CN" altLang="en-US" dirty="0"/>
                  <a:t>由</a:t>
                </a:r>
                <a:r>
                  <a:rPr lang="en-US" altLang="zh-CN" dirty="0"/>
                  <a:t>(1)</a:t>
                </a:r>
                <a:r>
                  <a:rPr lang="zh-CN" altLang="en-US" dirty="0"/>
                  <a:t>可知，</a:t>
                </a:r>
                <a:r>
                  <a:rPr lang="en-US" altLang="zh-CN" dirty="0"/>
                  <a:t> </a:t>
                </a:r>
                <a14:m>
                  <m:oMath xmlns:m="http://schemas.openxmlformats.org/officeDocument/2006/math">
                    <m:r>
                      <a:rPr lang="en-US" altLang="zh-CN" i="1" dirty="0">
                        <a:latin typeface="Cambria Math" panose="02040503050406030204" pitchFamily="18" charset="0"/>
                      </a:rPr>
                      <m:t>𝑟</m:t>
                    </m:r>
                    <m:r>
                      <a:rPr lang="en-US" altLang="zh-CN" i="1" dirty="0">
                        <a:latin typeface="Cambria Math" panose="02040503050406030204" pitchFamily="18" charset="0"/>
                        <a:ea typeface="Cambria Math" panose="02040503050406030204" pitchFamily="18" charset="0"/>
                        <a:sym typeface="Symbol" panose="05050102010706020507" pitchFamily="18" charset="2"/>
                      </a:rPr>
                      <m:t>⊆</m:t>
                    </m:r>
                    <m:r>
                      <a:rPr lang="en-US" altLang="zh-CN" b="0" i="1" dirty="0" smtClean="0">
                        <a:latin typeface="Cambria Math" panose="02040503050406030204" pitchFamily="18" charset="0"/>
                        <a:ea typeface="Cambria Math" panose="02040503050406030204" pitchFamily="18" charset="0"/>
                        <a:sym typeface="Symbol" panose="05050102010706020507" pitchFamily="18" charset="2"/>
                      </a:rPr>
                      <m:t>𝑠</m:t>
                    </m:r>
                  </m:oMath>
                </a14:m>
                <a:r>
                  <a:rPr lang="en-US" altLang="zh-CN" dirty="0">
                    <a:sym typeface="Symbol" panose="05050102010706020507" pitchFamily="18" charset="2"/>
                  </a:rPr>
                  <a:t>, </a:t>
                </a:r>
                <a:r>
                  <a:rPr lang="zh-CN" altLang="en-US" dirty="0">
                    <a:sym typeface="Symbol" panose="05050102010706020507" pitchFamily="18" charset="2"/>
                  </a:rPr>
                  <a:t>因此</a:t>
                </a:r>
                <a14:m>
                  <m:oMath xmlns:m="http://schemas.openxmlformats.org/officeDocument/2006/math">
                    <m:sSub>
                      <m:sSubPr>
                        <m:ctrlPr>
                          <a:rPr lang="en-US" altLang="zh-CN" i="1" smtClean="0">
                            <a:latin typeface="Cambria Math" panose="02040503050406030204" pitchFamily="18" charset="0"/>
                            <a:sym typeface="Symbol" panose="05050102010706020507" pitchFamily="18" charset="2"/>
                          </a:rPr>
                        </m:ctrlPr>
                      </m:sSubPr>
                      <m:e>
                        <m:r>
                          <a:rPr lang="en-US" altLang="zh-CN" i="1" smtClean="0">
                            <a:latin typeface="Cambria Math" panose="02040503050406030204" pitchFamily="18" charset="0"/>
                            <a:ea typeface="Cambria Math" panose="02040503050406030204" pitchFamily="18" charset="0"/>
                            <a:sym typeface="Symbol" panose="05050102010706020507" pitchFamily="18" charset="2"/>
                          </a:rPr>
                          <m:t>∏</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i="1" dirty="0">
                                <a:latin typeface="Cambria Math" panose="02040503050406030204" pitchFamily="18" charset="0"/>
                              </a:rPr>
                              <m:t>𝑖</m:t>
                            </m:r>
                          </m:sub>
                        </m:sSub>
                      </m:sub>
                    </m:sSub>
                    <m:d>
                      <m:dPr>
                        <m:ctrlPr>
                          <a:rPr lang="en-US" altLang="zh-CN" i="1" smtClean="0">
                            <a:latin typeface="Cambria Math" panose="02040503050406030204" pitchFamily="18" charset="0"/>
                            <a:sym typeface="Symbol" panose="05050102010706020507" pitchFamily="18" charset="2"/>
                          </a:rPr>
                        </m:ctrlPr>
                      </m:dPr>
                      <m:e>
                        <m:r>
                          <a:rPr lang="en-US" altLang="zh-CN" b="0" i="1" smtClean="0">
                            <a:latin typeface="Cambria Math" panose="02040503050406030204" pitchFamily="18" charset="0"/>
                            <a:sym typeface="Symbol" panose="05050102010706020507" pitchFamily="18" charset="2"/>
                          </a:rPr>
                          <m:t>𝑟</m:t>
                        </m:r>
                      </m:e>
                    </m:d>
                    <m:r>
                      <a:rPr lang="en-US" altLang="zh-CN" i="1" smtClean="0">
                        <a:latin typeface="Cambria Math" panose="02040503050406030204" pitchFamily="18" charset="0"/>
                        <a:ea typeface="Cambria Math" panose="02040503050406030204" pitchFamily="18" charset="0"/>
                        <a:sym typeface="Symbol" panose="05050102010706020507" pitchFamily="18" charset="2"/>
                      </a:rPr>
                      <m:t>⊆</m:t>
                    </m:r>
                  </m:oMath>
                </a14:m>
                <a:r>
                  <a:rPr lang="en-US" altLang="zh-CN" dirty="0">
                    <a:sym typeface="Symbol" panose="05050102010706020507" pitchFamily="18" charset="2"/>
                  </a:rPr>
                  <a:t> </a:t>
                </a:r>
                <a14:m>
                  <m:oMath xmlns:m="http://schemas.openxmlformats.org/officeDocument/2006/math">
                    <m:sSub>
                      <m:sSubPr>
                        <m:ctrlPr>
                          <a:rPr lang="en-US" altLang="zh-CN" i="1">
                            <a:latin typeface="Cambria Math" panose="02040503050406030204" pitchFamily="18" charset="0"/>
                            <a:sym typeface="Symbol" panose="05050102010706020507" pitchFamily="18" charset="2"/>
                          </a:rPr>
                        </m:ctrlPr>
                      </m:sSubPr>
                      <m:e>
                        <m:r>
                          <a:rPr lang="en-US" altLang="zh-CN" i="1">
                            <a:latin typeface="Cambria Math" panose="02040503050406030204" pitchFamily="18" charset="0"/>
                            <a:ea typeface="Cambria Math" panose="02040503050406030204" pitchFamily="18" charset="0"/>
                            <a:sym typeface="Symbol" panose="05050102010706020507" pitchFamily="18" charset="2"/>
                          </a:rPr>
                          <m:t>∏</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i="1" dirty="0">
                                <a:latin typeface="Cambria Math" panose="02040503050406030204" pitchFamily="18" charset="0"/>
                              </a:rPr>
                              <m:t>𝑖</m:t>
                            </m:r>
                          </m:sub>
                        </m:sSub>
                      </m:sub>
                    </m:sSub>
                    <m:d>
                      <m:dPr>
                        <m:ctrlPr>
                          <a:rPr lang="en-US" altLang="zh-CN" i="1">
                            <a:latin typeface="Cambria Math" panose="02040503050406030204" pitchFamily="18" charset="0"/>
                            <a:sym typeface="Symbol" panose="05050102010706020507" pitchFamily="18" charset="2"/>
                          </a:rPr>
                        </m:ctrlPr>
                      </m:dPr>
                      <m:e>
                        <m:r>
                          <a:rPr lang="en-US" altLang="zh-CN" b="0" i="1" smtClean="0">
                            <a:latin typeface="Cambria Math" panose="02040503050406030204" pitchFamily="18" charset="0"/>
                            <a:sym typeface="Symbol" panose="05050102010706020507" pitchFamily="18" charset="2"/>
                          </a:rPr>
                          <m:t>𝑠</m:t>
                        </m:r>
                      </m:e>
                    </m:d>
                  </m:oMath>
                </a14:m>
                <a:r>
                  <a:rPr lang="zh-CN" altLang="en-US" dirty="0"/>
                  <a:t>或</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𝑟</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 </m:t>
                    </m:r>
                    <m:r>
                      <a:rPr lang="en-US" altLang="zh-CN" i="1" dirty="0" smtClean="0">
                        <a:latin typeface="Cambria Math" panose="02040503050406030204" pitchFamily="18" charset="0"/>
                        <a:ea typeface="Cambria Math" panose="02040503050406030204" pitchFamily="18" charset="0"/>
                      </a:rPr>
                      <m:t>∈</m:t>
                    </m:r>
                  </m:oMath>
                </a14:m>
                <a:r>
                  <a:rPr lang="en-US" altLang="zh-CN" dirty="0">
                    <a:sym typeface="Symbol" panose="05050102010706020507" pitchFamily="18" charset="2"/>
                  </a:rPr>
                  <a:t> </a:t>
                </a:r>
                <a14:m>
                  <m:oMath xmlns:m="http://schemas.openxmlformats.org/officeDocument/2006/math">
                    <m:sSub>
                      <m:sSubPr>
                        <m:ctrlPr>
                          <a:rPr lang="en-US" altLang="zh-CN" i="1">
                            <a:latin typeface="Cambria Math" panose="02040503050406030204" pitchFamily="18" charset="0"/>
                            <a:sym typeface="Symbol" panose="05050102010706020507" pitchFamily="18" charset="2"/>
                          </a:rPr>
                        </m:ctrlPr>
                      </m:sSubPr>
                      <m:e>
                        <m:r>
                          <a:rPr lang="en-US" altLang="zh-CN" i="1">
                            <a:latin typeface="Cambria Math" panose="02040503050406030204" pitchFamily="18" charset="0"/>
                            <a:ea typeface="Cambria Math" panose="02040503050406030204" pitchFamily="18" charset="0"/>
                            <a:sym typeface="Symbol" panose="05050102010706020507" pitchFamily="18" charset="2"/>
                          </a:rPr>
                          <m:t>∏</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i="1" dirty="0">
                                <a:latin typeface="Cambria Math" panose="02040503050406030204" pitchFamily="18" charset="0"/>
                              </a:rPr>
                              <m:t>𝑖</m:t>
                            </m:r>
                          </m:sub>
                        </m:sSub>
                      </m:sub>
                    </m:sSub>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pitchFamily="18" charset="0"/>
                            <a:sym typeface="Symbol" panose="05050102010706020507" pitchFamily="18" charset="2"/>
                          </a:rPr>
                          <m:t>𝑠</m:t>
                        </m:r>
                      </m:e>
                    </m:d>
                    <m:r>
                      <a:rPr lang="en-US" altLang="zh-CN" i="1">
                        <a:latin typeface="Cambria Math" panose="02040503050406030204" pitchFamily="18" charset="0"/>
                        <a:sym typeface="Symbol" panose="05050102010706020507" pitchFamily="18" charset="2"/>
                      </a:rPr>
                      <m:t> </m:t>
                    </m:r>
                  </m:oMath>
                </a14:m>
                <a:r>
                  <a:rPr lang="zh-CN" altLang="en-US" dirty="0"/>
                  <a:t>。现只须证</a:t>
                </a:r>
                <a14:m>
                  <m:oMath xmlns:m="http://schemas.openxmlformats.org/officeDocument/2006/math">
                    <m:sSub>
                      <m:sSubPr>
                        <m:ctrlPr>
                          <a:rPr lang="en-US" altLang="zh-CN" i="1">
                            <a:latin typeface="Cambria Math" panose="02040503050406030204" pitchFamily="18" charset="0"/>
                            <a:sym typeface="Symbol" panose="05050102010706020507" pitchFamily="18" charset="2"/>
                          </a:rPr>
                        </m:ctrlPr>
                      </m:sSubPr>
                      <m:e>
                        <m:r>
                          <a:rPr lang="en-US" altLang="zh-CN" i="1">
                            <a:latin typeface="Cambria Math" panose="02040503050406030204" pitchFamily="18" charset="0"/>
                            <a:ea typeface="Cambria Math" panose="02040503050406030204" pitchFamily="18" charset="0"/>
                            <a:sym typeface="Symbol" panose="05050102010706020507" pitchFamily="18" charset="2"/>
                          </a:rPr>
                          <m:t>∏</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i="1" dirty="0">
                                <a:latin typeface="Cambria Math" panose="02040503050406030204" pitchFamily="18" charset="0"/>
                              </a:rPr>
                              <m:t>𝑖</m:t>
                            </m:r>
                          </m:sub>
                        </m:sSub>
                      </m:sub>
                    </m:sSub>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pitchFamily="18" charset="0"/>
                            <a:sym typeface="Symbol" panose="05050102010706020507" pitchFamily="18" charset="2"/>
                          </a:rPr>
                          <m:t>𝑠</m:t>
                        </m:r>
                      </m:e>
                    </m:d>
                    <m:r>
                      <a:rPr lang="en-US" altLang="zh-CN" i="1">
                        <a:latin typeface="Cambria Math" panose="02040503050406030204" pitchFamily="18" charset="0"/>
                        <a:ea typeface="Cambria Math" panose="02040503050406030204" pitchFamily="18" charset="0"/>
                        <a:sym typeface="Symbol" panose="05050102010706020507" pitchFamily="18" charset="2"/>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𝑟</m:t>
                        </m:r>
                      </m:e>
                      <m:sub>
                        <m:r>
                          <a:rPr lang="en-US" altLang="zh-CN" i="1" dirty="0">
                            <a:latin typeface="Cambria Math" panose="02040503050406030204" pitchFamily="18" charset="0"/>
                          </a:rPr>
                          <m:t>𝑖</m:t>
                        </m:r>
                      </m:sub>
                    </m:sSub>
                  </m:oMath>
                </a14:m>
                <a:r>
                  <a:rPr lang="zh-CN" altLang="en-US" dirty="0"/>
                  <a:t>。为此任取</a:t>
                </a:r>
                <a14:m>
                  <m:oMath xmlns:m="http://schemas.openxmlformats.org/officeDocument/2006/math">
                    <m:r>
                      <a:rPr lang="en-US" altLang="zh-CN" i="1" dirty="0" smtClean="0">
                        <a:latin typeface="Cambria Math" panose="02040503050406030204" pitchFamily="18" charset="0"/>
                      </a:rPr>
                      <m:t>𝑢</m:t>
                    </m:r>
                    <m:r>
                      <a:rPr lang="en-US" altLang="zh-CN" i="1" dirty="0" smtClean="0">
                        <a:latin typeface="Cambria Math" panose="02040503050406030204" pitchFamily="18" charset="0"/>
                      </a:rPr>
                      <m:t>∈</m:t>
                    </m:r>
                    <m:sSub>
                      <m:sSubPr>
                        <m:ctrlPr>
                          <a:rPr lang="en-US" altLang="zh-CN" i="1">
                            <a:latin typeface="Cambria Math" panose="02040503050406030204" pitchFamily="18" charset="0"/>
                            <a:sym typeface="Symbol" panose="05050102010706020507" pitchFamily="18" charset="2"/>
                          </a:rPr>
                        </m:ctrlPr>
                      </m:sSubPr>
                      <m:e>
                        <m:r>
                          <a:rPr lang="en-US" altLang="zh-CN" i="1">
                            <a:latin typeface="Cambria Math" panose="02040503050406030204" pitchFamily="18" charset="0"/>
                            <a:ea typeface="Cambria Math" panose="02040503050406030204" pitchFamily="18" charset="0"/>
                            <a:sym typeface="Symbol" panose="05050102010706020507" pitchFamily="18" charset="2"/>
                          </a:rPr>
                          <m:t>∏</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i="1" dirty="0">
                                <a:latin typeface="Cambria Math" panose="02040503050406030204" pitchFamily="18" charset="0"/>
                              </a:rPr>
                              <m:t>𝑖</m:t>
                            </m:r>
                          </m:sub>
                        </m:sSub>
                      </m:sub>
                    </m:sSub>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pitchFamily="18" charset="0"/>
                            <a:sym typeface="Symbol" panose="05050102010706020507" pitchFamily="18" charset="2"/>
                          </a:rPr>
                          <m:t>𝑠</m:t>
                        </m:r>
                      </m:e>
                    </m:d>
                  </m:oMath>
                </a14:m>
                <a:r>
                  <a:rPr lang="zh-CN" altLang="en-US" dirty="0"/>
                  <a:t>，则必有</a:t>
                </a:r>
                <a14:m>
                  <m:oMath xmlns:m="http://schemas.openxmlformats.org/officeDocument/2006/math">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𝑡</m:t>
                        </m:r>
                      </m:e>
                      <m:sub>
                        <m:r>
                          <a:rPr lang="en-US" altLang="zh-CN" b="0" i="1" dirty="0" smtClean="0">
                            <a:latin typeface="Cambria Math" panose="02040503050406030204" pitchFamily="18" charset="0"/>
                          </a:rPr>
                          <m:t>𝑠</m:t>
                        </m:r>
                      </m:sub>
                    </m:sSub>
                    <m:r>
                      <a:rPr lang="en-US" altLang="zh-CN" i="1" dirty="0" smtClean="0">
                        <a:latin typeface="Cambria Math" panose="02040503050406030204" pitchFamily="18" charset="0"/>
                      </a:rPr>
                      <m:t>∈</m:t>
                    </m:r>
                    <m:r>
                      <a:rPr lang="en-US" altLang="zh-CN" i="1" dirty="0" smtClean="0">
                        <a:latin typeface="Cambria Math" panose="02040503050406030204" pitchFamily="18" charset="0"/>
                      </a:rPr>
                      <m:t>𝑠</m:t>
                    </m:r>
                  </m:oMath>
                </a14:m>
                <a:r>
                  <a:rPr lang="en-US" altLang="zh-CN" dirty="0"/>
                  <a:t>,</a:t>
                </a:r>
                <a:r>
                  <a:rPr lang="zh-CN" altLang="en-US" dirty="0"/>
                  <a:t>使</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𝑡</m:t>
                        </m:r>
                      </m:e>
                      <m:sub>
                        <m:r>
                          <a:rPr lang="en-US" altLang="zh-CN" i="1" dirty="0">
                            <a:latin typeface="Cambria Math" panose="02040503050406030204" pitchFamily="18" charset="0"/>
                          </a:rPr>
                          <m:t>𝑠</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 </m:t>
                    </m:r>
                    <m:r>
                      <a:rPr lang="en-US" altLang="zh-CN" i="1" dirty="0">
                        <a:latin typeface="Cambria Math" panose="02040503050406030204" pitchFamily="18" charset="0"/>
                      </a:rPr>
                      <m:t>𝑢</m:t>
                    </m:r>
                  </m:oMath>
                </a14:m>
                <a:r>
                  <a:rPr lang="zh-CN" altLang="en-US" dirty="0"/>
                  <a:t>，由</a:t>
                </a:r>
                <a14:m>
                  <m:oMath xmlns:m="http://schemas.openxmlformats.org/officeDocument/2006/math">
                    <m:r>
                      <a:rPr lang="en-US" altLang="zh-CN" i="1" dirty="0">
                        <a:latin typeface="Cambria Math" panose="02040503050406030204" pitchFamily="18" charset="0"/>
                      </a:rPr>
                      <m:t>𝑠</m:t>
                    </m:r>
                  </m:oMath>
                </a14:m>
                <a:r>
                  <a:rPr lang="zh-CN" altLang="en-US" dirty="0"/>
                  <a:t>的构造方式可知</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𝑡</m:t>
                        </m:r>
                      </m:e>
                      <m:sub>
                        <m:r>
                          <a:rPr lang="en-US" altLang="zh-CN" i="1" dirty="0">
                            <a:latin typeface="Cambria Math" panose="02040503050406030204" pitchFamily="18" charset="0"/>
                          </a:rPr>
                          <m:t>𝑠</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𝑟</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0" i="1" dirty="0" smtClean="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1</m:t>
                    </m:r>
                    <m:r>
                      <a:rPr lang="en-US" altLang="zh-CN" i="1" dirty="0">
                        <a:latin typeface="Cambria Math" panose="02040503050406030204" pitchFamily="18" charset="0"/>
                      </a:rPr>
                      <m:t>,…,</m:t>
                    </m:r>
                    <m:r>
                      <a:rPr lang="en-US" altLang="zh-CN" i="1" dirty="0">
                        <a:latin typeface="Cambria Math" panose="02040503050406030204" pitchFamily="18" charset="0"/>
                      </a:rPr>
                      <m:t>𝑘</m:t>
                    </m:r>
                    <m:r>
                      <a:rPr lang="en-US" altLang="zh-CN" i="1" dirty="0">
                        <a:latin typeface="Cambria Math" panose="02040503050406030204" pitchFamily="18" charset="0"/>
                      </a:rPr>
                      <m:t>),</m:t>
                    </m:r>
                    <m:r>
                      <a:rPr lang="zh-CN" altLang="en-US" i="1" dirty="0" smtClean="0">
                        <a:latin typeface="Cambria Math" panose="02040503050406030204" pitchFamily="18" charset="0"/>
                      </a:rPr>
                      <m:t>即</m:t>
                    </m:r>
                    <m:r>
                      <a:rPr lang="zh-CN" altLang="en-US" i="1" dirty="0" smtClean="0">
                        <a:latin typeface="Cambria Math" panose="02040503050406030204" pitchFamily="18" charset="0"/>
                      </a:rPr>
                      <m:t> </m:t>
                    </m:r>
                    <m:r>
                      <a:rPr lang="en-US" altLang="zh-CN" b="0" i="1" dirty="0" smtClean="0">
                        <a:latin typeface="Cambria Math" panose="02040503050406030204" pitchFamily="18" charset="0"/>
                      </a:rPr>
                      <m:t>𝑢</m:t>
                    </m:r>
                    <m:r>
                      <a:rPr lang="en-US" altLang="zh-CN" i="1" dirty="0" err="1">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𝑟</m:t>
                        </m:r>
                      </m:e>
                      <m:sub>
                        <m:r>
                          <a:rPr lang="en-US" altLang="zh-CN" i="1" dirty="0">
                            <a:latin typeface="Cambria Math" panose="02040503050406030204" pitchFamily="18" charset="0"/>
                          </a:rPr>
                          <m:t>𝑖</m:t>
                        </m:r>
                      </m:sub>
                    </m:sSub>
                  </m:oMath>
                </a14:m>
                <a:r>
                  <a:rPr lang="en-US" altLang="zh-CN" dirty="0"/>
                  <a:t>,</a:t>
                </a:r>
                <a:r>
                  <a:rPr lang="zh-CN" altLang="en-US" dirty="0"/>
                  <a:t>因此有</a:t>
                </a:r>
                <a14:m>
                  <m:oMath xmlns:m="http://schemas.openxmlformats.org/officeDocument/2006/math">
                    <m:sSub>
                      <m:sSubPr>
                        <m:ctrlPr>
                          <a:rPr lang="en-US" altLang="zh-CN" i="1">
                            <a:latin typeface="Cambria Math" panose="02040503050406030204" pitchFamily="18" charset="0"/>
                            <a:sym typeface="Symbol" panose="05050102010706020507" pitchFamily="18" charset="2"/>
                          </a:rPr>
                        </m:ctrlPr>
                      </m:sSubPr>
                      <m:e>
                        <m:r>
                          <a:rPr lang="en-US" altLang="zh-CN" i="1">
                            <a:latin typeface="Cambria Math" panose="02040503050406030204" pitchFamily="18" charset="0"/>
                            <a:ea typeface="Cambria Math" panose="02040503050406030204" pitchFamily="18" charset="0"/>
                            <a:sym typeface="Symbol" panose="05050102010706020507" pitchFamily="18" charset="2"/>
                          </a:rPr>
                          <m:t>∏</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i="1" dirty="0">
                                <a:latin typeface="Cambria Math" panose="02040503050406030204" pitchFamily="18" charset="0"/>
                              </a:rPr>
                              <m:t>𝑖</m:t>
                            </m:r>
                          </m:sub>
                        </m:sSub>
                      </m:sub>
                    </m:sSub>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pitchFamily="18" charset="0"/>
                            <a:sym typeface="Symbol" panose="05050102010706020507" pitchFamily="18" charset="2"/>
                          </a:rPr>
                          <m:t>𝑠</m:t>
                        </m:r>
                      </m:e>
                    </m:d>
                    <m:r>
                      <a:rPr lang="en-US" altLang="zh-CN" i="1">
                        <a:latin typeface="Cambria Math" panose="02040503050406030204" pitchFamily="18" charset="0"/>
                        <a:sym typeface="Symbol" panose="05050102010706020507" pitchFamily="18" charset="2"/>
                      </a:rPr>
                      <m:t> </m:t>
                    </m:r>
                    <m:r>
                      <a:rPr lang="en-US" altLang="zh-CN" i="1" dirty="0">
                        <a:latin typeface="Cambria Math" panose="02040503050406030204" pitchFamily="18" charset="0"/>
                        <a:ea typeface="Cambria Math" panose="02040503050406030204" pitchFamily="18" charset="0"/>
                        <a:sym typeface="Symbol" panose="05050102010706020507" pitchFamily="18" charset="2"/>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𝑟</m:t>
                        </m:r>
                      </m:e>
                      <m:sub>
                        <m:r>
                          <a:rPr lang="en-US" altLang="zh-CN" i="1" dirty="0">
                            <a:latin typeface="Cambria Math" panose="02040503050406030204" pitchFamily="18" charset="0"/>
                          </a:rPr>
                          <m:t>𝑖</m:t>
                        </m:r>
                      </m:sub>
                    </m:sSub>
                  </m:oMath>
                </a14:m>
                <a:endParaRPr lang="zh-CN" altLang="en-US" dirty="0"/>
              </a:p>
              <a:p>
                <a:pPr marL="914400" lvl="1" indent="-457200">
                  <a:lnSpc>
                    <a:spcPct val="130000"/>
                  </a:lnSpc>
                  <a:buAutoNum type="arabicParenBoth" startAt="3"/>
                </a:pPr>
                <a:r>
                  <a:rPr lang="zh-CN" altLang="en-US" dirty="0"/>
                  <a:t>由</a:t>
                </a:r>
                <a14:m>
                  <m:oMath xmlns:m="http://schemas.openxmlformats.org/officeDocument/2006/math">
                    <m:sSub>
                      <m:sSubPr>
                        <m:ctrlPr>
                          <a:rPr lang="en-US" altLang="zh-CN" i="1">
                            <a:latin typeface="Cambria Math" panose="02040503050406030204" pitchFamily="18" charset="0"/>
                            <a:sym typeface="Symbol" panose="05050102010706020507" pitchFamily="18" charset="2"/>
                          </a:rPr>
                        </m:ctrlPr>
                      </m:sSubPr>
                      <m:e>
                        <m:r>
                          <a:rPr lang="en-US" altLang="zh-CN" i="1">
                            <a:latin typeface="Cambria Math" panose="02040503050406030204" pitchFamily="18" charset="0"/>
                            <a:ea typeface="Cambria Math" panose="02040503050406030204" pitchFamily="18" charset="0"/>
                            <a:sym typeface="Symbol" panose="05050102010706020507" pitchFamily="18" charset="2"/>
                          </a:rPr>
                          <m:t>∏</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i="1" dirty="0">
                                <a:latin typeface="Cambria Math" panose="02040503050406030204" pitchFamily="18" charset="0"/>
                              </a:rPr>
                              <m:t>𝑖</m:t>
                            </m:r>
                          </m:sub>
                        </m:sSub>
                      </m:sub>
                    </m:sSub>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pitchFamily="18" charset="0"/>
                            <a:sym typeface="Symbol" panose="05050102010706020507" pitchFamily="18" charset="2"/>
                          </a:rPr>
                          <m:t>𝑠</m:t>
                        </m:r>
                      </m:e>
                    </m:d>
                    <m:r>
                      <a:rPr lang="en-US" altLang="zh-CN" b="0" i="1" smtClean="0">
                        <a:latin typeface="Cambria Math" panose="02040503050406030204" pitchFamily="18" charset="0"/>
                        <a:sym typeface="Symbol" panose="05050102010706020507" pitchFamily="18" charset="2"/>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𝑟</m:t>
                        </m:r>
                      </m:e>
                      <m:sub>
                        <m:r>
                          <a:rPr lang="en-US" altLang="zh-CN" i="1" dirty="0">
                            <a:latin typeface="Cambria Math" panose="02040503050406030204" pitchFamily="18" charset="0"/>
                          </a:rPr>
                          <m:t>𝑖</m:t>
                        </m:r>
                      </m:sub>
                    </m:sSub>
                  </m:oMath>
                </a14:m>
                <a:r>
                  <a:rPr lang="zh-CN" altLang="en-US" dirty="0"/>
                  <a:t>，可知</a:t>
                </a:r>
                <a:r>
                  <a:rPr lang="en-US" altLang="zh-CN" dirty="0"/>
                  <a:t>:</a:t>
                </a:r>
                <a:endParaRPr lang="en-US" altLang="zh-CN" dirty="0"/>
              </a:p>
              <a:p>
                <a:pPr marL="457200" lvl="1" indent="0">
                  <a:lnSpc>
                    <a:spcPct val="130000"/>
                  </a:lnSpc>
                  <a:buNone/>
                </a:pPr>
                <a14:m>
                  <m:oMathPara xmlns:m="http://schemas.openxmlformats.org/officeDocument/2006/math">
                    <m:oMathParaPr>
                      <m:jc m:val="centerGroup"/>
                    </m:oMathParaPr>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𝑚</m:t>
                          </m:r>
                        </m:e>
                        <m:sub>
                          <m:r>
                            <a:rPr lang="en-US" altLang="zh-CN" i="1" dirty="0">
                              <a:latin typeface="Cambria Math" panose="02040503050406030204" pitchFamily="18" charset="0"/>
                              <a:ea typeface="Cambria Math" panose="02040503050406030204" pitchFamily="18" charset="0"/>
                            </a:rPr>
                            <m:t>𝜌</m:t>
                          </m:r>
                        </m:sub>
                      </m:sSub>
                      <m:r>
                        <a:rPr lang="en-US" altLang="zh-CN" i="1" dirty="0">
                          <a:latin typeface="Cambria Math" panose="02040503050406030204" pitchFamily="18" charset="0"/>
                        </a:rPr>
                        <m:t> </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𝑚</m:t>
                              </m:r>
                            </m:e>
                            <m:sub>
                              <m:r>
                                <a:rPr lang="en-US" altLang="zh-CN" i="1" dirty="0">
                                  <a:latin typeface="Cambria Math" panose="02040503050406030204" pitchFamily="18" charset="0"/>
                                  <a:ea typeface="Cambria Math" panose="02040503050406030204" pitchFamily="18" charset="0"/>
                                </a:rPr>
                                <m:t>𝜌</m:t>
                              </m:r>
                            </m:sub>
                          </m:sSub>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𝑟</m:t>
                              </m:r>
                            </m:e>
                          </m:d>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𝑚</m:t>
                          </m:r>
                        </m:e>
                        <m:sub>
                          <m:r>
                            <a:rPr lang="en-US" altLang="zh-CN" i="1" dirty="0">
                              <a:latin typeface="Cambria Math" panose="02040503050406030204" pitchFamily="18" charset="0"/>
                              <a:ea typeface="Cambria Math" panose="02040503050406030204" pitchFamily="18" charset="0"/>
                            </a:rPr>
                            <m:t>𝜌</m:t>
                          </m:r>
                        </m:sub>
                      </m:sSub>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𝑠</m:t>
                          </m:r>
                        </m:e>
                      </m:d>
                      <m:r>
                        <a:rPr lang="en-US" altLang="zh-CN" b="0" i="1" dirty="0" smtClean="0">
                          <a:latin typeface="Cambria Math" panose="02040503050406030204" pitchFamily="18" charset="0"/>
                          <a:ea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m:t>
                          </m:r>
                        </m:e>
                        <m:sub>
                          <m:r>
                            <a:rPr lang="en-US" altLang="zh-CN" i="1">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𝑘</m:t>
                          </m:r>
                        </m:sup>
                      </m:sSubSup>
                      <m:sSub>
                        <m:sSubPr>
                          <m:ctrlPr>
                            <a:rPr lang="en-US" altLang="zh-CN" i="1">
                              <a:latin typeface="Cambria Math" panose="02040503050406030204" pitchFamily="18" charset="0"/>
                              <a:sym typeface="Symbol" panose="05050102010706020507" pitchFamily="18" charset="2"/>
                            </a:rPr>
                          </m:ctrlPr>
                        </m:sSubPr>
                        <m:e>
                          <m:r>
                            <a:rPr lang="en-US" altLang="zh-CN" i="1">
                              <a:latin typeface="Cambria Math" panose="02040503050406030204" pitchFamily="18" charset="0"/>
                              <a:ea typeface="Cambria Math" panose="02040503050406030204" pitchFamily="18" charset="0"/>
                              <a:sym typeface="Symbol" panose="05050102010706020507" pitchFamily="18" charset="2"/>
                            </a:rPr>
                            <m:t>∏</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i="1" dirty="0">
                                  <a:latin typeface="Cambria Math" panose="02040503050406030204" pitchFamily="18" charset="0"/>
                                </a:rPr>
                                <m:t>𝑖</m:t>
                              </m:r>
                            </m:sub>
                          </m:sSub>
                        </m:sub>
                      </m:sSub>
                      <m:d>
                        <m:dPr>
                          <m:ctrlPr>
                            <a:rPr lang="en-US" altLang="zh-CN" i="1">
                              <a:latin typeface="Cambria Math" panose="02040503050406030204" pitchFamily="18" charset="0"/>
                              <a:sym typeface="Symbol" panose="05050102010706020507" pitchFamily="18" charset="2"/>
                            </a:rPr>
                          </m:ctrlPr>
                        </m:dPr>
                        <m:e>
                          <m:r>
                            <a:rPr lang="en-US" altLang="zh-CN" i="1">
                              <a:latin typeface="Cambria Math" panose="02040503050406030204" pitchFamily="18" charset="0"/>
                              <a:sym typeface="Symbol" panose="05050102010706020507" pitchFamily="18" charset="2"/>
                            </a:rPr>
                            <m:t>𝑠</m:t>
                          </m:r>
                        </m:e>
                      </m:d>
                      <m:r>
                        <a:rPr lang="en-US" altLang="zh-CN" b="0" i="1" smtClean="0">
                          <a:latin typeface="Cambria Math" panose="02040503050406030204" pitchFamily="18" charset="0"/>
                          <a:sym typeface="Symbol" panose="05050102010706020507" pitchFamily="18" charset="2"/>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m:t>
                          </m:r>
                        </m:e>
                        <m:sub>
                          <m:r>
                            <a:rPr lang="en-US" altLang="zh-CN" i="1">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1</m:t>
                          </m:r>
                        </m:sub>
                        <m:sup>
                          <m:r>
                            <a:rPr lang="en-US" altLang="zh-CN" i="1">
                              <a:latin typeface="Cambria Math" panose="02040503050406030204" pitchFamily="18" charset="0"/>
                              <a:ea typeface="Cambria Math" panose="02040503050406030204" pitchFamily="18" charset="0"/>
                            </a:rPr>
                            <m:t>𝑘</m:t>
                          </m:r>
                        </m:sup>
                      </m:sSubSup>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𝑟</m:t>
                              </m:r>
                            </m:e>
                            <m:sub>
                              <m:r>
                                <a:rPr lang="en-US" altLang="zh-CN" i="1" dirty="0">
                                  <a:latin typeface="Cambria Math" panose="02040503050406030204" pitchFamily="18" charset="0"/>
                                </a:rPr>
                                <m:t>𝑖</m:t>
                              </m:r>
                            </m:sub>
                          </m:sSub>
                        </m:e>
                      </m:d>
                      <m:r>
                        <a:rPr lang="en-US" altLang="zh-CN" b="0" i="1" smtClean="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𝑚</m:t>
                          </m:r>
                        </m:e>
                        <m:sub>
                          <m:r>
                            <a:rPr lang="en-US" altLang="zh-CN" i="1" dirty="0">
                              <a:latin typeface="Cambria Math" panose="02040503050406030204" pitchFamily="18" charset="0"/>
                              <a:ea typeface="Cambria Math" panose="02040503050406030204" pitchFamily="18" charset="0"/>
                            </a:rPr>
                            <m:t>𝜌</m:t>
                          </m:r>
                        </m:sub>
                      </m:sSub>
                      <m:d>
                        <m:dPr>
                          <m:ctrlPr>
                            <a:rPr lang="en-US" altLang="zh-CN" i="1" dirty="0">
                              <a:latin typeface="Cambria Math" panose="02040503050406030204" pitchFamily="18" charset="0"/>
                              <a:ea typeface="Cambria Math" panose="02040503050406030204" pitchFamily="18" charset="0"/>
                            </a:rPr>
                          </m:ctrlPr>
                        </m:dPr>
                        <m:e>
                          <m:r>
                            <a:rPr lang="en-US" altLang="zh-CN" i="1" dirty="0">
                              <a:latin typeface="Cambria Math" panose="02040503050406030204" pitchFamily="18" charset="0"/>
                              <a:ea typeface="Cambria Math" panose="02040503050406030204" pitchFamily="18" charset="0"/>
                            </a:rPr>
                            <m:t>𝑟</m:t>
                          </m:r>
                        </m:e>
                      </m:d>
                    </m:oMath>
                  </m:oMathPara>
                </a14:m>
                <a:endParaRPr lang="en-US" altLang="zh-CN" dirty="0"/>
              </a:p>
              <a:p>
                <a:pPr marL="650875" lvl="1" indent="-193675">
                  <a:lnSpc>
                    <a:spcPct val="130000"/>
                  </a:lnSpc>
                  <a:buNone/>
                </a:pPr>
                <a:r>
                  <a:rPr lang="en-US" altLang="zh-CN" dirty="0"/>
                  <a:t>         (</a:t>
                </a:r>
                <a:r>
                  <a:rPr lang="zh-CN" altLang="en-US" dirty="0"/>
                  <a:t>证毕</a:t>
                </a:r>
                <a:r>
                  <a:rPr lang="en-US" altLang="zh-CN" dirty="0"/>
                  <a:t>)</a:t>
                </a:r>
                <a:endParaRPr lang="en-US" altLang="zh-CN" dirty="0"/>
              </a:p>
              <a:p>
                <a:pPr lvl="1"/>
                <a:endParaRPr lang="zh-CN" altLang="en-US"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706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无损联接分解</a:t>
                </a:r>
                <a:endParaRPr lang="en-US" altLang="zh-CN" dirty="0"/>
              </a:p>
              <a:p>
                <a:pPr lvl="1"/>
                <a:r>
                  <a:rPr lang="zh-CN" altLang="en-US" dirty="0"/>
                  <a:t>由引理</a:t>
                </a:r>
                <a:r>
                  <a:rPr lang="en-US" altLang="zh-CN" dirty="0"/>
                  <a:t>4.4</a:t>
                </a:r>
                <a:r>
                  <a:rPr lang="zh-CN" altLang="en-US" dirty="0"/>
                  <a:t>可得到下面的结论：</a:t>
                </a:r>
                <a:endParaRPr lang="en-US" altLang="zh-CN" dirty="0"/>
              </a:p>
              <a:p>
                <a:pPr lvl="2"/>
                <a:r>
                  <a:rPr lang="zh-CN" altLang="en-US" sz="2200" dirty="0"/>
                  <a:t>如果 </a:t>
                </a:r>
                <a14:m>
                  <m:oMath xmlns:m="http://schemas.openxmlformats.org/officeDocument/2006/math">
                    <m:r>
                      <a:rPr lang="en-US" altLang="zh-CN" sz="2200" i="1" dirty="0" smtClean="0">
                        <a:latin typeface="Cambria Math" panose="02040503050406030204" pitchFamily="18" charset="0"/>
                      </a:rPr>
                      <m:t>𝑟</m:t>
                    </m:r>
                    <m:r>
                      <a:rPr lang="en-US" altLang="zh-CN" sz="2200" i="1" dirty="0" smtClean="0">
                        <a:latin typeface="Cambria Math" panose="02040503050406030204" pitchFamily="18" charset="0"/>
                      </a:rPr>
                      <m:t>≠</m:t>
                    </m:r>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𝑚</m:t>
                        </m:r>
                      </m:e>
                      <m:sub>
                        <m:r>
                          <a:rPr lang="en-US" altLang="zh-CN" sz="2200" i="1" dirty="0">
                            <a:latin typeface="Cambria Math" panose="02040503050406030204" pitchFamily="18" charset="0"/>
                            <a:ea typeface="Cambria Math" panose="02040503050406030204" pitchFamily="18" charset="0"/>
                          </a:rPr>
                          <m:t>𝜌</m:t>
                        </m:r>
                      </m:sub>
                    </m:sSub>
                    <m:d>
                      <m:dPr>
                        <m:ctrlPr>
                          <a:rPr lang="en-US" altLang="zh-CN" sz="2200" i="1" dirty="0">
                            <a:latin typeface="Cambria Math" panose="02040503050406030204" pitchFamily="18" charset="0"/>
                            <a:ea typeface="Cambria Math" panose="02040503050406030204" pitchFamily="18" charset="0"/>
                          </a:rPr>
                        </m:ctrlPr>
                      </m:dPr>
                      <m:e>
                        <m:r>
                          <a:rPr lang="en-US" altLang="zh-CN" sz="2200" i="1" dirty="0">
                            <a:latin typeface="Cambria Math" panose="02040503050406030204" pitchFamily="18" charset="0"/>
                            <a:ea typeface="Cambria Math" panose="02040503050406030204" pitchFamily="18" charset="0"/>
                          </a:rPr>
                          <m:t>𝑟</m:t>
                        </m:r>
                      </m:e>
                    </m:d>
                  </m:oMath>
                </a14:m>
                <a:r>
                  <a:rPr lang="zh-CN" altLang="en-US" sz="2200" dirty="0"/>
                  <a:t>，则</a:t>
                </a:r>
                <a14:m>
                  <m:oMath xmlns:m="http://schemas.openxmlformats.org/officeDocument/2006/math">
                    <m:r>
                      <a:rPr lang="zh-CN" altLang="en-US" sz="2200" i="1" smtClean="0">
                        <a:latin typeface="Cambria Math" panose="02040503050406030204" pitchFamily="18" charset="0"/>
                      </a:rPr>
                      <m:t>𝜌</m:t>
                    </m:r>
                  </m:oMath>
                </a14:m>
                <a:r>
                  <a:rPr lang="zh-CN" altLang="en-US" sz="2200" dirty="0"/>
                  <a:t>不是无损分解。</a:t>
                </a:r>
                <a:endParaRPr lang="en-US" altLang="zh-CN" sz="2200" dirty="0"/>
              </a:p>
              <a:p>
                <a:pPr lvl="2"/>
                <a:r>
                  <a:rPr lang="zh-CN" altLang="en-US" sz="2200" dirty="0"/>
                  <a:t>由引理</a:t>
                </a:r>
                <a:r>
                  <a:rPr lang="en-US" altLang="zh-CN" sz="2200" dirty="0"/>
                  <a:t>4.4(1)</a:t>
                </a:r>
                <a:r>
                  <a:rPr lang="zh-CN" altLang="en-US" sz="2200" dirty="0"/>
                  <a:t>可知，</a:t>
                </a:r>
                <a:r>
                  <a:rPr lang="en-US" altLang="zh-CN" sz="2200" dirty="0"/>
                  <a:t> </a:t>
                </a:r>
                <a14:m>
                  <m:oMath xmlns:m="http://schemas.openxmlformats.org/officeDocument/2006/math">
                    <m:r>
                      <a:rPr lang="en-US" altLang="zh-CN" sz="2200" i="1" dirty="0">
                        <a:latin typeface="Cambria Math" panose="02040503050406030204" pitchFamily="18" charset="0"/>
                      </a:rPr>
                      <m:t>𝑟</m:t>
                    </m:r>
                  </m:oMath>
                </a14:m>
                <a:r>
                  <a:rPr lang="zh-CN" altLang="en-US" sz="2200" dirty="0"/>
                  <a:t>经过分解后再连接，如果</a:t>
                </a:r>
                <a14:m>
                  <m:oMath xmlns:m="http://schemas.openxmlformats.org/officeDocument/2006/math">
                    <m:r>
                      <a:rPr lang="zh-CN" altLang="en-US" sz="2200" i="1">
                        <a:latin typeface="Cambria Math" panose="02040503050406030204" pitchFamily="18" charset="0"/>
                      </a:rPr>
                      <m:t>𝜌</m:t>
                    </m:r>
                  </m:oMath>
                </a14:m>
                <a:r>
                  <a:rPr lang="zh-CN" altLang="en-US" sz="2200" dirty="0"/>
                  <a:t>不是无损分解，则所得到的结果的元组数总比原来的</a:t>
                </a:r>
                <a14:m>
                  <m:oMath xmlns:m="http://schemas.openxmlformats.org/officeDocument/2006/math">
                    <m:r>
                      <a:rPr lang="en-US" altLang="zh-CN" sz="2200" i="1" dirty="0">
                        <a:latin typeface="Cambria Math" panose="02040503050406030204" pitchFamily="18" charset="0"/>
                      </a:rPr>
                      <m:t>𝑟</m:t>
                    </m:r>
                  </m:oMath>
                </a14:m>
                <a:r>
                  <a:rPr lang="zh-CN" altLang="en-US" sz="2200" dirty="0"/>
                  <a:t>多，即所谓“</a:t>
                </a:r>
                <a:r>
                  <a:rPr lang="zh-CN" altLang="en-US" sz="2200" u="sng" dirty="0"/>
                  <a:t>元组增加，信息丢失</a:t>
                </a:r>
                <a:r>
                  <a:rPr lang="en-US" altLang="zh-CN" sz="2200" dirty="0"/>
                  <a:t>(</a:t>
                </a:r>
                <a:r>
                  <a:rPr lang="zh-CN" altLang="en-US" sz="2200" dirty="0"/>
                  <a:t>有损</a:t>
                </a:r>
                <a:r>
                  <a:rPr lang="en-US" altLang="zh-CN" sz="2200" dirty="0"/>
                  <a:t>)</a:t>
                </a:r>
                <a:r>
                  <a:rPr lang="zh-CN" altLang="en-US" sz="2200" dirty="0"/>
                  <a:t>！”</a:t>
                </a:r>
                <a:endParaRPr lang="en-US" altLang="zh-CN" sz="2200" dirty="0"/>
              </a:p>
              <a:p>
                <a:pPr lvl="2"/>
                <a:r>
                  <a:rPr lang="zh-CN" altLang="en-US" sz="2200" dirty="0"/>
                  <a:t>由引理</a:t>
                </a:r>
                <a:r>
                  <a:rPr lang="en-US" altLang="zh-CN" sz="2200" dirty="0"/>
                  <a:t>4.4(2)</a:t>
                </a:r>
                <a:r>
                  <a:rPr lang="zh-CN" altLang="en-US" sz="2200" dirty="0"/>
                  <a:t>可知，对</a:t>
                </a:r>
                <a14:m>
                  <m:oMath xmlns:m="http://schemas.openxmlformats.org/officeDocument/2006/math">
                    <m:r>
                      <a:rPr lang="en-US" altLang="zh-CN" sz="2200" i="1" dirty="0">
                        <a:latin typeface="Cambria Math" panose="02040503050406030204" pitchFamily="18" charset="0"/>
                      </a:rPr>
                      <m:t>𝑟</m:t>
                    </m:r>
                  </m:oMath>
                </a14:m>
                <a:r>
                  <a:rPr lang="zh-CN" altLang="en-US" sz="2200" dirty="0"/>
                  <a:t>进行</a:t>
                </a:r>
                <a14:m>
                  <m:oMath xmlns:m="http://schemas.openxmlformats.org/officeDocument/2006/math">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𝑚</m:t>
                        </m:r>
                      </m:e>
                      <m:sub>
                        <m:r>
                          <a:rPr lang="en-US" altLang="zh-CN" sz="2200" i="1" dirty="0">
                            <a:latin typeface="Cambria Math" panose="02040503050406030204" pitchFamily="18" charset="0"/>
                            <a:ea typeface="Cambria Math" panose="02040503050406030204" pitchFamily="18" charset="0"/>
                          </a:rPr>
                          <m:t>𝜌</m:t>
                        </m:r>
                      </m:sub>
                    </m:sSub>
                    <m:d>
                      <m:dPr>
                        <m:ctrlPr>
                          <a:rPr lang="en-US" altLang="zh-CN" sz="2200" i="1" dirty="0">
                            <a:latin typeface="Cambria Math" panose="02040503050406030204" pitchFamily="18" charset="0"/>
                            <a:ea typeface="Cambria Math" panose="02040503050406030204" pitchFamily="18" charset="0"/>
                          </a:rPr>
                        </m:ctrlPr>
                      </m:dPr>
                      <m:e>
                        <m:r>
                          <a:rPr lang="en-US" altLang="zh-CN" sz="2200" i="1" dirty="0">
                            <a:latin typeface="Cambria Math" panose="02040503050406030204" pitchFamily="18" charset="0"/>
                            <a:ea typeface="Cambria Math" panose="02040503050406030204" pitchFamily="18" charset="0"/>
                          </a:rPr>
                          <m:t>𝑟</m:t>
                        </m:r>
                      </m:e>
                    </m:d>
                  </m:oMath>
                </a14:m>
                <a:r>
                  <a:rPr lang="zh-CN" altLang="en-US" sz="2200" dirty="0"/>
                  <a:t>变换后得到的</a:t>
                </a:r>
                <a14:m>
                  <m:oMath xmlns:m="http://schemas.openxmlformats.org/officeDocument/2006/math">
                    <m:r>
                      <a:rPr lang="en-US" altLang="zh-CN" sz="2200" b="0" i="1" smtClean="0">
                        <a:latin typeface="Cambria Math" panose="02040503050406030204" pitchFamily="18" charset="0"/>
                      </a:rPr>
                      <m:t>𝑠</m:t>
                    </m:r>
                  </m:oMath>
                </a14:m>
                <a:r>
                  <a:rPr lang="zh-CN" altLang="en-US" sz="2200" dirty="0"/>
                  <a:t>可满足条件：</a:t>
                </a:r>
                <a:r>
                  <a:rPr lang="en-US" altLang="zh-CN" sz="2200" dirty="0">
                    <a:sym typeface="Symbol" panose="05050102010706020507" pitchFamily="18" charset="2"/>
                  </a:rPr>
                  <a:t> </a:t>
                </a:r>
                <a14:m>
                  <m:oMath xmlns:m="http://schemas.openxmlformats.org/officeDocument/2006/math">
                    <m:sSub>
                      <m:sSubPr>
                        <m:ctrlPr>
                          <a:rPr lang="en-US" altLang="zh-CN" sz="2200" i="1">
                            <a:latin typeface="Cambria Math" panose="02040503050406030204" pitchFamily="18" charset="0"/>
                            <a:sym typeface="Symbol" panose="05050102010706020507" pitchFamily="18" charset="2"/>
                          </a:rPr>
                        </m:ctrlPr>
                      </m:sSubPr>
                      <m:e>
                        <m:r>
                          <a:rPr lang="en-US" altLang="zh-CN" sz="2200" i="1">
                            <a:latin typeface="Cambria Math" panose="02040503050406030204" pitchFamily="18" charset="0"/>
                            <a:ea typeface="Cambria Math" panose="02040503050406030204" pitchFamily="18" charset="0"/>
                            <a:sym typeface="Symbol" panose="05050102010706020507" pitchFamily="18" charset="2"/>
                          </a:rPr>
                          <m:t>∏</m:t>
                        </m:r>
                      </m:e>
                      <m:sub>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𝑅</m:t>
                            </m:r>
                          </m:e>
                          <m:sub>
                            <m:r>
                              <a:rPr lang="en-US" altLang="zh-CN" sz="2200" i="1" dirty="0">
                                <a:latin typeface="Cambria Math" panose="02040503050406030204" pitchFamily="18" charset="0"/>
                              </a:rPr>
                              <m:t>𝑖</m:t>
                            </m:r>
                          </m:sub>
                        </m:sSub>
                      </m:sub>
                    </m:sSub>
                    <m:d>
                      <m:dPr>
                        <m:ctrlPr>
                          <a:rPr lang="en-US" altLang="zh-CN" sz="2200" i="1">
                            <a:latin typeface="Cambria Math" panose="02040503050406030204" pitchFamily="18" charset="0"/>
                            <a:sym typeface="Symbol" panose="05050102010706020507" pitchFamily="18" charset="2"/>
                          </a:rPr>
                        </m:ctrlPr>
                      </m:dPr>
                      <m:e>
                        <m:r>
                          <a:rPr lang="en-US" altLang="zh-CN" sz="2200" i="1">
                            <a:latin typeface="Cambria Math" panose="02040503050406030204" pitchFamily="18" charset="0"/>
                            <a:sym typeface="Symbol" panose="05050102010706020507" pitchFamily="18" charset="2"/>
                          </a:rPr>
                          <m:t>𝑠</m:t>
                        </m:r>
                      </m:e>
                    </m:d>
                    <m:r>
                      <a:rPr lang="en-US" altLang="zh-CN" sz="2200" b="0" i="1" smtClean="0">
                        <a:latin typeface="Cambria Math" panose="02040503050406030204" pitchFamily="18" charset="0"/>
                        <a:sym typeface="Symbol" panose="05050102010706020507" pitchFamily="18" charset="2"/>
                      </a:rPr>
                      <m:t>=</m:t>
                    </m:r>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𝑟</m:t>
                        </m:r>
                      </m:e>
                      <m:sub>
                        <m:r>
                          <a:rPr lang="en-US" altLang="zh-CN" sz="2200" i="1" dirty="0">
                            <a:latin typeface="Cambria Math" panose="02040503050406030204" pitchFamily="18" charset="0"/>
                          </a:rPr>
                          <m:t>𝑖</m:t>
                        </m:r>
                      </m:sub>
                    </m:sSub>
                  </m:oMath>
                </a14:m>
                <a:endParaRPr lang="en-US" altLang="zh-CN" sz="2200" baseline="-25000" dirty="0"/>
              </a:p>
              <a:p>
                <a:pPr lvl="2"/>
                <a:r>
                  <a:rPr lang="zh-CN" altLang="en-US" sz="2200" dirty="0"/>
                  <a:t>但注意：如果</a:t>
                </a:r>
                <a14:m>
                  <m:oMath xmlns:m="http://schemas.openxmlformats.org/officeDocument/2006/math">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𝑟</m:t>
                        </m:r>
                      </m:e>
                      <m:sub>
                        <m:r>
                          <a:rPr lang="en-US" altLang="zh-CN" sz="2200" i="1" dirty="0">
                            <a:latin typeface="Cambria Math" panose="02040503050406030204" pitchFamily="18" charset="0"/>
                          </a:rPr>
                          <m:t>𝑖</m:t>
                        </m:r>
                      </m:sub>
                    </m:sSub>
                  </m:oMath>
                </a14:m>
                <a:r>
                  <a:rPr lang="zh-CN" altLang="en-US" sz="2200" dirty="0"/>
                  <a:t>不是</a:t>
                </a:r>
                <a14:m>
                  <m:oMath xmlns:m="http://schemas.openxmlformats.org/officeDocument/2006/math">
                    <m:r>
                      <a:rPr lang="en-US" altLang="zh-CN" sz="2200" i="1" dirty="0">
                        <a:latin typeface="Cambria Math" panose="02040503050406030204" pitchFamily="18" charset="0"/>
                      </a:rPr>
                      <m:t>𝑟</m:t>
                    </m:r>
                  </m:oMath>
                </a14:m>
                <a:r>
                  <a:rPr lang="zh-CN" altLang="en-US" sz="2200" dirty="0"/>
                  <a:t>的投影，而是独立的关系，则一般而言，连接后的关系</a:t>
                </a:r>
                <a14:m>
                  <m:oMath xmlns:m="http://schemas.openxmlformats.org/officeDocument/2006/math">
                    <m:r>
                      <a:rPr lang="en-US" altLang="zh-CN" sz="2200" i="1">
                        <a:latin typeface="Cambria Math" panose="02040503050406030204" pitchFamily="18" charset="0"/>
                      </a:rPr>
                      <m:t>𝑠</m:t>
                    </m:r>
                  </m:oMath>
                </a14:m>
                <a:r>
                  <a:rPr lang="zh-CN" altLang="en-US" sz="2200" dirty="0"/>
                  <a:t>不再满足条件</a:t>
                </a:r>
                <a14:m>
                  <m:oMath xmlns:m="http://schemas.openxmlformats.org/officeDocument/2006/math">
                    <m:sSub>
                      <m:sSubPr>
                        <m:ctrlPr>
                          <a:rPr lang="en-US" altLang="zh-CN" sz="2200" i="1">
                            <a:latin typeface="Cambria Math" panose="02040503050406030204" pitchFamily="18" charset="0"/>
                            <a:sym typeface="Symbol" panose="05050102010706020507" pitchFamily="18" charset="2"/>
                          </a:rPr>
                        </m:ctrlPr>
                      </m:sSubPr>
                      <m:e>
                        <m:r>
                          <a:rPr lang="en-US" altLang="zh-CN" sz="2200" i="1">
                            <a:latin typeface="Cambria Math" panose="02040503050406030204" pitchFamily="18" charset="0"/>
                            <a:ea typeface="Cambria Math" panose="02040503050406030204" pitchFamily="18" charset="0"/>
                            <a:sym typeface="Symbol" panose="05050102010706020507" pitchFamily="18" charset="2"/>
                          </a:rPr>
                          <m:t>∏</m:t>
                        </m:r>
                      </m:e>
                      <m:sub>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𝑅</m:t>
                            </m:r>
                          </m:e>
                          <m:sub>
                            <m:r>
                              <a:rPr lang="en-US" altLang="zh-CN" sz="2200" i="1" dirty="0">
                                <a:latin typeface="Cambria Math" panose="02040503050406030204" pitchFamily="18" charset="0"/>
                              </a:rPr>
                              <m:t>𝑖</m:t>
                            </m:r>
                          </m:sub>
                        </m:sSub>
                      </m:sub>
                    </m:sSub>
                    <m:d>
                      <m:dPr>
                        <m:ctrlPr>
                          <a:rPr lang="en-US" altLang="zh-CN" sz="2200" i="1">
                            <a:latin typeface="Cambria Math" panose="02040503050406030204" pitchFamily="18" charset="0"/>
                            <a:sym typeface="Symbol" panose="05050102010706020507" pitchFamily="18" charset="2"/>
                          </a:rPr>
                        </m:ctrlPr>
                      </m:dPr>
                      <m:e>
                        <m:r>
                          <a:rPr lang="en-US" altLang="zh-CN" sz="2200" i="1">
                            <a:latin typeface="Cambria Math" panose="02040503050406030204" pitchFamily="18" charset="0"/>
                            <a:sym typeface="Symbol" panose="05050102010706020507" pitchFamily="18" charset="2"/>
                          </a:rPr>
                          <m:t>𝑠</m:t>
                        </m:r>
                      </m:e>
                    </m:d>
                    <m:r>
                      <a:rPr lang="en-US" altLang="zh-CN" sz="2200" i="1">
                        <a:latin typeface="Cambria Math" panose="02040503050406030204" pitchFamily="18" charset="0"/>
                        <a:sym typeface="Symbol" panose="05050102010706020507" pitchFamily="18" charset="2"/>
                      </a:rPr>
                      <m:t>=</m:t>
                    </m:r>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𝑟</m:t>
                        </m:r>
                      </m:e>
                      <m:sub>
                        <m:r>
                          <a:rPr lang="en-US" altLang="zh-CN" sz="2200" i="1" dirty="0">
                            <a:latin typeface="Cambria Math" panose="02040503050406030204" pitchFamily="18" charset="0"/>
                          </a:rPr>
                          <m:t>𝑖</m:t>
                        </m:r>
                      </m:sub>
                    </m:sSub>
                  </m:oMath>
                </a14:m>
                <a:r>
                  <a:rPr lang="zh-CN" altLang="en-US" sz="2200" dirty="0"/>
                  <a:t>，而是</a:t>
                </a:r>
                <a14:m>
                  <m:oMath xmlns:m="http://schemas.openxmlformats.org/officeDocument/2006/math">
                    <m:sSub>
                      <m:sSubPr>
                        <m:ctrlPr>
                          <a:rPr lang="en-US" altLang="zh-CN" sz="2200" i="1">
                            <a:latin typeface="Cambria Math" panose="02040503050406030204" pitchFamily="18" charset="0"/>
                            <a:sym typeface="Symbol" panose="05050102010706020507" pitchFamily="18" charset="2"/>
                          </a:rPr>
                        </m:ctrlPr>
                      </m:sSubPr>
                      <m:e>
                        <m:r>
                          <a:rPr lang="en-US" altLang="zh-CN" sz="2200" i="1">
                            <a:latin typeface="Cambria Math" panose="02040503050406030204" pitchFamily="18" charset="0"/>
                            <a:ea typeface="Cambria Math" panose="02040503050406030204" pitchFamily="18" charset="0"/>
                            <a:sym typeface="Symbol" panose="05050102010706020507" pitchFamily="18" charset="2"/>
                          </a:rPr>
                          <m:t>∏</m:t>
                        </m:r>
                      </m:e>
                      <m:sub>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𝑅</m:t>
                            </m:r>
                          </m:e>
                          <m:sub>
                            <m:r>
                              <a:rPr lang="en-US" altLang="zh-CN" sz="2200" i="1" dirty="0">
                                <a:latin typeface="Cambria Math" panose="02040503050406030204" pitchFamily="18" charset="0"/>
                              </a:rPr>
                              <m:t>𝑖</m:t>
                            </m:r>
                          </m:sub>
                        </m:sSub>
                      </m:sub>
                    </m:sSub>
                    <m:d>
                      <m:dPr>
                        <m:ctrlPr>
                          <a:rPr lang="en-US" altLang="zh-CN" sz="2200" i="1">
                            <a:latin typeface="Cambria Math" panose="02040503050406030204" pitchFamily="18" charset="0"/>
                            <a:sym typeface="Symbol" panose="05050102010706020507" pitchFamily="18" charset="2"/>
                          </a:rPr>
                        </m:ctrlPr>
                      </m:dPr>
                      <m:e>
                        <m:r>
                          <a:rPr lang="en-US" altLang="zh-CN" sz="2200" i="1">
                            <a:latin typeface="Cambria Math" panose="02040503050406030204" pitchFamily="18" charset="0"/>
                            <a:sym typeface="Symbol" panose="05050102010706020507" pitchFamily="18" charset="2"/>
                          </a:rPr>
                          <m:t>𝑠</m:t>
                        </m:r>
                      </m:e>
                    </m:d>
                    <m:r>
                      <a:rPr lang="en-US" altLang="zh-CN" sz="2200" i="1"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𝑟</m:t>
                        </m:r>
                      </m:e>
                      <m:sub>
                        <m:r>
                          <a:rPr lang="en-US" altLang="zh-CN" sz="2200" i="1" dirty="0">
                            <a:latin typeface="Cambria Math" panose="02040503050406030204" pitchFamily="18" charset="0"/>
                          </a:rPr>
                          <m:t>𝑖</m:t>
                        </m:r>
                      </m:sub>
                    </m:sSub>
                  </m:oMath>
                </a14:m>
                <a:endParaRPr lang="zh-CN" altLang="en-US" sz="2200" baseline="-25000" dirty="0"/>
              </a:p>
              <a:p>
                <a:pPr lvl="1"/>
                <a:endParaRPr lang="zh-CN" altLang="en-US"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3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无损联接分解</a:t>
                </a:r>
                <a:endParaRPr lang="en-US" altLang="zh-CN" dirty="0"/>
              </a:p>
              <a:p>
                <a:pPr lvl="1"/>
                <a:r>
                  <a:rPr lang="zh-CN" altLang="en-US" dirty="0"/>
                  <a:t>例：设关系模式</a:t>
                </a:r>
                <a14:m>
                  <m:oMath xmlns:m="http://schemas.openxmlformats.org/officeDocument/2006/math">
                    <m:r>
                      <a:rPr lang="en-US" altLang="zh-CN" i="1" dirty="0" smtClean="0">
                        <a:latin typeface="Cambria Math" panose="02040503050406030204" pitchFamily="18" charset="0"/>
                      </a:rPr>
                      <m:t>𝑅</m:t>
                    </m:r>
                    <m:r>
                      <a:rPr lang="en-US" altLang="zh-CN" b="0" i="1" dirty="0" smtClean="0">
                        <a:latin typeface="Cambria Math" panose="02040503050406030204" pitchFamily="18" charset="0"/>
                      </a:rPr>
                      <m:t>(</m:t>
                    </m:r>
                    <m:r>
                      <a:rPr lang="en-US" altLang="zh-CN" i="1" dirty="0">
                        <a:latin typeface="Cambria Math" panose="02040503050406030204" pitchFamily="18" charset="0"/>
                      </a:rPr>
                      <m:t>𝐴𝐵𝐶</m:t>
                    </m:r>
                    <m:r>
                      <a:rPr lang="en-US" altLang="zh-CN" b="0" i="1" dirty="0" smtClean="0">
                        <a:latin typeface="Cambria Math" panose="02040503050406030204" pitchFamily="18" charset="0"/>
                      </a:rPr>
                      <m:t>)</m:t>
                    </m:r>
                  </m:oMath>
                </a14:m>
                <a:r>
                  <a:rPr lang="zh-CN" altLang="en-US" dirty="0"/>
                  <a:t>分解成</a:t>
                </a:r>
                <a14:m>
                  <m:oMath xmlns:m="http://schemas.openxmlformats.org/officeDocument/2006/math">
                    <m:r>
                      <a:rPr lang="en-US" altLang="zh-CN" i="1" dirty="0" smtClean="0">
                        <a:latin typeface="Cambria Math" panose="02040503050406030204" pitchFamily="18" charset="0"/>
                      </a:rPr>
                      <m:t>𝜌</m:t>
                    </m:r>
                    <m:r>
                      <a:rPr lang="en-US" altLang="zh-CN" i="1" dirty="0">
                        <a:latin typeface="Cambria Math" panose="02040503050406030204" pitchFamily="18" charset="0"/>
                      </a:rPr>
                      <m:t>=</m:t>
                    </m:r>
                    <m:r>
                      <a:rPr lang="en-US" altLang="zh-CN" b="0" i="1" dirty="0" smtClean="0">
                        <a:latin typeface="Cambria Math" panose="02040503050406030204" pitchFamily="18" charset="0"/>
                      </a:rPr>
                      <m:t>{</m:t>
                    </m:r>
                    <m:r>
                      <a:rPr lang="en-US" altLang="zh-CN" i="1" dirty="0">
                        <a:latin typeface="Cambria Math" panose="02040503050406030204" pitchFamily="18" charset="0"/>
                      </a:rPr>
                      <m:t>𝐴𝐵</m:t>
                    </m:r>
                    <m:r>
                      <a:rPr lang="zh-CN" altLang="en-US" i="1" dirty="0">
                        <a:latin typeface="Cambria Math" panose="02040503050406030204" pitchFamily="18" charset="0"/>
                      </a:rPr>
                      <m:t>，</m:t>
                    </m:r>
                    <m:r>
                      <a:rPr lang="en-US" altLang="zh-CN" i="1" dirty="0">
                        <a:latin typeface="Cambria Math" panose="02040503050406030204" pitchFamily="18" charset="0"/>
                      </a:rPr>
                      <m:t>𝐵𝐶</m:t>
                    </m:r>
                    <m:r>
                      <a:rPr lang="en-US" altLang="zh-CN" b="0" i="1" dirty="0" smtClean="0">
                        <a:latin typeface="Cambria Math" panose="02040503050406030204" pitchFamily="18" charset="0"/>
                      </a:rPr>
                      <m:t>}</m:t>
                    </m:r>
                  </m:oMath>
                </a14:m>
                <a:r>
                  <a:rPr lang="zh-CN" altLang="en-US" dirty="0"/>
                  <a:t>，</a:t>
                </a:r>
                <a14:m>
                  <m:oMath xmlns:m="http://schemas.openxmlformats.org/officeDocument/2006/math">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𝑎</m:t>
                    </m:r>
                    <m:r>
                      <a:rPr lang="en-US" altLang="zh-CN" b="0" i="1" dirty="0" smtClean="0">
                        <a:latin typeface="Cambria Math" panose="02040503050406030204" pitchFamily="18" charset="0"/>
                      </a:rPr>
                      <m:t>)</m:t>
                    </m:r>
                  </m:oMath>
                </a14:m>
                <a:r>
                  <a:rPr lang="zh-CN" altLang="en-US" dirty="0"/>
                  <a:t>和</a:t>
                </a:r>
                <a14:m>
                  <m:oMath xmlns:m="http://schemas.openxmlformats.org/officeDocument/2006/math">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𝑏</m:t>
                    </m:r>
                    <m:r>
                      <a:rPr lang="en-US" altLang="zh-CN" b="0" i="1" dirty="0" smtClean="0">
                        <a:latin typeface="Cambria Math" panose="02040503050406030204" pitchFamily="18" charset="0"/>
                      </a:rPr>
                      <m:t>)</m:t>
                    </m:r>
                  </m:oMath>
                </a14:m>
                <a:r>
                  <a:rPr lang="zh-CN" altLang="en-US" dirty="0"/>
                  <a:t>分别是模式</a:t>
                </a:r>
                <a14:m>
                  <m:oMath xmlns:m="http://schemas.openxmlformats.org/officeDocument/2006/math">
                    <m:r>
                      <a:rPr lang="en-US" altLang="zh-CN" i="1" dirty="0">
                        <a:latin typeface="Cambria Math" panose="02040503050406030204" pitchFamily="18" charset="0"/>
                      </a:rPr>
                      <m:t>𝐴𝐵</m:t>
                    </m:r>
                  </m:oMath>
                </a14:m>
                <a:r>
                  <a:rPr lang="zh-CN" altLang="en-US" dirty="0"/>
                  <a:t>和</a:t>
                </a:r>
                <a14:m>
                  <m:oMath xmlns:m="http://schemas.openxmlformats.org/officeDocument/2006/math">
                    <m:r>
                      <a:rPr lang="en-US" altLang="zh-CN" i="1" dirty="0">
                        <a:latin typeface="Cambria Math" panose="02040503050406030204" pitchFamily="18" charset="0"/>
                      </a:rPr>
                      <m:t>𝐵</m:t>
                    </m:r>
                    <m:r>
                      <a:rPr lang="en-US" altLang="zh-CN" b="0" i="1" dirty="0" smtClean="0">
                        <a:latin typeface="Cambria Math" panose="02040503050406030204" pitchFamily="18" charset="0"/>
                      </a:rPr>
                      <m:t>𝐶</m:t>
                    </m:r>
                  </m:oMath>
                </a14:m>
                <a:r>
                  <a:rPr lang="zh-CN" altLang="en-US" dirty="0"/>
                  <a:t>上的值</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Sub>
                  </m:oMath>
                </a14:m>
                <a:r>
                  <a:rPr lang="zh-CN" altLang="en-US" dirty="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2</m:t>
                        </m:r>
                      </m:sub>
                    </m:sSub>
                    <m:r>
                      <a:rPr lang="en-US" altLang="zh-CN" i="1">
                        <a:latin typeface="Cambria Math" panose="02040503050406030204" pitchFamily="18" charset="0"/>
                      </a:rPr>
                      <m:t> </m:t>
                    </m:r>
                  </m:oMath>
                </a14:m>
                <a:r>
                  <a:rPr lang="zh-CN" altLang="en-US" dirty="0"/>
                  <a:t>，</a:t>
                </a:r>
                <a:r>
                  <a:rPr lang="en-US" altLang="zh-CN" dirty="0"/>
                  <a:t> </a:t>
                </a:r>
                <a14:m>
                  <m:oMath xmlns:m="http://schemas.openxmlformats.org/officeDocument/2006/math">
                    <m:r>
                      <a:rPr lang="en-US" altLang="zh-CN" i="1" dirty="0">
                        <a:latin typeface="Cambria Math" panose="02040503050406030204" pitchFamily="18" charset="0"/>
                      </a:rPr>
                      <m:t>(</m:t>
                    </m:r>
                    <m:r>
                      <a:rPr lang="en-US" altLang="zh-CN" b="0" i="1" dirty="0" smtClean="0">
                        <a:latin typeface="Cambria Math" panose="02040503050406030204" pitchFamily="18" charset="0"/>
                      </a:rPr>
                      <m:t>𝑐</m:t>
                    </m:r>
                    <m:r>
                      <a:rPr lang="en-US" altLang="zh-CN" i="1" dirty="0">
                        <a:latin typeface="Cambria Math" panose="02040503050406030204" pitchFamily="18" charset="0"/>
                      </a:rPr>
                      <m:t>)</m:t>
                    </m:r>
                  </m:oMath>
                </a14:m>
                <a:r>
                  <a:rPr lang="zh-CN" altLang="en-US" dirty="0"/>
                  <a:t>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1</m:t>
                        </m:r>
                      </m:sub>
                    </m:sSub>
                    <m:r>
                      <a:rPr lang="en-US" altLang="zh-CN"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2</m:t>
                        </m:r>
                      </m:sub>
                    </m:sSub>
                  </m:oMath>
                </a14:m>
                <a:r>
                  <a:rPr lang="zh-CN" altLang="en-US" dirty="0"/>
                  <a:t>的值。显然</a:t>
                </a:r>
                <a14:m>
                  <m:oMath xmlns:m="http://schemas.openxmlformats.org/officeDocument/2006/math">
                    <m:r>
                      <a:rPr lang="en-US" altLang="zh-CN" i="1" dirty="0" smtClean="0">
                        <a:latin typeface="Cambria Math" panose="02040503050406030204" pitchFamily="18" charset="0"/>
                      </a:rPr>
                      <m:t>𝜋</m:t>
                    </m:r>
                    <m:r>
                      <a:rPr lang="en-US" altLang="zh-CN" i="1" baseline="-16000" dirty="0">
                        <a:latin typeface="Cambria Math" panose="02040503050406030204" pitchFamily="18" charset="0"/>
                      </a:rPr>
                      <m:t>𝐵𝐶</m:t>
                    </m:r>
                    <m:r>
                      <a:rPr lang="en-US" altLang="zh-CN" b="0" i="1" dirty="0"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2</m:t>
                        </m:r>
                      </m:sub>
                    </m:sSub>
                    <m:r>
                      <a:rPr lang="en-US" altLang="zh-CN" b="0" i="1" dirty="0" smtClean="0">
                        <a:latin typeface="Cambria Math" panose="02040503050406030204" pitchFamily="18" charset="0"/>
                      </a:rPr>
                      <m:t>)</m:t>
                    </m:r>
                    <m:r>
                      <a:rPr lang="en-US" altLang="zh-CN" i="1" dirty="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2</m:t>
                        </m:r>
                      </m:sub>
                    </m:sSub>
                  </m:oMath>
                </a14:m>
                <a:r>
                  <a:rPr lang="zh-CN" altLang="en-US" dirty="0"/>
                  <a:t>。这里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2</m:t>
                        </m:r>
                      </m:sub>
                    </m:sSub>
                  </m:oMath>
                </a14:m>
                <a:r>
                  <a:rPr lang="zh-CN" altLang="en-US" dirty="0"/>
                  <a:t>中元组</a:t>
                </a:r>
                <a14:m>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i="1">
                            <a:latin typeface="Cambria Math" panose="02040503050406030204" pitchFamily="18" charset="0"/>
                          </a:rPr>
                          <m:t>2</m:t>
                        </m:r>
                      </m:sub>
                    </m:sSub>
                    <m:r>
                      <a:rPr lang="en-US" altLang="zh-CN" b="0" i="1" smtClean="0">
                        <a:latin typeface="Cambria Math" panose="02040503050406030204" pitchFamily="18" charset="0"/>
                      </a:rPr>
                      <m:t>)</m:t>
                    </m:r>
                  </m:oMath>
                </a14:m>
                <a:r>
                  <a:rPr lang="zh-CN" altLang="en-US" dirty="0"/>
                  <a:t>就是一个悬挂元组，由于它的存在，使得</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1</m:t>
                        </m:r>
                      </m:sub>
                    </m:sSub>
                  </m:oMath>
                </a14:m>
                <a:r>
                  <a:rPr lang="zh-CN" altLang="en-US" dirty="0"/>
                  <a:t>和</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i="1">
                            <a:latin typeface="Cambria Math" panose="02040503050406030204" pitchFamily="18" charset="0"/>
                          </a:rPr>
                          <m:t>2</m:t>
                        </m:r>
                      </m:sub>
                    </m:sSub>
                  </m:oMath>
                </a14:m>
                <a:r>
                  <a:rPr lang="zh-CN" altLang="en-US" dirty="0"/>
                  <a:t>不存在泛关系</a:t>
                </a:r>
                <a14:m>
                  <m:oMath xmlns:m="http://schemas.openxmlformats.org/officeDocument/2006/math">
                    <m:r>
                      <a:rPr lang="en-US" altLang="zh-CN" i="1" dirty="0" smtClean="0">
                        <a:latin typeface="Cambria Math" panose="02040503050406030204" pitchFamily="18" charset="0"/>
                      </a:rPr>
                      <m:t>𝑟</m:t>
                    </m:r>
                    <m:r>
                      <a:rPr lang="zh-CN" altLang="en-US" i="1" dirty="0">
                        <a:latin typeface="Cambria Math" panose="02040503050406030204" pitchFamily="18" charset="0"/>
                      </a:rPr>
                      <m:t> </m:t>
                    </m:r>
                  </m:oMath>
                </a14:m>
                <a:endParaRPr lang="zh-CN" altLang="en-US" dirty="0"/>
              </a:p>
              <a:p>
                <a:pPr lvl="1"/>
                <a:endParaRPr lang="zh-CN" altLang="en-US" sz="2200" baseline="-25000" dirty="0"/>
              </a:p>
              <a:p>
                <a:pPr lvl="1"/>
                <a:endParaRPr lang="zh-CN" altLang="en-US"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7" name="Rectangle 4"/>
          <p:cNvSpPr>
            <a:spLocks noChangeArrowheads="1"/>
          </p:cNvSpPr>
          <p:nvPr/>
        </p:nvSpPr>
        <p:spPr bwMode="auto">
          <a:xfrm>
            <a:off x="2012534" y="3971508"/>
            <a:ext cx="809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r</a:t>
            </a:r>
            <a:endParaRPr lang="en-US" altLang="zh-CN" sz="1800" b="0">
              <a:latin typeface="Arial" panose="020B0604020202020204" pitchFamily="34" charset="0"/>
            </a:endParaRPr>
          </a:p>
        </p:txBody>
      </p:sp>
      <p:sp>
        <p:nvSpPr>
          <p:cNvPr id="8" name="Line 5"/>
          <p:cNvSpPr>
            <a:spLocks noChangeShapeType="1"/>
          </p:cNvSpPr>
          <p:nvPr/>
        </p:nvSpPr>
        <p:spPr bwMode="auto">
          <a:xfrm>
            <a:off x="1982371" y="4339808"/>
            <a:ext cx="1438275" cy="47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 name="Line 6"/>
          <p:cNvSpPr>
            <a:spLocks noChangeShapeType="1"/>
          </p:cNvSpPr>
          <p:nvPr/>
        </p:nvSpPr>
        <p:spPr bwMode="auto">
          <a:xfrm>
            <a:off x="7698959" y="4268370"/>
            <a:ext cx="2436812" cy="476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0" name="Group 7"/>
          <p:cNvGrpSpPr/>
          <p:nvPr/>
        </p:nvGrpSpPr>
        <p:grpSpPr bwMode="auto">
          <a:xfrm>
            <a:off x="2204621" y="3841333"/>
            <a:ext cx="7953375" cy="1524000"/>
            <a:chOff x="444" y="2688"/>
            <a:chExt cx="5010" cy="960"/>
          </a:xfrm>
        </p:grpSpPr>
        <p:sp>
          <p:nvSpPr>
            <p:cNvPr id="11" name="Rectangle 8"/>
            <p:cNvSpPr>
              <a:spLocks noChangeArrowheads="1"/>
            </p:cNvSpPr>
            <p:nvPr/>
          </p:nvSpPr>
          <p:spPr bwMode="auto">
            <a:xfrm>
              <a:off x="444" y="2841"/>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1</a:t>
              </a:r>
              <a:endParaRPr lang="zh-CN" altLang="en-US" sz="1800" b="0">
                <a:latin typeface="Arial" panose="020B0604020202020204" pitchFamily="34" charset="0"/>
              </a:endParaRPr>
            </a:p>
          </p:txBody>
        </p:sp>
        <p:sp>
          <p:nvSpPr>
            <p:cNvPr id="12" name="Rectangle 9"/>
            <p:cNvSpPr>
              <a:spLocks noChangeArrowheads="1"/>
            </p:cNvSpPr>
            <p:nvPr/>
          </p:nvSpPr>
          <p:spPr bwMode="auto">
            <a:xfrm>
              <a:off x="713" y="2741"/>
              <a:ext cx="10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A</a:t>
              </a:r>
              <a:endParaRPr lang="en-US" altLang="zh-CN" sz="1800" b="0">
                <a:latin typeface="Arial" panose="020B0604020202020204" pitchFamily="34" charset="0"/>
              </a:endParaRPr>
            </a:p>
          </p:txBody>
        </p:sp>
        <p:sp>
          <p:nvSpPr>
            <p:cNvPr id="13" name="Rectangle 10"/>
            <p:cNvSpPr>
              <a:spLocks noChangeArrowheads="1"/>
            </p:cNvSpPr>
            <p:nvPr/>
          </p:nvSpPr>
          <p:spPr bwMode="auto">
            <a:xfrm>
              <a:off x="1071" y="2741"/>
              <a:ext cx="10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B</a:t>
              </a:r>
              <a:endParaRPr lang="en-US" altLang="zh-CN" sz="1800" b="0">
                <a:latin typeface="Arial" panose="020B0604020202020204" pitchFamily="34" charset="0"/>
              </a:endParaRPr>
            </a:p>
          </p:txBody>
        </p:sp>
        <p:sp>
          <p:nvSpPr>
            <p:cNvPr id="14" name="Rectangle 11"/>
            <p:cNvSpPr>
              <a:spLocks noChangeArrowheads="1"/>
            </p:cNvSpPr>
            <p:nvPr/>
          </p:nvSpPr>
          <p:spPr bwMode="auto">
            <a:xfrm>
              <a:off x="2130" y="2741"/>
              <a:ext cx="5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r</a:t>
              </a:r>
              <a:endParaRPr lang="en-US" altLang="zh-CN" sz="1800" b="0">
                <a:latin typeface="Arial" panose="020B0604020202020204" pitchFamily="34" charset="0"/>
              </a:endParaRPr>
            </a:p>
          </p:txBody>
        </p:sp>
        <p:sp>
          <p:nvSpPr>
            <p:cNvPr id="15" name="Rectangle 12"/>
            <p:cNvSpPr>
              <a:spLocks noChangeArrowheads="1"/>
            </p:cNvSpPr>
            <p:nvPr/>
          </p:nvSpPr>
          <p:spPr bwMode="auto">
            <a:xfrm>
              <a:off x="2219" y="2841"/>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2</a:t>
              </a:r>
              <a:endParaRPr lang="zh-CN" altLang="en-US" sz="1800" b="0">
                <a:latin typeface="Arial" panose="020B0604020202020204" pitchFamily="34" charset="0"/>
              </a:endParaRPr>
            </a:p>
          </p:txBody>
        </p:sp>
        <p:sp>
          <p:nvSpPr>
            <p:cNvPr id="16" name="Rectangle 13"/>
            <p:cNvSpPr>
              <a:spLocks noChangeArrowheads="1"/>
            </p:cNvSpPr>
            <p:nvPr/>
          </p:nvSpPr>
          <p:spPr bwMode="auto">
            <a:xfrm>
              <a:off x="2488" y="2746"/>
              <a:ext cx="10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B</a:t>
              </a:r>
              <a:endParaRPr lang="en-US" altLang="zh-CN" sz="1800" b="0">
                <a:latin typeface="Arial" panose="020B0604020202020204" pitchFamily="34" charset="0"/>
              </a:endParaRPr>
            </a:p>
          </p:txBody>
        </p:sp>
        <p:sp>
          <p:nvSpPr>
            <p:cNvPr id="17" name="Rectangle 14"/>
            <p:cNvSpPr>
              <a:spLocks noChangeArrowheads="1"/>
            </p:cNvSpPr>
            <p:nvPr/>
          </p:nvSpPr>
          <p:spPr bwMode="auto">
            <a:xfrm>
              <a:off x="2831" y="2746"/>
              <a:ext cx="11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C</a:t>
              </a:r>
              <a:endParaRPr lang="en-US" altLang="zh-CN" sz="1800" b="0">
                <a:latin typeface="Arial" panose="020B0604020202020204" pitchFamily="34" charset="0"/>
              </a:endParaRPr>
            </a:p>
          </p:txBody>
        </p:sp>
        <p:sp>
          <p:nvSpPr>
            <p:cNvPr id="18" name="Rectangle 15"/>
            <p:cNvSpPr>
              <a:spLocks noChangeArrowheads="1"/>
            </p:cNvSpPr>
            <p:nvPr/>
          </p:nvSpPr>
          <p:spPr bwMode="auto">
            <a:xfrm>
              <a:off x="4606" y="2741"/>
              <a:ext cx="10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A</a:t>
              </a:r>
              <a:endParaRPr lang="en-US" altLang="zh-CN" sz="1800" b="0">
                <a:latin typeface="Arial" panose="020B0604020202020204" pitchFamily="34" charset="0"/>
              </a:endParaRPr>
            </a:p>
          </p:txBody>
        </p:sp>
        <p:sp>
          <p:nvSpPr>
            <p:cNvPr id="19" name="Rectangle 16"/>
            <p:cNvSpPr>
              <a:spLocks noChangeArrowheads="1"/>
            </p:cNvSpPr>
            <p:nvPr/>
          </p:nvSpPr>
          <p:spPr bwMode="auto">
            <a:xfrm>
              <a:off x="4949" y="2741"/>
              <a:ext cx="10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B</a:t>
              </a:r>
              <a:endParaRPr lang="en-US" altLang="zh-CN" sz="1800" b="0">
                <a:latin typeface="Arial" panose="020B0604020202020204" pitchFamily="34" charset="0"/>
              </a:endParaRPr>
            </a:p>
          </p:txBody>
        </p:sp>
        <p:sp>
          <p:nvSpPr>
            <p:cNvPr id="20" name="Rectangle 17"/>
            <p:cNvSpPr>
              <a:spLocks noChangeArrowheads="1"/>
            </p:cNvSpPr>
            <p:nvPr/>
          </p:nvSpPr>
          <p:spPr bwMode="auto">
            <a:xfrm>
              <a:off x="5307" y="2741"/>
              <a:ext cx="11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C</a:t>
              </a:r>
              <a:endParaRPr lang="en-US" altLang="zh-CN" sz="1800" b="0">
                <a:latin typeface="Arial" panose="020B0604020202020204" pitchFamily="34" charset="0"/>
              </a:endParaRPr>
            </a:p>
          </p:txBody>
        </p:sp>
        <p:grpSp>
          <p:nvGrpSpPr>
            <p:cNvPr id="21" name="Group 18"/>
            <p:cNvGrpSpPr/>
            <p:nvPr/>
          </p:nvGrpSpPr>
          <p:grpSpPr bwMode="auto">
            <a:xfrm>
              <a:off x="713" y="2976"/>
              <a:ext cx="505" cy="230"/>
              <a:chOff x="713" y="3034"/>
              <a:chExt cx="505" cy="230"/>
            </a:xfrm>
          </p:grpSpPr>
          <p:sp>
            <p:nvSpPr>
              <p:cNvPr id="64" name="Rectangle 19"/>
              <p:cNvSpPr>
                <a:spLocks noChangeArrowheads="1"/>
              </p:cNvSpPr>
              <p:nvPr/>
            </p:nvSpPr>
            <p:spPr bwMode="auto">
              <a:xfrm>
                <a:off x="713" y="3034"/>
                <a:ext cx="8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a</a:t>
                </a:r>
                <a:endParaRPr lang="en-US" altLang="zh-CN" sz="1800" b="0">
                  <a:latin typeface="Arial" panose="020B0604020202020204" pitchFamily="34" charset="0"/>
                </a:endParaRPr>
              </a:p>
            </p:txBody>
          </p:sp>
          <p:sp>
            <p:nvSpPr>
              <p:cNvPr id="65" name="Rectangle 20"/>
              <p:cNvSpPr>
                <a:spLocks noChangeArrowheads="1"/>
              </p:cNvSpPr>
              <p:nvPr/>
            </p:nvSpPr>
            <p:spPr bwMode="auto">
              <a:xfrm>
                <a:off x="802" y="3139"/>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1</a:t>
                </a:r>
                <a:endParaRPr lang="zh-CN" altLang="en-US" sz="1800" b="0">
                  <a:latin typeface="Arial" panose="020B0604020202020204" pitchFamily="34" charset="0"/>
                </a:endParaRPr>
              </a:p>
            </p:txBody>
          </p:sp>
          <p:sp>
            <p:nvSpPr>
              <p:cNvPr id="66" name="Rectangle 21"/>
              <p:cNvSpPr>
                <a:spLocks noChangeArrowheads="1"/>
              </p:cNvSpPr>
              <p:nvPr/>
            </p:nvSpPr>
            <p:spPr bwMode="auto">
              <a:xfrm>
                <a:off x="1071" y="3034"/>
                <a:ext cx="8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b</a:t>
                </a:r>
                <a:endParaRPr lang="en-US" altLang="zh-CN" sz="1800" b="0">
                  <a:latin typeface="Arial" panose="020B0604020202020204" pitchFamily="34" charset="0"/>
                </a:endParaRPr>
              </a:p>
            </p:txBody>
          </p:sp>
          <p:sp>
            <p:nvSpPr>
              <p:cNvPr id="67" name="Rectangle 22"/>
              <p:cNvSpPr>
                <a:spLocks noChangeArrowheads="1"/>
              </p:cNvSpPr>
              <p:nvPr/>
            </p:nvSpPr>
            <p:spPr bwMode="auto">
              <a:xfrm>
                <a:off x="1160" y="3139"/>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1</a:t>
                </a:r>
                <a:endParaRPr lang="zh-CN" altLang="en-US" sz="1800" b="0">
                  <a:latin typeface="Arial" panose="020B0604020202020204" pitchFamily="34" charset="0"/>
                </a:endParaRPr>
              </a:p>
            </p:txBody>
          </p:sp>
        </p:grpSp>
        <p:sp>
          <p:nvSpPr>
            <p:cNvPr id="22" name="Rectangle 23"/>
            <p:cNvSpPr>
              <a:spLocks noChangeArrowheads="1"/>
            </p:cNvSpPr>
            <p:nvPr/>
          </p:nvSpPr>
          <p:spPr bwMode="auto">
            <a:xfrm>
              <a:off x="4606" y="2932"/>
              <a:ext cx="8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a</a:t>
              </a:r>
              <a:endParaRPr lang="en-US" altLang="zh-CN" sz="1800" b="0">
                <a:latin typeface="Arial" panose="020B0604020202020204" pitchFamily="34" charset="0"/>
              </a:endParaRPr>
            </a:p>
          </p:txBody>
        </p:sp>
        <p:sp>
          <p:nvSpPr>
            <p:cNvPr id="23" name="Rectangle 24"/>
            <p:cNvSpPr>
              <a:spLocks noChangeArrowheads="1"/>
            </p:cNvSpPr>
            <p:nvPr/>
          </p:nvSpPr>
          <p:spPr bwMode="auto">
            <a:xfrm>
              <a:off x="4695" y="2992"/>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1</a:t>
              </a:r>
              <a:endParaRPr lang="zh-CN" altLang="en-US" sz="1800" b="0">
                <a:latin typeface="Arial" panose="020B0604020202020204" pitchFamily="34" charset="0"/>
              </a:endParaRPr>
            </a:p>
          </p:txBody>
        </p:sp>
        <p:sp>
          <p:nvSpPr>
            <p:cNvPr id="24" name="Rectangle 25"/>
            <p:cNvSpPr>
              <a:spLocks noChangeArrowheads="1"/>
            </p:cNvSpPr>
            <p:nvPr/>
          </p:nvSpPr>
          <p:spPr bwMode="auto">
            <a:xfrm>
              <a:off x="4949" y="2928"/>
              <a:ext cx="8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b</a:t>
              </a:r>
              <a:endParaRPr lang="en-US" altLang="zh-CN" sz="1800" b="0">
                <a:latin typeface="Arial" panose="020B0604020202020204" pitchFamily="34" charset="0"/>
              </a:endParaRPr>
            </a:p>
          </p:txBody>
        </p:sp>
        <p:sp>
          <p:nvSpPr>
            <p:cNvPr id="25" name="Rectangle 26"/>
            <p:cNvSpPr>
              <a:spLocks noChangeArrowheads="1"/>
            </p:cNvSpPr>
            <p:nvPr/>
          </p:nvSpPr>
          <p:spPr bwMode="auto">
            <a:xfrm>
              <a:off x="5038" y="2992"/>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1</a:t>
              </a:r>
              <a:endParaRPr lang="zh-CN" altLang="en-US" sz="1800" b="0">
                <a:latin typeface="Arial" panose="020B0604020202020204" pitchFamily="34" charset="0"/>
              </a:endParaRPr>
            </a:p>
          </p:txBody>
        </p:sp>
        <p:sp>
          <p:nvSpPr>
            <p:cNvPr id="26" name="Rectangle 27"/>
            <p:cNvSpPr>
              <a:spLocks noChangeArrowheads="1"/>
            </p:cNvSpPr>
            <p:nvPr/>
          </p:nvSpPr>
          <p:spPr bwMode="auto">
            <a:xfrm>
              <a:off x="5307" y="2932"/>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c</a:t>
              </a:r>
              <a:endParaRPr lang="en-US" altLang="zh-CN" sz="1800" b="0">
                <a:latin typeface="Arial" panose="020B0604020202020204" pitchFamily="34" charset="0"/>
              </a:endParaRPr>
            </a:p>
          </p:txBody>
        </p:sp>
        <p:sp>
          <p:nvSpPr>
            <p:cNvPr id="27" name="Rectangle 28"/>
            <p:cNvSpPr>
              <a:spLocks noChangeArrowheads="1"/>
            </p:cNvSpPr>
            <p:nvPr/>
          </p:nvSpPr>
          <p:spPr bwMode="auto">
            <a:xfrm>
              <a:off x="5396" y="2992"/>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1</a:t>
              </a:r>
              <a:endParaRPr lang="zh-CN" altLang="en-US" sz="1800" b="0">
                <a:latin typeface="Arial" panose="020B0604020202020204" pitchFamily="34" charset="0"/>
              </a:endParaRPr>
            </a:p>
          </p:txBody>
        </p:sp>
        <p:grpSp>
          <p:nvGrpSpPr>
            <p:cNvPr id="28" name="Group 29"/>
            <p:cNvGrpSpPr/>
            <p:nvPr/>
          </p:nvGrpSpPr>
          <p:grpSpPr bwMode="auto">
            <a:xfrm>
              <a:off x="2488" y="2976"/>
              <a:ext cx="490" cy="363"/>
              <a:chOff x="2488" y="2891"/>
              <a:chExt cx="490" cy="363"/>
            </a:xfrm>
          </p:grpSpPr>
          <p:sp>
            <p:nvSpPr>
              <p:cNvPr id="55" name="Rectangle 30"/>
              <p:cNvSpPr>
                <a:spLocks noChangeArrowheads="1"/>
              </p:cNvSpPr>
              <p:nvPr/>
            </p:nvSpPr>
            <p:spPr bwMode="auto">
              <a:xfrm>
                <a:off x="2488" y="2891"/>
                <a:ext cx="8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b</a:t>
                </a:r>
                <a:endParaRPr lang="en-US" altLang="zh-CN" sz="1800" b="0">
                  <a:latin typeface="Arial" panose="020B0604020202020204" pitchFamily="34" charset="0"/>
                </a:endParaRPr>
              </a:p>
            </p:txBody>
          </p:sp>
          <p:sp>
            <p:nvSpPr>
              <p:cNvPr id="56" name="Rectangle 31"/>
              <p:cNvSpPr>
                <a:spLocks noChangeArrowheads="1"/>
              </p:cNvSpPr>
              <p:nvPr/>
            </p:nvSpPr>
            <p:spPr bwMode="auto">
              <a:xfrm>
                <a:off x="2831" y="289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c</a:t>
                </a:r>
                <a:endParaRPr lang="en-US" altLang="zh-CN" sz="1800" b="0">
                  <a:latin typeface="Arial" panose="020B0604020202020204" pitchFamily="34" charset="0"/>
                </a:endParaRPr>
              </a:p>
            </p:txBody>
          </p:sp>
          <p:sp>
            <p:nvSpPr>
              <p:cNvPr id="57" name="Rectangle 32"/>
              <p:cNvSpPr>
                <a:spLocks noChangeArrowheads="1"/>
              </p:cNvSpPr>
              <p:nvPr/>
            </p:nvSpPr>
            <p:spPr bwMode="auto">
              <a:xfrm>
                <a:off x="2920" y="2992"/>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1</a:t>
                </a:r>
                <a:endParaRPr lang="zh-CN" altLang="en-US" sz="1800" b="0">
                  <a:latin typeface="Arial" panose="020B0604020202020204" pitchFamily="34" charset="0"/>
                </a:endParaRPr>
              </a:p>
            </p:txBody>
          </p:sp>
          <p:sp>
            <p:nvSpPr>
              <p:cNvPr id="58" name="Rectangle 33"/>
              <p:cNvSpPr>
                <a:spLocks noChangeArrowheads="1"/>
              </p:cNvSpPr>
              <p:nvPr/>
            </p:nvSpPr>
            <p:spPr bwMode="auto">
              <a:xfrm>
                <a:off x="2496" y="3029"/>
                <a:ext cx="8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b</a:t>
                </a:r>
                <a:endParaRPr lang="en-US" altLang="zh-CN" sz="1800" b="0">
                  <a:latin typeface="Arial" panose="020B0604020202020204" pitchFamily="34" charset="0"/>
                </a:endParaRPr>
              </a:p>
            </p:txBody>
          </p:sp>
          <p:grpSp>
            <p:nvGrpSpPr>
              <p:cNvPr id="59" name="Group 34"/>
              <p:cNvGrpSpPr/>
              <p:nvPr/>
            </p:nvGrpSpPr>
            <p:grpSpPr bwMode="auto">
              <a:xfrm>
                <a:off x="2562" y="2992"/>
                <a:ext cx="345" cy="262"/>
                <a:chOff x="2562" y="2992"/>
                <a:chExt cx="345" cy="262"/>
              </a:xfrm>
            </p:grpSpPr>
            <p:sp>
              <p:nvSpPr>
                <p:cNvPr id="61" name="Rectangle 35"/>
                <p:cNvSpPr>
                  <a:spLocks noChangeArrowheads="1"/>
                </p:cNvSpPr>
                <p:nvPr/>
              </p:nvSpPr>
              <p:spPr bwMode="auto">
                <a:xfrm>
                  <a:off x="2562" y="2992"/>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1</a:t>
                  </a:r>
                  <a:endParaRPr lang="zh-CN" altLang="en-US" sz="1800" b="0">
                    <a:latin typeface="Arial" panose="020B0604020202020204" pitchFamily="34" charset="0"/>
                  </a:endParaRPr>
                </a:p>
              </p:txBody>
            </p:sp>
            <p:sp>
              <p:nvSpPr>
                <p:cNvPr id="62" name="Rectangle 36"/>
                <p:cNvSpPr>
                  <a:spLocks noChangeArrowheads="1"/>
                </p:cNvSpPr>
                <p:nvPr/>
              </p:nvSpPr>
              <p:spPr bwMode="auto">
                <a:xfrm>
                  <a:off x="2607" y="3129"/>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2</a:t>
                  </a:r>
                  <a:endParaRPr lang="zh-CN" altLang="en-US" sz="1800" b="0">
                    <a:latin typeface="Arial" panose="020B0604020202020204" pitchFamily="34" charset="0"/>
                  </a:endParaRPr>
                </a:p>
              </p:txBody>
            </p:sp>
            <p:sp>
              <p:nvSpPr>
                <p:cNvPr id="63" name="Rectangle 37"/>
                <p:cNvSpPr>
                  <a:spLocks noChangeArrowheads="1"/>
                </p:cNvSpPr>
                <p:nvPr/>
              </p:nvSpPr>
              <p:spPr bwMode="auto">
                <a:xfrm>
                  <a:off x="2831" y="302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c</a:t>
                  </a:r>
                  <a:endParaRPr lang="en-US" altLang="zh-CN" sz="1800" b="0">
                    <a:latin typeface="Arial" panose="020B0604020202020204" pitchFamily="34" charset="0"/>
                  </a:endParaRPr>
                </a:p>
              </p:txBody>
            </p:sp>
          </p:grpSp>
          <p:sp>
            <p:nvSpPr>
              <p:cNvPr id="60" name="Rectangle 38"/>
              <p:cNvSpPr>
                <a:spLocks noChangeArrowheads="1"/>
              </p:cNvSpPr>
              <p:nvPr/>
            </p:nvSpPr>
            <p:spPr bwMode="auto">
              <a:xfrm>
                <a:off x="2920" y="3129"/>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2</a:t>
                </a:r>
                <a:endParaRPr lang="zh-CN" altLang="en-US" sz="1800" b="0">
                  <a:latin typeface="Arial" panose="020B0604020202020204" pitchFamily="34" charset="0"/>
                </a:endParaRPr>
              </a:p>
            </p:txBody>
          </p:sp>
        </p:grpSp>
        <p:grpSp>
          <p:nvGrpSpPr>
            <p:cNvPr id="29" name="Group 39"/>
            <p:cNvGrpSpPr/>
            <p:nvPr/>
          </p:nvGrpSpPr>
          <p:grpSpPr bwMode="auto">
            <a:xfrm>
              <a:off x="510" y="3467"/>
              <a:ext cx="648" cy="181"/>
              <a:chOff x="370" y="3179"/>
              <a:chExt cx="648" cy="181"/>
            </a:xfrm>
          </p:grpSpPr>
          <p:sp>
            <p:nvSpPr>
              <p:cNvPr id="53" name="Rectangle 40"/>
              <p:cNvSpPr>
                <a:spLocks noChangeArrowheads="1"/>
              </p:cNvSpPr>
              <p:nvPr/>
            </p:nvSpPr>
            <p:spPr bwMode="auto">
              <a:xfrm>
                <a:off x="370" y="3179"/>
                <a:ext cx="62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0">
                    <a:solidFill>
                      <a:srgbClr val="000000"/>
                    </a:solidFill>
                    <a:latin typeface="ËÎÌå" charset="0"/>
                  </a:rPr>
                  <a:t>（</a:t>
                </a:r>
                <a:r>
                  <a:rPr lang="en-US" altLang="zh-CN" sz="1600" b="0">
                    <a:solidFill>
                      <a:srgbClr val="000000"/>
                    </a:solidFill>
                    <a:latin typeface="ËÎÌå" charset="0"/>
                  </a:rPr>
                  <a:t>a）</a:t>
                </a:r>
                <a:r>
                  <a:rPr lang="zh-CN" altLang="en-US" sz="1600" b="0">
                    <a:solidFill>
                      <a:srgbClr val="000000"/>
                    </a:solidFill>
                    <a:latin typeface="ËÎÌå" charset="0"/>
                  </a:rPr>
                  <a:t>关系</a:t>
                </a:r>
                <a:r>
                  <a:rPr lang="en-US" altLang="zh-CN" sz="1600" b="0">
                    <a:solidFill>
                      <a:srgbClr val="000000"/>
                    </a:solidFill>
                    <a:latin typeface="ËÎÌå" charset="0"/>
                  </a:rPr>
                  <a:t>r</a:t>
                </a:r>
                <a:endParaRPr lang="en-US" altLang="zh-CN" sz="1600" b="0">
                  <a:latin typeface="Arial" panose="020B0604020202020204" pitchFamily="34" charset="0"/>
                </a:endParaRPr>
              </a:p>
            </p:txBody>
          </p:sp>
          <p:sp>
            <p:nvSpPr>
              <p:cNvPr id="54" name="Rectangle 41"/>
              <p:cNvSpPr>
                <a:spLocks noChangeArrowheads="1"/>
              </p:cNvSpPr>
              <p:nvPr/>
            </p:nvSpPr>
            <p:spPr bwMode="auto">
              <a:xfrm>
                <a:off x="960" y="3235"/>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1</a:t>
                </a:r>
                <a:endParaRPr lang="zh-CN" altLang="en-US" sz="1800" b="0">
                  <a:latin typeface="Arial" panose="020B0604020202020204" pitchFamily="34" charset="0"/>
                </a:endParaRPr>
              </a:p>
            </p:txBody>
          </p:sp>
        </p:grpSp>
        <p:grpSp>
          <p:nvGrpSpPr>
            <p:cNvPr id="30" name="Group 42"/>
            <p:cNvGrpSpPr/>
            <p:nvPr/>
          </p:nvGrpSpPr>
          <p:grpSpPr bwMode="auto">
            <a:xfrm>
              <a:off x="2322" y="3438"/>
              <a:ext cx="708" cy="210"/>
              <a:chOff x="2130" y="3179"/>
              <a:chExt cx="708" cy="210"/>
            </a:xfrm>
          </p:grpSpPr>
          <p:sp>
            <p:nvSpPr>
              <p:cNvPr id="51" name="Rectangle 43"/>
              <p:cNvSpPr>
                <a:spLocks noChangeArrowheads="1"/>
              </p:cNvSpPr>
              <p:nvPr/>
            </p:nvSpPr>
            <p:spPr bwMode="auto">
              <a:xfrm>
                <a:off x="2130" y="3179"/>
                <a:ext cx="634"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0">
                    <a:solidFill>
                      <a:srgbClr val="000000"/>
                    </a:solidFill>
                    <a:latin typeface="ËÎÌå" charset="0"/>
                  </a:rPr>
                  <a:t>（</a:t>
                </a:r>
                <a:r>
                  <a:rPr lang="en-US" altLang="zh-CN" sz="1600" b="0">
                    <a:solidFill>
                      <a:srgbClr val="000000"/>
                    </a:solidFill>
                    <a:latin typeface="ËÎÌå" charset="0"/>
                  </a:rPr>
                  <a:t>b）</a:t>
                </a:r>
                <a:r>
                  <a:rPr lang="zh-CN" altLang="en-US" sz="1600" b="0">
                    <a:solidFill>
                      <a:srgbClr val="000000"/>
                    </a:solidFill>
                    <a:latin typeface="ËÎÌå" charset="0"/>
                  </a:rPr>
                  <a:t>关系</a:t>
                </a:r>
                <a:r>
                  <a:rPr lang="en-US" altLang="zh-CN" sz="1900" b="0">
                    <a:solidFill>
                      <a:srgbClr val="000000"/>
                    </a:solidFill>
                    <a:latin typeface="ËÎÌå" charset="0"/>
                  </a:rPr>
                  <a:t>r</a:t>
                </a:r>
                <a:endParaRPr lang="en-US" altLang="zh-CN" sz="1800" b="0">
                  <a:latin typeface="Arial" panose="020B0604020202020204" pitchFamily="34" charset="0"/>
                </a:endParaRPr>
              </a:p>
            </p:txBody>
          </p:sp>
          <p:sp>
            <p:nvSpPr>
              <p:cNvPr id="52" name="Rectangle 44"/>
              <p:cNvSpPr>
                <a:spLocks noChangeArrowheads="1"/>
              </p:cNvSpPr>
              <p:nvPr/>
            </p:nvSpPr>
            <p:spPr bwMode="auto">
              <a:xfrm>
                <a:off x="2780" y="3264"/>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2</a:t>
                </a:r>
                <a:endParaRPr lang="zh-CN" altLang="en-US" sz="1800" b="0">
                  <a:latin typeface="Arial" panose="020B0604020202020204" pitchFamily="34" charset="0"/>
                </a:endParaRPr>
              </a:p>
            </p:txBody>
          </p:sp>
        </p:grpSp>
        <p:sp>
          <p:nvSpPr>
            <p:cNvPr id="31" name="Line 45"/>
            <p:cNvSpPr>
              <a:spLocks noChangeShapeType="1"/>
            </p:cNvSpPr>
            <p:nvPr/>
          </p:nvSpPr>
          <p:spPr bwMode="auto">
            <a:xfrm>
              <a:off x="2112" y="2973"/>
              <a:ext cx="904" cy="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2" name="Group 46"/>
            <p:cNvGrpSpPr/>
            <p:nvPr/>
          </p:nvGrpSpPr>
          <p:grpSpPr bwMode="auto">
            <a:xfrm>
              <a:off x="4030" y="2688"/>
              <a:ext cx="440" cy="225"/>
              <a:chOff x="3890" y="2741"/>
              <a:chExt cx="440" cy="225"/>
            </a:xfrm>
          </p:grpSpPr>
          <p:sp>
            <p:nvSpPr>
              <p:cNvPr id="45" name="Rectangle 47"/>
              <p:cNvSpPr>
                <a:spLocks noChangeArrowheads="1"/>
              </p:cNvSpPr>
              <p:nvPr/>
            </p:nvSpPr>
            <p:spPr bwMode="auto">
              <a:xfrm>
                <a:off x="3890" y="2741"/>
                <a:ext cx="5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r</a:t>
                </a:r>
                <a:endParaRPr lang="en-US" altLang="zh-CN" sz="1800" b="0">
                  <a:latin typeface="Arial" panose="020B0604020202020204" pitchFamily="34" charset="0"/>
                </a:endParaRPr>
              </a:p>
            </p:txBody>
          </p:sp>
          <p:sp>
            <p:nvSpPr>
              <p:cNvPr id="46" name="Rectangle 48"/>
              <p:cNvSpPr>
                <a:spLocks noChangeArrowheads="1"/>
              </p:cNvSpPr>
              <p:nvPr/>
            </p:nvSpPr>
            <p:spPr bwMode="auto">
              <a:xfrm>
                <a:off x="4221" y="2741"/>
                <a:ext cx="5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r</a:t>
                </a:r>
                <a:endParaRPr lang="en-US" altLang="zh-CN" sz="1800" b="0">
                  <a:latin typeface="Arial" panose="020B0604020202020204" pitchFamily="34" charset="0"/>
                </a:endParaRPr>
              </a:p>
            </p:txBody>
          </p:sp>
          <p:grpSp>
            <p:nvGrpSpPr>
              <p:cNvPr id="47" name="Group 49"/>
              <p:cNvGrpSpPr/>
              <p:nvPr/>
            </p:nvGrpSpPr>
            <p:grpSpPr bwMode="auto">
              <a:xfrm>
                <a:off x="3936" y="2784"/>
                <a:ext cx="394" cy="182"/>
                <a:chOff x="3936" y="2784"/>
                <a:chExt cx="394" cy="182"/>
              </a:xfrm>
            </p:grpSpPr>
            <p:sp>
              <p:nvSpPr>
                <p:cNvPr id="48" name="Rectangle 50"/>
                <p:cNvSpPr>
                  <a:spLocks noChangeArrowheads="1"/>
                </p:cNvSpPr>
                <p:nvPr/>
              </p:nvSpPr>
              <p:spPr bwMode="auto">
                <a:xfrm>
                  <a:off x="3936" y="2841"/>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1</a:t>
                  </a:r>
                  <a:endParaRPr lang="zh-CN" altLang="en-US" sz="1800" b="0">
                    <a:latin typeface="Arial" panose="020B0604020202020204" pitchFamily="34" charset="0"/>
                  </a:endParaRPr>
                </a:p>
              </p:txBody>
            </p:sp>
            <p:sp>
              <p:nvSpPr>
                <p:cNvPr id="49" name="Rectangle 51"/>
                <p:cNvSpPr>
                  <a:spLocks noChangeArrowheads="1"/>
                </p:cNvSpPr>
                <p:nvPr/>
              </p:nvSpPr>
              <p:spPr bwMode="auto">
                <a:xfrm>
                  <a:off x="4272" y="2841"/>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2</a:t>
                  </a:r>
                  <a:endParaRPr lang="zh-CN" altLang="en-US" sz="1800" b="0">
                    <a:latin typeface="Arial" panose="020B0604020202020204" pitchFamily="34" charset="0"/>
                  </a:endParaRPr>
                </a:p>
              </p:txBody>
            </p:sp>
            <p:pic>
              <p:nvPicPr>
                <p:cNvPr id="50" name="Picture 52" descr="fuhao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4" y="2784"/>
                  <a:ext cx="24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3" name="Group 53"/>
            <p:cNvGrpSpPr/>
            <p:nvPr/>
          </p:nvGrpSpPr>
          <p:grpSpPr bwMode="auto">
            <a:xfrm>
              <a:off x="4296" y="3423"/>
              <a:ext cx="798" cy="225"/>
              <a:chOff x="4248" y="3135"/>
              <a:chExt cx="798" cy="225"/>
            </a:xfrm>
          </p:grpSpPr>
          <p:sp>
            <p:nvSpPr>
              <p:cNvPr id="37" name="Rectangle 54"/>
              <p:cNvSpPr>
                <a:spLocks noChangeArrowheads="1"/>
              </p:cNvSpPr>
              <p:nvPr/>
            </p:nvSpPr>
            <p:spPr bwMode="auto">
              <a:xfrm>
                <a:off x="4248" y="3179"/>
                <a:ext cx="32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600" b="0">
                    <a:solidFill>
                      <a:srgbClr val="000000"/>
                    </a:solidFill>
                    <a:latin typeface="ËÎÌå" charset="0"/>
                  </a:rPr>
                  <a:t>（</a:t>
                </a:r>
                <a:r>
                  <a:rPr lang="en-US" altLang="zh-CN" sz="1600" b="0">
                    <a:solidFill>
                      <a:srgbClr val="000000"/>
                    </a:solidFill>
                    <a:latin typeface="ËÎÌå" charset="0"/>
                  </a:rPr>
                  <a:t>c）</a:t>
                </a:r>
                <a:endParaRPr lang="en-US" altLang="zh-CN" sz="1600" b="0">
                  <a:latin typeface="Arial" panose="020B0604020202020204" pitchFamily="34" charset="0"/>
                </a:endParaRPr>
              </a:p>
            </p:txBody>
          </p:sp>
          <p:grpSp>
            <p:nvGrpSpPr>
              <p:cNvPr id="38" name="Group 55"/>
              <p:cNvGrpSpPr/>
              <p:nvPr/>
            </p:nvGrpSpPr>
            <p:grpSpPr bwMode="auto">
              <a:xfrm>
                <a:off x="4606" y="3135"/>
                <a:ext cx="440" cy="225"/>
                <a:chOff x="3890" y="2741"/>
                <a:chExt cx="440" cy="225"/>
              </a:xfrm>
            </p:grpSpPr>
            <p:sp>
              <p:nvSpPr>
                <p:cNvPr id="39" name="Rectangle 56"/>
                <p:cNvSpPr>
                  <a:spLocks noChangeArrowheads="1"/>
                </p:cNvSpPr>
                <p:nvPr/>
              </p:nvSpPr>
              <p:spPr bwMode="auto">
                <a:xfrm>
                  <a:off x="3890" y="2741"/>
                  <a:ext cx="5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r</a:t>
                  </a:r>
                  <a:endParaRPr lang="en-US" altLang="zh-CN" sz="1800" b="0">
                    <a:latin typeface="Arial" panose="020B0604020202020204" pitchFamily="34" charset="0"/>
                  </a:endParaRPr>
                </a:p>
              </p:txBody>
            </p:sp>
            <p:sp>
              <p:nvSpPr>
                <p:cNvPr id="40" name="Rectangle 57"/>
                <p:cNvSpPr>
                  <a:spLocks noChangeArrowheads="1"/>
                </p:cNvSpPr>
                <p:nvPr/>
              </p:nvSpPr>
              <p:spPr bwMode="auto">
                <a:xfrm>
                  <a:off x="4221" y="2741"/>
                  <a:ext cx="5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en-US" altLang="zh-CN" sz="1900" b="0">
                      <a:solidFill>
                        <a:srgbClr val="000000"/>
                      </a:solidFill>
                      <a:latin typeface="ËÎÌå" charset="0"/>
                    </a:rPr>
                    <a:t>r</a:t>
                  </a:r>
                  <a:endParaRPr lang="en-US" altLang="zh-CN" sz="1800" b="0">
                    <a:latin typeface="Arial" panose="020B0604020202020204" pitchFamily="34" charset="0"/>
                  </a:endParaRPr>
                </a:p>
              </p:txBody>
            </p:sp>
            <p:grpSp>
              <p:nvGrpSpPr>
                <p:cNvPr id="41" name="Group 58"/>
                <p:cNvGrpSpPr/>
                <p:nvPr/>
              </p:nvGrpSpPr>
              <p:grpSpPr bwMode="auto">
                <a:xfrm>
                  <a:off x="3936" y="2784"/>
                  <a:ext cx="394" cy="182"/>
                  <a:chOff x="3936" y="2784"/>
                  <a:chExt cx="394" cy="182"/>
                </a:xfrm>
              </p:grpSpPr>
              <p:sp>
                <p:nvSpPr>
                  <p:cNvPr id="42" name="Rectangle 59"/>
                  <p:cNvSpPr>
                    <a:spLocks noChangeArrowheads="1"/>
                  </p:cNvSpPr>
                  <p:nvPr/>
                </p:nvSpPr>
                <p:spPr bwMode="auto">
                  <a:xfrm>
                    <a:off x="3936" y="2841"/>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1</a:t>
                    </a:r>
                    <a:endParaRPr lang="zh-CN" altLang="en-US" sz="1800" b="0">
                      <a:latin typeface="Arial" panose="020B0604020202020204" pitchFamily="34" charset="0"/>
                    </a:endParaRPr>
                  </a:p>
                </p:txBody>
              </p:sp>
              <p:sp>
                <p:nvSpPr>
                  <p:cNvPr id="43" name="Rectangle 60"/>
                  <p:cNvSpPr>
                    <a:spLocks noChangeArrowheads="1"/>
                  </p:cNvSpPr>
                  <p:nvPr/>
                </p:nvSpPr>
                <p:spPr bwMode="auto">
                  <a:xfrm>
                    <a:off x="4272" y="2841"/>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lang="zh-CN" altLang="en-US" sz="1300" b="0">
                        <a:solidFill>
                          <a:srgbClr val="000000"/>
                        </a:solidFill>
                        <a:latin typeface="ËÎÌå" charset="0"/>
                      </a:rPr>
                      <a:t>2</a:t>
                    </a:r>
                    <a:endParaRPr lang="zh-CN" altLang="en-US" sz="1800" b="0">
                      <a:latin typeface="Arial" panose="020B0604020202020204" pitchFamily="34" charset="0"/>
                    </a:endParaRPr>
                  </a:p>
                </p:txBody>
              </p:sp>
              <p:pic>
                <p:nvPicPr>
                  <p:cNvPr id="44" name="Picture 61" descr="fuhao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4" y="2784"/>
                    <a:ext cx="24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sp>
          <p:nvSpPr>
            <p:cNvPr id="34" name="Line 62"/>
            <p:cNvSpPr>
              <a:spLocks noChangeShapeType="1"/>
            </p:cNvSpPr>
            <p:nvPr/>
          </p:nvSpPr>
          <p:spPr bwMode="auto">
            <a:xfrm>
              <a:off x="576" y="2784"/>
              <a:ext cx="0" cy="4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63"/>
            <p:cNvSpPr>
              <a:spLocks noChangeShapeType="1"/>
            </p:cNvSpPr>
            <p:nvPr/>
          </p:nvSpPr>
          <p:spPr bwMode="auto">
            <a:xfrm>
              <a:off x="2352" y="2784"/>
              <a:ext cx="0" cy="57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64"/>
            <p:cNvSpPr>
              <a:spLocks noChangeShapeType="1"/>
            </p:cNvSpPr>
            <p:nvPr/>
          </p:nvSpPr>
          <p:spPr bwMode="auto">
            <a:xfrm>
              <a:off x="4512" y="2736"/>
              <a:ext cx="0" cy="43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fontScale="92500" lnSpcReduction="20000"/>
              </a:bodyPr>
              <a:lstStyle/>
              <a:p>
                <a:r>
                  <a:rPr lang="zh-CN" altLang="en-US" sz="3000" dirty="0"/>
                  <a:t>无损分解的判别方法</a:t>
                </a:r>
                <a:endParaRPr lang="en-US" altLang="zh-CN" sz="3000" dirty="0"/>
              </a:p>
              <a:p>
                <a:pPr marL="990600" lvl="1" indent="-533400">
                  <a:lnSpc>
                    <a:spcPct val="130000"/>
                  </a:lnSpc>
                  <a:buFontTx/>
                  <a:buAutoNum type="arabicPeriod"/>
                </a:pPr>
                <a:r>
                  <a:rPr lang="zh-CN" altLang="en-US" dirty="0"/>
                  <a:t>构造一张</a:t>
                </a:r>
                <a14:m>
                  <m:oMath xmlns:m="http://schemas.openxmlformats.org/officeDocument/2006/math">
                    <m:r>
                      <a:rPr lang="en-US" altLang="zh-CN" i="1" dirty="0" smtClean="0">
                        <a:latin typeface="Cambria Math" panose="02040503050406030204" pitchFamily="18" charset="0"/>
                      </a:rPr>
                      <m:t>𝑘</m:t>
                    </m:r>
                    <m:r>
                      <a:rPr lang="zh-CN" altLang="en-US" i="1" dirty="0">
                        <a:latin typeface="Cambria Math" panose="02040503050406030204" pitchFamily="18" charset="0"/>
                      </a:rPr>
                      <m:t>行</m:t>
                    </m:r>
                    <m:r>
                      <a:rPr lang="en-US" altLang="zh-CN" i="1" dirty="0">
                        <a:latin typeface="Cambria Math" panose="02040503050406030204" pitchFamily="18" charset="0"/>
                      </a:rPr>
                      <m:t>𝑛</m:t>
                    </m:r>
                    <m:r>
                      <a:rPr lang="zh-CN" altLang="en-US" i="1" dirty="0">
                        <a:latin typeface="Cambria Math" panose="02040503050406030204" pitchFamily="18" charset="0"/>
                      </a:rPr>
                      <m:t>列</m:t>
                    </m:r>
                  </m:oMath>
                </a14:m>
                <a:r>
                  <a:rPr lang="zh-CN" altLang="en-US" dirty="0"/>
                  <a:t>的表格，每列对应一个属性</a:t>
                </a:r>
                <a14:m>
                  <m:oMath xmlns:m="http://schemas.openxmlformats.org/officeDocument/2006/math">
                    <m:r>
                      <a:rPr lang="en-US" altLang="zh-CN" i="1" dirty="0" smtClean="0">
                        <a:latin typeface="Cambria Math" panose="02040503050406030204" pitchFamily="18" charset="0"/>
                      </a:rPr>
                      <m:t>𝐴</m:t>
                    </m:r>
                    <m:r>
                      <a:rPr lang="en-US" altLang="zh-CN" i="1" baseline="-16000" dirty="0">
                        <a:latin typeface="Cambria Math" panose="02040503050406030204" pitchFamily="18" charset="0"/>
                      </a:rPr>
                      <m:t>𝑗</m:t>
                    </m:r>
                    <m:r>
                      <a:rPr lang="zh-CN" altLang="en-US" i="1" dirty="0">
                        <a:latin typeface="Cambria Math" panose="02040503050406030204" pitchFamily="18" charset="0"/>
                      </a:rPr>
                      <m:t>（</m:t>
                    </m:r>
                    <m:r>
                      <a:rPr lang="en-US" altLang="zh-CN" i="1" dirty="0">
                        <a:latin typeface="Cambria Math" panose="02040503050406030204" pitchFamily="18" charset="0"/>
                      </a:rPr>
                      <m:t>1</m:t>
                    </m:r>
                    <m:r>
                      <a:rPr lang="en-US" altLang="zh-CN" i="1" dirty="0">
                        <a:latin typeface="Cambria Math" panose="02040503050406030204" pitchFamily="18" charset="0"/>
                      </a:rPr>
                      <m:t>≤</m:t>
                    </m:r>
                    <m:r>
                      <a:rPr lang="en-US" altLang="zh-CN" i="1" dirty="0">
                        <a:latin typeface="Cambria Math" panose="02040503050406030204" pitchFamily="18" charset="0"/>
                      </a:rPr>
                      <m:t>𝑗</m:t>
                    </m:r>
                    <m:r>
                      <a:rPr lang="en-US" altLang="zh-CN" i="1" dirty="0">
                        <a:latin typeface="Cambria Math" panose="02040503050406030204" pitchFamily="18" charset="0"/>
                      </a:rPr>
                      <m:t>≤</m:t>
                    </m:r>
                    <m:r>
                      <a:rPr lang="en-US" altLang="zh-CN" i="1" dirty="0">
                        <a:latin typeface="Cambria Math" panose="02040503050406030204" pitchFamily="18" charset="0"/>
                      </a:rPr>
                      <m:t>𝑛</m:t>
                    </m:r>
                  </m:oMath>
                </a14:m>
                <a:r>
                  <a:rPr lang="zh-CN" altLang="en-US" dirty="0"/>
                  <a:t>），每行对应一个模式</a:t>
                </a:r>
                <a14:m>
                  <m:oMath xmlns:m="http://schemas.openxmlformats.org/officeDocument/2006/math">
                    <m:r>
                      <a:rPr lang="en-US" altLang="zh-CN" i="1" dirty="0" smtClean="0">
                        <a:latin typeface="Cambria Math" panose="02040503050406030204" pitchFamily="18" charset="0"/>
                      </a:rPr>
                      <m:t>𝑅</m:t>
                    </m:r>
                    <m:r>
                      <a:rPr lang="en-US" altLang="zh-CN" i="1" baseline="-16000" dirty="0">
                        <a:latin typeface="Cambria Math" panose="02040503050406030204" pitchFamily="18" charset="0"/>
                      </a:rPr>
                      <m:t>𝑖</m:t>
                    </m:r>
                    <m:r>
                      <a:rPr lang="zh-CN" altLang="en-US" i="1" dirty="0">
                        <a:latin typeface="Cambria Math" panose="02040503050406030204" pitchFamily="18" charset="0"/>
                      </a:rPr>
                      <m:t>（</m:t>
                    </m:r>
                    <m:r>
                      <a:rPr lang="en-US" altLang="zh-CN" i="1" dirty="0">
                        <a:latin typeface="Cambria Math" panose="02040503050406030204" pitchFamily="18" charset="0"/>
                      </a:rPr>
                      <m:t>1</m:t>
                    </m:r>
                    <m:r>
                      <a:rPr lang="en-US" altLang="zh-CN"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r>
                      <a:rPr lang="zh-CN" altLang="en-US" i="1" dirty="0">
                        <a:latin typeface="Cambria Math" panose="02040503050406030204" pitchFamily="18" charset="0"/>
                      </a:rPr>
                      <m:t>）</m:t>
                    </m:r>
                  </m:oMath>
                </a14:m>
                <a:r>
                  <a:rPr lang="zh-CN" altLang="en-US" dirty="0"/>
                  <a:t>。如果</a:t>
                </a:r>
                <a14:m>
                  <m:oMath xmlns:m="http://schemas.openxmlformats.org/officeDocument/2006/math">
                    <m:r>
                      <a:rPr lang="en-US" altLang="zh-CN" i="1" dirty="0">
                        <a:latin typeface="Cambria Math" panose="02040503050406030204" pitchFamily="18" charset="0"/>
                      </a:rPr>
                      <m:t>𝐴</m:t>
                    </m:r>
                    <m:r>
                      <a:rPr lang="en-US" altLang="zh-CN" i="1" baseline="-16000" dirty="0">
                        <a:latin typeface="Cambria Math" panose="02040503050406030204" pitchFamily="18" charset="0"/>
                      </a:rPr>
                      <m:t>𝑗</m:t>
                    </m:r>
                  </m:oMath>
                </a14:m>
                <a:r>
                  <a:rPr lang="zh-CN" altLang="en-US" dirty="0"/>
                  <a:t>在</a:t>
                </a:r>
                <a14:m>
                  <m:oMath xmlns:m="http://schemas.openxmlformats.org/officeDocument/2006/math">
                    <m:r>
                      <a:rPr lang="en-US" altLang="zh-CN" i="1" dirty="0">
                        <a:latin typeface="Cambria Math" panose="02040503050406030204" pitchFamily="18" charset="0"/>
                      </a:rPr>
                      <m:t>𝑅</m:t>
                    </m:r>
                    <m:r>
                      <a:rPr lang="en-US" altLang="zh-CN" i="1" baseline="-16000" dirty="0">
                        <a:latin typeface="Cambria Math" panose="02040503050406030204" pitchFamily="18" charset="0"/>
                      </a:rPr>
                      <m:t>𝑖</m:t>
                    </m:r>
                  </m:oMath>
                </a14:m>
                <a:r>
                  <a:rPr lang="zh-CN" altLang="en-US" dirty="0"/>
                  <a:t>中，那么在表格的第</a:t>
                </a:r>
                <a14:m>
                  <m:oMath xmlns:m="http://schemas.openxmlformats.org/officeDocument/2006/math">
                    <m:r>
                      <a:rPr lang="en-US" altLang="zh-CN" b="0" i="1" smtClean="0">
                        <a:latin typeface="Cambria Math" panose="02040503050406030204" pitchFamily="18" charset="0"/>
                      </a:rPr>
                      <m:t>𝑖</m:t>
                    </m:r>
                  </m:oMath>
                </a14:m>
                <a:r>
                  <a:rPr lang="zh-CN" altLang="en-US" dirty="0"/>
                  <a:t>行第</a:t>
                </a:r>
                <a14:m>
                  <m:oMath xmlns:m="http://schemas.openxmlformats.org/officeDocument/2006/math">
                    <m:r>
                      <a:rPr lang="en-US" altLang="zh-CN" b="0" i="1" smtClean="0">
                        <a:latin typeface="Cambria Math" panose="02040503050406030204" pitchFamily="18" charset="0"/>
                      </a:rPr>
                      <m:t>𝑗</m:t>
                    </m:r>
                  </m:oMath>
                </a14:m>
                <a:r>
                  <a:rPr lang="zh-CN" altLang="en-US" dirty="0"/>
                  <a:t>列处填上符号</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𝑗</m:t>
                        </m:r>
                      </m:sub>
                    </m:sSub>
                  </m:oMath>
                </a14:m>
                <a:r>
                  <a:rPr lang="zh-CN" altLang="en-US" dirty="0"/>
                  <a:t>，否则填上</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𝑖</m:t>
                        </m:r>
                        <m:r>
                          <a:rPr lang="en-US" altLang="zh-CN" i="1">
                            <a:latin typeface="Cambria Math" panose="02040503050406030204" pitchFamily="18" charset="0"/>
                          </a:rPr>
                          <m:t>𝑗</m:t>
                        </m:r>
                      </m:sub>
                    </m:sSub>
                  </m:oMath>
                </a14:m>
                <a:endParaRPr lang="zh-CN" altLang="en-US" dirty="0"/>
              </a:p>
              <a:p>
                <a:pPr marL="990600" lvl="1" indent="-533400">
                  <a:lnSpc>
                    <a:spcPct val="130000"/>
                  </a:lnSpc>
                  <a:buClr>
                    <a:schemeClr val="tx1"/>
                  </a:buClr>
                  <a:buFontTx/>
                  <a:buAutoNum type="arabicPeriod"/>
                </a:pPr>
                <a:r>
                  <a:rPr lang="zh-CN" altLang="en-US" dirty="0"/>
                  <a:t>把表格看成模式</a:t>
                </a:r>
                <a14:m>
                  <m:oMath xmlns:m="http://schemas.openxmlformats.org/officeDocument/2006/math">
                    <m:r>
                      <a:rPr lang="en-US" altLang="zh-CN" i="1" dirty="0" smtClean="0">
                        <a:latin typeface="Cambria Math" panose="02040503050406030204" pitchFamily="18" charset="0"/>
                      </a:rPr>
                      <m:t>𝑅</m:t>
                    </m:r>
                  </m:oMath>
                </a14:m>
                <a:r>
                  <a:rPr lang="zh-CN" altLang="en-US" dirty="0"/>
                  <a:t>的一个关系，反复检查</a:t>
                </a:r>
                <a:r>
                  <a:rPr lang="en-US" altLang="zh-CN" dirty="0"/>
                  <a:t>F</a:t>
                </a:r>
                <a:r>
                  <a:rPr lang="zh-CN" altLang="en-US" dirty="0"/>
                  <a:t>中每个</a:t>
                </a:r>
                <a:r>
                  <a:rPr lang="en-US" altLang="zh-CN" dirty="0"/>
                  <a:t>FD</a:t>
                </a:r>
                <a:r>
                  <a:rPr lang="zh-CN" altLang="en-US" dirty="0"/>
                  <a:t>在表格中是否成立，若不成立，则修改表格中的值。修改方法如下：对于</a:t>
                </a:r>
                <a:r>
                  <a:rPr lang="en-US" altLang="zh-CN" dirty="0"/>
                  <a:t>F</a:t>
                </a:r>
                <a:r>
                  <a:rPr lang="zh-CN" altLang="en-US" dirty="0"/>
                  <a:t>中一个</a:t>
                </a:r>
                <a:r>
                  <a:rPr lang="en-US" altLang="zh-CN" dirty="0"/>
                  <a:t>FD </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oMath>
                </a14:m>
                <a:r>
                  <a:rPr lang="zh-CN" altLang="en-US" dirty="0"/>
                  <a:t>，如果表格中有两行在</a:t>
                </a:r>
                <a14:m>
                  <m:oMath xmlns:m="http://schemas.openxmlformats.org/officeDocument/2006/math">
                    <m:r>
                      <a:rPr lang="en-US" altLang="zh-CN" i="1" dirty="0">
                        <a:latin typeface="Cambria Math" panose="02040503050406030204" pitchFamily="18" charset="0"/>
                      </a:rPr>
                      <m:t>𝑋</m:t>
                    </m:r>
                  </m:oMath>
                </a14:m>
                <a:r>
                  <a:rPr lang="zh-CN" altLang="en-US" dirty="0"/>
                  <a:t>值上相等，在</a:t>
                </a:r>
                <a14:m>
                  <m:oMath xmlns:m="http://schemas.openxmlformats.org/officeDocument/2006/math">
                    <m:r>
                      <a:rPr lang="en-US" altLang="zh-CN" i="1" dirty="0">
                        <a:latin typeface="Cambria Math" panose="02040503050406030204" pitchFamily="18" charset="0"/>
                      </a:rPr>
                      <m:t>𝑌</m:t>
                    </m:r>
                  </m:oMath>
                </a14:m>
                <a:r>
                  <a:rPr lang="zh-CN" altLang="en-US" dirty="0"/>
                  <a:t>值上不相等，那么把这两行在</a:t>
                </a:r>
                <a14:m>
                  <m:oMath xmlns:m="http://schemas.openxmlformats.org/officeDocument/2006/math">
                    <m:r>
                      <a:rPr lang="en-US" altLang="zh-CN" i="1" dirty="0">
                        <a:latin typeface="Cambria Math" panose="02040503050406030204" pitchFamily="18" charset="0"/>
                      </a:rPr>
                      <m:t>𝑌</m:t>
                    </m:r>
                  </m:oMath>
                </a14:m>
                <a:r>
                  <a:rPr lang="zh-CN" altLang="en-US" dirty="0"/>
                  <a:t>值上也改成相等的值。如果</a:t>
                </a:r>
                <a14:m>
                  <m:oMath xmlns:m="http://schemas.openxmlformats.org/officeDocument/2006/math">
                    <m:r>
                      <a:rPr lang="en-US" altLang="zh-CN" i="1" dirty="0">
                        <a:latin typeface="Cambria Math" panose="02040503050406030204" pitchFamily="18" charset="0"/>
                      </a:rPr>
                      <m:t>𝑌</m:t>
                    </m:r>
                  </m:oMath>
                </a14:m>
                <a:r>
                  <a:rPr lang="zh-CN" altLang="en-US" dirty="0"/>
                  <a:t>值中有一个是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𝑗</m:t>
                        </m:r>
                      </m:sub>
                    </m:sSub>
                    <m:r>
                      <a:rPr lang="en-US" altLang="zh-CN" i="1">
                        <a:latin typeface="Cambria Math" panose="02040503050406030204" pitchFamily="18" charset="0"/>
                      </a:rPr>
                      <m:t> </m:t>
                    </m:r>
                  </m:oMath>
                </a14:m>
                <a:r>
                  <a:rPr lang="zh-CN" altLang="en-US" dirty="0"/>
                  <a:t>，那么另一个也改成</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𝑗</m:t>
                        </m:r>
                      </m:sub>
                    </m:sSub>
                    <m:r>
                      <a:rPr lang="en-US" altLang="zh-CN" i="1">
                        <a:latin typeface="Cambria Math" panose="02040503050406030204" pitchFamily="18" charset="0"/>
                      </a:rPr>
                      <m:t> </m:t>
                    </m:r>
                  </m:oMath>
                </a14:m>
                <a:r>
                  <a:rPr lang="zh-CN" altLang="en-US" dirty="0"/>
                  <a:t>；如果没有</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𝑗</m:t>
                        </m:r>
                      </m:sub>
                    </m:sSub>
                    <m:r>
                      <a:rPr lang="en-US" altLang="zh-CN" i="1">
                        <a:latin typeface="Cambria Math" panose="02040503050406030204" pitchFamily="18" charset="0"/>
                      </a:rPr>
                      <m:t> </m:t>
                    </m:r>
                  </m:oMath>
                </a14:m>
                <a:r>
                  <a:rPr lang="zh-CN" altLang="en-US" dirty="0"/>
                  <a:t>，那么用其中一个</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𝑖𝑗</m:t>
                        </m:r>
                      </m:sub>
                    </m:sSub>
                  </m:oMath>
                </a14:m>
                <a:r>
                  <a:rPr lang="zh-CN" altLang="en-US" dirty="0"/>
                  <a:t>替换另一个值（尽量把下标</a:t>
                </a:r>
                <a14:m>
                  <m:oMath xmlns:m="http://schemas.openxmlformats.org/officeDocument/2006/math">
                    <m:r>
                      <a:rPr lang="en-US" altLang="zh-CN" b="0" i="1" smtClean="0">
                        <a:latin typeface="Cambria Math" panose="02040503050406030204" pitchFamily="18" charset="0"/>
                      </a:rPr>
                      <m:t>𝑖𝑗</m:t>
                    </m:r>
                  </m:oMath>
                </a14:m>
                <a:r>
                  <a:rPr lang="zh-CN" altLang="en-US" dirty="0"/>
                  <a:t>改成较小的数）。一直到表格不能修改为止（这个过程称为</a:t>
                </a:r>
                <a:r>
                  <a:rPr lang="en-US" altLang="zh-CN" dirty="0"/>
                  <a:t>chase</a:t>
                </a:r>
                <a:r>
                  <a:rPr lang="zh-CN" altLang="en-US" dirty="0"/>
                  <a:t>过程）</a:t>
                </a:r>
                <a:endParaRPr lang="zh-CN" altLang="en-US" dirty="0"/>
              </a:p>
              <a:p>
                <a:pPr marL="990600" lvl="1" indent="-533400">
                  <a:lnSpc>
                    <a:spcPct val="130000"/>
                  </a:lnSpc>
                  <a:buClr>
                    <a:schemeClr val="tx1"/>
                  </a:buClr>
                  <a:buFontTx/>
                  <a:buAutoNum type="arabicPeriod"/>
                </a:pPr>
                <a:r>
                  <a:rPr lang="zh-CN" altLang="en-US" dirty="0"/>
                  <a:t>若修改的最后一张表格中有一行是全</a:t>
                </a:r>
                <a14:m>
                  <m:oMath xmlns:m="http://schemas.openxmlformats.org/officeDocument/2006/math">
                    <m:r>
                      <a:rPr lang="en-US" altLang="zh-CN" b="0" i="1" smtClean="0">
                        <a:latin typeface="Cambria Math" panose="02040503050406030204" pitchFamily="18" charset="0"/>
                      </a:rPr>
                      <m:t>𝑎</m:t>
                    </m:r>
                  </m:oMath>
                </a14:m>
                <a:r>
                  <a:rPr lang="zh-CN" altLang="en-US" dirty="0"/>
                  <a:t>，即</a:t>
                </a:r>
                <a14:m>
                  <m:oMath xmlns:m="http://schemas.openxmlformats.org/officeDocument/2006/math">
                    <m:r>
                      <a:rPr lang="en-US" altLang="zh-CN" i="1" dirty="0" smtClean="0">
                        <a:latin typeface="Cambria Math" panose="02040503050406030204" pitchFamily="18" charset="0"/>
                      </a:rPr>
                      <m:t>𝑎</m:t>
                    </m:r>
                    <m:r>
                      <a:rPr lang="en-US" altLang="zh-CN" i="1" baseline="-16000" dirty="0">
                        <a:latin typeface="Cambria Math" panose="02040503050406030204" pitchFamily="18" charset="0"/>
                      </a:rPr>
                      <m:t>1</m:t>
                    </m:r>
                    <m:r>
                      <a:rPr lang="en-US" altLang="zh-CN" i="1" dirty="0">
                        <a:latin typeface="Cambria Math" panose="02040503050406030204" pitchFamily="18" charset="0"/>
                      </a:rPr>
                      <m:t>𝑎</m:t>
                    </m:r>
                    <m:r>
                      <a:rPr lang="en-US" altLang="zh-CN" i="1" baseline="-16000" dirty="0">
                        <a:latin typeface="Cambria Math" panose="02040503050406030204" pitchFamily="18" charset="0"/>
                      </a:rPr>
                      <m:t>2</m:t>
                    </m:r>
                    <m:r>
                      <a:rPr lang="en-US" altLang="zh-CN" i="1" dirty="0">
                        <a:latin typeface="Cambria Math" panose="02040503050406030204" pitchFamily="18" charset="0"/>
                      </a:rPr>
                      <m:t>…</m:t>
                    </m:r>
                    <m:r>
                      <a:rPr lang="en-US" altLang="zh-CN" i="1" dirty="0">
                        <a:latin typeface="Cambria Math" panose="02040503050406030204" pitchFamily="18" charset="0"/>
                      </a:rPr>
                      <m:t>𝑎𝑛</m:t>
                    </m:r>
                  </m:oMath>
                </a14:m>
                <a:r>
                  <a:rPr lang="zh-CN" altLang="en-US" dirty="0"/>
                  <a:t>，那么称</a:t>
                </a:r>
                <a14:m>
                  <m:oMath xmlns:m="http://schemas.openxmlformats.org/officeDocument/2006/math">
                    <m:r>
                      <a:rPr lang="zh-CN" altLang="en-US" i="1" smtClean="0">
                        <a:latin typeface="Cambria Math" panose="02040503050406030204" pitchFamily="18" charset="0"/>
                      </a:rPr>
                      <m:t>𝜌</m:t>
                    </m:r>
                  </m:oMath>
                </a14:m>
                <a:r>
                  <a:rPr lang="zh-CN" altLang="en-US" dirty="0"/>
                  <a:t>相对于</a:t>
                </a:r>
                <a:r>
                  <a:rPr lang="en-US" altLang="zh-CN" dirty="0"/>
                  <a:t>F</a:t>
                </a:r>
                <a:r>
                  <a:rPr lang="zh-CN" altLang="en-US" dirty="0"/>
                  <a:t>是无损分解，否则称损失分解 </a:t>
                </a:r>
                <a:endParaRPr lang="zh-CN" altLang="en-US" dirty="0"/>
              </a:p>
              <a:p>
                <a:pPr lvl="1"/>
                <a:endParaRPr lang="zh-CN" altLang="en-US" sz="2200" baseline="-25000" dirty="0"/>
              </a:p>
              <a:p>
                <a:pPr lvl="1"/>
                <a:endParaRPr lang="zh-CN" altLang="en-US"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20435"/>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无损分解的判别算法</a:t>
                </a:r>
                <a:endParaRPr lang="en-US" altLang="zh-CN" dirty="0"/>
              </a:p>
              <a:p>
                <a:pPr lvl="1"/>
                <a:r>
                  <a:rPr lang="zh-CN" altLang="en-US" sz="2200" dirty="0"/>
                  <a:t>算法</a:t>
                </a:r>
                <a:r>
                  <a:rPr lang="en-US" altLang="zh-CN" sz="2200" dirty="0"/>
                  <a:t>4.3: </a:t>
                </a:r>
                <a:r>
                  <a:rPr lang="zh-CN" altLang="en-US" sz="2200" dirty="0"/>
                  <a:t>检验一个分解是否无损连接分解</a:t>
                </a:r>
                <a:endParaRPr lang="en-US" altLang="zh-CN" sz="2200" dirty="0"/>
              </a:p>
              <a:p>
                <a:pPr lvl="2"/>
                <a:r>
                  <a:rPr lang="zh-CN" altLang="en-US" sz="2200" dirty="0"/>
                  <a:t>输入：关系模式</a:t>
                </a:r>
                <a14:m>
                  <m:oMath xmlns:m="http://schemas.openxmlformats.org/officeDocument/2006/math">
                    <m:r>
                      <a:rPr lang="en-US" altLang="zh-CN" sz="2200" b="0" i="1" smtClean="0">
                        <a:latin typeface="Cambria Math" panose="02040503050406030204" pitchFamily="18" charset="0"/>
                      </a:rPr>
                      <m:t>𝑅</m:t>
                    </m:r>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𝐴</m:t>
                        </m:r>
                      </m:e>
                      <m:sub>
                        <m:r>
                          <a:rPr lang="en-US" altLang="zh-CN" sz="2200" b="0" i="1" smtClean="0">
                            <a:latin typeface="Cambria Math" panose="02040503050406030204" pitchFamily="18" charset="0"/>
                          </a:rPr>
                          <m:t>1</m:t>
                        </m:r>
                      </m:sub>
                    </m:sSub>
                    <m:r>
                      <a:rPr lang="en-US" altLang="zh-CN" sz="2200" b="0" i="1" smtClean="0">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𝐴</m:t>
                        </m:r>
                      </m:e>
                      <m:sub>
                        <m:r>
                          <a:rPr lang="en-US" altLang="zh-CN" sz="2200" b="0" i="1" smtClean="0">
                            <a:latin typeface="Cambria Math" panose="02040503050406030204" pitchFamily="18" charset="0"/>
                          </a:rPr>
                          <m:t>𝑛</m:t>
                        </m:r>
                      </m:sub>
                    </m:sSub>
                    <m:r>
                      <a:rPr lang="en-US" altLang="zh-CN" sz="2200" b="0" i="1" smtClean="0">
                        <a:latin typeface="Cambria Math" panose="02040503050406030204" pitchFamily="18" charset="0"/>
                      </a:rPr>
                      <m:t>)</m:t>
                    </m:r>
                  </m:oMath>
                </a14:m>
                <a:r>
                  <a:rPr lang="zh-CN" altLang="en-US" sz="2200" dirty="0"/>
                  <a:t>；</a:t>
                </a:r>
                <a:r>
                  <a:rPr lang="en-US" altLang="zh-CN" sz="2200" dirty="0"/>
                  <a:t> </a:t>
                </a:r>
                <a14:m>
                  <m:oMath xmlns:m="http://schemas.openxmlformats.org/officeDocument/2006/math">
                    <m:r>
                      <a:rPr lang="en-US" altLang="zh-CN" sz="2200" i="1">
                        <a:latin typeface="Cambria Math" panose="02040503050406030204" pitchFamily="18" charset="0"/>
                      </a:rPr>
                      <m:t>𝑅</m:t>
                    </m:r>
                  </m:oMath>
                </a14:m>
                <a:r>
                  <a:rPr lang="zh-CN" altLang="en-US" sz="2200" dirty="0"/>
                  <a:t>上的函数依赖集</a:t>
                </a:r>
                <a:r>
                  <a:rPr lang="en-US" altLang="zh-CN" sz="2200" dirty="0"/>
                  <a:t>F</a:t>
                </a:r>
                <a:r>
                  <a:rPr lang="zh-CN" altLang="en-US" sz="2200" dirty="0"/>
                  <a:t>；</a:t>
                </a:r>
                <a:endParaRPr lang="en-US" altLang="zh-CN" sz="2200" dirty="0"/>
              </a:p>
              <a:p>
                <a:pPr marL="914400" lvl="2" indent="0">
                  <a:buNone/>
                </a:pPr>
                <a:r>
                  <a:rPr lang="en-US" altLang="zh-CN" sz="2200" dirty="0"/>
                  <a:t> </a:t>
                </a:r>
                <a:r>
                  <a:rPr lang="zh-CN" altLang="en-US" sz="2200" dirty="0"/>
                  <a:t>            </a:t>
                </a:r>
                <a14:m>
                  <m:oMath xmlns:m="http://schemas.openxmlformats.org/officeDocument/2006/math">
                    <m:r>
                      <a:rPr lang="en-US" altLang="zh-CN" sz="2200" i="1">
                        <a:latin typeface="Cambria Math" panose="02040503050406030204" pitchFamily="18" charset="0"/>
                      </a:rPr>
                      <m:t>𝑅</m:t>
                    </m:r>
                  </m:oMath>
                </a14:m>
                <a:r>
                  <a:rPr lang="zh-CN" altLang="en-US" sz="2200" dirty="0"/>
                  <a:t>的一个分解</a:t>
                </a:r>
                <a14:m>
                  <m:oMath xmlns:m="http://schemas.openxmlformats.org/officeDocument/2006/math">
                    <m:r>
                      <a:rPr lang="en-US" altLang="zh-CN" sz="2200" i="1">
                        <a:latin typeface="Cambria Math" panose="02040503050406030204" pitchFamily="18" charset="0"/>
                        <a:ea typeface="Cambria Math" panose="02040503050406030204" pitchFamily="18" charset="0"/>
                      </a:rPr>
                      <m:t>𝜌</m:t>
                    </m:r>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𝑅</m:t>
                        </m:r>
                      </m:e>
                      <m:sub>
                        <m:r>
                          <a:rPr lang="en-US" altLang="zh-CN" sz="2200" i="1">
                            <a:latin typeface="Cambria Math" panose="02040503050406030204" pitchFamily="18" charset="0"/>
                            <a:ea typeface="Cambria Math" panose="02040503050406030204" pitchFamily="18" charset="0"/>
                          </a:rPr>
                          <m:t>1</m:t>
                        </m:r>
                      </m:sub>
                    </m:sSub>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𝑅</m:t>
                        </m:r>
                      </m:e>
                      <m:sub>
                        <m:r>
                          <a:rPr lang="en-US" altLang="zh-CN" sz="2200" b="0" i="1" smtClean="0">
                            <a:latin typeface="Cambria Math" panose="02040503050406030204" pitchFamily="18" charset="0"/>
                            <a:ea typeface="Cambria Math" panose="02040503050406030204" pitchFamily="18" charset="0"/>
                          </a:rPr>
                          <m:t>2</m:t>
                        </m:r>
                      </m:sub>
                    </m:sSub>
                    <m:r>
                      <a:rPr lang="en-US" altLang="zh-CN" sz="2200" b="0" i="1" smtClean="0">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𝑅</m:t>
                        </m:r>
                      </m:e>
                      <m:sub>
                        <m:r>
                          <a:rPr lang="en-US" altLang="zh-CN" sz="2200" i="1">
                            <a:latin typeface="Cambria Math" panose="02040503050406030204" pitchFamily="18" charset="0"/>
                            <a:ea typeface="Cambria Math" panose="02040503050406030204" pitchFamily="18" charset="0"/>
                          </a:rPr>
                          <m:t>𝑘</m:t>
                        </m:r>
                      </m:sub>
                    </m:sSub>
                    <m:r>
                      <a:rPr lang="en-US" altLang="zh-CN" sz="2200" i="1">
                        <a:latin typeface="Cambria Math" panose="02040503050406030204" pitchFamily="18" charset="0"/>
                        <a:ea typeface="Cambria Math" panose="02040503050406030204" pitchFamily="18" charset="0"/>
                      </a:rPr>
                      <m:t>} </m:t>
                    </m:r>
                  </m:oMath>
                </a14:m>
                <a:r>
                  <a:rPr lang="zh-CN" altLang="en-US" sz="2200" dirty="0"/>
                  <a:t>；</a:t>
                </a:r>
                <a:endParaRPr lang="en-US" altLang="zh-CN" sz="2200" dirty="0"/>
              </a:p>
              <a:p>
                <a:pPr lvl="2"/>
                <a:r>
                  <a:rPr lang="zh-CN" altLang="en-US" sz="2200" dirty="0"/>
                  <a:t>输出： </a:t>
                </a:r>
                <a14:m>
                  <m:oMath xmlns:m="http://schemas.openxmlformats.org/officeDocument/2006/math">
                    <m:r>
                      <a:rPr lang="en-US" altLang="zh-CN" sz="2200" i="1">
                        <a:latin typeface="Cambria Math" panose="02040503050406030204" pitchFamily="18" charset="0"/>
                        <a:ea typeface="Cambria Math" panose="02040503050406030204" pitchFamily="18" charset="0"/>
                      </a:rPr>
                      <m:t>𝜌</m:t>
                    </m:r>
                  </m:oMath>
                </a14:m>
                <a:r>
                  <a:rPr lang="zh-CN" altLang="en-US" sz="2200" dirty="0"/>
                  <a:t>是否无损连接分解</a:t>
                </a:r>
                <a:endParaRPr lang="en-US" altLang="zh-CN" sz="2200" dirty="0"/>
              </a:p>
              <a:p>
                <a:pPr lvl="2"/>
                <a:r>
                  <a:rPr lang="zh-CN" altLang="en-US" sz="2200" dirty="0"/>
                  <a:t>方法：</a:t>
                </a:r>
                <a:r>
                  <a:rPr lang="en-US" altLang="zh-CN" sz="2200" dirty="0">
                    <a:sym typeface="Wingdings" panose="05000000000000000000" pitchFamily="2" charset="2"/>
                  </a:rPr>
                  <a:t>(1</a:t>
                </a:r>
                <a:r>
                  <a:rPr lang="zh-CN" altLang="en-US" sz="2200" dirty="0">
                    <a:sym typeface="Wingdings" panose="05000000000000000000" pitchFamily="2" charset="2"/>
                  </a:rPr>
                  <a:t>）建立一个</a:t>
                </a:r>
                <a:r>
                  <a:rPr lang="en-US" altLang="zh-CN" sz="2200" dirty="0">
                    <a:sym typeface="Wingdings" panose="05000000000000000000" pitchFamily="2" charset="2"/>
                  </a:rPr>
                  <a:t>n</a:t>
                </a:r>
                <a:r>
                  <a:rPr lang="zh-CN" altLang="en-US" sz="2200" dirty="0">
                    <a:sym typeface="Wingdings" panose="05000000000000000000" pitchFamily="2" charset="2"/>
                  </a:rPr>
                  <a:t>列、</a:t>
                </a:r>
                <a:r>
                  <a:rPr lang="en-US" altLang="zh-CN" sz="2200" dirty="0">
                    <a:sym typeface="Wingdings" panose="05000000000000000000" pitchFamily="2" charset="2"/>
                  </a:rPr>
                  <a:t>k</a:t>
                </a:r>
                <a:r>
                  <a:rPr lang="zh-CN" altLang="en-US" sz="2200" dirty="0">
                    <a:sym typeface="Wingdings" panose="05000000000000000000" pitchFamily="2" charset="2"/>
                  </a:rPr>
                  <a:t>行的符号表</a:t>
                </a:r>
                <a:r>
                  <a:rPr lang="en-US" altLang="zh-CN" sz="2200" dirty="0">
                    <a:sym typeface="Wingdings" panose="05000000000000000000" pitchFamily="2" charset="2"/>
                  </a:rPr>
                  <a:t>M </a:t>
                </a:r>
                <a:r>
                  <a:rPr lang="zh-CN" altLang="en-US" sz="2200" dirty="0">
                    <a:sym typeface="Wingdings" panose="05000000000000000000" pitchFamily="2" charset="2"/>
                  </a:rPr>
                  <a:t>：</a:t>
                </a:r>
                <a:endParaRPr lang="zh-CN" altLang="en-US" sz="2200" dirty="0">
                  <a:sym typeface="Wingdings" panose="05000000000000000000" pitchFamily="2" charset="2"/>
                </a:endParaRPr>
              </a:p>
              <a:p>
                <a:pPr marL="0" indent="0">
                  <a:buNone/>
                </a:pPr>
                <a:endParaRPr lang="zh-CN" altLang="en-US" sz="2200" baseline="-25000" dirty="0"/>
              </a:p>
              <a:p>
                <a:pPr lvl="1"/>
                <a:endParaRPr lang="zh-CN" altLang="en-US"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mc:AlternateContent xmlns:mc="http://schemas.openxmlformats.org/markup-compatibility/2006" xmlns:a14="http://schemas.microsoft.com/office/drawing/2010/main">
        <mc:Choice Requires="a14">
          <p:graphicFrame>
            <p:nvGraphicFramePr>
              <p:cNvPr id="9" name="表格 8"/>
              <p:cNvGraphicFramePr>
                <a:graphicFrameLocks noGrp="1"/>
              </p:cNvGraphicFramePr>
              <p:nvPr/>
            </p:nvGraphicFramePr>
            <p:xfrm>
              <a:off x="2362195" y="4129468"/>
              <a:ext cx="8128000" cy="2592007"/>
            </p:xfrm>
            <a:graphic>
              <a:graphicData uri="http://schemas.openxmlformats.org/drawingml/2006/table">
                <a:tbl>
                  <a:tblPr firstRow="1" bandRow="1">
                    <a:tableStyleId>{2D5ABB26-0587-4C30-8999-92F81FD0307C}</a:tableStyleId>
                  </a:tblPr>
                  <a:tblGrid>
                    <a:gridCol w="1625600"/>
                    <a:gridCol w="1625600"/>
                    <a:gridCol w="1625600"/>
                    <a:gridCol w="1625600"/>
                    <a:gridCol w="1625600"/>
                  </a:tblGrid>
                  <a:tr h="370840">
                    <a:tc>
                      <a:txBody>
                        <a:bodyPr/>
                        <a:lstStyle/>
                        <a:p>
                          <a:pPr algn="ctr"/>
                          <a:endParaRPr lang="zh-CN" altLang="en-US" sz="22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200" smtClean="0"/>
                                    </m:ctrlPr>
                                  </m:sSubPr>
                                  <m:e>
                                    <m:r>
                                      <a:rPr lang="en-US" altLang="zh-CN" sz="2200" b="0" smtClean="0">
                                        <a:latin typeface="Cambria Math" panose="02040503050406030204" pitchFamily="18" charset="0"/>
                                      </a:rPr>
                                      <m:t>𝐴</m:t>
                                    </m:r>
                                  </m:e>
                                  <m:sub>
                                    <m:r>
                                      <a:rPr lang="en-US" altLang="zh-CN" sz="2200" b="0" smtClean="0">
                                        <a:latin typeface="Cambria Math" panose="02040503050406030204" pitchFamily="18" charset="0"/>
                                      </a:rPr>
                                      <m:t>1</m:t>
                                    </m:r>
                                  </m:sub>
                                </m:sSub>
                              </m:oMath>
                            </m:oMathPara>
                          </a14:m>
                          <a:endParaRPr lang="zh-CN" altLang="en-US" sz="22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200" smtClean="0"/>
                                    </m:ctrlPr>
                                  </m:sSubPr>
                                  <m:e>
                                    <m:r>
                                      <a:rPr lang="en-US" altLang="zh-CN" sz="2200" b="0" smtClean="0">
                                        <a:latin typeface="Cambria Math" panose="02040503050406030204" pitchFamily="18" charset="0"/>
                                      </a:rPr>
                                      <m:t>𝐴</m:t>
                                    </m:r>
                                  </m:e>
                                  <m:sub>
                                    <m:r>
                                      <a:rPr lang="en-US" altLang="zh-CN" sz="2200" b="0" smtClean="0">
                                        <a:latin typeface="Cambria Math" panose="02040503050406030204" pitchFamily="18" charset="0"/>
                                      </a:rPr>
                                      <m:t>2</m:t>
                                    </m:r>
                                  </m:sub>
                                </m:sSub>
                              </m:oMath>
                            </m:oMathPara>
                          </a14:m>
                          <a:endParaRPr lang="zh-CN" altLang="en-US" sz="22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200" smtClean="0"/>
                                    </m:ctrlPr>
                                  </m:sSubPr>
                                  <m:e>
                                    <m:r>
                                      <a:rPr lang="en-US" altLang="zh-CN" sz="2200" b="0" smtClean="0">
                                        <a:latin typeface="Cambria Math" panose="02040503050406030204" pitchFamily="18" charset="0"/>
                                      </a:rPr>
                                      <m:t>𝐴</m:t>
                                    </m:r>
                                  </m:e>
                                  <m:sub>
                                    <m:r>
                                      <a:rPr lang="en-US" altLang="zh-CN" sz="2200" b="0" smtClean="0">
                                        <a:latin typeface="Cambria Math" panose="02040503050406030204" pitchFamily="18" charset="0"/>
                                      </a:rPr>
                                      <m:t>𝑗</m:t>
                                    </m:r>
                                  </m:sub>
                                </m:sSub>
                              </m:oMath>
                            </m:oMathPara>
                          </a14:m>
                          <a:endParaRPr lang="zh-CN" altLang="en-US" sz="2200" dirty="0"/>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200" smtClean="0"/>
                                    </m:ctrlPr>
                                  </m:sSubPr>
                                  <m:e>
                                    <m:r>
                                      <a:rPr lang="en-US" altLang="zh-CN" sz="2200" b="0" smtClean="0">
                                        <a:latin typeface="Cambria Math" panose="02040503050406030204" pitchFamily="18" charset="0"/>
                                      </a:rPr>
                                      <m:t>𝐴</m:t>
                                    </m:r>
                                  </m:e>
                                  <m:sub>
                                    <m:r>
                                      <a:rPr lang="en-US" altLang="zh-CN" sz="2200" b="0" smtClean="0">
                                        <a:latin typeface="Cambria Math" panose="02040503050406030204" pitchFamily="18" charset="0"/>
                                      </a:rPr>
                                      <m:t>𝑛</m:t>
                                    </m:r>
                                  </m:sub>
                                </m:sSub>
                              </m:oMath>
                            </m:oMathPara>
                          </a14:m>
                          <a:endParaRPr lang="zh-CN" altLang="en-US" sz="2200" dirty="0"/>
                        </a:p>
                      </a:txBody>
                      <a:tcPr anchor="ctr"/>
                    </a:tc>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200" smtClean="0"/>
                                    </m:ctrlPr>
                                  </m:sSubPr>
                                  <m:e>
                                    <m:r>
                                      <a:rPr lang="en-US" altLang="zh-CN" sz="2200" b="0" smtClean="0">
                                        <a:latin typeface="Cambria Math" panose="02040503050406030204" pitchFamily="18" charset="0"/>
                                      </a:rPr>
                                      <m:t>𝑅</m:t>
                                    </m:r>
                                  </m:e>
                                  <m:sub>
                                    <m:r>
                                      <a:rPr lang="en-US" altLang="zh-CN" sz="2200" b="0" smtClean="0">
                                        <a:latin typeface="Cambria Math" panose="02040503050406030204" pitchFamily="18" charset="0"/>
                                      </a:rPr>
                                      <m:t>1</m:t>
                                    </m:r>
                                  </m:sub>
                                </m:sSub>
                              </m:oMath>
                            </m:oMathPara>
                          </a14:m>
                          <a:endParaRPr lang="zh-CN" altLang="en-US" sz="2200" dirty="0"/>
                        </a:p>
                      </a:txBody>
                      <a:tcPr anchor="ctr"/>
                    </a:tc>
                    <a:tc>
                      <a:txBody>
                        <a:bodyPr/>
                        <a:lstStyle/>
                        <a:p>
                          <a:pPr algn="ct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200" smtClean="0"/>
                                    </m:ctrlPr>
                                  </m:sSubPr>
                                  <m:e>
                                    <m:r>
                                      <a:rPr lang="en-US" altLang="zh-CN" sz="2200" b="0" smtClean="0">
                                        <a:latin typeface="Cambria Math" panose="02040503050406030204" pitchFamily="18" charset="0"/>
                                      </a:rPr>
                                      <m:t>𝑅</m:t>
                                    </m:r>
                                  </m:e>
                                  <m:sub>
                                    <m:r>
                                      <a:rPr lang="en-US" altLang="zh-CN" sz="2200" b="0" smtClean="0">
                                        <a:latin typeface="Cambria Math" panose="02040503050406030204" pitchFamily="18" charset="0"/>
                                      </a:rPr>
                                      <m:t>2</m:t>
                                    </m:r>
                                  </m:sub>
                                </m:sSub>
                              </m:oMath>
                            </m:oMathPara>
                          </a14:m>
                          <a:endParaRPr lang="zh-CN" altLang="en-US" sz="2200" dirty="0"/>
                        </a:p>
                      </a:txBody>
                      <a:tcPr anchor="ctr"/>
                    </a:tc>
                    <a:tc>
                      <a:txBody>
                        <a:bodyPr/>
                        <a:lstStyle/>
                        <a:p>
                          <a:pPr algn="ct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r>
                  <a:tr h="370840">
                    <a:tc>
                      <a:txBody>
                        <a:bodyPr/>
                        <a:lstStyle/>
                        <a:p>
                          <a:pPr algn="ctr"/>
                          <a:endParaRPr lang="zh-CN" altLang="en-US" sz="2200"/>
                        </a:p>
                      </a:txBody>
                      <a:tcPr anchor="ctr"/>
                    </a:tc>
                    <a:tc>
                      <a:txBody>
                        <a:bodyPr/>
                        <a:lstStyle/>
                        <a:p>
                          <a:pPr algn="ct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200" smtClean="0"/>
                                    </m:ctrlPr>
                                  </m:sSubPr>
                                  <m:e>
                                    <m:r>
                                      <a:rPr lang="en-US" altLang="zh-CN" sz="2200" b="0" smtClean="0">
                                        <a:latin typeface="Cambria Math" panose="02040503050406030204" pitchFamily="18" charset="0"/>
                                      </a:rPr>
                                      <m:t>𝑅</m:t>
                                    </m:r>
                                  </m:e>
                                  <m:sub>
                                    <m:r>
                                      <a:rPr lang="en-US" altLang="zh-CN" sz="2200" b="0" smtClean="0">
                                        <a:latin typeface="Cambria Math" panose="02040503050406030204" pitchFamily="18" charset="0"/>
                                      </a:rPr>
                                      <m:t>𝑖</m:t>
                                    </m:r>
                                  </m:sub>
                                </m:sSub>
                              </m:oMath>
                            </m:oMathPara>
                          </a14:m>
                          <a:endParaRPr lang="zh-CN" altLang="en-US" sz="2200" dirty="0"/>
                        </a:p>
                      </a:txBody>
                      <a:tcPr anchor="ctr"/>
                    </a:tc>
                    <a:tc gridSpan="4">
                      <a:txBody>
                        <a:bodyPr/>
                        <a:lstStyle/>
                        <a:p>
                          <a:pPr algn="ctr"/>
                          <a14:m>
                            <m:oMathPara xmlns:m="http://schemas.openxmlformats.org/officeDocument/2006/math">
                              <m:oMathParaPr>
                                <m:jc m:val="centerGroup"/>
                              </m:oMathParaPr>
                              <m:oMath xmlns:m="http://schemas.openxmlformats.org/officeDocument/2006/math">
                                <m:r>
                                  <a:rPr lang="en-US" altLang="zh-CN" sz="2200" b="0" smtClean="0">
                                    <a:latin typeface="Cambria Math" panose="02040503050406030204" pitchFamily="18" charset="0"/>
                                  </a:rPr>
                                  <m:t>𝑀</m:t>
                                </m:r>
                                <m:r>
                                  <a:rPr lang="en-US" altLang="zh-CN" sz="2200" b="0" smtClean="0">
                                    <a:latin typeface="Cambria Math" panose="02040503050406030204" pitchFamily="18" charset="0"/>
                                  </a:rPr>
                                  <m:t>[</m:t>
                                </m:r>
                                <m:r>
                                  <a:rPr lang="en-US" altLang="zh-CN" sz="2200" b="0" smtClean="0">
                                    <a:latin typeface="Cambria Math" panose="02040503050406030204" pitchFamily="18" charset="0"/>
                                  </a:rPr>
                                  <m:t>𝑖</m:t>
                                </m:r>
                                <m:r>
                                  <a:rPr lang="en-US" altLang="zh-CN" sz="2200" b="0" smtClean="0">
                                    <a:latin typeface="Cambria Math" panose="02040503050406030204" pitchFamily="18" charset="0"/>
                                  </a:rPr>
                                  <m:t>,</m:t>
                                </m:r>
                                <m:r>
                                  <a:rPr lang="en-US" altLang="zh-CN" sz="2200" b="0" smtClean="0">
                                    <a:latin typeface="Cambria Math" panose="02040503050406030204" pitchFamily="18" charset="0"/>
                                  </a:rPr>
                                  <m:t>𝑗</m:t>
                                </m:r>
                                <m:r>
                                  <a:rPr lang="en-US" altLang="zh-CN" sz="2200" b="0" smtClean="0">
                                    <a:latin typeface="Cambria Math" panose="02040503050406030204" pitchFamily="18" charset="0"/>
                                  </a:rPr>
                                  <m:t>]</m:t>
                                </m:r>
                              </m:oMath>
                            </m:oMathPara>
                          </a14:m>
                          <a:endParaRPr lang="zh-CN" altLang="en-US" sz="2200" dirty="0"/>
                        </a:p>
                      </a:txBody>
                      <a:tcPr anchor="ctr"/>
                    </a:tc>
                    <a:tc hMerge="1">
                      <a:tcPr/>
                    </a:tc>
                    <a:tc hMerge="1">
                      <a:tcPr/>
                    </a:tc>
                    <a:tc hMerge="1">
                      <a:tcPr/>
                    </a:tc>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sz="2200" smtClean="0"/>
                                    </m:ctrlPr>
                                  </m:sSubPr>
                                  <m:e>
                                    <m:r>
                                      <a:rPr lang="en-US" altLang="zh-CN" sz="2200" b="0" smtClean="0">
                                        <a:latin typeface="Cambria Math" panose="02040503050406030204" pitchFamily="18" charset="0"/>
                                      </a:rPr>
                                      <m:t>𝑅</m:t>
                                    </m:r>
                                  </m:e>
                                  <m:sub>
                                    <m:r>
                                      <a:rPr lang="en-US" altLang="zh-CN" sz="2200" b="0" smtClean="0">
                                        <a:latin typeface="Cambria Math" panose="02040503050406030204" pitchFamily="18" charset="0"/>
                                      </a:rPr>
                                      <m:t>𝑘</m:t>
                                    </m:r>
                                  </m:sub>
                                </m:sSub>
                              </m:oMath>
                            </m:oMathPara>
                          </a14:m>
                          <a:endParaRPr lang="zh-CN" altLang="en-US" sz="2200" dirty="0"/>
                        </a:p>
                      </a:txBody>
                      <a:tcPr anchor="ctr"/>
                    </a:tc>
                    <a:tc>
                      <a:txBody>
                        <a:bodyPr/>
                        <a:lstStyle/>
                        <a:p>
                          <a:pPr algn="ct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r>
                </a:tbl>
              </a:graphicData>
            </a:graphic>
          </p:graphicFrame>
        </mc:Choice>
        <mc:Fallback xmlns="">
          <p:graphicFrame>
            <p:nvGraphicFramePr>
              <p:cNvPr id="9" name="表格 8"/>
              <p:cNvGraphicFramePr>
                <a:graphicFrameLocks noGrp="1"/>
              </p:cNvGraphicFramePr>
              <p:nvPr/>
            </p:nvGraphicFramePr>
            <p:xfrm>
              <a:off x="2362195" y="4129468"/>
              <a:ext cx="8128000" cy="2592007"/>
            </p:xfrm>
            <a:graphic>
              <a:graphicData uri="http://schemas.openxmlformats.org/drawingml/2006/table">
                <a:tbl>
                  <a:tblPr firstRow="1" bandRow="1">
                    <a:tableStyleId>{2D5ABB26-0587-4C30-8999-92F81FD0307C}</a:tableStyleId>
                  </a:tblPr>
                  <a:tblGrid>
                    <a:gridCol w="1625600"/>
                    <a:gridCol w="1625600"/>
                    <a:gridCol w="1625600"/>
                    <a:gridCol w="1625600"/>
                    <a:gridCol w="1625600"/>
                  </a:tblGrid>
                  <a:tr h="453390">
                    <a:tc>
                      <a:txBody>
                        <a:bodyPr/>
                        <a:lstStyle/>
                        <a:p>
                          <a:pPr algn="ctr"/>
                          <a:endParaRPr lang="zh-CN" altLang="en-US" sz="2200" dirty="0"/>
                        </a:p>
                      </a:txBody>
                      <a:tcPr anchor="ctr"/>
                    </a:tc>
                    <a:tc>
                      <a:txBody>
                        <a:bodyPr/>
                        <a:lstStyle/>
                        <a:p>
                          <a:endParaRPr lang="zh-CN"/>
                        </a:p>
                      </a:txBody>
                      <a:tcPr anchor="ctr">
                        <a:blipFill>
                          <a:blip r:embed="rId2"/>
                        </a:blipFill>
                      </a:tcPr>
                    </a:tc>
                    <a:tc>
                      <a:txBody>
                        <a:bodyPr/>
                        <a:lstStyle/>
                        <a:p>
                          <a:endParaRPr lang="zh-CN"/>
                        </a:p>
                      </a:txBody>
                      <a:tcPr anchor="ctr">
                        <a:blipFill>
                          <a:blip r:embed="rId2"/>
                        </a:blipFill>
                      </a:tcPr>
                    </a:tc>
                    <a:tc>
                      <a:txBody>
                        <a:bodyPr/>
                        <a:lstStyle/>
                        <a:p>
                          <a:endParaRPr lang="zh-CN"/>
                        </a:p>
                      </a:txBody>
                      <a:tcPr anchor="ctr">
                        <a:blipFill>
                          <a:blip r:embed="rId2"/>
                        </a:blipFill>
                      </a:tcPr>
                    </a:tc>
                    <a:tc>
                      <a:txBody>
                        <a:bodyPr/>
                        <a:lstStyle/>
                        <a:p>
                          <a:endParaRPr lang="zh-CN"/>
                        </a:p>
                      </a:txBody>
                      <a:tcPr anchor="ctr">
                        <a:blipFill>
                          <a:blip r:embed="rId2"/>
                        </a:blipFill>
                      </a:tcPr>
                    </a:tc>
                  </a:tr>
                  <a:tr h="453390">
                    <a:tc>
                      <a:txBody>
                        <a:bodyPr/>
                        <a:lstStyle/>
                        <a:p>
                          <a:endParaRPr lang="zh-CN"/>
                        </a:p>
                      </a:txBody>
                      <a:tcPr anchor="ctr">
                        <a:blipFill>
                          <a:blip r:embed="rId2"/>
                        </a:blipFill>
                      </a:tcPr>
                    </a:tc>
                    <a:tc>
                      <a:txBody>
                        <a:bodyPr/>
                        <a:lstStyle/>
                        <a:p>
                          <a:pPr algn="ct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r>
                  <a:tr h="453390">
                    <a:tc>
                      <a:txBody>
                        <a:bodyPr/>
                        <a:lstStyle/>
                        <a:p>
                          <a:endParaRPr lang="zh-CN"/>
                        </a:p>
                      </a:txBody>
                      <a:tcPr anchor="ctr">
                        <a:blipFill>
                          <a:blip r:embed="rId2"/>
                        </a:blipFill>
                      </a:tcPr>
                    </a:tc>
                    <a:tc>
                      <a:txBody>
                        <a:bodyPr/>
                        <a:lstStyle/>
                        <a:p>
                          <a:pPr algn="ct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r>
                  <a:tr h="370840">
                    <a:tc>
                      <a:txBody>
                        <a:bodyPr/>
                        <a:lstStyle/>
                        <a:p>
                          <a:pPr algn="ctr"/>
                          <a:endParaRPr lang="zh-CN" altLang="en-US" sz="2200"/>
                        </a:p>
                      </a:txBody>
                      <a:tcPr anchor="ctr"/>
                    </a:tc>
                    <a:tc>
                      <a:txBody>
                        <a:bodyPr/>
                        <a:lstStyle/>
                        <a:p>
                          <a:pPr algn="ct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r>
                  <a:tr h="453390">
                    <a:tc>
                      <a:txBody>
                        <a:bodyPr/>
                        <a:lstStyle/>
                        <a:p>
                          <a:endParaRPr lang="zh-CN"/>
                        </a:p>
                      </a:txBody>
                      <a:tcPr anchor="ctr">
                        <a:blipFill>
                          <a:blip r:embed="rId2"/>
                        </a:blipFill>
                      </a:tcPr>
                    </a:tc>
                    <a:tc gridSpan="4">
                      <a:txBody>
                        <a:bodyPr/>
                        <a:lstStyle/>
                        <a:p>
                          <a:endParaRPr lang="zh-CN"/>
                        </a:p>
                      </a:txBody>
                      <a:tcPr anchor="ctr">
                        <a:blipFill>
                          <a:blip r:embed="rId2"/>
                        </a:blipFill>
                      </a:tcPr>
                    </a:tc>
                    <a:tc hMerge="1">
                      <a:tcPr/>
                    </a:tc>
                    <a:tc hMerge="1">
                      <a:tcPr/>
                    </a:tc>
                    <a:tc hMerge="1">
                      <a:tcPr/>
                    </a:tc>
                  </a:tr>
                  <a:tr h="453390">
                    <a:tc>
                      <a:txBody>
                        <a:bodyPr/>
                        <a:lstStyle/>
                        <a:p>
                          <a:endParaRPr lang="zh-CN"/>
                        </a:p>
                      </a:txBody>
                      <a:tcPr anchor="ctr">
                        <a:blipFill>
                          <a:blip r:embed="rId2"/>
                        </a:blipFill>
                      </a:tcPr>
                    </a:tc>
                    <a:tc>
                      <a:txBody>
                        <a:bodyPr/>
                        <a:lstStyle/>
                        <a:p>
                          <a:pPr algn="ct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200" dirty="0"/>
                            <a:t>…</a:t>
                          </a:r>
                          <a:endParaRPr lang="zh-CN" altLang="en-US" sz="2200" dirty="0"/>
                        </a:p>
                      </a:txBody>
                      <a:tcPr anchor="ctr"/>
                    </a:tc>
                  </a:tr>
                </a:tbl>
              </a:graphicData>
            </a:graphic>
          </p:graphicFrame>
        </mc:Fallback>
      </mc:AlternateContent>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无损分解的判别算法</a:t>
            </a:r>
            <a:endParaRPr lang="en-US" altLang="zh-CN" dirty="0"/>
          </a:p>
          <a:p>
            <a:pPr marL="0" indent="0">
              <a:buNone/>
            </a:pPr>
            <a:endParaRPr lang="zh-CN" altLang="en-US" sz="2200" baseline="-25000" dirty="0"/>
          </a:p>
          <a:p>
            <a:pPr lvl="1"/>
            <a:endParaRPr lang="zh-CN" altLang="en-US" dirty="0"/>
          </a:p>
          <a:p>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8" name="Rectangle 3"/>
          <p:cNvSpPr txBox="1">
            <a:spLocks noChangeArrowheads="1"/>
          </p:cNvSpPr>
          <p:nvPr/>
        </p:nvSpPr>
        <p:spPr>
          <a:xfrm>
            <a:off x="699868" y="1842070"/>
            <a:ext cx="7772400" cy="381000"/>
          </a:xfrm>
          <a:prstGeom prst="rect">
            <a:avLst/>
          </a:prstGeom>
        </p:spPr>
        <p:txBody>
          <a:bodyPr vert="horz" lIns="91440" tIns="45720" rIns="91440" bIns="45720" rtlCol="0">
            <a:noAutofit/>
          </a:bodyPr>
          <a:lstStyle>
            <a:lvl1pPr marL="228600" indent="-228600" algn="just"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just"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just"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kumimoji="1" lang="zh-CN" altLang="en-US" sz="2200" b="0" dirty="0"/>
              <a:t>符号表</a:t>
            </a:r>
            <a:r>
              <a:rPr kumimoji="1" lang="en-US" altLang="zh-CN" sz="2200" b="0" dirty="0"/>
              <a:t>M</a:t>
            </a:r>
            <a:r>
              <a:rPr kumimoji="1" lang="zh-CN" altLang="en-US" sz="2200" b="0" dirty="0"/>
              <a:t>各元素的值由下面的规则确定：</a:t>
            </a:r>
            <a:endParaRPr lang="zh-CN" altLang="en-US" sz="2200" b="0" dirty="0"/>
          </a:p>
        </p:txBody>
      </p:sp>
      <p:graphicFrame>
        <p:nvGraphicFramePr>
          <p:cNvPr id="9" name="Object 4"/>
          <p:cNvGraphicFramePr>
            <a:graphicFrameLocks noChangeAspect="1"/>
          </p:cNvGraphicFramePr>
          <p:nvPr/>
        </p:nvGraphicFramePr>
        <p:xfrm>
          <a:off x="4239619" y="2290291"/>
          <a:ext cx="2952551" cy="962025"/>
        </p:xfrm>
        <a:graphic>
          <a:graphicData uri="http://schemas.openxmlformats.org/presentationml/2006/ole">
            <mc:AlternateContent xmlns:mc="http://schemas.openxmlformats.org/markup-compatibility/2006">
              <mc:Choice xmlns:v="urn:schemas-microsoft-com:vml" Requires="v">
                <p:oleObj spid="_x0000_s0" name="Equation" r:id="rId1" imgW="1478915" imgH="506095" progId="Equation.DSMT4">
                  <p:embed/>
                </p:oleObj>
              </mc:Choice>
              <mc:Fallback>
                <p:oleObj name="Equation" r:id="rId1" imgW="1478915" imgH="506095"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9619" y="2290291"/>
                        <a:ext cx="2952551" cy="962025"/>
                      </a:xfrm>
                      <a:prstGeom prst="rect">
                        <a:avLst/>
                      </a:prstGeom>
                      <a:solidFill>
                        <a:schemeClr val="bg1"/>
                      </a:solidFill>
                      <a:ln>
                        <a:noFill/>
                      </a:ln>
                    </p:spPr>
                  </p:pic>
                </p:oleObj>
              </mc:Fallback>
            </mc:AlternateContent>
          </a:graphicData>
        </a:graphic>
      </p:graphicFrame>
      <mc:AlternateContent xmlns:mc="http://schemas.openxmlformats.org/markup-compatibility/2006">
        <mc:Choice xmlns:a14="http://schemas.microsoft.com/office/drawing/2010/main" Requires="a14">
          <p:sp>
            <p:nvSpPr>
              <p:cNvPr id="10" name="Rectangle 5"/>
              <p:cNvSpPr>
                <a:spLocks noChangeArrowheads="1"/>
              </p:cNvSpPr>
              <p:nvPr/>
            </p:nvSpPr>
            <p:spPr bwMode="auto">
              <a:xfrm>
                <a:off x="699867" y="3429000"/>
                <a:ext cx="11032587"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93675" indent="-193675">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just">
                  <a:lnSpc>
                    <a:spcPct val="120000"/>
                  </a:lnSpc>
                  <a:buFont typeface="Arial" panose="020B0604020202020204" pitchFamily="34" charset="0"/>
                  <a:buChar char="•"/>
                </a:pPr>
                <a:r>
                  <a:rPr kumimoji="1" lang="zh-CN" altLang="en-US" sz="2200" dirty="0">
                    <a:latin typeface="微软雅黑" panose="020B0503020204020204" pitchFamily="34" charset="-122"/>
                    <a:ea typeface="微软雅黑" panose="020B0503020204020204" pitchFamily="34" charset="-122"/>
                  </a:rPr>
                  <a:t>用</a:t>
                </a:r>
                <a:r>
                  <a:rPr kumimoji="1" lang="en-US" altLang="zh-CN" sz="2200" dirty="0">
                    <a:latin typeface="微软雅黑" panose="020B0503020204020204" pitchFamily="34" charset="-122"/>
                    <a:ea typeface="微软雅黑" panose="020B0503020204020204" pitchFamily="34" charset="-122"/>
                  </a:rPr>
                  <a:t>F</a:t>
                </a:r>
                <a:r>
                  <a:rPr kumimoji="1" lang="zh-CN" altLang="en-US" sz="2200" dirty="0">
                    <a:latin typeface="微软雅黑" panose="020B0503020204020204" pitchFamily="34" charset="-122"/>
                    <a:ea typeface="微软雅黑" panose="020B0503020204020204" pitchFamily="34" charset="-122"/>
                  </a:rPr>
                  <a:t>中的每一函数依赖</a:t>
                </a:r>
                <a14:m>
                  <m:oMath xmlns:m="http://schemas.openxmlformats.org/officeDocument/2006/math">
                    <m:r>
                      <a:rPr kumimoji="1" lang="en-US" altLang="zh-CN" sz="2200" i="1" dirty="0" smtClean="0">
                        <a:latin typeface="Cambria Math" panose="02040503050406030204" pitchFamily="18" charset="0"/>
                        <a:ea typeface="微软雅黑" panose="020B0503020204020204" pitchFamily="34" charset="-122"/>
                      </a:rPr>
                      <m:t>𝑋</m:t>
                    </m:r>
                    <m:r>
                      <a:rPr kumimoji="1" lang="en-US" altLang="zh-CN" sz="2200" i="1" dirty="0" smtClean="0">
                        <a:latin typeface="Cambria Math" panose="02040503050406030204" pitchFamily="18" charset="0"/>
                        <a:ea typeface="微软雅黑" panose="020B0503020204020204" pitchFamily="34" charset="-122"/>
                      </a:rPr>
                      <m:t>→</m:t>
                    </m:r>
                    <m:r>
                      <a:rPr kumimoji="1" lang="en-US" altLang="zh-CN" sz="2200" i="1" dirty="0" smtClean="0">
                        <a:latin typeface="Cambria Math" panose="02040503050406030204" pitchFamily="18" charset="0"/>
                        <a:ea typeface="微软雅黑" panose="020B0503020204020204" pitchFamily="34" charset="-122"/>
                      </a:rPr>
                      <m:t>𝑌</m:t>
                    </m:r>
                  </m:oMath>
                </a14:m>
                <a:r>
                  <a:rPr kumimoji="1" lang="zh-CN" altLang="en-US" sz="2200" dirty="0">
                    <a:latin typeface="微软雅黑" panose="020B0503020204020204" pitchFamily="34" charset="-122"/>
                    <a:ea typeface="微软雅黑" panose="020B0503020204020204" pitchFamily="34" charset="-122"/>
                  </a:rPr>
                  <a:t>对</a:t>
                </a:r>
                <a:r>
                  <a:rPr kumimoji="1" lang="en-US" altLang="zh-CN" sz="2200" dirty="0">
                    <a:latin typeface="微软雅黑" panose="020B0503020204020204" pitchFamily="34" charset="-122"/>
                    <a:ea typeface="微软雅黑" panose="020B0503020204020204" pitchFamily="34" charset="-122"/>
                  </a:rPr>
                  <a:t>M</a:t>
                </a:r>
                <a:r>
                  <a:rPr kumimoji="1" lang="zh-CN" altLang="en-US" sz="2200" dirty="0">
                    <a:latin typeface="微软雅黑" panose="020B0503020204020204" pitchFamily="34" charset="-122"/>
                    <a:ea typeface="微软雅黑" panose="020B0503020204020204" pitchFamily="34" charset="-122"/>
                  </a:rPr>
                  <a:t>反复进行下列检查和处理：检查</a:t>
                </a:r>
                <a:r>
                  <a:rPr kumimoji="1" lang="en-US" altLang="zh-CN" sz="2200" dirty="0">
                    <a:latin typeface="微软雅黑" panose="020B0503020204020204" pitchFamily="34" charset="-122"/>
                    <a:ea typeface="微软雅黑" panose="020B0503020204020204" pitchFamily="34" charset="-122"/>
                  </a:rPr>
                  <a:t>X</a:t>
                </a:r>
                <a:r>
                  <a:rPr kumimoji="1" lang="zh-CN" altLang="en-US" sz="2200" dirty="0">
                    <a:latin typeface="微软雅黑" panose="020B0503020204020204" pitchFamily="34" charset="-122"/>
                    <a:ea typeface="微软雅黑" panose="020B0503020204020204" pitchFamily="34" charset="-122"/>
                  </a:rPr>
                  <a:t>中的属性所对应的列，找出在</a:t>
                </a:r>
                <a:r>
                  <a:rPr kumimoji="1" lang="en-US" altLang="zh-CN" sz="2200" dirty="0">
                    <a:latin typeface="微软雅黑" panose="020B0503020204020204" pitchFamily="34" charset="-122"/>
                    <a:ea typeface="微软雅黑" panose="020B0503020204020204" pitchFamily="34" charset="-122"/>
                  </a:rPr>
                  <a:t>X</a:t>
                </a:r>
                <a:r>
                  <a:rPr kumimoji="1" lang="zh-CN" altLang="en-US" sz="2200" dirty="0">
                    <a:latin typeface="微软雅黑" panose="020B0503020204020204" pitchFamily="34" charset="-122"/>
                    <a:ea typeface="微软雅黑" panose="020B0503020204020204" pitchFamily="34" charset="-122"/>
                  </a:rPr>
                  <a:t>上取值相等的行，如果找到两个</a:t>
                </a:r>
                <a:r>
                  <a:rPr kumimoji="1" lang="en-US" altLang="zh-CN" sz="2200" dirty="0">
                    <a:latin typeface="微软雅黑" panose="020B0503020204020204" pitchFamily="34" charset="-122"/>
                    <a:ea typeface="微软雅黑" panose="020B0503020204020204" pitchFamily="34" charset="-122"/>
                  </a:rPr>
                  <a:t>(</a:t>
                </a:r>
                <a:r>
                  <a:rPr kumimoji="1" lang="zh-CN" altLang="en-US" sz="2200" dirty="0">
                    <a:latin typeface="微软雅黑" panose="020B0503020204020204" pitchFamily="34" charset="-122"/>
                    <a:ea typeface="微软雅黑" panose="020B0503020204020204" pitchFamily="34" charset="-122"/>
                  </a:rPr>
                  <a:t>或多个</a:t>
                </a:r>
                <a:r>
                  <a:rPr kumimoji="1" lang="en-US" altLang="zh-CN" sz="2200" dirty="0">
                    <a:latin typeface="微软雅黑" panose="020B0503020204020204" pitchFamily="34" charset="-122"/>
                    <a:ea typeface="微软雅黑" panose="020B0503020204020204" pitchFamily="34" charset="-122"/>
                  </a:rPr>
                  <a:t>)</a:t>
                </a:r>
                <a:r>
                  <a:rPr kumimoji="1" lang="zh-CN" altLang="en-US" sz="2200" dirty="0">
                    <a:latin typeface="微软雅黑" panose="020B0503020204020204" pitchFamily="34" charset="-122"/>
                    <a:ea typeface="微软雅黑" panose="020B0503020204020204" pitchFamily="34" charset="-122"/>
                  </a:rPr>
                  <a:t>行在</a:t>
                </a:r>
                <a:r>
                  <a:rPr kumimoji="1" lang="en-US" altLang="zh-CN" sz="2200" dirty="0">
                    <a:latin typeface="微软雅黑" panose="020B0503020204020204" pitchFamily="34" charset="-122"/>
                    <a:ea typeface="微软雅黑" panose="020B0503020204020204" pitchFamily="34" charset="-122"/>
                  </a:rPr>
                  <a:t>X</a:t>
                </a:r>
                <a:r>
                  <a:rPr kumimoji="1" lang="zh-CN" altLang="en-US" sz="2200" dirty="0">
                    <a:latin typeface="微软雅黑" panose="020B0503020204020204" pitchFamily="34" charset="-122"/>
                    <a:ea typeface="微软雅黑" panose="020B0503020204020204" pitchFamily="34" charset="-122"/>
                  </a:rPr>
                  <a:t>上取值相等，就将对应行中</a:t>
                </a:r>
                <a:r>
                  <a:rPr kumimoji="1" lang="en-US" altLang="zh-CN" sz="2200" dirty="0">
                    <a:latin typeface="微软雅黑" panose="020B0503020204020204" pitchFamily="34" charset="-122"/>
                    <a:ea typeface="微软雅黑" panose="020B0503020204020204" pitchFamily="34" charset="-122"/>
                  </a:rPr>
                  <a:t>Y</a:t>
                </a:r>
                <a:r>
                  <a:rPr kumimoji="1" lang="zh-CN" altLang="en-US" sz="2200" dirty="0">
                    <a:latin typeface="微软雅黑" panose="020B0503020204020204" pitchFamily="34" charset="-122"/>
                    <a:ea typeface="微软雅黑" panose="020B0503020204020204" pitchFamily="34" charset="-122"/>
                  </a:rPr>
                  <a:t>中属性所对应的符号改为一致，即如果其中之一为</a:t>
                </a:r>
                <a14:m>
                  <m:oMath xmlns:m="http://schemas.openxmlformats.org/officeDocument/2006/math">
                    <m:sSub>
                      <m:sSubPr>
                        <m:ctrlPr>
                          <a:rPr kumimoji="1" lang="en-US" altLang="zh-CN" sz="2200" i="1" smtClean="0">
                            <a:latin typeface="Cambria Math" panose="02040503050406030204" pitchFamily="18" charset="0"/>
                            <a:ea typeface="微软雅黑" panose="020B0503020204020204" pitchFamily="34" charset="-122"/>
                          </a:rPr>
                        </m:ctrlPr>
                      </m:sSubPr>
                      <m:e>
                        <m:r>
                          <a:rPr kumimoji="1" lang="en-US" altLang="zh-CN" sz="2200" b="0" i="1" smtClean="0">
                            <a:latin typeface="Cambria Math" panose="02040503050406030204" pitchFamily="18" charset="0"/>
                            <a:ea typeface="微软雅黑" panose="020B0503020204020204" pitchFamily="34" charset="-122"/>
                          </a:rPr>
                          <m:t>𝑎</m:t>
                        </m:r>
                      </m:e>
                      <m:sub>
                        <m:r>
                          <a:rPr kumimoji="1" lang="en-US" altLang="zh-CN" sz="2200" b="0" i="1" smtClean="0">
                            <a:latin typeface="Cambria Math" panose="02040503050406030204" pitchFamily="18" charset="0"/>
                            <a:ea typeface="微软雅黑" panose="020B0503020204020204" pitchFamily="34" charset="-122"/>
                          </a:rPr>
                          <m:t>𝑗</m:t>
                        </m:r>
                      </m:sub>
                    </m:sSub>
                  </m:oMath>
                </a14:m>
                <a:r>
                  <a:rPr kumimoji="1" lang="zh-CN" altLang="en-US" sz="2200" dirty="0">
                    <a:latin typeface="微软雅黑" panose="020B0503020204020204" pitchFamily="34" charset="-122"/>
                    <a:ea typeface="微软雅黑" panose="020B0503020204020204" pitchFamily="34" charset="-122"/>
                  </a:rPr>
                  <a:t>，则将其他符号也改为</a:t>
                </a:r>
                <a14:m>
                  <m:oMath xmlns:m="http://schemas.openxmlformats.org/officeDocument/2006/math">
                    <m:sSub>
                      <m:sSubPr>
                        <m:ctrlPr>
                          <a:rPr kumimoji="1" lang="en-US" altLang="zh-CN" sz="2200" i="1">
                            <a:latin typeface="Cambria Math" panose="02040503050406030204" pitchFamily="18" charset="0"/>
                            <a:ea typeface="微软雅黑" panose="020B0503020204020204" pitchFamily="34" charset="-122"/>
                          </a:rPr>
                        </m:ctrlPr>
                      </m:sSubPr>
                      <m:e>
                        <m:r>
                          <a:rPr kumimoji="1" lang="en-US" altLang="zh-CN" sz="2200" i="1">
                            <a:latin typeface="Cambria Math" panose="02040503050406030204" pitchFamily="18" charset="0"/>
                            <a:ea typeface="微软雅黑" panose="020B0503020204020204" pitchFamily="34" charset="-122"/>
                          </a:rPr>
                          <m:t>𝑎</m:t>
                        </m:r>
                      </m:e>
                      <m:sub>
                        <m:r>
                          <a:rPr kumimoji="1" lang="en-US" altLang="zh-CN" sz="2200" i="1">
                            <a:latin typeface="Cambria Math" panose="02040503050406030204" pitchFamily="18" charset="0"/>
                            <a:ea typeface="微软雅黑" panose="020B0503020204020204" pitchFamily="34" charset="-122"/>
                          </a:rPr>
                          <m:t>𝑗</m:t>
                        </m:r>
                      </m:sub>
                    </m:sSub>
                    <m:r>
                      <a:rPr kumimoji="1" lang="en-US" altLang="zh-CN" sz="2200" i="1">
                        <a:latin typeface="Cambria Math" panose="02040503050406030204" pitchFamily="18" charset="0"/>
                        <a:ea typeface="微软雅黑" panose="020B0503020204020204" pitchFamily="34" charset="-122"/>
                      </a:rPr>
                      <m:t> </m:t>
                    </m:r>
                  </m:oMath>
                </a14:m>
                <a:r>
                  <a:rPr kumimoji="1" lang="zh-CN" altLang="en-US" sz="2200" dirty="0">
                    <a:latin typeface="微软雅黑" panose="020B0503020204020204" pitchFamily="34" charset="-122"/>
                    <a:ea typeface="微软雅黑" panose="020B0503020204020204" pitchFamily="34" charset="-122"/>
                  </a:rPr>
                  <a:t>；如果全部符号都是“</a:t>
                </a:r>
                <a:r>
                  <a:rPr kumimoji="1" lang="en-US" altLang="zh-CN" sz="2200" dirty="0">
                    <a:latin typeface="微软雅黑" panose="020B0503020204020204" pitchFamily="34" charset="-122"/>
                    <a:ea typeface="微软雅黑" panose="020B0503020204020204" pitchFamily="34" charset="-122"/>
                  </a:rPr>
                  <a:t>b”</a:t>
                </a:r>
                <a:r>
                  <a:rPr kumimoji="1" lang="zh-CN" altLang="en-US" sz="2200" dirty="0">
                    <a:latin typeface="微软雅黑" panose="020B0503020204020204" pitchFamily="34" charset="-122"/>
                    <a:ea typeface="微软雅黑" panose="020B0503020204020204" pitchFamily="34" charset="-122"/>
                  </a:rPr>
                  <a:t>符号，则将它们改为同样的“</a:t>
                </a:r>
                <a:r>
                  <a:rPr kumimoji="1" lang="en-US" altLang="zh-CN" sz="2200" dirty="0">
                    <a:latin typeface="微软雅黑" panose="020B0503020204020204" pitchFamily="34" charset="-122"/>
                    <a:ea typeface="微软雅黑" panose="020B0503020204020204" pitchFamily="34" charset="-122"/>
                  </a:rPr>
                  <a:t>b”</a:t>
                </a:r>
                <a:r>
                  <a:rPr kumimoji="1" lang="zh-CN" altLang="en-US" sz="2200" dirty="0">
                    <a:latin typeface="微软雅黑" panose="020B0503020204020204" pitchFamily="34" charset="-122"/>
                    <a:ea typeface="微软雅黑" panose="020B0503020204020204" pitchFamily="34" charset="-122"/>
                  </a:rPr>
                  <a:t>符号</a:t>
                </a:r>
                <a:endParaRPr kumimoji="1" lang="en-US" altLang="zh-CN" sz="2200" dirty="0">
                  <a:latin typeface="微软雅黑" panose="020B0503020204020204" pitchFamily="34" charset="-122"/>
                  <a:ea typeface="微软雅黑" panose="020B0503020204020204" pitchFamily="34" charset="-122"/>
                </a:endParaRPr>
              </a:p>
              <a:p>
                <a:pPr algn="just" eaLnBrk="1" hangingPunct="1">
                  <a:lnSpc>
                    <a:spcPct val="120000"/>
                  </a:lnSpc>
                  <a:buFont typeface="Arial" panose="020B0604020202020204" pitchFamily="34" charset="0"/>
                  <a:buChar char="•"/>
                </a:pPr>
                <a:r>
                  <a:rPr kumimoji="1" lang="zh-CN" altLang="en-US" sz="2200" dirty="0">
                    <a:latin typeface="微软雅黑" panose="020B0503020204020204" pitchFamily="34" charset="-122"/>
                    <a:ea typeface="微软雅黑" panose="020B0503020204020204" pitchFamily="34" charset="-122"/>
                  </a:rPr>
                  <a:t>如此进行下去，直到发现</a:t>
                </a:r>
                <a:r>
                  <a:rPr kumimoji="1" lang="en-US" altLang="zh-CN" sz="2200" dirty="0">
                    <a:latin typeface="微软雅黑" panose="020B0503020204020204" pitchFamily="34" charset="-122"/>
                    <a:ea typeface="微软雅黑" panose="020B0503020204020204" pitchFamily="34" charset="-122"/>
                  </a:rPr>
                  <a:t>M</a:t>
                </a:r>
                <a:r>
                  <a:rPr kumimoji="1" lang="zh-CN" altLang="en-US" sz="2200" dirty="0">
                    <a:latin typeface="微软雅黑" panose="020B0503020204020204" pitchFamily="34" charset="-122"/>
                    <a:ea typeface="微软雅黑" panose="020B0503020204020204" pitchFamily="34" charset="-122"/>
                  </a:rPr>
                  <a:t>中某一行变为：</a:t>
                </a:r>
                <a:r>
                  <a:rPr kumimoji="1" lang="en-US" altLang="zh-CN" sz="2200" dirty="0">
                    <a:latin typeface="微软雅黑" panose="020B0503020204020204" pitchFamily="34" charset="-122"/>
                    <a:ea typeface="微软雅黑" panose="020B0503020204020204" pitchFamily="34" charset="-122"/>
                  </a:rPr>
                  <a:t>a</a:t>
                </a:r>
                <a:r>
                  <a:rPr kumimoji="1" lang="en-US" altLang="zh-CN" sz="2200" baseline="-25000" dirty="0">
                    <a:latin typeface="微软雅黑" panose="020B0503020204020204" pitchFamily="34" charset="-122"/>
                    <a:ea typeface="微软雅黑" panose="020B0503020204020204" pitchFamily="34" charset="-122"/>
                  </a:rPr>
                  <a:t>1</a:t>
                </a:r>
                <a:r>
                  <a:rPr kumimoji="1" lang="en-US" altLang="zh-CN" sz="2200" dirty="0">
                    <a:latin typeface="微软雅黑" panose="020B0503020204020204" pitchFamily="34" charset="-122"/>
                    <a:ea typeface="微软雅黑" panose="020B0503020204020204" pitchFamily="34" charset="-122"/>
                  </a:rPr>
                  <a:t>,a</a:t>
                </a:r>
                <a:r>
                  <a:rPr kumimoji="1" lang="en-US" altLang="zh-CN" sz="2200" baseline="-25000" dirty="0">
                    <a:latin typeface="微软雅黑" panose="020B0503020204020204" pitchFamily="34" charset="-122"/>
                    <a:ea typeface="微软雅黑" panose="020B0503020204020204" pitchFamily="34" charset="-122"/>
                  </a:rPr>
                  <a:t>2</a:t>
                </a:r>
                <a:r>
                  <a:rPr kumimoji="1" lang="en-US" altLang="zh-CN" sz="2200" dirty="0">
                    <a:latin typeface="微软雅黑" panose="020B0503020204020204" pitchFamily="34" charset="-122"/>
                    <a:ea typeface="微软雅黑" panose="020B0503020204020204" pitchFamily="34" charset="-122"/>
                  </a:rPr>
                  <a:t>,……,a</a:t>
                </a:r>
                <a:r>
                  <a:rPr kumimoji="1" lang="en-US" altLang="zh-CN" sz="2200" baseline="-25000" dirty="0">
                    <a:latin typeface="微软雅黑" panose="020B0503020204020204" pitchFamily="34" charset="-122"/>
                    <a:ea typeface="微软雅黑" panose="020B0503020204020204" pitchFamily="34" charset="-122"/>
                  </a:rPr>
                  <a:t>n</a:t>
                </a:r>
                <a:r>
                  <a:rPr kumimoji="1" lang="zh-CN" altLang="en-US" sz="2200" dirty="0">
                    <a:latin typeface="微软雅黑" panose="020B0503020204020204" pitchFamily="34" charset="-122"/>
                    <a:ea typeface="微软雅黑" panose="020B0503020204020204" pitchFamily="34" charset="-122"/>
                  </a:rPr>
                  <a:t>，则说明</a:t>
                </a:r>
                <a14:m>
                  <m:oMath xmlns:m="http://schemas.openxmlformats.org/officeDocument/2006/math">
                    <m:r>
                      <a:rPr kumimoji="1" lang="zh-CN" altLang="en-US" sz="2200" i="1" smtClean="0">
                        <a:latin typeface="Cambria Math" panose="02040503050406030204" pitchFamily="18" charset="0"/>
                        <a:ea typeface="微软雅黑" panose="020B0503020204020204" pitchFamily="34" charset="-122"/>
                      </a:rPr>
                      <m:t>𝜌</m:t>
                    </m:r>
                  </m:oMath>
                </a14:m>
                <a:r>
                  <a:rPr kumimoji="1" lang="zh-CN" altLang="en-US" sz="2200" dirty="0">
                    <a:latin typeface="微软雅黑" panose="020B0503020204020204" pitchFamily="34" charset="-122"/>
                    <a:ea typeface="微软雅黑" panose="020B0503020204020204" pitchFamily="34" charset="-122"/>
                  </a:rPr>
                  <a:t>是无损连接分解；</a:t>
                </a:r>
                <a:endParaRPr kumimoji="1" lang="en-US" altLang="zh-CN" sz="2200" dirty="0">
                  <a:latin typeface="微软雅黑" panose="020B0503020204020204" pitchFamily="34" charset="-122"/>
                  <a:ea typeface="微软雅黑" panose="020B0503020204020204" pitchFamily="34" charset="-122"/>
                </a:endParaRPr>
              </a:p>
              <a:p>
                <a:pPr algn="just">
                  <a:lnSpc>
                    <a:spcPct val="120000"/>
                  </a:lnSpc>
                  <a:buFont typeface="Arial" panose="020B0604020202020204" pitchFamily="34" charset="0"/>
                  <a:buChar char="•"/>
                </a:pPr>
                <a:r>
                  <a:rPr kumimoji="1" lang="zh-CN" altLang="en-US" sz="2200" dirty="0">
                    <a:latin typeface="微软雅黑" panose="020B0503020204020204" pitchFamily="34" charset="-122"/>
                    <a:ea typeface="微软雅黑" panose="020B0503020204020204" pitchFamily="34" charset="-122"/>
                  </a:rPr>
                  <a:t>否则，一直进行到</a:t>
                </a:r>
                <a:r>
                  <a:rPr kumimoji="1" lang="en-US" altLang="zh-CN" sz="2200" dirty="0">
                    <a:latin typeface="微软雅黑" panose="020B0503020204020204" pitchFamily="34" charset="-122"/>
                    <a:ea typeface="微软雅黑" panose="020B0503020204020204" pitchFamily="34" charset="-122"/>
                  </a:rPr>
                  <a:t>M</a:t>
                </a:r>
                <a:r>
                  <a:rPr kumimoji="1" lang="zh-CN" altLang="en-US" sz="2200" dirty="0">
                    <a:latin typeface="微软雅黑" panose="020B0503020204020204" pitchFamily="34" charset="-122"/>
                    <a:ea typeface="微软雅黑" panose="020B0503020204020204" pitchFamily="34" charset="-122"/>
                  </a:rPr>
                  <a:t>不再改变为止，则说明</a:t>
                </a:r>
                <a14:m>
                  <m:oMath xmlns:m="http://schemas.openxmlformats.org/officeDocument/2006/math">
                    <m:r>
                      <a:rPr kumimoji="1" lang="zh-CN" altLang="en-US" sz="2200" i="1">
                        <a:latin typeface="Cambria Math" panose="02040503050406030204" pitchFamily="18" charset="0"/>
                        <a:ea typeface="微软雅黑" panose="020B0503020204020204" pitchFamily="34" charset="-122"/>
                      </a:rPr>
                      <m:t>𝜌</m:t>
                    </m:r>
                  </m:oMath>
                </a14:m>
                <a:r>
                  <a:rPr kumimoji="1" lang="zh-CN" altLang="en-US" sz="2200" dirty="0">
                    <a:latin typeface="微软雅黑" panose="020B0503020204020204" pitchFamily="34" charset="-122"/>
                    <a:ea typeface="微软雅黑" panose="020B0503020204020204" pitchFamily="34" charset="-122"/>
                  </a:rPr>
                  <a:t>不是无损连接分解</a:t>
                </a:r>
                <a:endParaRPr kumimoji="1" lang="zh-CN" altLang="en-US" sz="2200" dirty="0">
                  <a:latin typeface="微软雅黑" panose="020B0503020204020204" pitchFamily="34" charset="-122"/>
                  <a:ea typeface="微软雅黑" panose="020B0503020204020204" pitchFamily="34" charset="-122"/>
                </a:endParaRPr>
              </a:p>
            </p:txBody>
          </p:sp>
        </mc:Choice>
        <mc:Fallback>
          <p:sp>
            <p:nvSpPr>
              <p:cNvPr id="10" name="Rectangle 5"/>
              <p:cNvSpPr>
                <a:spLocks noRot="1" noChangeAspect="1" noMove="1" noResize="1" noEditPoints="1" noAdjustHandles="1" noChangeArrowheads="1" noChangeShapeType="1" noTextEdit="1"/>
              </p:cNvSpPr>
              <p:nvPr/>
            </p:nvSpPr>
            <p:spPr bwMode="auto">
              <a:xfrm>
                <a:off x="699867" y="3429000"/>
                <a:ext cx="11032587" cy="3657600"/>
              </a:xfrm>
              <a:prstGeom prst="rect">
                <a:avLst/>
              </a:prstGeom>
              <a:blipFill rotWithShape="1">
                <a:blip r:embed="rId3"/>
                <a:stretch>
                  <a:fillRect l="-1" r="-84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anim calcmode="lin" valueType="num">
                                      <p:cBhvr additive="base">
                                        <p:cTn id="13" dur="500" fill="hold"/>
                                        <p:tgtEl>
                                          <p:spTgt spid="10">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anim calcmode="lin" valueType="num">
                                      <p:cBhvr additive="base">
                                        <p:cTn id="19" dur="500" fill="hold"/>
                                        <p:tgtEl>
                                          <p:spTgt spid="10">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 calcmode="lin" valueType="num">
                                      <p:cBhvr additive="base">
                                        <p:cTn id="25" dur="500" fill="hold"/>
                                        <p:tgtEl>
                                          <p:spTgt spid="10">
                                            <p:txEl>
                                              <p:pRg st="2" end="2"/>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4" autoUpdateAnimBg="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无损分解的判别算法</a:t>
                </a:r>
                <a:endParaRPr lang="en-US" altLang="zh-CN" dirty="0"/>
              </a:p>
              <a:p>
                <a:pPr lvl="1"/>
                <a:r>
                  <a:rPr lang="zh-CN" altLang="en-US" b="0" dirty="0"/>
                  <a:t>例</a:t>
                </a:r>
                <a:r>
                  <a:rPr lang="en-US" altLang="zh-CN" b="0" dirty="0"/>
                  <a:t>: </a:t>
                </a:r>
                <a14:m>
                  <m:oMath xmlns:m="http://schemas.openxmlformats.org/officeDocument/2006/math">
                    <m:r>
                      <a:rPr lang="en-US" altLang="zh-CN" b="0" i="1" dirty="0" smtClean="0">
                        <a:latin typeface="Cambria Math" panose="02040503050406030204" pitchFamily="18" charset="0"/>
                      </a:rPr>
                      <m:t>𝑅</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𝐴</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𝐶</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𝐷</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𝐸</m:t>
                    </m:r>
                    <m:r>
                      <a:rPr lang="en-US" altLang="zh-CN" b="0" i="1" dirty="0" smtClean="0">
                        <a:latin typeface="Cambria Math" panose="02040503050406030204" pitchFamily="18" charset="0"/>
                      </a:rPr>
                      <m:t>)</m:t>
                    </m:r>
                  </m:oMath>
                </a14:m>
                <a:endParaRPr lang="en-US" altLang="zh-CN" b="0" dirty="0"/>
              </a:p>
              <a:p>
                <a:pPr lvl="1">
                  <a:buNone/>
                </a:pPr>
                <a:r>
                  <a:rPr lang="en-US" altLang="zh-CN" dirty="0"/>
                  <a:t>       </a:t>
                </a:r>
                <a14:m>
                  <m:oMath xmlns:m="http://schemas.openxmlformats.org/officeDocument/2006/math">
                    <m:r>
                      <a:rPr lang="en-US" altLang="zh-CN" i="1" dirty="0" smtClean="0">
                        <a:latin typeface="Cambria Math" panose="02040503050406030204" pitchFamily="18" charset="0"/>
                      </a:rPr>
                      <m:t>𝐹</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𝐴</m:t>
                    </m:r>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rPr>
                      <m:t>𝐶</m:t>
                    </m:r>
                    <m:r>
                      <a:rPr lang="en-US" altLang="zh-CN" i="1" dirty="0">
                        <a:latin typeface="Cambria Math" panose="02040503050406030204" pitchFamily="18" charset="0"/>
                      </a:rPr>
                      <m:t>, </m:t>
                    </m:r>
                    <m:r>
                      <a:rPr lang="en-US" altLang="zh-CN" i="1" dirty="0">
                        <a:latin typeface="Cambria Math" panose="02040503050406030204" pitchFamily="18" charset="0"/>
                      </a:rPr>
                      <m:t>𝐵</m:t>
                    </m:r>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𝐶</m:t>
                    </m:r>
                    <m:r>
                      <a:rPr lang="en-US" altLang="zh-CN" i="1" dirty="0">
                        <a:latin typeface="Cambria Math" panose="02040503050406030204" pitchFamily="18" charset="0"/>
                        <a:cs typeface="Arial" panose="020B0604020202020204" pitchFamily="34" charset="0"/>
                      </a:rPr>
                      <m:t>, </m:t>
                    </m:r>
                    <m:r>
                      <a:rPr lang="en-US" altLang="zh-CN" i="1" dirty="0">
                        <a:latin typeface="Cambria Math" panose="02040503050406030204" pitchFamily="18" charset="0"/>
                        <a:cs typeface="Arial" panose="020B0604020202020204" pitchFamily="34" charset="0"/>
                      </a:rPr>
                      <m:t>𝐶</m:t>
                    </m:r>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rPr>
                      <m:t>𝐷</m:t>
                    </m:r>
                    <m:r>
                      <a:rPr lang="en-US" altLang="zh-CN" i="1" dirty="0">
                        <a:latin typeface="Cambria Math" panose="02040503050406030204" pitchFamily="18" charset="0"/>
                      </a:rPr>
                      <m:t>, </m:t>
                    </m:r>
                    <m:r>
                      <a:rPr lang="en-US" altLang="zh-CN" i="1" dirty="0">
                        <a:latin typeface="Cambria Math" panose="02040503050406030204" pitchFamily="18" charset="0"/>
                      </a:rPr>
                      <m:t>𝐷𝐸</m:t>
                    </m:r>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rPr>
                      <m:t>𝐶</m:t>
                    </m:r>
                    <m:r>
                      <a:rPr lang="en-US" altLang="zh-CN" i="1" dirty="0">
                        <a:latin typeface="Cambria Math" panose="02040503050406030204" pitchFamily="18" charset="0"/>
                      </a:rPr>
                      <m:t>, </m:t>
                    </m:r>
                    <m:r>
                      <a:rPr lang="en-US" altLang="zh-CN" i="1" dirty="0">
                        <a:latin typeface="Cambria Math" panose="02040503050406030204" pitchFamily="18" charset="0"/>
                      </a:rPr>
                      <m:t>𝐶𝐸</m:t>
                    </m:r>
                    <m:r>
                      <a:rPr lang="en-US" altLang="zh-CN" i="1" dirty="0">
                        <a:latin typeface="Cambria Math" panose="02040503050406030204" pitchFamily="18" charset="0"/>
                        <a:cs typeface="Arial" panose="020B0604020202020204" pitchFamily="34" charset="0"/>
                      </a:rPr>
                      <m:t>→</m:t>
                    </m:r>
                    <m:r>
                      <a:rPr lang="en-US" altLang="zh-CN" i="1" dirty="0">
                        <a:latin typeface="Cambria Math" panose="02040503050406030204" pitchFamily="18" charset="0"/>
                      </a:rPr>
                      <m:t>𝐴</m:t>
                    </m:r>
                    <m:r>
                      <a:rPr lang="en-US" altLang="zh-CN" i="1" dirty="0">
                        <a:latin typeface="Cambria Math" panose="02040503050406030204" pitchFamily="18" charset="0"/>
                      </a:rPr>
                      <m:t>}</m:t>
                    </m:r>
                  </m:oMath>
                </a14:m>
                <a:endParaRPr lang="en-US" altLang="zh-CN" dirty="0"/>
              </a:p>
              <a:p>
                <a:pPr lvl="1"/>
                <a:r>
                  <a:rPr lang="zh-CN" altLang="en-US" b="0" dirty="0"/>
                  <a:t>判断</a:t>
                </a:r>
                <a:r>
                  <a:rPr lang="en-US" altLang="zh-CN" b="0" dirty="0"/>
                  <a:t>:</a:t>
                </a:r>
                <a:endParaRPr lang="en-US" altLang="zh-CN" b="0" dirty="0"/>
              </a:p>
              <a:p>
                <a:pPr algn="ctr">
                  <a:buNone/>
                </a:pPr>
                <a:r>
                  <a:rPr lang="en-US" altLang="zh-CN" sz="2400" b="0" dirty="0"/>
                  <a:t>  </a:t>
                </a:r>
                <a14:m>
                  <m:oMath xmlns:m="http://schemas.openxmlformats.org/officeDocument/2006/math">
                    <m:r>
                      <a:rPr lang="en-US" altLang="zh-CN" sz="2400" b="0" i="1" dirty="0" smtClean="0">
                        <a:latin typeface="Cambria Math" panose="02040503050406030204" pitchFamily="18" charset="0"/>
                      </a:rPr>
                      <m:t>𝜌</m:t>
                    </m:r>
                    <m:r>
                      <a:rPr lang="zh-CN" altLang="en-US" sz="2400" b="0" i="1" dirty="0">
                        <a:latin typeface="Cambria Math" panose="02040503050406030204" pitchFamily="18" charset="0"/>
                      </a:rPr>
                      <m:t>＝</m:t>
                    </m:r>
                    <m:r>
                      <a:rPr lang="en-US" altLang="zh-CN" sz="2400" b="0" i="1" dirty="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𝑅</m:t>
                        </m:r>
                      </m:e>
                      <m:sub>
                        <m:r>
                          <a:rPr lang="en-US" altLang="zh-CN" sz="2400" b="0" i="1" dirty="0" smtClean="0">
                            <a:latin typeface="Cambria Math" panose="02040503050406030204" pitchFamily="18" charset="0"/>
                          </a:rPr>
                          <m:t>1</m:t>
                        </m:r>
                      </m:sub>
                    </m:sSub>
                    <m:r>
                      <a:rPr lang="en-US" altLang="zh-CN" sz="2400" b="0" i="1" dirty="0">
                        <a:latin typeface="Cambria Math" panose="02040503050406030204" pitchFamily="18" charset="0"/>
                      </a:rPr>
                      <m:t>(</m:t>
                    </m:r>
                    <m:r>
                      <a:rPr lang="en-US" altLang="zh-CN" sz="2400" b="0" i="1" dirty="0">
                        <a:latin typeface="Cambria Math" panose="02040503050406030204" pitchFamily="18" charset="0"/>
                      </a:rPr>
                      <m:t>𝐴</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𝐷</m:t>
                    </m:r>
                    <m:r>
                      <a:rPr lang="en-US" altLang="zh-CN" sz="2400" b="0" i="1" dirty="0">
                        <a:latin typeface="Cambria Math" panose="02040503050406030204" pitchFamily="18" charset="0"/>
                      </a:rPr>
                      <m:t>),</m:t>
                    </m:r>
                    <m:sSub>
                      <m:sSubPr>
                        <m:ctrlPr>
                          <a:rPr lang="en-US" altLang="zh-CN" sz="2400" b="0" i="1" dirty="0">
                            <a:latin typeface="Cambria Math" panose="02040503050406030204" pitchFamily="18" charset="0"/>
                          </a:rPr>
                        </m:ctrlPr>
                      </m:sSubPr>
                      <m:e>
                        <m:r>
                          <a:rPr lang="en-US" altLang="zh-CN" sz="2400" b="0" i="1" dirty="0">
                            <a:latin typeface="Cambria Math" panose="02040503050406030204" pitchFamily="18" charset="0"/>
                          </a:rPr>
                          <m:t>𝑅</m:t>
                        </m:r>
                      </m:e>
                      <m:sub>
                        <m:r>
                          <a:rPr lang="en-US" altLang="zh-CN" sz="2400" b="0" i="1" dirty="0" smtClean="0">
                            <a:latin typeface="Cambria Math" panose="02040503050406030204" pitchFamily="18" charset="0"/>
                          </a:rPr>
                          <m:t>2</m:t>
                        </m:r>
                      </m:sub>
                    </m:sSub>
                    <m:r>
                      <a:rPr lang="en-US" altLang="zh-CN" sz="2400" b="0" i="1" dirty="0">
                        <a:latin typeface="Cambria Math" panose="02040503050406030204" pitchFamily="18" charset="0"/>
                      </a:rPr>
                      <m:t>(</m:t>
                    </m:r>
                    <m:r>
                      <a:rPr lang="en-US" altLang="zh-CN" sz="2400" b="0" i="1" dirty="0">
                        <a:latin typeface="Cambria Math" panose="02040503050406030204" pitchFamily="18" charset="0"/>
                      </a:rPr>
                      <m:t>𝐴</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𝐵</m:t>
                    </m:r>
                    <m:r>
                      <a:rPr lang="en-US" altLang="zh-CN" sz="2400" b="0" i="1" dirty="0">
                        <a:latin typeface="Cambria Math" panose="02040503050406030204" pitchFamily="18" charset="0"/>
                      </a:rPr>
                      <m:t>),</m:t>
                    </m:r>
                    <m:sSub>
                      <m:sSubPr>
                        <m:ctrlPr>
                          <a:rPr lang="en-US" altLang="zh-CN" sz="2400" b="0" i="1" dirty="0">
                            <a:latin typeface="Cambria Math" panose="02040503050406030204" pitchFamily="18" charset="0"/>
                          </a:rPr>
                        </m:ctrlPr>
                      </m:sSubPr>
                      <m:e>
                        <m:r>
                          <a:rPr lang="en-US" altLang="zh-CN" sz="2400" b="0" i="1" dirty="0">
                            <a:latin typeface="Cambria Math" panose="02040503050406030204" pitchFamily="18" charset="0"/>
                          </a:rPr>
                          <m:t>𝑅</m:t>
                        </m:r>
                      </m:e>
                      <m:sub>
                        <m:r>
                          <a:rPr lang="en-US" altLang="zh-CN" sz="2400" b="0" i="1" dirty="0" smtClean="0">
                            <a:latin typeface="Cambria Math" panose="02040503050406030204" pitchFamily="18" charset="0"/>
                          </a:rPr>
                          <m:t>3</m:t>
                        </m:r>
                      </m:sub>
                    </m:sSub>
                    <m:r>
                      <a:rPr lang="en-US" altLang="zh-CN" sz="2400" b="0" i="1" dirty="0">
                        <a:latin typeface="Cambria Math" panose="02040503050406030204" pitchFamily="18" charset="0"/>
                      </a:rPr>
                      <m:t>(</m:t>
                    </m:r>
                    <m:r>
                      <a:rPr lang="en-US" altLang="zh-CN" sz="2400" b="0" i="1" dirty="0">
                        <a:latin typeface="Cambria Math" panose="02040503050406030204" pitchFamily="18" charset="0"/>
                      </a:rPr>
                      <m:t>𝐵</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𝐸</m:t>
                    </m:r>
                    <m:r>
                      <a:rPr lang="en-US" altLang="zh-CN" sz="2400" b="0" i="1" dirty="0">
                        <a:latin typeface="Cambria Math" panose="02040503050406030204" pitchFamily="18" charset="0"/>
                      </a:rPr>
                      <m:t>),</m:t>
                    </m:r>
                    <m:sSub>
                      <m:sSubPr>
                        <m:ctrlPr>
                          <a:rPr lang="en-US" altLang="zh-CN" sz="2400" b="0" i="1" dirty="0">
                            <a:latin typeface="Cambria Math" panose="02040503050406030204" pitchFamily="18" charset="0"/>
                          </a:rPr>
                        </m:ctrlPr>
                      </m:sSubPr>
                      <m:e>
                        <m:r>
                          <a:rPr lang="en-US" altLang="zh-CN" sz="2400" b="0" i="1" dirty="0">
                            <a:latin typeface="Cambria Math" panose="02040503050406030204" pitchFamily="18" charset="0"/>
                          </a:rPr>
                          <m:t>𝑅</m:t>
                        </m:r>
                      </m:e>
                      <m:sub>
                        <m:r>
                          <a:rPr lang="en-US" altLang="zh-CN" sz="2400" b="0" i="1" dirty="0" smtClean="0">
                            <a:latin typeface="Cambria Math" panose="02040503050406030204" pitchFamily="18" charset="0"/>
                          </a:rPr>
                          <m:t>4</m:t>
                        </m:r>
                      </m:sub>
                    </m:sSub>
                    <m:r>
                      <a:rPr lang="en-US" altLang="zh-CN" sz="2400" b="0" i="1" dirty="0">
                        <a:latin typeface="Cambria Math" panose="02040503050406030204" pitchFamily="18" charset="0"/>
                      </a:rPr>
                      <m:t>(</m:t>
                    </m:r>
                    <m:r>
                      <a:rPr lang="en-US" altLang="zh-CN" sz="2400" b="0" i="1" dirty="0">
                        <a:latin typeface="Cambria Math" panose="02040503050406030204" pitchFamily="18" charset="0"/>
                      </a:rPr>
                      <m:t>𝐶</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𝐷</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𝐸</m:t>
                    </m:r>
                    <m:r>
                      <a:rPr lang="en-US" altLang="zh-CN" sz="2400" b="0" i="1" dirty="0" smtClean="0">
                        <a:latin typeface="Cambria Math" panose="02040503050406030204" pitchFamily="18" charset="0"/>
                      </a:rPr>
                      <m:t>)</m:t>
                    </m:r>
                    <m:r>
                      <a:rPr lang="en-US" altLang="zh-CN" sz="2400" b="0" i="1" dirty="0">
                        <a:latin typeface="Cambria Math" panose="02040503050406030204" pitchFamily="18" charset="0"/>
                      </a:rPr>
                      <m:t>,</m:t>
                    </m:r>
                    <m:sSub>
                      <m:sSubPr>
                        <m:ctrlPr>
                          <a:rPr lang="en-US" altLang="zh-CN" sz="2400" b="0" i="1" dirty="0">
                            <a:latin typeface="Cambria Math" panose="02040503050406030204" pitchFamily="18" charset="0"/>
                          </a:rPr>
                        </m:ctrlPr>
                      </m:sSubPr>
                      <m:e>
                        <m:r>
                          <a:rPr lang="en-US" altLang="zh-CN" sz="2400" b="0" i="1" dirty="0">
                            <a:latin typeface="Cambria Math" panose="02040503050406030204" pitchFamily="18" charset="0"/>
                          </a:rPr>
                          <m:t>𝑅</m:t>
                        </m:r>
                      </m:e>
                      <m:sub>
                        <m:r>
                          <a:rPr lang="en-US" altLang="zh-CN" sz="2400" b="0" i="1" dirty="0" smtClean="0">
                            <a:latin typeface="Cambria Math" panose="02040503050406030204" pitchFamily="18" charset="0"/>
                          </a:rPr>
                          <m:t>5</m:t>
                        </m:r>
                      </m:sub>
                    </m:sSub>
                    <m:r>
                      <a:rPr lang="en-US" altLang="zh-CN" sz="2400" b="0" i="1" dirty="0">
                        <a:latin typeface="Cambria Math" panose="02040503050406030204" pitchFamily="18" charset="0"/>
                      </a:rPr>
                      <m:t>(</m:t>
                    </m:r>
                    <m:r>
                      <a:rPr lang="en-US" altLang="zh-CN" sz="2400" b="0" i="1" dirty="0">
                        <a:latin typeface="Cambria Math" panose="02040503050406030204" pitchFamily="18" charset="0"/>
                      </a:rPr>
                      <m:t>𝐴</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𝐸</m:t>
                    </m:r>
                    <m:r>
                      <a:rPr lang="en-US" altLang="zh-CN" sz="2400" b="0" i="1" dirty="0">
                        <a:latin typeface="Cambria Math" panose="02040503050406030204" pitchFamily="18" charset="0"/>
                      </a:rPr>
                      <m:t>)}</m:t>
                    </m:r>
                  </m:oMath>
                </a14:m>
                <a:endParaRPr lang="en-US" altLang="zh-CN" sz="2400" b="0" dirty="0"/>
              </a:p>
              <a:p>
                <a:pPr>
                  <a:buNone/>
                </a:pPr>
                <a:endParaRPr lang="en-US" altLang="zh-CN" sz="2400" b="0" dirty="0"/>
              </a:p>
              <a:p>
                <a:pPr marL="457200" lvl="1" indent="0">
                  <a:buNone/>
                </a:pPr>
                <a:r>
                  <a:rPr lang="en-US" altLang="zh-CN" b="0" dirty="0"/>
                  <a:t>  </a:t>
                </a:r>
                <a:r>
                  <a:rPr lang="zh-CN" altLang="en-US" b="0" dirty="0"/>
                  <a:t>是否是无损连接的分解</a:t>
                </a:r>
                <a:r>
                  <a:rPr lang="en-US" altLang="zh-CN" b="0" dirty="0"/>
                  <a:t>?</a:t>
                </a:r>
                <a:endParaRPr lang="en-US" altLang="zh-CN" b="0" dirty="0"/>
              </a:p>
              <a:p>
                <a:pPr lvl="1"/>
                <a:endParaRPr lang="en-US" altLang="zh-CN" sz="2600" dirty="0"/>
              </a:p>
              <a:p>
                <a:pPr marL="0" indent="0">
                  <a:buNone/>
                </a:pPr>
                <a:endParaRPr lang="zh-CN" altLang="en-US" sz="2200" baseline="-25000" dirty="0"/>
              </a:p>
              <a:p>
                <a:pPr lvl="1"/>
                <a:endParaRPr lang="zh-CN" altLang="en-US"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1629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无损分解的判别算法</a:t>
            </a:r>
            <a:endParaRPr lang="en-US" altLang="zh-CN" dirty="0"/>
          </a:p>
          <a:p>
            <a:pPr lvl="1"/>
            <a:endParaRPr lang="en-US" altLang="zh-CN" sz="2600" dirty="0"/>
          </a:p>
          <a:p>
            <a:pPr marL="0" indent="0">
              <a:buNone/>
            </a:pPr>
            <a:endParaRPr lang="zh-CN" altLang="en-US" sz="2200" baseline="-25000" dirty="0"/>
          </a:p>
          <a:p>
            <a:pPr lvl="1"/>
            <a:endParaRPr lang="zh-CN" altLang="en-US" dirty="0"/>
          </a:p>
          <a:p>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7" name="Text Box 2"/>
          <p:cNvSpPr txBox="1">
            <a:spLocks noChangeArrowheads="1"/>
          </p:cNvSpPr>
          <p:nvPr/>
        </p:nvSpPr>
        <p:spPr bwMode="auto">
          <a:xfrm>
            <a:off x="1713816" y="1690269"/>
            <a:ext cx="3576638" cy="4572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lang="en-US" altLang="zh-CN" sz="2400" dirty="0">
                <a:latin typeface="Helvetica" panose="020B0604020202030204" pitchFamily="34" charset="0"/>
              </a:rPr>
              <a:t>1</a:t>
            </a:r>
            <a:r>
              <a:rPr lang="zh-CN" altLang="en-US" sz="2400" dirty="0">
                <a:latin typeface="Helvetica" panose="020B0604020202030204" pitchFamily="34" charset="0"/>
              </a:rPr>
              <a:t>、</a:t>
            </a:r>
            <a:r>
              <a:rPr lang="zh-CN" altLang="en-US" sz="2200" dirty="0">
                <a:latin typeface="微软雅黑" panose="020B0503020204020204" pitchFamily="34" charset="-122"/>
                <a:ea typeface="微软雅黑" panose="020B0503020204020204" pitchFamily="34" charset="-122"/>
              </a:rPr>
              <a:t>构造初始表格</a:t>
            </a:r>
            <a:endParaRPr lang="zh-CN" altLang="en-US" sz="2200" dirty="0">
              <a:latin typeface="微软雅黑" panose="020B0503020204020204" pitchFamily="34" charset="-122"/>
              <a:ea typeface="微软雅黑" panose="020B0503020204020204" pitchFamily="34" charset="-122"/>
            </a:endParaRPr>
          </a:p>
        </p:txBody>
      </p:sp>
      <p:grpSp>
        <p:nvGrpSpPr>
          <p:cNvPr id="8" name="Group 3"/>
          <p:cNvGrpSpPr/>
          <p:nvPr/>
        </p:nvGrpSpPr>
        <p:grpSpPr bwMode="auto">
          <a:xfrm>
            <a:off x="2601229" y="2082382"/>
            <a:ext cx="6346825" cy="2430462"/>
            <a:chOff x="779" y="1127"/>
            <a:chExt cx="3998" cy="1531"/>
          </a:xfrm>
        </p:grpSpPr>
        <p:sp>
          <p:nvSpPr>
            <p:cNvPr id="9" name="Text Box 4"/>
            <p:cNvSpPr txBox="1">
              <a:spLocks noChangeArrowheads="1"/>
            </p:cNvSpPr>
            <p:nvPr/>
          </p:nvSpPr>
          <p:spPr bwMode="auto">
            <a:xfrm>
              <a:off x="779" y="1127"/>
              <a:ext cx="3998" cy="1531"/>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lang="zh-CN" altLang="en-US" sz="1800" u="sng">
                  <a:latin typeface="Helvetica" panose="020B0604020202030204" pitchFamily="34" charset="0"/>
                </a:rPr>
                <a:t>	</a:t>
              </a:r>
              <a:r>
                <a:rPr lang="en-US" altLang="zh-CN" sz="1800" u="sng">
                  <a:latin typeface="Helvetica" panose="020B0604020202030204" pitchFamily="34" charset="0"/>
                </a:rPr>
                <a:t>A	B	C	D	E    </a:t>
              </a:r>
              <a:endParaRPr lang="en-US" altLang="zh-CN" sz="1800" u="sng">
                <a:latin typeface="Helvetica" panose="020B0604020202030204" pitchFamily="34" charset="0"/>
              </a:endParaRPr>
            </a:p>
            <a:p>
              <a:pPr>
                <a:spcBef>
                  <a:spcPct val="50000"/>
                </a:spcBef>
                <a:buFontTx/>
                <a:buNone/>
              </a:pPr>
              <a:r>
                <a:rPr lang="en-US" altLang="zh-CN" sz="1800">
                  <a:latin typeface="Helvetica" panose="020B0604020202030204" pitchFamily="34" charset="0"/>
                </a:rPr>
                <a:t>AD	a1	b12	b13	a4	b15</a:t>
              </a:r>
              <a:endParaRPr lang="en-US" altLang="zh-CN" sz="1800">
                <a:latin typeface="Helvetica" panose="020B0604020202030204" pitchFamily="34" charset="0"/>
              </a:endParaRPr>
            </a:p>
            <a:p>
              <a:pPr>
                <a:spcBef>
                  <a:spcPct val="50000"/>
                </a:spcBef>
                <a:buFontTx/>
                <a:buNone/>
              </a:pPr>
              <a:r>
                <a:rPr lang="en-US" altLang="zh-CN" sz="1800">
                  <a:latin typeface="Helvetica" panose="020B0604020202030204" pitchFamily="34" charset="0"/>
                </a:rPr>
                <a:t>AB	a1	a2	b23	b24	b25</a:t>
              </a:r>
              <a:endParaRPr lang="en-US" altLang="zh-CN" sz="1800">
                <a:latin typeface="Helvetica" panose="020B0604020202030204" pitchFamily="34" charset="0"/>
              </a:endParaRPr>
            </a:p>
            <a:p>
              <a:pPr>
                <a:spcBef>
                  <a:spcPct val="50000"/>
                </a:spcBef>
                <a:buFontTx/>
                <a:buNone/>
              </a:pPr>
              <a:r>
                <a:rPr lang="en-US" altLang="zh-CN" sz="1800">
                  <a:latin typeface="Helvetica" panose="020B0604020202030204" pitchFamily="34" charset="0"/>
                </a:rPr>
                <a:t>BE	b31	a2	b33	b34	a5</a:t>
              </a:r>
              <a:endParaRPr lang="en-US" altLang="zh-CN" sz="1800">
                <a:latin typeface="Helvetica" panose="020B0604020202030204" pitchFamily="34" charset="0"/>
              </a:endParaRPr>
            </a:p>
            <a:p>
              <a:pPr>
                <a:spcBef>
                  <a:spcPct val="50000"/>
                </a:spcBef>
                <a:buFontTx/>
                <a:buNone/>
              </a:pPr>
              <a:r>
                <a:rPr lang="en-US" altLang="zh-CN" sz="1800">
                  <a:latin typeface="Helvetica" panose="020B0604020202030204" pitchFamily="34" charset="0"/>
                </a:rPr>
                <a:t>CDE	b41	b42	a3	a4	a5</a:t>
              </a:r>
              <a:endParaRPr lang="en-US" altLang="zh-CN" sz="1800">
                <a:latin typeface="Helvetica" panose="020B0604020202030204" pitchFamily="34" charset="0"/>
              </a:endParaRPr>
            </a:p>
            <a:p>
              <a:pPr>
                <a:spcBef>
                  <a:spcPct val="50000"/>
                </a:spcBef>
                <a:buFontTx/>
                <a:buNone/>
              </a:pPr>
              <a:r>
                <a:rPr lang="en-US" altLang="zh-CN" sz="1800">
                  <a:latin typeface="Helvetica" panose="020B0604020202030204" pitchFamily="34" charset="0"/>
                </a:rPr>
                <a:t>AE	a1	b52	b53	b54	a5</a:t>
              </a:r>
              <a:endParaRPr lang="en-US" altLang="zh-CN" sz="1800">
                <a:latin typeface="Helvetica" panose="020B0604020202030204" pitchFamily="34" charset="0"/>
              </a:endParaRPr>
            </a:p>
          </p:txBody>
        </p:sp>
        <p:sp>
          <p:nvSpPr>
            <p:cNvPr id="10" name="Line 5"/>
            <p:cNvSpPr>
              <a:spLocks noChangeShapeType="1"/>
            </p:cNvSpPr>
            <p:nvPr/>
          </p:nvSpPr>
          <p:spPr bwMode="auto">
            <a:xfrm>
              <a:off x="1186" y="1169"/>
              <a:ext cx="0" cy="1457"/>
            </a:xfrm>
            <a:prstGeom prst="line">
              <a:avLst/>
            </a:prstGeom>
            <a:noFill/>
            <a:ln w="19050">
              <a:solidFill>
                <a:srgbClr val="00009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grpSp>
        <p:nvGrpSpPr>
          <p:cNvPr id="11" name="Group 7"/>
          <p:cNvGrpSpPr/>
          <p:nvPr/>
        </p:nvGrpSpPr>
        <p:grpSpPr bwMode="auto">
          <a:xfrm>
            <a:off x="5331729" y="2901532"/>
            <a:ext cx="604837" cy="1603375"/>
            <a:chOff x="2499" y="1491"/>
            <a:chExt cx="381" cy="1010"/>
          </a:xfrm>
        </p:grpSpPr>
        <p:sp>
          <p:nvSpPr>
            <p:cNvPr id="12" name="Text Box 8"/>
            <p:cNvSpPr txBox="1">
              <a:spLocks noChangeArrowheads="1"/>
            </p:cNvSpPr>
            <p:nvPr/>
          </p:nvSpPr>
          <p:spPr bwMode="auto">
            <a:xfrm>
              <a:off x="2499" y="1491"/>
              <a:ext cx="381" cy="231"/>
            </a:xfrm>
            <a:prstGeom prst="rect">
              <a:avLst/>
            </a:prstGeom>
            <a:solidFill>
              <a:srgbClr val="000099"/>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a:solidFill>
                    <a:schemeClr val="accent1"/>
                  </a:solidFill>
                  <a:latin typeface="Helvetica" panose="020B0604020202030204" pitchFamily="34" charset="0"/>
                </a:rPr>
                <a:t>b13</a:t>
              </a:r>
              <a:endParaRPr lang="en-US" altLang="zh-CN" sz="1800">
                <a:solidFill>
                  <a:schemeClr val="accent1"/>
                </a:solidFill>
                <a:latin typeface="Helvetica" panose="020B0604020202030204" pitchFamily="34" charset="0"/>
              </a:endParaRPr>
            </a:p>
          </p:txBody>
        </p:sp>
        <p:sp>
          <p:nvSpPr>
            <p:cNvPr id="13" name="Text Box 9"/>
            <p:cNvSpPr txBox="1">
              <a:spLocks noChangeArrowheads="1"/>
            </p:cNvSpPr>
            <p:nvPr/>
          </p:nvSpPr>
          <p:spPr bwMode="auto">
            <a:xfrm>
              <a:off x="2499" y="2270"/>
              <a:ext cx="381" cy="231"/>
            </a:xfrm>
            <a:prstGeom prst="rect">
              <a:avLst/>
            </a:prstGeom>
            <a:solidFill>
              <a:srgbClr val="000099"/>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a:solidFill>
                    <a:schemeClr val="accent1"/>
                  </a:solidFill>
                  <a:latin typeface="Helvetica" panose="020B0604020202030204" pitchFamily="34" charset="0"/>
                </a:rPr>
                <a:t>b13</a:t>
              </a:r>
              <a:endParaRPr lang="en-US" altLang="zh-CN" sz="1800">
                <a:solidFill>
                  <a:schemeClr val="accent1"/>
                </a:solidFill>
                <a:latin typeface="Helvetica" panose="020B0604020202030204" pitchFamily="34" charset="0"/>
              </a:endParaRPr>
            </a:p>
          </p:txBody>
        </p:sp>
      </p:grpSp>
      <p:sp>
        <p:nvSpPr>
          <p:cNvPr id="14" name="Text Box 10"/>
          <p:cNvSpPr txBox="1">
            <a:spLocks noChangeArrowheads="1"/>
          </p:cNvSpPr>
          <p:nvPr/>
        </p:nvSpPr>
        <p:spPr bwMode="auto">
          <a:xfrm>
            <a:off x="5342841" y="3319044"/>
            <a:ext cx="604838" cy="366713"/>
          </a:xfrm>
          <a:prstGeom prst="rect">
            <a:avLst/>
          </a:prstGeom>
          <a:solidFill>
            <a:schemeClr val="tx2"/>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a:solidFill>
                  <a:schemeClr val="accent1"/>
                </a:solidFill>
                <a:latin typeface="Helvetica" panose="020B0604020202030204" pitchFamily="34" charset="0"/>
              </a:rPr>
              <a:t>b13</a:t>
            </a:r>
            <a:endParaRPr lang="en-US" altLang="zh-CN" sz="1800">
              <a:solidFill>
                <a:schemeClr val="accent1"/>
              </a:solidFill>
              <a:latin typeface="Helvetica" panose="020B0604020202030204" pitchFamily="34" charset="0"/>
            </a:endParaRPr>
          </a:p>
        </p:txBody>
      </p:sp>
      <p:grpSp>
        <p:nvGrpSpPr>
          <p:cNvPr id="15" name="Group 11"/>
          <p:cNvGrpSpPr/>
          <p:nvPr/>
        </p:nvGrpSpPr>
        <p:grpSpPr bwMode="auto">
          <a:xfrm>
            <a:off x="6168341" y="2901532"/>
            <a:ext cx="625475" cy="1587500"/>
            <a:chOff x="3026" y="1491"/>
            <a:chExt cx="394" cy="1000"/>
          </a:xfrm>
        </p:grpSpPr>
        <p:sp>
          <p:nvSpPr>
            <p:cNvPr id="16" name="Text Box 12"/>
            <p:cNvSpPr txBox="1">
              <a:spLocks noChangeArrowheads="1"/>
            </p:cNvSpPr>
            <p:nvPr/>
          </p:nvSpPr>
          <p:spPr bwMode="auto">
            <a:xfrm>
              <a:off x="3026" y="1491"/>
              <a:ext cx="381" cy="231"/>
            </a:xfrm>
            <a:prstGeom prst="rect">
              <a:avLst/>
            </a:prstGeom>
            <a:solidFill>
              <a:schemeClr val="tx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a:solidFill>
                    <a:schemeClr val="bg1"/>
                  </a:solidFill>
                  <a:latin typeface="Helvetica" panose="020B0604020202030204" pitchFamily="34" charset="0"/>
                </a:rPr>
                <a:t>a4</a:t>
              </a:r>
              <a:endParaRPr lang="en-US" altLang="zh-CN" sz="1800">
                <a:solidFill>
                  <a:schemeClr val="bg1"/>
                </a:solidFill>
                <a:latin typeface="Helvetica" panose="020B0604020202030204" pitchFamily="34" charset="0"/>
              </a:endParaRPr>
            </a:p>
          </p:txBody>
        </p:sp>
        <p:sp>
          <p:nvSpPr>
            <p:cNvPr id="17" name="Text Box 13"/>
            <p:cNvSpPr txBox="1">
              <a:spLocks noChangeArrowheads="1"/>
            </p:cNvSpPr>
            <p:nvPr/>
          </p:nvSpPr>
          <p:spPr bwMode="auto">
            <a:xfrm>
              <a:off x="3033" y="1761"/>
              <a:ext cx="381" cy="231"/>
            </a:xfrm>
            <a:prstGeom prst="rect">
              <a:avLst/>
            </a:prstGeom>
            <a:solidFill>
              <a:schemeClr val="tx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a:solidFill>
                    <a:schemeClr val="bg1"/>
                  </a:solidFill>
                  <a:latin typeface="Helvetica" panose="020B0604020202030204" pitchFamily="34" charset="0"/>
                </a:rPr>
                <a:t>a4</a:t>
              </a:r>
              <a:endParaRPr lang="en-US" altLang="zh-CN" sz="1800">
                <a:solidFill>
                  <a:schemeClr val="bg1"/>
                </a:solidFill>
                <a:latin typeface="Helvetica" panose="020B0604020202030204" pitchFamily="34" charset="0"/>
              </a:endParaRPr>
            </a:p>
          </p:txBody>
        </p:sp>
        <p:sp>
          <p:nvSpPr>
            <p:cNvPr id="18" name="Text Box 14"/>
            <p:cNvSpPr txBox="1">
              <a:spLocks noChangeArrowheads="1"/>
            </p:cNvSpPr>
            <p:nvPr/>
          </p:nvSpPr>
          <p:spPr bwMode="auto">
            <a:xfrm>
              <a:off x="3039" y="2260"/>
              <a:ext cx="381" cy="231"/>
            </a:xfrm>
            <a:prstGeom prst="rect">
              <a:avLst/>
            </a:prstGeom>
            <a:solidFill>
              <a:schemeClr val="tx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a:solidFill>
                    <a:schemeClr val="bg1"/>
                  </a:solidFill>
                  <a:latin typeface="Helvetica" panose="020B0604020202030204" pitchFamily="34" charset="0"/>
                </a:rPr>
                <a:t>a4</a:t>
              </a:r>
              <a:endParaRPr lang="en-US" altLang="zh-CN" sz="1800">
                <a:solidFill>
                  <a:schemeClr val="bg1"/>
                </a:solidFill>
                <a:latin typeface="Helvetica" panose="020B0604020202030204" pitchFamily="34" charset="0"/>
              </a:endParaRPr>
            </a:p>
          </p:txBody>
        </p:sp>
      </p:grpSp>
      <p:grpSp>
        <p:nvGrpSpPr>
          <p:cNvPr id="19" name="Group 15"/>
          <p:cNvGrpSpPr/>
          <p:nvPr/>
        </p:nvGrpSpPr>
        <p:grpSpPr bwMode="auto">
          <a:xfrm>
            <a:off x="3452129" y="3315869"/>
            <a:ext cx="619125" cy="784225"/>
            <a:chOff x="1315" y="1752"/>
            <a:chExt cx="390" cy="494"/>
          </a:xfrm>
        </p:grpSpPr>
        <p:sp>
          <p:nvSpPr>
            <p:cNvPr id="20" name="Text Box 16"/>
            <p:cNvSpPr txBox="1">
              <a:spLocks noChangeArrowheads="1"/>
            </p:cNvSpPr>
            <p:nvPr/>
          </p:nvSpPr>
          <p:spPr bwMode="auto">
            <a:xfrm>
              <a:off x="1315" y="2015"/>
              <a:ext cx="381" cy="231"/>
            </a:xfrm>
            <a:prstGeom prst="rect">
              <a:avLst/>
            </a:prstGeom>
            <a:solidFill>
              <a:srgbClr val="FF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a:latin typeface="Helvetica" panose="020B0604020202030204" pitchFamily="34" charset="0"/>
                </a:rPr>
                <a:t>a1</a:t>
              </a:r>
              <a:endParaRPr lang="en-US" altLang="zh-CN" sz="1800">
                <a:latin typeface="Helvetica" panose="020B0604020202030204" pitchFamily="34" charset="0"/>
              </a:endParaRPr>
            </a:p>
          </p:txBody>
        </p:sp>
        <p:sp>
          <p:nvSpPr>
            <p:cNvPr id="21" name="Text Box 17"/>
            <p:cNvSpPr txBox="1">
              <a:spLocks noChangeArrowheads="1"/>
            </p:cNvSpPr>
            <p:nvPr/>
          </p:nvSpPr>
          <p:spPr bwMode="auto">
            <a:xfrm>
              <a:off x="1324" y="1752"/>
              <a:ext cx="381" cy="231"/>
            </a:xfrm>
            <a:prstGeom prst="rect">
              <a:avLst/>
            </a:prstGeom>
            <a:solidFill>
              <a:srgbClr val="FFFFFF"/>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50000"/>
                </a:spcBef>
                <a:buFontTx/>
                <a:buNone/>
              </a:pPr>
              <a:r>
                <a:rPr lang="en-US" altLang="zh-CN" sz="1800">
                  <a:latin typeface="Helvetica" panose="020B0604020202030204" pitchFamily="34" charset="0"/>
                </a:rPr>
                <a:t>a1</a:t>
              </a:r>
              <a:endParaRPr lang="en-US" altLang="zh-CN" sz="1800">
                <a:latin typeface="Helvetica" panose="020B0604020202030204" pitchFamily="34" charset="0"/>
              </a:endParaRPr>
            </a:p>
          </p:txBody>
        </p:sp>
      </p:grpSp>
      <p:grpSp>
        <p:nvGrpSpPr>
          <p:cNvPr id="22" name="Group 18"/>
          <p:cNvGrpSpPr/>
          <p:nvPr/>
        </p:nvGrpSpPr>
        <p:grpSpPr bwMode="auto">
          <a:xfrm>
            <a:off x="5326966" y="3315869"/>
            <a:ext cx="619125" cy="1189038"/>
            <a:chOff x="2500" y="1756"/>
            <a:chExt cx="390" cy="749"/>
          </a:xfrm>
        </p:grpSpPr>
        <p:sp>
          <p:nvSpPr>
            <p:cNvPr id="23" name="Text Box 19"/>
            <p:cNvSpPr txBox="1">
              <a:spLocks noChangeArrowheads="1"/>
            </p:cNvSpPr>
            <p:nvPr/>
          </p:nvSpPr>
          <p:spPr bwMode="auto">
            <a:xfrm>
              <a:off x="2509" y="1756"/>
              <a:ext cx="381" cy="231"/>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lang="en-US" altLang="zh-CN" sz="1800">
                  <a:latin typeface="Helvetica" panose="020B0604020202030204" pitchFamily="34" charset="0"/>
                </a:rPr>
                <a:t>a3</a:t>
              </a:r>
              <a:endParaRPr lang="en-US" altLang="zh-CN" sz="1800">
                <a:latin typeface="Helvetica" panose="020B0604020202030204" pitchFamily="34" charset="0"/>
              </a:endParaRPr>
            </a:p>
          </p:txBody>
        </p:sp>
        <p:sp>
          <p:nvSpPr>
            <p:cNvPr id="24" name="Text Box 20"/>
            <p:cNvSpPr txBox="1">
              <a:spLocks noChangeArrowheads="1"/>
            </p:cNvSpPr>
            <p:nvPr/>
          </p:nvSpPr>
          <p:spPr bwMode="auto">
            <a:xfrm>
              <a:off x="2500" y="2274"/>
              <a:ext cx="381" cy="231"/>
            </a:xfrm>
            <a:prstGeom prst="rect">
              <a:avLst/>
            </a:prstGeom>
            <a:solidFill>
              <a:srgbClr val="FFFF00"/>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lang="en-US" altLang="zh-CN" sz="1800">
                  <a:latin typeface="Helvetica" panose="020B0604020202030204" pitchFamily="34" charset="0"/>
                </a:rPr>
                <a:t>a3</a:t>
              </a:r>
              <a:endParaRPr lang="en-US" altLang="zh-CN" sz="1800">
                <a:latin typeface="Helvetica" panose="020B0604020202030204" pitchFamily="34" charset="0"/>
              </a:endParaRPr>
            </a:p>
          </p:txBody>
        </p:sp>
      </p:grpSp>
      <p:sp>
        <p:nvSpPr>
          <p:cNvPr id="25" name="AutoShape 21"/>
          <p:cNvSpPr>
            <a:spLocks noChangeArrowheads="1"/>
          </p:cNvSpPr>
          <p:nvPr/>
        </p:nvSpPr>
        <p:spPr bwMode="auto">
          <a:xfrm>
            <a:off x="7738379" y="3263482"/>
            <a:ext cx="1735137" cy="471487"/>
          </a:xfrm>
          <a:prstGeom prst="leftArrow">
            <a:avLst>
              <a:gd name="adj1" fmla="val 50000"/>
              <a:gd name="adj2" fmla="val 92003"/>
            </a:avLst>
          </a:prstGeom>
          <a:solidFill>
            <a:srgbClr val="FFFFCC"/>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160000"/>
              </a:lnSpc>
              <a:buFontTx/>
              <a:buNone/>
            </a:pPr>
            <a:endParaRPr lang="zh-CN" altLang="en-US" sz="3600">
              <a:latin typeface="Arial" panose="020B0604020202020204" pitchFamily="34" charset="0"/>
            </a:endParaRPr>
          </a:p>
        </p:txBody>
      </p:sp>
      <p:sp>
        <p:nvSpPr>
          <p:cNvPr id="26" name="AutoShape 22"/>
          <p:cNvSpPr>
            <a:spLocks noChangeArrowheads="1"/>
          </p:cNvSpPr>
          <p:nvPr/>
        </p:nvSpPr>
        <p:spPr bwMode="auto">
          <a:xfrm>
            <a:off x="8060641" y="4758907"/>
            <a:ext cx="1668463" cy="1196975"/>
          </a:xfrm>
          <a:prstGeom prst="wedgeRoundRectCallout">
            <a:avLst>
              <a:gd name="adj1" fmla="val -80639"/>
              <a:gd name="adj2" fmla="val -143236"/>
              <a:gd name="adj3" fmla="val 16667"/>
            </a:avLst>
          </a:prstGeom>
          <a:solidFill>
            <a:srgbClr val="FFFFFF"/>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a:spcBef>
                <a:spcPct val="0"/>
              </a:spcBef>
              <a:buFontTx/>
              <a:buNone/>
            </a:pPr>
            <a:r>
              <a:rPr lang="zh-CN" altLang="en-US" sz="1800">
                <a:solidFill>
                  <a:srgbClr val="000000"/>
                </a:solidFill>
                <a:latin typeface="Arial" panose="020B0604020202020204" pitchFamily="34" charset="0"/>
              </a:rPr>
              <a:t>因此是无损连接的分解</a:t>
            </a:r>
            <a:endParaRPr lang="zh-CN" altLang="en-US" sz="1800">
              <a:solidFill>
                <a:srgbClr val="000000"/>
              </a:solidFill>
              <a:latin typeface="Arial" panose="020B0604020202020204" pitchFamily="34" charset="0"/>
            </a:endParaRPr>
          </a:p>
        </p:txBody>
      </p:sp>
      <mc:AlternateContent xmlns:mc="http://schemas.openxmlformats.org/markup-compatibility/2006">
        <mc:Choice xmlns:a14="http://schemas.microsoft.com/office/drawing/2010/main" Requires="a14">
          <p:sp>
            <p:nvSpPr>
              <p:cNvPr id="27" name="矩形 1"/>
              <p:cNvSpPr>
                <a:spLocks noChangeArrowheads="1"/>
              </p:cNvSpPr>
              <p:nvPr/>
            </p:nvSpPr>
            <p:spPr bwMode="auto">
              <a:xfrm>
                <a:off x="5290454" y="1242211"/>
                <a:ext cx="5505937" cy="880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160000"/>
                  </a:lnSpc>
                  <a:buFontTx/>
                  <a:buNone/>
                </a:pPr>
                <a14:m>
                  <m:oMathPara xmlns:m="http://schemas.openxmlformats.org/officeDocument/2006/math">
                    <m:oMathParaPr>
                      <m:jc m:val="centerGroup"/>
                    </m:oMathParaPr>
                    <m:oMath xmlns:m="http://schemas.openxmlformats.org/officeDocument/2006/math">
                      <m:r>
                        <a:rPr lang="en-US" altLang="zh-CN" sz="1600" i="1" dirty="0" smtClean="0">
                          <a:solidFill>
                            <a:srgbClr val="C00000"/>
                          </a:solidFill>
                          <a:latin typeface="Cambria Math" panose="02040503050406030204" pitchFamily="18" charset="0"/>
                        </a:rPr>
                        <m:t>𝑅</m:t>
                      </m:r>
                      <m:d>
                        <m:dPr>
                          <m:ctrlPr>
                            <a:rPr lang="en-US" altLang="zh-CN" sz="1600" i="1" dirty="0" smtClean="0">
                              <a:solidFill>
                                <a:srgbClr val="C00000"/>
                              </a:solidFill>
                              <a:latin typeface="Cambria Math" panose="02040503050406030204" pitchFamily="18" charset="0"/>
                            </a:rPr>
                          </m:ctrlPr>
                        </m:dPr>
                        <m:e>
                          <m:r>
                            <a:rPr lang="en-US" altLang="zh-CN" sz="1600" i="1" dirty="0" smtClean="0">
                              <a:solidFill>
                                <a:srgbClr val="C00000"/>
                              </a:solidFill>
                              <a:latin typeface="Cambria Math" panose="02040503050406030204" pitchFamily="18" charset="0"/>
                            </a:rPr>
                            <m:t>𝐴</m:t>
                          </m:r>
                          <m:r>
                            <a:rPr lang="en-US" altLang="zh-CN" sz="1600" i="1" dirty="0" smtClean="0">
                              <a:solidFill>
                                <a:srgbClr val="C00000"/>
                              </a:solidFill>
                              <a:latin typeface="Cambria Math" panose="02040503050406030204" pitchFamily="18" charset="0"/>
                            </a:rPr>
                            <m:t>,</m:t>
                          </m:r>
                          <m:r>
                            <a:rPr lang="en-US" altLang="zh-CN" sz="1600" i="1" dirty="0" smtClean="0">
                              <a:solidFill>
                                <a:srgbClr val="C00000"/>
                              </a:solidFill>
                              <a:latin typeface="Cambria Math" panose="02040503050406030204" pitchFamily="18" charset="0"/>
                            </a:rPr>
                            <m:t>𝐵</m:t>
                          </m:r>
                          <m:r>
                            <a:rPr lang="en-US" altLang="zh-CN" sz="1600" i="1" dirty="0" smtClean="0">
                              <a:solidFill>
                                <a:srgbClr val="C00000"/>
                              </a:solidFill>
                              <a:latin typeface="Cambria Math" panose="02040503050406030204" pitchFamily="18" charset="0"/>
                            </a:rPr>
                            <m:t>,</m:t>
                          </m:r>
                          <m:r>
                            <a:rPr lang="en-US" altLang="zh-CN" sz="1600" i="1" dirty="0" smtClean="0">
                              <a:solidFill>
                                <a:srgbClr val="C00000"/>
                              </a:solidFill>
                              <a:latin typeface="Cambria Math" panose="02040503050406030204" pitchFamily="18" charset="0"/>
                            </a:rPr>
                            <m:t>𝐶</m:t>
                          </m:r>
                          <m:r>
                            <a:rPr lang="en-US" altLang="zh-CN" sz="1600" i="1" dirty="0" smtClean="0">
                              <a:solidFill>
                                <a:srgbClr val="C00000"/>
                              </a:solidFill>
                              <a:latin typeface="Cambria Math" panose="02040503050406030204" pitchFamily="18" charset="0"/>
                            </a:rPr>
                            <m:t>,</m:t>
                          </m:r>
                          <m:r>
                            <a:rPr lang="en-US" altLang="zh-CN" sz="1600" i="1" dirty="0" smtClean="0">
                              <a:solidFill>
                                <a:srgbClr val="C00000"/>
                              </a:solidFill>
                              <a:latin typeface="Cambria Math" panose="02040503050406030204" pitchFamily="18" charset="0"/>
                            </a:rPr>
                            <m:t>𝐷</m:t>
                          </m:r>
                          <m:r>
                            <a:rPr lang="en-US" altLang="zh-CN" sz="1600" i="1" dirty="0" smtClean="0">
                              <a:solidFill>
                                <a:srgbClr val="C00000"/>
                              </a:solidFill>
                              <a:latin typeface="Cambria Math" panose="02040503050406030204" pitchFamily="18" charset="0"/>
                            </a:rPr>
                            <m:t>,</m:t>
                          </m:r>
                          <m:r>
                            <a:rPr lang="en-US" altLang="zh-CN" sz="1600" i="1" dirty="0" smtClean="0">
                              <a:solidFill>
                                <a:srgbClr val="C00000"/>
                              </a:solidFill>
                              <a:latin typeface="Cambria Math" panose="02040503050406030204" pitchFamily="18" charset="0"/>
                            </a:rPr>
                            <m:t>𝐸</m:t>
                          </m:r>
                        </m:e>
                      </m:d>
                      <m:r>
                        <a:rPr lang="en-US" altLang="zh-CN" sz="1600" i="1" dirty="0">
                          <a:solidFill>
                            <a:srgbClr val="C00000"/>
                          </a:solidFill>
                          <a:latin typeface="Cambria Math" panose="02040503050406030204" pitchFamily="18" charset="0"/>
                        </a:rPr>
                        <m:t> </m:t>
                      </m:r>
                      <m:r>
                        <a:rPr lang="en-US" altLang="zh-CN" sz="1600" i="1" dirty="0">
                          <a:solidFill>
                            <a:srgbClr val="C00000"/>
                          </a:solidFill>
                          <a:latin typeface="Cambria Math" panose="02040503050406030204" pitchFamily="18" charset="0"/>
                        </a:rPr>
                        <m:t>𝐹</m:t>
                      </m:r>
                      <m:r>
                        <a:rPr lang="en-US" altLang="zh-CN" sz="1600" i="1" dirty="0">
                          <a:solidFill>
                            <a:srgbClr val="C00000"/>
                          </a:solidFill>
                          <a:latin typeface="Cambria Math" panose="02040503050406030204" pitchFamily="18" charset="0"/>
                        </a:rPr>
                        <m:t>=</m:t>
                      </m:r>
                      <m:d>
                        <m:dPr>
                          <m:begChr m:val="{"/>
                          <m:endChr m:val="}"/>
                          <m:ctrlPr>
                            <a:rPr lang="en-US" altLang="zh-CN" sz="1600" i="1" dirty="0">
                              <a:solidFill>
                                <a:srgbClr val="C00000"/>
                              </a:solidFill>
                              <a:latin typeface="Cambria Math" panose="02040503050406030204" pitchFamily="18" charset="0"/>
                            </a:rPr>
                          </m:ctrlPr>
                        </m:dPr>
                        <m:e>
                          <m:r>
                            <a:rPr lang="en-US" altLang="zh-CN" sz="1600" i="1" dirty="0">
                              <a:solidFill>
                                <a:srgbClr val="C00000"/>
                              </a:solidFill>
                              <a:latin typeface="Cambria Math" panose="02040503050406030204" pitchFamily="18" charset="0"/>
                            </a:rPr>
                            <m:t>𝐴</m:t>
                          </m:r>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𝐶</m:t>
                          </m:r>
                          <m:r>
                            <a:rPr lang="en-US" altLang="zh-CN" sz="1600" i="1" dirty="0">
                              <a:solidFill>
                                <a:srgbClr val="C00000"/>
                              </a:solidFill>
                              <a:latin typeface="Cambria Math" panose="02040503050406030204" pitchFamily="18" charset="0"/>
                            </a:rPr>
                            <m:t>, </m:t>
                          </m:r>
                          <m:r>
                            <a:rPr lang="en-US" altLang="zh-CN" sz="1600" i="1" dirty="0">
                              <a:solidFill>
                                <a:srgbClr val="C00000"/>
                              </a:solidFill>
                              <a:latin typeface="Cambria Math" panose="02040503050406030204" pitchFamily="18" charset="0"/>
                            </a:rPr>
                            <m:t>𝐵</m:t>
                          </m:r>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𝐶</m:t>
                          </m:r>
                          <m:r>
                            <a:rPr lang="en-US" altLang="zh-CN" sz="1600" i="1" dirty="0">
                              <a:solidFill>
                                <a:srgbClr val="C00000"/>
                              </a:solidFill>
                              <a:latin typeface="Cambria Math" panose="02040503050406030204" pitchFamily="18" charset="0"/>
                            </a:rPr>
                            <m:t>, </m:t>
                          </m:r>
                          <m:r>
                            <a:rPr lang="en-US" altLang="zh-CN" sz="1600" i="1" dirty="0">
                              <a:solidFill>
                                <a:srgbClr val="C00000"/>
                              </a:solidFill>
                              <a:latin typeface="Cambria Math" panose="02040503050406030204" pitchFamily="18" charset="0"/>
                            </a:rPr>
                            <m:t>𝐶</m:t>
                          </m:r>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𝐷</m:t>
                          </m:r>
                          <m:r>
                            <a:rPr lang="en-US" altLang="zh-CN" sz="1600" i="1" dirty="0">
                              <a:solidFill>
                                <a:srgbClr val="C00000"/>
                              </a:solidFill>
                              <a:latin typeface="Cambria Math" panose="02040503050406030204" pitchFamily="18" charset="0"/>
                            </a:rPr>
                            <m:t>, </m:t>
                          </m:r>
                          <m:r>
                            <a:rPr lang="en-US" altLang="zh-CN" sz="1600" i="1" dirty="0">
                              <a:solidFill>
                                <a:srgbClr val="C00000"/>
                              </a:solidFill>
                              <a:latin typeface="Cambria Math" panose="02040503050406030204" pitchFamily="18" charset="0"/>
                            </a:rPr>
                            <m:t>𝐷𝐸</m:t>
                          </m:r>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𝐶</m:t>
                          </m:r>
                          <m:r>
                            <a:rPr lang="en-US" altLang="zh-CN" sz="1600" i="1" dirty="0">
                              <a:solidFill>
                                <a:srgbClr val="C00000"/>
                              </a:solidFill>
                              <a:latin typeface="Cambria Math" panose="02040503050406030204" pitchFamily="18" charset="0"/>
                            </a:rPr>
                            <m:t>, </m:t>
                          </m:r>
                          <m:r>
                            <a:rPr lang="en-US" altLang="zh-CN" sz="1600" i="1" dirty="0">
                              <a:solidFill>
                                <a:srgbClr val="C00000"/>
                              </a:solidFill>
                              <a:latin typeface="Cambria Math" panose="02040503050406030204" pitchFamily="18" charset="0"/>
                            </a:rPr>
                            <m:t>𝐶𝐸</m:t>
                          </m:r>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𝐴</m:t>
                          </m:r>
                        </m:e>
                      </m:d>
                    </m:oMath>
                  </m:oMathPara>
                </a14:m>
                <a:endParaRPr lang="en-US" altLang="zh-CN" sz="1600" dirty="0">
                  <a:solidFill>
                    <a:srgbClr val="C00000"/>
                  </a:solidFill>
                  <a:latin typeface="Arial" panose="020B0604020202020204" pitchFamily="34" charset="0"/>
                </a:endParaRPr>
              </a:p>
              <a:p>
                <a:pPr>
                  <a:lnSpc>
                    <a:spcPct val="160000"/>
                  </a:lnSpc>
                  <a:buNone/>
                </a:pPr>
                <a14:m>
                  <m:oMathPara xmlns:m="http://schemas.openxmlformats.org/officeDocument/2006/math">
                    <m:oMathParaPr>
                      <m:jc m:val="centerGroup"/>
                    </m:oMathParaPr>
                    <m:oMath xmlns:m="http://schemas.openxmlformats.org/officeDocument/2006/math">
                      <m:r>
                        <a:rPr lang="en-US" altLang="zh-CN" sz="1600" i="1" dirty="0" smtClean="0">
                          <a:solidFill>
                            <a:srgbClr val="C00000"/>
                          </a:solidFill>
                          <a:latin typeface="Cambria Math" panose="02040503050406030204" pitchFamily="18" charset="0"/>
                        </a:rPr>
                        <m:t>𝜌</m:t>
                      </m:r>
                      <m:r>
                        <a:rPr lang="zh-CN" altLang="en-US"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m:t>
                      </m:r>
                      <m:sSub>
                        <m:sSubPr>
                          <m:ctrlPr>
                            <a:rPr lang="en-US" altLang="zh-CN" sz="1600" i="1" dirty="0">
                              <a:solidFill>
                                <a:srgbClr val="C00000"/>
                              </a:solidFill>
                              <a:latin typeface="Cambria Math" panose="02040503050406030204" pitchFamily="18" charset="0"/>
                            </a:rPr>
                          </m:ctrlPr>
                        </m:sSubPr>
                        <m:e>
                          <m:r>
                            <a:rPr lang="en-US" altLang="zh-CN" sz="1600" i="1" dirty="0">
                              <a:solidFill>
                                <a:srgbClr val="C00000"/>
                              </a:solidFill>
                              <a:latin typeface="Cambria Math" panose="02040503050406030204" pitchFamily="18" charset="0"/>
                            </a:rPr>
                            <m:t>𝑅</m:t>
                          </m:r>
                        </m:e>
                        <m:sub>
                          <m:r>
                            <a:rPr lang="en-US" altLang="zh-CN" sz="1600" i="1" dirty="0">
                              <a:solidFill>
                                <a:srgbClr val="C00000"/>
                              </a:solidFill>
                              <a:latin typeface="Cambria Math" panose="02040503050406030204" pitchFamily="18" charset="0"/>
                            </a:rPr>
                            <m:t>1</m:t>
                          </m:r>
                        </m:sub>
                      </m:sSub>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𝐴</m:t>
                      </m:r>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𝐷</m:t>
                      </m:r>
                      <m:r>
                        <a:rPr lang="en-US" altLang="zh-CN" sz="1600" i="1" dirty="0">
                          <a:solidFill>
                            <a:srgbClr val="C00000"/>
                          </a:solidFill>
                          <a:latin typeface="Cambria Math" panose="02040503050406030204" pitchFamily="18" charset="0"/>
                        </a:rPr>
                        <m:t>),</m:t>
                      </m:r>
                      <m:sSub>
                        <m:sSubPr>
                          <m:ctrlPr>
                            <a:rPr lang="en-US" altLang="zh-CN" sz="1600" i="1" dirty="0">
                              <a:solidFill>
                                <a:srgbClr val="C00000"/>
                              </a:solidFill>
                              <a:latin typeface="Cambria Math" panose="02040503050406030204" pitchFamily="18" charset="0"/>
                            </a:rPr>
                          </m:ctrlPr>
                        </m:sSubPr>
                        <m:e>
                          <m:r>
                            <a:rPr lang="en-US" altLang="zh-CN" sz="1600" i="1" dirty="0">
                              <a:solidFill>
                                <a:srgbClr val="C00000"/>
                              </a:solidFill>
                              <a:latin typeface="Cambria Math" panose="02040503050406030204" pitchFamily="18" charset="0"/>
                            </a:rPr>
                            <m:t>𝑅</m:t>
                          </m:r>
                        </m:e>
                        <m:sub>
                          <m:r>
                            <a:rPr lang="en-US" altLang="zh-CN" sz="1600" i="1" dirty="0">
                              <a:solidFill>
                                <a:srgbClr val="C00000"/>
                              </a:solidFill>
                              <a:latin typeface="Cambria Math" panose="02040503050406030204" pitchFamily="18" charset="0"/>
                            </a:rPr>
                            <m:t>2</m:t>
                          </m:r>
                        </m:sub>
                      </m:sSub>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𝐴</m:t>
                      </m:r>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𝐵</m:t>
                      </m:r>
                      <m:r>
                        <a:rPr lang="en-US" altLang="zh-CN" sz="1600" i="1" dirty="0">
                          <a:solidFill>
                            <a:srgbClr val="C00000"/>
                          </a:solidFill>
                          <a:latin typeface="Cambria Math" panose="02040503050406030204" pitchFamily="18" charset="0"/>
                        </a:rPr>
                        <m:t>),</m:t>
                      </m:r>
                      <m:sSub>
                        <m:sSubPr>
                          <m:ctrlPr>
                            <a:rPr lang="en-US" altLang="zh-CN" sz="1600" i="1" dirty="0">
                              <a:solidFill>
                                <a:srgbClr val="C00000"/>
                              </a:solidFill>
                              <a:latin typeface="Cambria Math" panose="02040503050406030204" pitchFamily="18" charset="0"/>
                            </a:rPr>
                          </m:ctrlPr>
                        </m:sSubPr>
                        <m:e>
                          <m:r>
                            <a:rPr lang="en-US" altLang="zh-CN" sz="1600" i="1" dirty="0">
                              <a:solidFill>
                                <a:srgbClr val="C00000"/>
                              </a:solidFill>
                              <a:latin typeface="Cambria Math" panose="02040503050406030204" pitchFamily="18" charset="0"/>
                            </a:rPr>
                            <m:t>𝑅</m:t>
                          </m:r>
                        </m:e>
                        <m:sub>
                          <m:r>
                            <a:rPr lang="en-US" altLang="zh-CN" sz="1600" i="1" dirty="0">
                              <a:solidFill>
                                <a:srgbClr val="C00000"/>
                              </a:solidFill>
                              <a:latin typeface="Cambria Math" panose="02040503050406030204" pitchFamily="18" charset="0"/>
                            </a:rPr>
                            <m:t>3</m:t>
                          </m:r>
                        </m:sub>
                      </m:sSub>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𝐵</m:t>
                      </m:r>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𝐸</m:t>
                      </m:r>
                      <m:r>
                        <a:rPr lang="en-US" altLang="zh-CN" sz="1600" i="1" dirty="0">
                          <a:solidFill>
                            <a:srgbClr val="C00000"/>
                          </a:solidFill>
                          <a:latin typeface="Cambria Math" panose="02040503050406030204" pitchFamily="18" charset="0"/>
                        </a:rPr>
                        <m:t>),</m:t>
                      </m:r>
                      <m:sSub>
                        <m:sSubPr>
                          <m:ctrlPr>
                            <a:rPr lang="en-US" altLang="zh-CN" sz="1600" i="1" dirty="0">
                              <a:solidFill>
                                <a:srgbClr val="C00000"/>
                              </a:solidFill>
                              <a:latin typeface="Cambria Math" panose="02040503050406030204" pitchFamily="18" charset="0"/>
                            </a:rPr>
                          </m:ctrlPr>
                        </m:sSubPr>
                        <m:e>
                          <m:r>
                            <a:rPr lang="en-US" altLang="zh-CN" sz="1600" i="1" dirty="0">
                              <a:solidFill>
                                <a:srgbClr val="C00000"/>
                              </a:solidFill>
                              <a:latin typeface="Cambria Math" panose="02040503050406030204" pitchFamily="18" charset="0"/>
                            </a:rPr>
                            <m:t>𝑅</m:t>
                          </m:r>
                        </m:e>
                        <m:sub>
                          <m:r>
                            <a:rPr lang="en-US" altLang="zh-CN" sz="1600" i="1" dirty="0">
                              <a:solidFill>
                                <a:srgbClr val="C00000"/>
                              </a:solidFill>
                              <a:latin typeface="Cambria Math" panose="02040503050406030204" pitchFamily="18" charset="0"/>
                            </a:rPr>
                            <m:t>4</m:t>
                          </m:r>
                        </m:sub>
                      </m:sSub>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𝐶</m:t>
                      </m:r>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𝐷</m:t>
                      </m:r>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𝐸</m:t>
                      </m:r>
                      <m:r>
                        <a:rPr lang="en-US" altLang="zh-CN" sz="1600" i="1" dirty="0">
                          <a:solidFill>
                            <a:srgbClr val="C00000"/>
                          </a:solidFill>
                          <a:latin typeface="Cambria Math" panose="02040503050406030204" pitchFamily="18" charset="0"/>
                        </a:rPr>
                        <m:t>),</m:t>
                      </m:r>
                      <m:sSub>
                        <m:sSubPr>
                          <m:ctrlPr>
                            <a:rPr lang="en-US" altLang="zh-CN" sz="1600" i="1" dirty="0">
                              <a:solidFill>
                                <a:srgbClr val="C00000"/>
                              </a:solidFill>
                              <a:latin typeface="Cambria Math" panose="02040503050406030204" pitchFamily="18" charset="0"/>
                            </a:rPr>
                          </m:ctrlPr>
                        </m:sSubPr>
                        <m:e>
                          <m:r>
                            <a:rPr lang="en-US" altLang="zh-CN" sz="1600" i="1" dirty="0">
                              <a:solidFill>
                                <a:srgbClr val="C00000"/>
                              </a:solidFill>
                              <a:latin typeface="Cambria Math" panose="02040503050406030204" pitchFamily="18" charset="0"/>
                            </a:rPr>
                            <m:t>𝑅</m:t>
                          </m:r>
                        </m:e>
                        <m:sub>
                          <m:r>
                            <a:rPr lang="en-US" altLang="zh-CN" sz="1600" i="1" dirty="0">
                              <a:solidFill>
                                <a:srgbClr val="C00000"/>
                              </a:solidFill>
                              <a:latin typeface="Cambria Math" panose="02040503050406030204" pitchFamily="18" charset="0"/>
                            </a:rPr>
                            <m:t>5</m:t>
                          </m:r>
                        </m:sub>
                      </m:sSub>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𝐴</m:t>
                      </m:r>
                      <m:r>
                        <a:rPr lang="en-US" altLang="zh-CN" sz="1600" i="1" dirty="0">
                          <a:solidFill>
                            <a:srgbClr val="C00000"/>
                          </a:solidFill>
                          <a:latin typeface="Cambria Math" panose="02040503050406030204" pitchFamily="18" charset="0"/>
                        </a:rPr>
                        <m:t>,</m:t>
                      </m:r>
                      <m:r>
                        <a:rPr lang="en-US" altLang="zh-CN" sz="1600" i="1" dirty="0">
                          <a:solidFill>
                            <a:srgbClr val="C00000"/>
                          </a:solidFill>
                          <a:latin typeface="Cambria Math" panose="02040503050406030204" pitchFamily="18" charset="0"/>
                        </a:rPr>
                        <m:t>𝐸</m:t>
                      </m:r>
                      <m:r>
                        <a:rPr lang="en-US" altLang="zh-CN" sz="1600" i="1" dirty="0">
                          <a:solidFill>
                            <a:srgbClr val="C00000"/>
                          </a:solidFill>
                          <a:latin typeface="Cambria Math" panose="02040503050406030204" pitchFamily="18" charset="0"/>
                        </a:rPr>
                        <m:t>)}</m:t>
                      </m:r>
                    </m:oMath>
                  </m:oMathPara>
                </a14:m>
                <a:endParaRPr lang="en-US" altLang="zh-CN" sz="1600" dirty="0">
                  <a:solidFill>
                    <a:srgbClr val="C00000"/>
                  </a:solidFill>
                  <a:latin typeface="Arial" panose="020B0604020202020204" pitchFamily="34" charset="0"/>
                </a:endParaRPr>
              </a:p>
            </p:txBody>
          </p:sp>
        </mc:Choice>
        <mc:Fallback>
          <p:sp>
            <p:nvSpPr>
              <p:cNvPr id="27" name="矩形 1"/>
              <p:cNvSpPr>
                <a:spLocks noRot="1" noChangeAspect="1" noMove="1" noResize="1" noEditPoints="1" noAdjustHandles="1" noChangeArrowheads="1" noChangeShapeType="1" noTextEdit="1"/>
              </p:cNvSpPr>
              <p:nvPr/>
            </p:nvSpPr>
            <p:spPr bwMode="auto">
              <a:xfrm>
                <a:off x="5290454" y="1242211"/>
                <a:ext cx="5505937" cy="880241"/>
              </a:xfrm>
              <a:prstGeom prst="rect">
                <a:avLst/>
              </a:prstGeom>
              <a:blipFill rotWithShape="1">
                <a:blip r:embed="rId1"/>
                <a:stretch>
                  <a:fillRect l="-5" t="-17" r="2" b="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Text Box 6"/>
              <p:cNvSpPr txBox="1">
                <a:spLocks noChangeArrowheads="1"/>
              </p:cNvSpPr>
              <p:nvPr/>
            </p:nvSpPr>
            <p:spPr bwMode="auto">
              <a:xfrm>
                <a:off x="1713816" y="4462044"/>
                <a:ext cx="8296275" cy="25209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lang="en-US" altLang="zh-CN" sz="2200" dirty="0">
                    <a:latin typeface="Helvetica" panose="020B0604020202030204" pitchFamily="34" charset="0"/>
                  </a:rPr>
                  <a:t>2</a:t>
                </a:r>
                <a:r>
                  <a:rPr lang="zh-CN" altLang="en-US" sz="2200" dirty="0">
                    <a:latin typeface="Helvetica" panose="020B0604020202030204" pitchFamily="34" charset="0"/>
                  </a:rPr>
                  <a:t>、</a:t>
                </a:r>
                <a:r>
                  <a:rPr lang="zh-CN" altLang="en-US" sz="2200" dirty="0">
                    <a:latin typeface="微软雅黑" panose="020B0503020204020204" pitchFamily="34" charset="-122"/>
                    <a:ea typeface="微软雅黑" panose="020B0503020204020204" pitchFamily="34" charset="-122"/>
                  </a:rPr>
                  <a:t>处理表格</a:t>
                </a:r>
                <a:endParaRPr lang="zh-CN" altLang="en-US" sz="2200" dirty="0">
                  <a:latin typeface="微软雅黑" panose="020B0503020204020204" pitchFamily="34" charset="-122"/>
                  <a:ea typeface="微软雅黑" panose="020B0503020204020204" pitchFamily="34" charset="-122"/>
                </a:endParaRPr>
              </a:p>
              <a:p>
                <a:pPr>
                  <a:spcBef>
                    <a:spcPct val="50000"/>
                  </a:spcBef>
                  <a:buFontTx/>
                  <a:buNone/>
                </a:pPr>
                <a:r>
                  <a:rPr lang="zh-CN" altLang="en-US" sz="1800" dirty="0">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1800" i="1" dirty="0" smtClean="0">
                        <a:latin typeface="Cambria Math" panose="02040503050406030204" pitchFamily="18" charset="0"/>
                        <a:ea typeface="微软雅黑" panose="020B0503020204020204" pitchFamily="34" charset="-122"/>
                      </a:rPr>
                      <m:t>𝐴</m:t>
                    </m:r>
                    <m:r>
                      <a:rPr kumimoji="1" lang="en-US" altLang="zh-CN" sz="1800" i="1" dirty="0" smtClean="0">
                        <a:latin typeface="Cambria Math" panose="02040503050406030204" pitchFamily="18" charset="0"/>
                        <a:ea typeface="微软雅黑" panose="020B0503020204020204" pitchFamily="34" charset="-122"/>
                        <a:cs typeface="Arial" panose="020B0604020202020204" pitchFamily="34" charset="0"/>
                      </a:rPr>
                      <m:t>→</m:t>
                    </m:r>
                    <m:r>
                      <a:rPr kumimoji="1" lang="en-US" altLang="zh-CN" sz="1800" i="1" dirty="0" smtClean="0">
                        <a:latin typeface="Cambria Math" panose="02040503050406030204" pitchFamily="18" charset="0"/>
                        <a:ea typeface="微软雅黑" panose="020B0503020204020204" pitchFamily="34" charset="-122"/>
                      </a:rPr>
                      <m:t>𝐶</m:t>
                    </m:r>
                  </m:oMath>
                </a14:m>
                <a:r>
                  <a:rPr kumimoji="1" lang="zh-CN" altLang="en-US" sz="1800" dirty="0">
                    <a:latin typeface="微软雅黑" panose="020B0503020204020204" pitchFamily="34" charset="-122"/>
                    <a:ea typeface="微软雅黑" panose="020B0503020204020204" pitchFamily="34" charset="-122"/>
                  </a:rPr>
                  <a:t>：将</a:t>
                </a:r>
                <a:r>
                  <a:rPr kumimoji="1" lang="en-US" altLang="zh-CN" sz="1800" dirty="0">
                    <a:latin typeface="微软雅黑" panose="020B0503020204020204" pitchFamily="34" charset="-122"/>
                    <a:ea typeface="微软雅黑" panose="020B0503020204020204" pitchFamily="34" charset="-122"/>
                  </a:rPr>
                  <a:t>b23</a:t>
                </a:r>
                <a:r>
                  <a:rPr kumimoji="1" lang="zh-CN" altLang="en-US" sz="1800" dirty="0">
                    <a:latin typeface="微软雅黑" panose="020B0503020204020204" pitchFamily="34" charset="-122"/>
                    <a:ea typeface="微软雅黑" panose="020B0503020204020204" pitchFamily="34" charset="-122"/>
                  </a:rPr>
                  <a:t>，</a:t>
                </a:r>
                <a:r>
                  <a:rPr kumimoji="1" lang="en-US" altLang="zh-CN" sz="1800" dirty="0">
                    <a:latin typeface="微软雅黑" panose="020B0503020204020204" pitchFamily="34" charset="-122"/>
                    <a:ea typeface="微软雅黑" panose="020B0503020204020204" pitchFamily="34" charset="-122"/>
                  </a:rPr>
                  <a:t>b53</a:t>
                </a:r>
                <a:r>
                  <a:rPr kumimoji="1" lang="zh-CN" altLang="en-US" sz="1800" dirty="0">
                    <a:latin typeface="微软雅黑" panose="020B0503020204020204" pitchFamily="34" charset="-122"/>
                    <a:ea typeface="微软雅黑" panose="020B0503020204020204" pitchFamily="34" charset="-122"/>
                  </a:rPr>
                  <a:t>改为</a:t>
                </a:r>
                <a:r>
                  <a:rPr kumimoji="1" lang="en-US" altLang="zh-CN" sz="1800" dirty="0">
                    <a:latin typeface="微软雅黑" panose="020B0503020204020204" pitchFamily="34" charset="-122"/>
                    <a:ea typeface="微软雅黑" panose="020B0503020204020204" pitchFamily="34" charset="-122"/>
                  </a:rPr>
                  <a:t>b13</a:t>
                </a:r>
                <a:endParaRPr kumimoji="1" lang="en-US" altLang="zh-CN" sz="1800" dirty="0">
                  <a:latin typeface="微软雅黑" panose="020B0503020204020204" pitchFamily="34" charset="-122"/>
                  <a:ea typeface="微软雅黑" panose="020B0503020204020204" pitchFamily="34" charset="-122"/>
                </a:endParaRPr>
              </a:p>
              <a:p>
                <a:pPr>
                  <a:spcBef>
                    <a:spcPct val="50000"/>
                  </a:spcBef>
                  <a:buFontTx/>
                  <a:buNone/>
                </a:pPr>
                <a:r>
                  <a:rPr kumimoji="1" lang="en-US" altLang="zh-CN"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1800" i="1" dirty="0" smtClean="0">
                        <a:latin typeface="Cambria Math" panose="02040503050406030204" pitchFamily="18" charset="0"/>
                        <a:ea typeface="微软雅黑" panose="020B0503020204020204" pitchFamily="34" charset="-122"/>
                      </a:rPr>
                      <m:t>𝐵</m:t>
                    </m:r>
                    <m:r>
                      <a:rPr kumimoji="1" lang="en-US" altLang="zh-CN" sz="1800" i="1" dirty="0" smtClean="0">
                        <a:latin typeface="Cambria Math" panose="02040503050406030204" pitchFamily="18" charset="0"/>
                        <a:ea typeface="微软雅黑" panose="020B0503020204020204" pitchFamily="34" charset="-122"/>
                      </a:rPr>
                      <m:t>→</m:t>
                    </m:r>
                    <m:r>
                      <a:rPr kumimoji="1" lang="en-US" altLang="zh-CN" sz="1800" i="1" dirty="0" smtClean="0">
                        <a:latin typeface="Cambria Math" panose="02040503050406030204" pitchFamily="18" charset="0"/>
                        <a:ea typeface="微软雅黑" panose="020B0503020204020204" pitchFamily="34" charset="-122"/>
                      </a:rPr>
                      <m:t>𝐶</m:t>
                    </m:r>
                  </m:oMath>
                </a14:m>
                <a:r>
                  <a:rPr kumimoji="1" lang="zh-CN" altLang="en-US" sz="1800" dirty="0">
                    <a:latin typeface="微软雅黑" panose="020B0503020204020204" pitchFamily="34" charset="-122"/>
                    <a:ea typeface="微软雅黑" panose="020B0503020204020204" pitchFamily="34" charset="-122"/>
                  </a:rPr>
                  <a:t>：将</a:t>
                </a:r>
                <a:r>
                  <a:rPr kumimoji="1" lang="en-US" altLang="zh-CN" sz="1800" dirty="0">
                    <a:latin typeface="微软雅黑" panose="020B0503020204020204" pitchFamily="34" charset="-122"/>
                    <a:ea typeface="微软雅黑" panose="020B0503020204020204" pitchFamily="34" charset="-122"/>
                  </a:rPr>
                  <a:t>b33</a:t>
                </a:r>
                <a:r>
                  <a:rPr kumimoji="1" lang="zh-CN" altLang="en-US" sz="1800" dirty="0">
                    <a:latin typeface="微软雅黑" panose="020B0503020204020204" pitchFamily="34" charset="-122"/>
                    <a:ea typeface="微软雅黑" panose="020B0503020204020204" pitchFamily="34" charset="-122"/>
                  </a:rPr>
                  <a:t>改为</a:t>
                </a:r>
                <a:r>
                  <a:rPr kumimoji="1" lang="en-US" altLang="zh-CN" sz="1800" dirty="0">
                    <a:latin typeface="微软雅黑" panose="020B0503020204020204" pitchFamily="34" charset="-122"/>
                    <a:ea typeface="微软雅黑" panose="020B0503020204020204" pitchFamily="34" charset="-122"/>
                  </a:rPr>
                  <a:t>b13</a:t>
                </a:r>
                <a:endParaRPr kumimoji="1" lang="en-US" altLang="zh-CN" sz="1800" dirty="0">
                  <a:latin typeface="微软雅黑" panose="020B0503020204020204" pitchFamily="34" charset="-122"/>
                  <a:ea typeface="微软雅黑" panose="020B0503020204020204" pitchFamily="34" charset="-122"/>
                </a:endParaRPr>
              </a:p>
              <a:p>
                <a:pPr>
                  <a:spcBef>
                    <a:spcPct val="50000"/>
                  </a:spcBef>
                  <a:buFontTx/>
                  <a:buNone/>
                </a:pPr>
                <a:r>
                  <a:rPr kumimoji="1" lang="en-US" altLang="zh-CN"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1800" i="1" dirty="0" smtClean="0">
                        <a:latin typeface="Cambria Math" panose="02040503050406030204" pitchFamily="18" charset="0"/>
                        <a:ea typeface="微软雅黑" panose="020B0503020204020204" pitchFamily="34" charset="-122"/>
                      </a:rPr>
                      <m:t>𝐶</m:t>
                    </m:r>
                    <m:r>
                      <a:rPr kumimoji="1" lang="en-US" altLang="zh-CN" sz="1800" i="1" dirty="0" smtClean="0">
                        <a:latin typeface="Cambria Math" panose="02040503050406030204" pitchFamily="18" charset="0"/>
                        <a:ea typeface="微软雅黑" panose="020B0503020204020204" pitchFamily="34" charset="-122"/>
                      </a:rPr>
                      <m:t>→</m:t>
                    </m:r>
                    <m:r>
                      <a:rPr kumimoji="1" lang="en-US" altLang="zh-CN" sz="1800" i="1" dirty="0" smtClean="0">
                        <a:latin typeface="Cambria Math" panose="02040503050406030204" pitchFamily="18" charset="0"/>
                        <a:ea typeface="微软雅黑" panose="020B0503020204020204" pitchFamily="34" charset="-122"/>
                      </a:rPr>
                      <m:t>𝐷</m:t>
                    </m:r>
                  </m:oMath>
                </a14:m>
                <a:r>
                  <a:rPr kumimoji="1" lang="zh-CN" altLang="en-US" sz="1800" dirty="0">
                    <a:latin typeface="微软雅黑" panose="020B0503020204020204" pitchFamily="34" charset="-122"/>
                    <a:ea typeface="微软雅黑" panose="020B0503020204020204" pitchFamily="34" charset="-122"/>
                  </a:rPr>
                  <a:t>：将</a:t>
                </a:r>
                <a:r>
                  <a:rPr kumimoji="1" lang="en-US" altLang="zh-CN" sz="1800" dirty="0">
                    <a:latin typeface="微软雅黑" panose="020B0503020204020204" pitchFamily="34" charset="-122"/>
                    <a:ea typeface="微软雅黑" panose="020B0503020204020204" pitchFamily="34" charset="-122"/>
                  </a:rPr>
                  <a:t>b24</a:t>
                </a:r>
                <a:r>
                  <a:rPr kumimoji="1" lang="zh-CN" altLang="en-US" sz="1800" dirty="0">
                    <a:latin typeface="微软雅黑" panose="020B0503020204020204" pitchFamily="34" charset="-122"/>
                    <a:ea typeface="微软雅黑" panose="020B0503020204020204" pitchFamily="34" charset="-122"/>
                  </a:rPr>
                  <a:t>，</a:t>
                </a:r>
                <a:r>
                  <a:rPr kumimoji="1" lang="en-US" altLang="zh-CN" sz="1800" dirty="0">
                    <a:latin typeface="微软雅黑" panose="020B0503020204020204" pitchFamily="34" charset="-122"/>
                    <a:ea typeface="微软雅黑" panose="020B0503020204020204" pitchFamily="34" charset="-122"/>
                  </a:rPr>
                  <a:t>b34</a:t>
                </a:r>
                <a:r>
                  <a:rPr kumimoji="1" lang="zh-CN" altLang="en-US" sz="1800" dirty="0">
                    <a:latin typeface="微软雅黑" panose="020B0503020204020204" pitchFamily="34" charset="-122"/>
                    <a:ea typeface="微软雅黑" panose="020B0503020204020204" pitchFamily="34" charset="-122"/>
                  </a:rPr>
                  <a:t>，</a:t>
                </a:r>
                <a:r>
                  <a:rPr kumimoji="1" lang="en-US" altLang="zh-CN" sz="1800" dirty="0">
                    <a:latin typeface="微软雅黑" panose="020B0503020204020204" pitchFamily="34" charset="-122"/>
                    <a:ea typeface="微软雅黑" panose="020B0503020204020204" pitchFamily="34" charset="-122"/>
                  </a:rPr>
                  <a:t>b54</a:t>
                </a:r>
                <a:r>
                  <a:rPr kumimoji="1" lang="zh-CN" altLang="en-US" sz="1800" dirty="0">
                    <a:latin typeface="微软雅黑" panose="020B0503020204020204" pitchFamily="34" charset="-122"/>
                    <a:ea typeface="微软雅黑" panose="020B0503020204020204" pitchFamily="34" charset="-122"/>
                  </a:rPr>
                  <a:t>改为</a:t>
                </a:r>
                <a:r>
                  <a:rPr kumimoji="1" lang="en-US" altLang="zh-CN" sz="1800" dirty="0">
                    <a:latin typeface="微软雅黑" panose="020B0503020204020204" pitchFamily="34" charset="-122"/>
                    <a:ea typeface="微软雅黑" panose="020B0503020204020204" pitchFamily="34" charset="-122"/>
                  </a:rPr>
                  <a:t>a4</a:t>
                </a:r>
                <a:endParaRPr kumimoji="1" lang="en-US" altLang="zh-CN" sz="1800" dirty="0">
                  <a:latin typeface="微软雅黑" panose="020B0503020204020204" pitchFamily="34" charset="-122"/>
                  <a:ea typeface="微软雅黑" panose="020B0503020204020204" pitchFamily="34" charset="-122"/>
                </a:endParaRPr>
              </a:p>
              <a:p>
                <a:pPr>
                  <a:spcBef>
                    <a:spcPct val="50000"/>
                  </a:spcBef>
                  <a:buFontTx/>
                  <a:buNone/>
                </a:pPr>
                <a:r>
                  <a:rPr kumimoji="1" lang="en-US" altLang="zh-CN"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1800" i="1" dirty="0" smtClean="0">
                        <a:latin typeface="Cambria Math" panose="02040503050406030204" pitchFamily="18" charset="0"/>
                        <a:ea typeface="微软雅黑" panose="020B0503020204020204" pitchFamily="34" charset="-122"/>
                      </a:rPr>
                      <m:t>𝐷𝐸</m:t>
                    </m:r>
                    <m:r>
                      <a:rPr kumimoji="1" lang="en-US" altLang="zh-CN" sz="1800" i="1" dirty="0" smtClean="0">
                        <a:latin typeface="Cambria Math" panose="02040503050406030204" pitchFamily="18" charset="0"/>
                        <a:ea typeface="微软雅黑" panose="020B0503020204020204" pitchFamily="34" charset="-122"/>
                      </a:rPr>
                      <m:t>→</m:t>
                    </m:r>
                    <m:r>
                      <a:rPr kumimoji="1" lang="en-US" altLang="zh-CN" sz="1800" i="1" dirty="0" smtClean="0">
                        <a:latin typeface="Cambria Math" panose="02040503050406030204" pitchFamily="18" charset="0"/>
                        <a:ea typeface="微软雅黑" panose="020B0503020204020204" pitchFamily="34" charset="-122"/>
                      </a:rPr>
                      <m:t>𝐶</m:t>
                    </m:r>
                  </m:oMath>
                </a14:m>
                <a:r>
                  <a:rPr kumimoji="1" lang="zh-CN" altLang="en-US" sz="1800" dirty="0">
                    <a:latin typeface="微软雅黑" panose="020B0503020204020204" pitchFamily="34" charset="-122"/>
                    <a:ea typeface="微软雅黑" panose="020B0503020204020204" pitchFamily="34" charset="-122"/>
                  </a:rPr>
                  <a:t>：将第</a:t>
                </a:r>
                <a:r>
                  <a:rPr kumimoji="1" lang="en-US" altLang="zh-CN" sz="1800" dirty="0">
                    <a:latin typeface="微软雅黑" panose="020B0503020204020204" pitchFamily="34" charset="-122"/>
                    <a:ea typeface="微软雅黑" panose="020B0503020204020204" pitchFamily="34" charset="-122"/>
                  </a:rPr>
                  <a:t>3</a:t>
                </a:r>
                <a:r>
                  <a:rPr kumimoji="1" lang="zh-CN" altLang="en-US" sz="1800" dirty="0">
                    <a:latin typeface="微软雅黑" panose="020B0503020204020204" pitchFamily="34" charset="-122"/>
                    <a:ea typeface="微软雅黑" panose="020B0503020204020204" pitchFamily="34" charset="-122"/>
                  </a:rPr>
                  <a:t>行和第</a:t>
                </a:r>
                <a:r>
                  <a:rPr kumimoji="1" lang="en-US" altLang="zh-CN" sz="1800" dirty="0">
                    <a:latin typeface="微软雅黑" panose="020B0503020204020204" pitchFamily="34" charset="-122"/>
                    <a:ea typeface="微软雅黑" panose="020B0503020204020204" pitchFamily="34" charset="-122"/>
                  </a:rPr>
                  <a:t>5</a:t>
                </a:r>
                <a:r>
                  <a:rPr kumimoji="1" lang="zh-CN" altLang="en-US" sz="1800" dirty="0">
                    <a:latin typeface="微软雅黑" panose="020B0503020204020204" pitchFamily="34" charset="-122"/>
                    <a:ea typeface="微软雅黑" panose="020B0503020204020204" pitchFamily="34" charset="-122"/>
                  </a:rPr>
                  <a:t>行的</a:t>
                </a:r>
                <a:r>
                  <a:rPr kumimoji="1" lang="en-US" altLang="zh-CN" sz="1800" dirty="0">
                    <a:latin typeface="微软雅黑" panose="020B0503020204020204" pitchFamily="34" charset="-122"/>
                    <a:ea typeface="微软雅黑" panose="020B0503020204020204" pitchFamily="34" charset="-122"/>
                  </a:rPr>
                  <a:t>C</a:t>
                </a:r>
                <a:r>
                  <a:rPr kumimoji="1" lang="zh-CN" altLang="en-US" sz="1800" dirty="0">
                    <a:latin typeface="微软雅黑" panose="020B0503020204020204" pitchFamily="34" charset="-122"/>
                    <a:ea typeface="微软雅黑" panose="020B0503020204020204" pitchFamily="34" charset="-122"/>
                  </a:rPr>
                  <a:t>改为</a:t>
                </a:r>
                <a:r>
                  <a:rPr kumimoji="1" lang="en-US" altLang="zh-CN" sz="1800" dirty="0">
                    <a:latin typeface="微软雅黑" panose="020B0503020204020204" pitchFamily="34" charset="-122"/>
                    <a:ea typeface="微软雅黑" panose="020B0503020204020204" pitchFamily="34" charset="-122"/>
                  </a:rPr>
                  <a:t>a3</a:t>
                </a:r>
                <a:endParaRPr kumimoji="1" lang="en-US" altLang="zh-CN" sz="1800" dirty="0">
                  <a:latin typeface="微软雅黑" panose="020B0503020204020204" pitchFamily="34" charset="-122"/>
                  <a:ea typeface="微软雅黑" panose="020B0503020204020204" pitchFamily="34" charset="-122"/>
                </a:endParaRPr>
              </a:p>
              <a:p>
                <a:pPr>
                  <a:spcBef>
                    <a:spcPct val="50000"/>
                  </a:spcBef>
                  <a:buFontTx/>
                  <a:buNone/>
                </a:pPr>
                <a:r>
                  <a:rPr kumimoji="1" lang="en-US" altLang="zh-CN"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1800" i="1" dirty="0" smtClean="0">
                        <a:latin typeface="Cambria Math" panose="02040503050406030204" pitchFamily="18" charset="0"/>
                        <a:ea typeface="微软雅黑" panose="020B0503020204020204" pitchFamily="34" charset="-122"/>
                      </a:rPr>
                      <m:t>𝐶𝐸</m:t>
                    </m:r>
                    <m:r>
                      <a:rPr kumimoji="1" lang="en-US" altLang="zh-CN" sz="1800" i="1" dirty="0" smtClean="0">
                        <a:latin typeface="Cambria Math" panose="02040503050406030204" pitchFamily="18" charset="0"/>
                        <a:ea typeface="微软雅黑" panose="020B0503020204020204" pitchFamily="34" charset="-122"/>
                      </a:rPr>
                      <m:t>→</m:t>
                    </m:r>
                    <m:r>
                      <a:rPr kumimoji="1" lang="en-US" altLang="zh-CN" sz="1800" i="1" dirty="0" smtClean="0">
                        <a:latin typeface="Cambria Math" panose="02040503050406030204" pitchFamily="18" charset="0"/>
                        <a:ea typeface="微软雅黑" panose="020B0503020204020204" pitchFamily="34" charset="-122"/>
                      </a:rPr>
                      <m:t>𝐴</m:t>
                    </m:r>
                  </m:oMath>
                </a14:m>
                <a:r>
                  <a:rPr kumimoji="1" lang="zh-CN" altLang="en-US" sz="1800" dirty="0">
                    <a:latin typeface="微软雅黑" panose="020B0503020204020204" pitchFamily="34" charset="-122"/>
                    <a:ea typeface="微软雅黑" panose="020B0503020204020204" pitchFamily="34" charset="-122"/>
                  </a:rPr>
                  <a:t>：将第</a:t>
                </a:r>
                <a:r>
                  <a:rPr kumimoji="1" lang="en-US" altLang="zh-CN" sz="1800" dirty="0">
                    <a:latin typeface="微软雅黑" panose="020B0503020204020204" pitchFamily="34" charset="-122"/>
                    <a:ea typeface="微软雅黑" panose="020B0503020204020204" pitchFamily="34" charset="-122"/>
                  </a:rPr>
                  <a:t>3</a:t>
                </a:r>
                <a:r>
                  <a:rPr kumimoji="1" lang="zh-CN" altLang="en-US" sz="1800" dirty="0">
                    <a:latin typeface="微软雅黑" panose="020B0503020204020204" pitchFamily="34" charset="-122"/>
                    <a:ea typeface="微软雅黑" panose="020B0503020204020204" pitchFamily="34" charset="-122"/>
                  </a:rPr>
                  <a:t>行和第</a:t>
                </a:r>
                <a:r>
                  <a:rPr kumimoji="1" lang="en-US" altLang="zh-CN" sz="1800" dirty="0">
                    <a:latin typeface="微软雅黑" panose="020B0503020204020204" pitchFamily="34" charset="-122"/>
                    <a:ea typeface="微软雅黑" panose="020B0503020204020204" pitchFamily="34" charset="-122"/>
                  </a:rPr>
                  <a:t>4</a:t>
                </a:r>
                <a:r>
                  <a:rPr kumimoji="1" lang="zh-CN" altLang="en-US" sz="1800" dirty="0">
                    <a:latin typeface="微软雅黑" panose="020B0503020204020204" pitchFamily="34" charset="-122"/>
                    <a:ea typeface="微软雅黑" panose="020B0503020204020204" pitchFamily="34" charset="-122"/>
                  </a:rPr>
                  <a:t>行的</a:t>
                </a:r>
                <a:r>
                  <a:rPr kumimoji="1" lang="en-US" altLang="zh-CN" sz="1800" dirty="0">
                    <a:latin typeface="微软雅黑" panose="020B0503020204020204" pitchFamily="34" charset="-122"/>
                    <a:ea typeface="微软雅黑" panose="020B0503020204020204" pitchFamily="34" charset="-122"/>
                  </a:rPr>
                  <a:t>A</a:t>
                </a:r>
                <a:r>
                  <a:rPr kumimoji="1" lang="zh-CN" altLang="en-US" sz="1800" dirty="0">
                    <a:latin typeface="微软雅黑" panose="020B0503020204020204" pitchFamily="34" charset="-122"/>
                    <a:ea typeface="微软雅黑" panose="020B0503020204020204" pitchFamily="34" charset="-122"/>
                  </a:rPr>
                  <a:t>改为</a:t>
                </a:r>
                <a:r>
                  <a:rPr kumimoji="1" lang="en-US" altLang="zh-CN" sz="1800" dirty="0">
                    <a:latin typeface="微软雅黑" panose="020B0503020204020204" pitchFamily="34" charset="-122"/>
                    <a:ea typeface="微软雅黑" panose="020B0503020204020204" pitchFamily="34" charset="-122"/>
                  </a:rPr>
                  <a:t>a1</a:t>
                </a:r>
                <a:endParaRPr kumimoji="1" lang="en-US" altLang="zh-CN" sz="1800" dirty="0">
                  <a:latin typeface="微软雅黑" panose="020B0503020204020204" pitchFamily="34" charset="-122"/>
                  <a:ea typeface="微软雅黑" panose="020B0503020204020204" pitchFamily="34" charset="-122"/>
                </a:endParaRPr>
              </a:p>
            </p:txBody>
          </p:sp>
        </mc:Choice>
        <mc:Fallback>
          <p:sp>
            <p:nvSpPr>
              <p:cNvPr id="28" name="Text Box 6"/>
              <p:cNvSpPr txBox="1">
                <a:spLocks noRot="1" noChangeAspect="1" noMove="1" noResize="1" noEditPoints="1" noAdjustHandles="1" noChangeArrowheads="1" noChangeShapeType="1" noTextEdit="1"/>
              </p:cNvSpPr>
              <p:nvPr/>
            </p:nvSpPr>
            <p:spPr bwMode="auto">
              <a:xfrm>
                <a:off x="1713816" y="4462044"/>
                <a:ext cx="8296275" cy="2520950"/>
              </a:xfrm>
              <a:prstGeom prst="rect">
                <a:avLst/>
              </a:prstGeom>
              <a:blipFill rotWithShape="1">
                <a:blip r:embed="rId2"/>
                <a:stretch>
                  <a:fillRect l="-7" t="-21" r="7" b="21"/>
                </a:stretch>
              </a:blip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1+#ppt_w/2"/>
                                          </p:val>
                                        </p:tav>
                                        <p:tav tm="100000">
                                          <p:val>
                                            <p:strVal val="#ppt_x"/>
                                          </p:val>
                                        </p:tav>
                                      </p:tavLst>
                                    </p:anim>
                                    <p:anim calcmode="lin" valueType="num">
                                      <p:cBhvr additive="base">
                                        <p:cTn id="28"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additive="base">
                                        <p:cTn id="33" dur="500" fill="hold"/>
                                        <p:tgtEl>
                                          <p:spTgt spid="26"/>
                                        </p:tgtEl>
                                        <p:attrNameLst>
                                          <p:attrName>ppt_x</p:attrName>
                                        </p:attrNameLst>
                                      </p:cBhvr>
                                      <p:tavLst>
                                        <p:tav tm="0">
                                          <p:val>
                                            <p:strVal val="1+#ppt_w/2"/>
                                          </p:val>
                                        </p:tav>
                                        <p:tav tm="100000">
                                          <p:val>
                                            <p:strVal val="#ppt_x"/>
                                          </p:val>
                                        </p:tav>
                                      </p:tavLst>
                                    </p:anim>
                                    <p:anim calcmode="lin" valueType="num">
                                      <p:cBhvr additive="base">
                                        <p:cTn id="34"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P spid="25" grpId="0" animBg="1"/>
      <p:bldP spid="26"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无损分解的判别算法</a:t>
                </a:r>
                <a:endParaRPr lang="en-US" altLang="zh-CN" dirty="0"/>
              </a:p>
              <a:p>
                <a:pPr lvl="1"/>
                <a:r>
                  <a:rPr lang="zh-CN" altLang="en-US" dirty="0"/>
                  <a:t>对于只有</a:t>
                </a:r>
                <a:r>
                  <a:rPr lang="en-US" altLang="zh-CN" dirty="0"/>
                  <a:t>2</a:t>
                </a:r>
                <a:r>
                  <a:rPr lang="zh-CN" altLang="en-US" dirty="0"/>
                  <a:t>个关系模式的分解可以通过下面的定理判断其是否为无损联接分解</a:t>
                </a:r>
                <a:endParaRPr lang="en-US" altLang="zh-CN" dirty="0"/>
              </a:p>
              <a:p>
                <a:pPr lvl="1"/>
                <a:r>
                  <a:rPr lang="zh-CN" altLang="en-US" dirty="0"/>
                  <a:t>定理</a:t>
                </a:r>
                <a:r>
                  <a:rPr lang="en-US" altLang="zh-CN" dirty="0"/>
                  <a:t>4.4</a:t>
                </a:r>
                <a:r>
                  <a:rPr lang="zh-CN" altLang="en-US" dirty="0"/>
                  <a:t>：设</a:t>
                </a:r>
                <a14:m>
                  <m:oMath xmlns:m="http://schemas.openxmlformats.org/officeDocument/2006/math">
                    <m:r>
                      <a:rPr lang="en-US" altLang="zh-CN" i="1">
                        <a:latin typeface="Cambria Math" panose="02040503050406030204" pitchFamily="18" charset="0"/>
                        <a:ea typeface="Cambria Math" panose="02040503050406030204" pitchFamily="18" charset="0"/>
                      </a:rPr>
                      <m:t>𝜌</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i="1">
                            <a:latin typeface="Cambria Math" panose="02040503050406030204" pitchFamily="18" charset="0"/>
                            <a:ea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i="1">
                            <a:latin typeface="Cambria Math" panose="02040503050406030204" pitchFamily="18" charset="0"/>
                            <a:ea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oMath>
                </a14:m>
                <a:r>
                  <a:rPr lang="zh-CN" altLang="en-US" dirty="0"/>
                  <a:t>是关系模式</a:t>
                </a:r>
                <a14:m>
                  <m:oMath xmlns:m="http://schemas.openxmlformats.org/officeDocument/2006/math">
                    <m:r>
                      <a:rPr lang="en-US" altLang="zh-CN" i="1" dirty="0" smtClean="0">
                        <a:latin typeface="Cambria Math" panose="02040503050406030204" pitchFamily="18" charset="0"/>
                      </a:rPr>
                      <m:t>𝑅</m:t>
                    </m:r>
                  </m:oMath>
                </a14:m>
                <a:r>
                  <a:rPr lang="zh-CN" altLang="en-US" dirty="0"/>
                  <a:t>的一个分解，</a:t>
                </a:r>
                <a14:m>
                  <m:oMath xmlns:m="http://schemas.openxmlformats.org/officeDocument/2006/math">
                    <m:r>
                      <a:rPr lang="en-US" altLang="zh-CN" i="1" dirty="0" smtClean="0">
                        <a:latin typeface="Cambria Math" panose="02040503050406030204" pitchFamily="18" charset="0"/>
                      </a:rPr>
                      <m:t>𝐹</m:t>
                    </m:r>
                  </m:oMath>
                </a14:m>
                <a:r>
                  <a:rPr lang="zh-CN" altLang="en-US" dirty="0"/>
                  <a:t>是</a:t>
                </a:r>
                <a14:m>
                  <m:oMath xmlns:m="http://schemas.openxmlformats.org/officeDocument/2006/math">
                    <m:r>
                      <a:rPr lang="en-US" altLang="zh-CN" i="1" dirty="0">
                        <a:latin typeface="Cambria Math" panose="02040503050406030204" pitchFamily="18" charset="0"/>
                      </a:rPr>
                      <m:t>𝑅</m:t>
                    </m:r>
                  </m:oMath>
                </a14:m>
                <a:r>
                  <a:rPr lang="zh-CN" altLang="en-US" dirty="0"/>
                  <a:t>上成立的</a:t>
                </a:r>
                <a14:m>
                  <m:oMath xmlns:m="http://schemas.openxmlformats.org/officeDocument/2006/math">
                    <m:r>
                      <a:rPr lang="en-US" altLang="zh-CN" i="1" dirty="0" smtClean="0">
                        <a:latin typeface="Cambria Math" panose="02040503050406030204" pitchFamily="18" charset="0"/>
                      </a:rPr>
                      <m:t>𝐹𝐷</m:t>
                    </m:r>
                  </m:oMath>
                </a14:m>
                <a:r>
                  <a:rPr lang="zh-CN" altLang="en-US" dirty="0"/>
                  <a:t>集，那么分解</a:t>
                </a:r>
                <a14:m>
                  <m:oMath xmlns:m="http://schemas.openxmlformats.org/officeDocument/2006/math">
                    <m:r>
                      <a:rPr lang="en-US" altLang="zh-CN" i="1">
                        <a:latin typeface="Cambria Math" panose="02040503050406030204" pitchFamily="18" charset="0"/>
                        <a:ea typeface="Cambria Math" panose="02040503050406030204" pitchFamily="18" charset="0"/>
                      </a:rPr>
                      <m:t>𝜌</m:t>
                    </m:r>
                  </m:oMath>
                </a14:m>
                <a:r>
                  <a:rPr lang="zh-CN" altLang="en-US" dirty="0"/>
                  <a:t>相对于</a:t>
                </a:r>
                <a14:m>
                  <m:oMath xmlns:m="http://schemas.openxmlformats.org/officeDocument/2006/math">
                    <m:r>
                      <a:rPr lang="en-US" altLang="zh-CN" i="1" dirty="0">
                        <a:latin typeface="Cambria Math" panose="02040503050406030204" pitchFamily="18" charset="0"/>
                      </a:rPr>
                      <m:t>𝐹</m:t>
                    </m:r>
                  </m:oMath>
                </a14:m>
                <a:r>
                  <a:rPr lang="zh-CN" altLang="en-US" dirty="0"/>
                  <a:t>是无损分解的充分必要条件是</a:t>
                </a:r>
                <a14:m>
                  <m:oMath xmlns:m="http://schemas.openxmlformats.org/officeDocument/2006/math">
                    <m:r>
                      <a:rPr lang="en-US" altLang="zh-CN" b="0" i="0" dirty="0" smtClean="0">
                        <a:latin typeface="Cambria Math" panose="02040503050406030204" pitchFamily="18" charset="0"/>
                      </a:rPr>
                      <m:t>(</m:t>
                    </m:r>
                    <m:r>
                      <a:rPr lang="en-US" altLang="zh-CN" i="1" dirty="0">
                        <a:latin typeface="Cambria Math" panose="02040503050406030204" pitchFamily="18" charset="0"/>
                      </a:rPr>
                      <m:t>𝑅</m:t>
                    </m:r>
                    <m:r>
                      <a:rPr lang="en-US" altLang="zh-CN" i="1" baseline="-16000" dirty="0">
                        <a:latin typeface="Cambria Math" panose="02040503050406030204" pitchFamily="18" charset="0"/>
                      </a:rPr>
                      <m:t>1</m:t>
                    </m:r>
                    <m:r>
                      <a:rPr lang="en-US" altLang="zh-CN" i="1" dirty="0">
                        <a:latin typeface="Cambria Math" panose="02040503050406030204" pitchFamily="18" charset="0"/>
                      </a:rPr>
                      <m:t>∩</m:t>
                    </m:r>
                    <m:r>
                      <a:rPr lang="en-US" altLang="zh-CN" i="1" dirty="0">
                        <a:latin typeface="Cambria Math" panose="02040503050406030204" pitchFamily="18" charset="0"/>
                      </a:rPr>
                      <m:t>𝑅</m:t>
                    </m:r>
                    <m:r>
                      <a:rPr lang="en-US" altLang="zh-CN" i="1" baseline="-16000" dirty="0">
                        <a:latin typeface="Cambria Math" panose="02040503050406030204" pitchFamily="18" charset="0"/>
                      </a:rPr>
                      <m:t>2</m:t>
                    </m:r>
                    <m:r>
                      <a:rPr lang="en-US" altLang="zh-CN" b="0" i="1" dirty="0" smtClean="0">
                        <a:latin typeface="Cambria Math" panose="02040503050406030204" pitchFamily="18" charset="0"/>
                      </a:rPr>
                      <m:t>)</m:t>
                    </m:r>
                    <m:r>
                      <a:rPr lang="en-US" altLang="zh-CN" i="1" dirty="0">
                        <a:latin typeface="Cambria Math" panose="02040503050406030204" pitchFamily="18" charset="0"/>
                      </a:rPr>
                      <m:t>→</m:t>
                    </m:r>
                    <m:r>
                      <a:rPr lang="en-US" altLang="zh-CN" b="0" i="1" dirty="0" smtClean="0">
                        <a:latin typeface="Cambria Math" panose="02040503050406030204" pitchFamily="18" charset="0"/>
                      </a:rPr>
                      <m:t>(</m:t>
                    </m:r>
                    <m:r>
                      <a:rPr lang="en-US" altLang="zh-CN" i="1" dirty="0">
                        <a:latin typeface="Cambria Math" panose="02040503050406030204" pitchFamily="18" charset="0"/>
                      </a:rPr>
                      <m:t>𝑅</m:t>
                    </m:r>
                    <m:r>
                      <a:rPr lang="en-US" altLang="zh-CN" i="1" baseline="-16000" dirty="0">
                        <a:latin typeface="Cambria Math" panose="02040503050406030204" pitchFamily="18" charset="0"/>
                      </a:rPr>
                      <m:t>1</m:t>
                    </m:r>
                    <m:r>
                      <a:rPr lang="zh-CN" altLang="en-US" i="1" dirty="0">
                        <a:latin typeface="Cambria Math" panose="02040503050406030204" pitchFamily="18" charset="0"/>
                      </a:rPr>
                      <m:t>－</m:t>
                    </m:r>
                    <m:r>
                      <a:rPr lang="en-US" altLang="zh-CN" i="1" dirty="0">
                        <a:latin typeface="Cambria Math" panose="02040503050406030204" pitchFamily="18" charset="0"/>
                      </a:rPr>
                      <m:t>𝑅</m:t>
                    </m:r>
                    <m:r>
                      <a:rPr lang="en-US" altLang="zh-CN" i="1" baseline="-16000" dirty="0">
                        <a:latin typeface="Cambria Math" panose="02040503050406030204" pitchFamily="18" charset="0"/>
                      </a:rPr>
                      <m:t>2</m:t>
                    </m:r>
                    <m:r>
                      <a:rPr lang="en-US" altLang="zh-CN" b="0" i="1" dirty="0" smtClean="0">
                        <a:latin typeface="Cambria Math" panose="02040503050406030204" pitchFamily="18" charset="0"/>
                      </a:rPr>
                      <m:t>)</m:t>
                    </m:r>
                  </m:oMath>
                </a14:m>
                <a:r>
                  <a:rPr lang="zh-CN" altLang="en-US" dirty="0"/>
                  <a:t>或</a:t>
                </a:r>
                <a14:m>
                  <m:oMath xmlns:m="http://schemas.openxmlformats.org/officeDocument/2006/math">
                    <m:r>
                      <a:rPr lang="en-US" altLang="zh-CN" b="0" i="0" dirty="0" smtClean="0">
                        <a:latin typeface="Cambria Math" panose="02040503050406030204" pitchFamily="18" charset="0"/>
                      </a:rPr>
                      <m:t>(</m:t>
                    </m:r>
                    <m:r>
                      <a:rPr lang="en-US" altLang="zh-CN" i="1" dirty="0">
                        <a:latin typeface="Cambria Math" panose="02040503050406030204" pitchFamily="18" charset="0"/>
                      </a:rPr>
                      <m:t>𝑅</m:t>
                    </m:r>
                    <m:r>
                      <a:rPr lang="en-US" altLang="zh-CN" i="1" baseline="-16000" dirty="0">
                        <a:latin typeface="Cambria Math" panose="02040503050406030204" pitchFamily="18" charset="0"/>
                      </a:rPr>
                      <m:t>1</m:t>
                    </m:r>
                    <m:r>
                      <a:rPr lang="en-US" altLang="zh-CN" i="1" dirty="0">
                        <a:latin typeface="Cambria Math" panose="02040503050406030204" pitchFamily="18" charset="0"/>
                      </a:rPr>
                      <m:t>∩</m:t>
                    </m:r>
                    <m:r>
                      <a:rPr lang="en-US" altLang="zh-CN" i="1" dirty="0">
                        <a:latin typeface="Cambria Math" panose="02040503050406030204" pitchFamily="18" charset="0"/>
                      </a:rPr>
                      <m:t>𝑅</m:t>
                    </m:r>
                    <m:r>
                      <a:rPr lang="en-US" altLang="zh-CN" i="1" baseline="-16000" dirty="0">
                        <a:latin typeface="Cambria Math" panose="02040503050406030204" pitchFamily="18" charset="0"/>
                      </a:rPr>
                      <m:t>2</m:t>
                    </m:r>
                    <m:r>
                      <a:rPr lang="en-US" altLang="zh-CN" b="0" i="1" dirty="0" smtClean="0">
                        <a:latin typeface="Cambria Math" panose="02040503050406030204" pitchFamily="18" charset="0"/>
                      </a:rPr>
                      <m:t>)</m:t>
                    </m:r>
                    <m:r>
                      <a:rPr lang="en-US" altLang="zh-CN" i="1" dirty="0">
                        <a:latin typeface="Cambria Math" panose="02040503050406030204" pitchFamily="18" charset="0"/>
                      </a:rPr>
                      <m:t>→</m:t>
                    </m:r>
                    <m:r>
                      <a:rPr lang="en-US" altLang="zh-CN" b="0" i="1" dirty="0" smtClean="0">
                        <a:latin typeface="Cambria Math" panose="02040503050406030204" pitchFamily="18" charset="0"/>
                      </a:rPr>
                      <m:t>(</m:t>
                    </m:r>
                    <m:r>
                      <a:rPr lang="en-US" altLang="zh-CN" i="1" dirty="0">
                        <a:latin typeface="Cambria Math" panose="02040503050406030204" pitchFamily="18" charset="0"/>
                      </a:rPr>
                      <m:t>𝑅</m:t>
                    </m:r>
                    <m:r>
                      <a:rPr lang="en-US" altLang="zh-CN" i="1" baseline="-16000" dirty="0">
                        <a:latin typeface="Cambria Math" panose="02040503050406030204" pitchFamily="18" charset="0"/>
                      </a:rPr>
                      <m:t>2</m:t>
                    </m:r>
                    <m:r>
                      <a:rPr lang="zh-CN" altLang="en-US" i="1" dirty="0">
                        <a:latin typeface="Cambria Math" panose="02040503050406030204" pitchFamily="18" charset="0"/>
                      </a:rPr>
                      <m:t>－</m:t>
                    </m:r>
                    <m:r>
                      <a:rPr lang="en-US" altLang="zh-CN" i="1" dirty="0">
                        <a:latin typeface="Cambria Math" panose="02040503050406030204" pitchFamily="18" charset="0"/>
                      </a:rPr>
                      <m:t>𝑅</m:t>
                    </m:r>
                    <m:r>
                      <a:rPr lang="en-US" altLang="zh-CN" i="1" baseline="-16000" dirty="0">
                        <a:latin typeface="Cambria Math" panose="02040503050406030204" pitchFamily="18" charset="0"/>
                      </a:rPr>
                      <m:t>1</m:t>
                    </m:r>
                    <m:r>
                      <a:rPr lang="en-US" altLang="zh-CN" b="0" i="1" dirty="0" smtClean="0">
                        <a:latin typeface="Cambria Math" panose="02040503050406030204" pitchFamily="18" charset="0"/>
                      </a:rPr>
                      <m:t>)</m:t>
                    </m:r>
                  </m:oMath>
                </a14:m>
                <a:endParaRPr lang="en-US" altLang="zh-CN" dirty="0"/>
              </a:p>
              <a:p>
                <a:pPr lvl="1"/>
                <a:r>
                  <a:rPr lang="zh-CN" altLang="en-US" dirty="0"/>
                  <a:t>定理</a:t>
                </a:r>
                <a:r>
                  <a:rPr lang="en-US" altLang="zh-CN" dirty="0"/>
                  <a:t>4.5</a:t>
                </a:r>
                <a:r>
                  <a:rPr lang="zh-CN" altLang="en-US" dirty="0"/>
                  <a:t>：如果</a:t>
                </a:r>
                <a14:m>
                  <m:oMath xmlns:m="http://schemas.openxmlformats.org/officeDocument/2006/math">
                    <m:r>
                      <a:rPr lang="en-US" altLang="zh-CN" i="1" dirty="0">
                        <a:latin typeface="Cambria Math" panose="02040503050406030204" pitchFamily="18" charset="0"/>
                      </a:rPr>
                      <m:t>𝐹𝐷</m:t>
                    </m:r>
                    <m:r>
                      <a:rPr lang="en-US" altLang="zh-CN" i="1" dirty="0">
                        <a:latin typeface="Cambria Math" panose="02040503050406030204" pitchFamily="18" charset="0"/>
                      </a:rPr>
                      <m:t> </m:t>
                    </m:r>
                  </m:oMath>
                </a14:m>
                <a:r>
                  <a:rPr lang="zh-CN" altLang="en-US" dirty="0"/>
                  <a:t>：</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oMath>
                </a14:m>
                <a:r>
                  <a:rPr lang="zh-CN" altLang="en-US" dirty="0"/>
                  <a:t>在模式</a:t>
                </a:r>
                <a14:m>
                  <m:oMath xmlns:m="http://schemas.openxmlformats.org/officeDocument/2006/math">
                    <m:r>
                      <a:rPr lang="en-US" altLang="zh-CN" i="1" dirty="0">
                        <a:latin typeface="Cambria Math" panose="02040503050406030204" pitchFamily="18" charset="0"/>
                      </a:rPr>
                      <m:t>𝑅</m:t>
                    </m:r>
                  </m:oMath>
                </a14:m>
                <a:r>
                  <a:rPr lang="zh-CN" altLang="en-US" dirty="0"/>
                  <a:t>上成立，且</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𝑌</m:t>
                    </m:r>
                    <m:r>
                      <a:rPr lang="en-US" altLang="zh-CN" i="1" dirty="0" smtClean="0">
                        <a:latin typeface="Cambria Math" panose="02040503050406030204" pitchFamily="18" charset="0"/>
                      </a:rPr>
                      <m:t>=</m:t>
                    </m:r>
                    <m:r>
                      <a:rPr lang="en-US" altLang="zh-CN" i="1" dirty="0" smtClean="0">
                        <a:latin typeface="Cambria Math" panose="02040503050406030204" pitchFamily="18" charset="0"/>
                        <a:ea typeface="Cambria Math" panose="02040503050406030204" pitchFamily="18" charset="0"/>
                      </a:rPr>
                      <m:t>𝜑</m:t>
                    </m:r>
                  </m:oMath>
                </a14:m>
                <a:r>
                  <a:rPr lang="zh-CN" altLang="en-US" dirty="0"/>
                  <a:t>，则</a:t>
                </a:r>
                <a14:m>
                  <m:oMath xmlns:m="http://schemas.openxmlformats.org/officeDocument/2006/math">
                    <m:r>
                      <a:rPr lang="en-US" altLang="zh-CN" i="1" dirty="0" smtClean="0">
                        <a:latin typeface="Cambria Math" panose="02040503050406030204" pitchFamily="18" charset="0"/>
                      </a:rPr>
                      <m:t>𝜌</m:t>
                    </m:r>
                    <m:r>
                      <a:rPr lang="en-US" altLang="zh-CN" i="1" dirty="0">
                        <a:latin typeface="Cambria Math" panose="02040503050406030204" pitchFamily="18" charset="0"/>
                      </a:rPr>
                      <m:t>={</m:t>
                    </m:r>
                    <m:r>
                      <a:rPr lang="en-US" altLang="zh-CN" i="1" dirty="0">
                        <a:latin typeface="Cambria Math" panose="02040503050406030204" pitchFamily="18" charset="0"/>
                      </a:rPr>
                      <m:t>𝑈</m:t>
                    </m:r>
                    <m:r>
                      <a:rPr lang="en-US" altLang="zh-CN" b="0" i="1" dirty="0" smtClean="0">
                        <a:latin typeface="Cambria Math" panose="02040503050406030204" pitchFamily="18" charset="0"/>
                      </a:rPr>
                      <m:t>−</m:t>
                    </m:r>
                    <m:r>
                      <a:rPr lang="en-US" altLang="zh-CN" i="1" dirty="0">
                        <a:latin typeface="Cambria Math" panose="02040503050406030204" pitchFamily="18" charset="0"/>
                      </a:rPr>
                      <m:t>𝑌</m:t>
                    </m:r>
                    <m:r>
                      <a:rPr lang="en-US" altLang="zh-CN" b="0" i="1" dirty="0" smtClean="0">
                        <a:latin typeface="Cambria Math" panose="02040503050406030204" pitchFamily="18" charset="0"/>
                      </a:rPr>
                      <m:t>,</m:t>
                    </m:r>
                    <m:r>
                      <a:rPr lang="en-US" altLang="zh-CN" i="1" dirty="0">
                        <a:latin typeface="Cambria Math" panose="02040503050406030204" pitchFamily="18" charset="0"/>
                      </a:rPr>
                      <m:t>𝑋𝑌</m:t>
                    </m:r>
                    <m:r>
                      <a:rPr lang="en-US" altLang="zh-CN" i="1" dirty="0">
                        <a:latin typeface="Cambria Math" panose="02040503050406030204" pitchFamily="18" charset="0"/>
                      </a:rPr>
                      <m:t> }</m:t>
                    </m:r>
                  </m:oMath>
                </a14:m>
                <a:r>
                  <a:rPr lang="zh-CN" altLang="en-US" dirty="0"/>
                  <a:t>是</a:t>
                </a:r>
                <a14:m>
                  <m:oMath xmlns:m="http://schemas.openxmlformats.org/officeDocument/2006/math">
                    <m:r>
                      <a:rPr lang="en-US" altLang="zh-CN" i="1" dirty="0">
                        <a:latin typeface="Cambria Math" panose="02040503050406030204" pitchFamily="18" charset="0"/>
                      </a:rPr>
                      <m:t>𝑅</m:t>
                    </m:r>
                  </m:oMath>
                </a14:m>
                <a:r>
                  <a:rPr lang="zh-CN" altLang="en-US" dirty="0"/>
                  <a:t>的无损分解</a:t>
                </a:r>
                <a:endParaRPr lang="zh-CN" altLang="en-US" dirty="0"/>
              </a:p>
              <a:p>
                <a:pPr lvl="1"/>
                <a:endParaRPr lang="en-US" altLang="zh-CN" sz="2600" dirty="0"/>
              </a:p>
              <a:p>
                <a:pPr marL="0" indent="0">
                  <a:buNone/>
                </a:pPr>
                <a:endParaRPr lang="zh-CN" altLang="en-US" sz="2200" baseline="-25000" dirty="0"/>
              </a:p>
              <a:p>
                <a:pPr lvl="1"/>
                <a:endParaRPr lang="zh-CN" altLang="en-US"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989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保持函数依赖的分解</a:t>
                </a:r>
                <a:endParaRPr lang="en-US" altLang="zh-CN" dirty="0"/>
              </a:p>
              <a:p>
                <a:pPr lvl="1">
                  <a:lnSpc>
                    <a:spcPct val="150000"/>
                  </a:lnSpc>
                </a:pPr>
                <a:r>
                  <a:rPr lang="zh-CN" altLang="en-US" dirty="0"/>
                  <a:t>保持关系模式分解等价的另一个重要条件是关系模式的函数依赖集在分解后仍在数据库模式中保持不变</a:t>
                </a:r>
                <a:endParaRPr lang="zh-CN" altLang="en-US" dirty="0"/>
              </a:p>
              <a:p>
                <a:pPr lvl="1">
                  <a:lnSpc>
                    <a:spcPct val="150000"/>
                  </a:lnSpc>
                </a:pPr>
                <a:r>
                  <a:rPr lang="zh-CN" altLang="en-US" dirty="0"/>
                  <a:t>即关系模式</a:t>
                </a:r>
                <a14:m>
                  <m:oMath xmlns:m="http://schemas.openxmlformats.org/officeDocument/2006/math">
                    <m:r>
                      <a:rPr lang="en-US" altLang="zh-CN" i="1" dirty="0" smtClean="0">
                        <a:latin typeface="Cambria Math" panose="02040503050406030204" pitchFamily="18" charset="0"/>
                      </a:rPr>
                      <m:t>𝑅</m:t>
                    </m:r>
                  </m:oMath>
                </a14:m>
                <a:r>
                  <a:rPr lang="zh-CN" altLang="en-US" dirty="0"/>
                  <a:t>到</a:t>
                </a:r>
                <a14:m>
                  <m:oMath xmlns:m="http://schemas.openxmlformats.org/officeDocument/2006/math">
                    <m:r>
                      <a:rPr lang="en-US" altLang="zh-CN" i="1">
                        <a:latin typeface="Cambria Math" panose="02040503050406030204" pitchFamily="18" charset="0"/>
                        <a:ea typeface="Cambria Math" panose="02040503050406030204" pitchFamily="18" charset="0"/>
                      </a:rPr>
                      <m:t>𝜌</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i="1">
                            <a:latin typeface="Cambria Math" panose="02040503050406030204" pitchFamily="18" charset="0"/>
                            <a:ea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i="1">
                            <a:latin typeface="Cambria Math" panose="02040503050406030204" pitchFamily="18" charset="0"/>
                            <a:ea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i="1">
                            <a:latin typeface="Cambria Math" panose="02040503050406030204" pitchFamily="18" charset="0"/>
                            <a:ea typeface="Cambria Math" panose="02040503050406030204" pitchFamily="18" charset="0"/>
                          </a:rPr>
                          <m:t>𝑘</m:t>
                        </m:r>
                      </m:sub>
                    </m:sSub>
                    <m:r>
                      <a:rPr lang="en-US" altLang="zh-CN" i="1">
                        <a:latin typeface="Cambria Math" panose="02040503050406030204" pitchFamily="18" charset="0"/>
                        <a:ea typeface="Cambria Math" panose="02040503050406030204" pitchFamily="18" charset="0"/>
                      </a:rPr>
                      <m:t>}</m:t>
                    </m:r>
                  </m:oMath>
                </a14:m>
                <a:r>
                  <a:rPr lang="zh-CN" altLang="en-US" dirty="0"/>
                  <a:t>的分解，应使函数依赖集</a:t>
                </a:r>
                <a14:m>
                  <m:oMath xmlns:m="http://schemas.openxmlformats.org/officeDocument/2006/math">
                    <m:r>
                      <a:rPr lang="en-US" altLang="zh-CN" i="1" dirty="0" smtClean="0">
                        <a:latin typeface="Cambria Math" panose="02040503050406030204" pitchFamily="18" charset="0"/>
                      </a:rPr>
                      <m:t>𝐹</m:t>
                    </m:r>
                    <m:r>
                      <a:rPr lang="en-US" altLang="zh-CN" i="1" dirty="0" smtClean="0">
                        <a:latin typeface="Cambria Math" panose="02040503050406030204" pitchFamily="18" charset="0"/>
                      </a:rPr>
                      <m:t>,</m:t>
                    </m:r>
                  </m:oMath>
                </a14:m>
                <a:r>
                  <a:rPr lang="zh-CN" altLang="en-US" dirty="0"/>
                  <a:t>被</a:t>
                </a:r>
                <a14:m>
                  <m:oMath xmlns:m="http://schemas.openxmlformats.org/officeDocument/2006/math">
                    <m:r>
                      <a:rPr lang="en-US" altLang="zh-CN" i="1" dirty="0">
                        <a:latin typeface="Cambria Math" panose="02040503050406030204" pitchFamily="18" charset="0"/>
                      </a:rPr>
                      <m:t>𝐹</m:t>
                    </m:r>
                  </m:oMath>
                </a14:m>
                <a:r>
                  <a:rPr lang="zh-CN" altLang="en-US" dirty="0"/>
                  <a:t>在这些</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b="0" i="1" smtClean="0">
                            <a:latin typeface="Cambria Math" panose="02040503050406030204" pitchFamily="18" charset="0"/>
                            <a:ea typeface="Cambria Math" panose="02040503050406030204" pitchFamily="18" charset="0"/>
                          </a:rPr>
                          <m:t>𝑖</m:t>
                        </m:r>
                      </m:sub>
                    </m:sSub>
                  </m:oMath>
                </a14:m>
                <a:r>
                  <a:rPr lang="zh-CN" altLang="en-US" dirty="0"/>
                  <a:t>上的投影蕴涵</a:t>
                </a:r>
                <a:endParaRPr lang="zh-CN" altLang="en-US" dirty="0"/>
              </a:p>
              <a:p>
                <a:pPr lvl="1"/>
                <a:endParaRPr lang="en-US" altLang="zh-CN" sz="2600" dirty="0"/>
              </a:p>
              <a:p>
                <a:pPr marL="0" indent="0">
                  <a:buNone/>
                </a:pPr>
                <a:endParaRPr lang="zh-CN" altLang="en-US" sz="2200" baseline="-25000" dirty="0"/>
              </a:p>
              <a:p>
                <a:pPr lvl="1"/>
                <a:endParaRPr lang="zh-CN" altLang="en-US"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保持函数依赖的分解</a:t>
                </a:r>
                <a:endParaRPr lang="en-US" altLang="zh-CN" dirty="0"/>
              </a:p>
              <a:p>
                <a:pPr lvl="1"/>
                <a:r>
                  <a:rPr lang="zh-CN" altLang="en-US" dirty="0"/>
                  <a:t>定义</a:t>
                </a:r>
                <a:r>
                  <a:rPr lang="en-US" altLang="zh-CN" dirty="0"/>
                  <a:t>4.18</a:t>
                </a:r>
                <a:r>
                  <a:rPr lang="zh-CN" altLang="en-US" dirty="0"/>
                  <a:t>：设</a:t>
                </a:r>
                <a14:m>
                  <m:oMath xmlns:m="http://schemas.openxmlformats.org/officeDocument/2006/math">
                    <m:r>
                      <a:rPr lang="en-US" altLang="zh-CN" i="1">
                        <a:latin typeface="Cambria Math" panose="02040503050406030204" pitchFamily="18" charset="0"/>
                        <a:ea typeface="Cambria Math" panose="02040503050406030204" pitchFamily="18" charset="0"/>
                      </a:rPr>
                      <m:t>𝜌</m:t>
                    </m:r>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i="1">
                            <a:latin typeface="Cambria Math" panose="02040503050406030204" pitchFamily="18" charset="0"/>
                            <a:ea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i="1">
                            <a:latin typeface="Cambria Math" panose="02040503050406030204" pitchFamily="18" charset="0"/>
                            <a:ea typeface="Cambria Math" panose="02040503050406030204" pitchFamily="18" charset="0"/>
                          </a:rPr>
                          <m:t>2</m:t>
                        </m:r>
                      </m:sub>
                    </m:sSub>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i="1">
                            <a:latin typeface="Cambria Math" panose="02040503050406030204" pitchFamily="18" charset="0"/>
                            <a:ea typeface="Cambria Math" panose="02040503050406030204" pitchFamily="18" charset="0"/>
                          </a:rPr>
                          <m:t>𝑘</m:t>
                        </m:r>
                      </m:sub>
                    </m:sSub>
                    <m:r>
                      <a:rPr lang="en-US" altLang="zh-CN" i="1">
                        <a:latin typeface="Cambria Math" panose="02040503050406030204" pitchFamily="18" charset="0"/>
                        <a:ea typeface="Cambria Math" panose="02040503050406030204" pitchFamily="18" charset="0"/>
                      </a:rPr>
                      <m:t>}</m:t>
                    </m:r>
                  </m:oMath>
                </a14:m>
                <a:r>
                  <a:rPr lang="zh-CN" altLang="en-US" dirty="0"/>
                  <a:t>是</a:t>
                </a:r>
                <a14:m>
                  <m:oMath xmlns:m="http://schemas.openxmlformats.org/officeDocument/2006/math">
                    <m:r>
                      <a:rPr lang="en-US" altLang="zh-CN" i="1" dirty="0">
                        <a:latin typeface="Cambria Math" panose="02040503050406030204" pitchFamily="18" charset="0"/>
                      </a:rPr>
                      <m:t>𝑅</m:t>
                    </m:r>
                  </m:oMath>
                </a14:m>
                <a:r>
                  <a:rPr lang="zh-CN" altLang="en-US" dirty="0"/>
                  <a:t>的一个分解，</a:t>
                </a:r>
                <a14:m>
                  <m:oMath xmlns:m="http://schemas.openxmlformats.org/officeDocument/2006/math">
                    <m:r>
                      <a:rPr lang="en-US" altLang="zh-CN" i="1" dirty="0">
                        <a:latin typeface="Cambria Math" panose="02040503050406030204" pitchFamily="18" charset="0"/>
                      </a:rPr>
                      <m:t>𝐹</m:t>
                    </m:r>
                  </m:oMath>
                </a14:m>
                <a:r>
                  <a:rPr lang="zh-CN" altLang="en-US" dirty="0"/>
                  <a:t>是</a:t>
                </a:r>
                <a14:m>
                  <m:oMath xmlns:m="http://schemas.openxmlformats.org/officeDocument/2006/math">
                    <m:r>
                      <a:rPr lang="en-US" altLang="zh-CN" i="1" dirty="0">
                        <a:latin typeface="Cambria Math" panose="02040503050406030204" pitchFamily="18" charset="0"/>
                      </a:rPr>
                      <m:t>𝑅</m:t>
                    </m:r>
                  </m:oMath>
                </a14:m>
                <a:r>
                  <a:rPr lang="zh-CN" altLang="en-US" dirty="0"/>
                  <a:t>上的</a:t>
                </a:r>
                <a14:m>
                  <m:oMath xmlns:m="http://schemas.openxmlformats.org/officeDocument/2006/math">
                    <m:r>
                      <a:rPr lang="en-US" altLang="zh-CN" i="1" dirty="0">
                        <a:latin typeface="Cambria Math" panose="02040503050406030204" pitchFamily="18" charset="0"/>
                      </a:rPr>
                      <m:t>𝐹𝐷</m:t>
                    </m:r>
                  </m:oMath>
                </a14:m>
                <a:r>
                  <a:rPr lang="zh-CN" altLang="en-US" dirty="0"/>
                  <a:t>集，如果有：</a:t>
                </a:r>
                <a:r>
                  <a:rPr lang="zh-CN" altLang="en-US" baseline="-16000" dirty="0"/>
                  <a:t>           </a:t>
                </a:r>
                <a:endParaRPr lang="zh-CN" altLang="en-US" baseline="-16000" dirty="0"/>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smtClean="0">
                              <a:latin typeface="Cambria Math" panose="02040503050406030204" pitchFamily="18" charset="0"/>
                              <a:ea typeface="Cambria Math" panose="02040503050406030204" pitchFamily="18" charset="0"/>
                            </a:rPr>
                            <m:t>⋃</m:t>
                          </m:r>
                        </m:e>
                        <m:sub>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𝜋</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i="1" dirty="0">
                                      <a:latin typeface="Cambria Math" panose="02040503050406030204" pitchFamily="18" charset="0"/>
                                    </a:rPr>
                                    <m:t>𝑖</m:t>
                                  </m:r>
                                </m:sub>
                              </m:sSub>
                            </m:sub>
                          </m:sSub>
                        </m:sub>
                      </m:sSub>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𝐹</m:t>
                          </m:r>
                        </m:e>
                      </m:d>
                      <m:r>
                        <a:rPr lang="en-US" altLang="zh-CN" b="0" i="1"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𝜋</m:t>
                          </m:r>
                        </m:e>
                        <m:sub>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rPr>
                                <m:t>1</m:t>
                              </m:r>
                            </m:sub>
                          </m:sSub>
                        </m:sub>
                      </m:sSub>
                      <m:d>
                        <m:dPr>
                          <m:ctrlPr>
                            <a:rPr lang="en-US" altLang="zh-CN" i="1" dirty="0" smtClean="0">
                              <a:latin typeface="Cambria Math" panose="02040503050406030204" pitchFamily="18" charset="0"/>
                            </a:rPr>
                          </m:ctrlPr>
                        </m:dPr>
                        <m:e>
                          <m:r>
                            <a:rPr lang="en-US" altLang="zh-CN" b="0" i="1" dirty="0" smtClean="0">
                              <a:latin typeface="Cambria Math" panose="02040503050406030204" pitchFamily="18" charset="0"/>
                            </a:rPr>
                            <m:t>𝐹</m:t>
                          </m:r>
                        </m:e>
                      </m:d>
                      <m:r>
                        <a:rPr lang="en-US" altLang="zh-CN" i="1" dirty="0" smtClean="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𝜋</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b="0" i="1" dirty="0" smtClean="0">
                                  <a:latin typeface="Cambria Math" panose="02040503050406030204" pitchFamily="18" charset="0"/>
                                </a:rPr>
                                <m:t>2</m:t>
                              </m:r>
                            </m:sub>
                          </m:sSub>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𝐹</m:t>
                          </m:r>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𝜋</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b="0" i="1" dirty="0" smtClean="0">
                                  <a:latin typeface="Cambria Math" panose="02040503050406030204" pitchFamily="18" charset="0"/>
                                </a:rPr>
                                <m:t>𝑘</m:t>
                              </m:r>
                            </m:sub>
                          </m:sSub>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𝐹</m:t>
                          </m:r>
                        </m:e>
                      </m:d>
                      <m:r>
                        <a:rPr lang="en-US" altLang="zh-CN"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𝐹</m:t>
                      </m:r>
                    </m:oMath>
                  </m:oMathPara>
                </a14:m>
                <a:endParaRPr lang="en-US" altLang="zh-CN" b="0" dirty="0">
                  <a:ea typeface="Cambria Math" panose="02040503050406030204" pitchFamily="18" charset="0"/>
                </a:endParaRPr>
              </a:p>
              <a:p>
                <a:pPr marL="457200" lvl="1" indent="0">
                  <a:buNone/>
                </a:pPr>
                <a:r>
                  <a:rPr lang="en-US" altLang="zh-CN" dirty="0"/>
                  <a:t>   </a:t>
                </a:r>
                <a:r>
                  <a:rPr lang="zh-CN" altLang="en-US" dirty="0"/>
                  <a:t>则称分解</a:t>
                </a:r>
                <a14:m>
                  <m:oMath xmlns:m="http://schemas.openxmlformats.org/officeDocument/2006/math">
                    <m:r>
                      <a:rPr lang="en-US" altLang="zh-CN" i="1">
                        <a:latin typeface="Cambria Math" panose="02040503050406030204" pitchFamily="18" charset="0"/>
                        <a:ea typeface="Cambria Math" panose="02040503050406030204" pitchFamily="18" charset="0"/>
                      </a:rPr>
                      <m:t>𝜌</m:t>
                    </m:r>
                  </m:oMath>
                </a14:m>
                <a:r>
                  <a:rPr lang="zh-CN" altLang="en-US" dirty="0"/>
                  <a:t>保持函数依赖集</a:t>
                </a:r>
                <a14:m>
                  <m:oMath xmlns:m="http://schemas.openxmlformats.org/officeDocument/2006/math">
                    <m:r>
                      <a:rPr lang="en-US" altLang="zh-CN" i="1" dirty="0">
                        <a:latin typeface="Cambria Math" panose="02040503050406030204" pitchFamily="18" charset="0"/>
                      </a:rPr>
                      <m:t>𝐹</m:t>
                    </m:r>
                  </m:oMath>
                </a14:m>
                <a:endParaRPr lang="en-US" altLang="zh-CN" dirty="0"/>
              </a:p>
              <a:p>
                <a:pPr marL="457200" lvl="1" indent="0">
                  <a:buNone/>
                </a:pPr>
                <a:endParaRPr lang="en-US" altLang="zh-CN" dirty="0"/>
              </a:p>
              <a:p>
                <a:pPr marL="457200" lvl="1" indent="0">
                  <a:buNone/>
                </a:pPr>
                <a:endParaRPr lang="en-US" altLang="zh-CN" dirty="0"/>
              </a:p>
              <a:p>
                <a:pPr marL="457200" lvl="1" indent="0">
                  <a:buNone/>
                </a:pPr>
                <a14:m>
                  <m:oMathPara xmlns:m="http://schemas.openxmlformats.org/officeDocument/2006/math">
                    <m:oMathParaPr>
                      <m:jc m:val="centerGroup"/>
                    </m:oMathParaPr>
                    <m:oMath xmlns:m="http://schemas.openxmlformats.org/officeDocument/2006/math">
                      <m:nary>
                        <m:naryPr>
                          <m:chr m:val="∏"/>
                          <m:limLoc m:val="subSup"/>
                          <m:supHide m:val="on"/>
                          <m:ctrlPr>
                            <a:rPr lang="en-US" altLang="zh-CN" i="1" smtClean="0">
                              <a:latin typeface="Cambria Math" panose="02040503050406030204" pitchFamily="18" charset="0"/>
                            </a:rPr>
                          </m:ctrlPr>
                        </m:naryPr>
                        <m:sub>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𝑈</m:t>
                              </m:r>
                            </m:e>
                            <m:sub>
                              <m:r>
                                <a:rPr lang="en-US" altLang="zh-CN" b="0" i="1" smtClean="0">
                                  <a:latin typeface="Cambria Math" panose="02040503050406030204" pitchFamily="18" charset="0"/>
                                </a:rPr>
                                <m:t>𝑖</m:t>
                              </m:r>
                            </m:sub>
                          </m:sSub>
                        </m:sub>
                        <m:sup/>
                        <m:e>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𝐹</m:t>
                              </m:r>
                            </m:e>
                          </m:d>
                        </m:e>
                      </m:nary>
                      <m:r>
                        <a:rPr lang="en-US" altLang="zh-CN" b="0" i="1" smtClean="0">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𝑌</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𝐹</m:t>
                          </m:r>
                        </m:e>
                        <m:sup>
                          <m:r>
                            <a:rPr lang="en-US" altLang="zh-CN" b="0" i="1" smtClean="0">
                              <a:latin typeface="Cambria Math" panose="02040503050406030204" pitchFamily="18" charset="0"/>
                              <a:ea typeface="Cambria Math" panose="02040503050406030204" pitchFamily="18" charset="0"/>
                            </a:rPr>
                            <m:t>+</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𝑋𝑌</m:t>
                      </m:r>
                      <m:r>
                        <a:rPr lang="en-US" altLang="zh-CN" b="0"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𝑈</m:t>
                          </m:r>
                        </m:e>
                        <m:sub>
                          <m:r>
                            <a:rPr lang="en-US" altLang="zh-CN" i="1">
                              <a:latin typeface="Cambria Math" panose="02040503050406030204" pitchFamily="18" charset="0"/>
                            </a:rPr>
                            <m:t>𝑖</m:t>
                          </m:r>
                        </m:sub>
                      </m:sSub>
                      <m:r>
                        <a:rPr lang="en-US" altLang="zh-CN" b="0" i="1" smtClean="0">
                          <a:latin typeface="Cambria Math" panose="02040503050406030204" pitchFamily="18" charset="0"/>
                        </a:rPr>
                        <m:t>}</m:t>
                      </m:r>
                    </m:oMath>
                  </m:oMathPara>
                </a14:m>
                <a:endParaRPr lang="en-US" altLang="zh-CN" dirty="0"/>
              </a:p>
              <a:p>
                <a:pPr marL="457200" lvl="1" indent="0">
                  <a:buNone/>
                </a:pPr>
                <a:endParaRPr lang="en-US" altLang="zh-CN" dirty="0"/>
              </a:p>
              <a:p>
                <a:pPr marL="457200" lvl="1" indent="0">
                  <a:buNone/>
                </a:pPr>
                <a:endParaRPr lang="en-US" altLang="zh-CN" sz="2600"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6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保持函数依赖的分解</a:t>
                </a:r>
                <a:endParaRPr lang="en-US" altLang="zh-CN" dirty="0"/>
              </a:p>
              <a:p>
                <a:pPr lvl="1"/>
                <a:r>
                  <a:rPr lang="zh-CN" altLang="en-US" dirty="0"/>
                  <a:t>下面介绍检验分解是否保持函数依赖的算法</a:t>
                </a:r>
                <a:endParaRPr lang="en-US" altLang="zh-CN" dirty="0"/>
              </a:p>
              <a:p>
                <a:pPr lvl="1"/>
                <a:r>
                  <a:rPr lang="zh-CN" altLang="en-US" dirty="0"/>
                  <a:t>检验分解是否保持函数依赖实质上就是检验</a:t>
                </a:r>
                <a14:m>
                  <m:oMath xmlns:m="http://schemas.openxmlformats.org/officeDocument/2006/math">
                    <m:nary>
                      <m:naryPr>
                        <m:chr m:val="⋃"/>
                        <m:limLoc m:val="subSup"/>
                        <m:ctrlPr>
                          <a:rPr lang="zh-CN" altLang="en-US" i="1" smtClean="0">
                            <a:latin typeface="Cambria Math" panose="02040503050406030204" pitchFamily="18" charset="0"/>
                          </a:rPr>
                        </m:ctrlPr>
                      </m:naryPr>
                      <m:sub>
                        <m:r>
                          <m:rPr>
                            <m:brk m:alnAt="25"/>
                          </m:rP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𝑘</m:t>
                        </m:r>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𝜋</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𝑈</m:t>
                                </m:r>
                              </m:e>
                              <m:sub>
                                <m:r>
                                  <a:rPr lang="en-US" altLang="zh-CN" i="1">
                                    <a:latin typeface="Cambria Math" panose="02040503050406030204" pitchFamily="18" charset="0"/>
                                  </a:rPr>
                                  <m:t>𝑖</m:t>
                                </m:r>
                              </m:sub>
                            </m:sSub>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𝐹</m:t>
                            </m:r>
                          </m:e>
                        </m:d>
                      </m:e>
                    </m:nary>
                  </m:oMath>
                </a14:m>
                <a:r>
                  <a:rPr lang="zh-CN" altLang="en-US" dirty="0"/>
                  <a:t>是否覆盖</a:t>
                </a:r>
                <a14:m>
                  <m:oMath xmlns:m="http://schemas.openxmlformats.org/officeDocument/2006/math">
                    <m:r>
                      <a:rPr lang="en-US" altLang="zh-CN" i="1" dirty="0" smtClean="0">
                        <a:latin typeface="Cambria Math" panose="02040503050406030204" pitchFamily="18" charset="0"/>
                      </a:rPr>
                      <m:t>𝐹</m:t>
                    </m:r>
                  </m:oMath>
                </a14:m>
                <a:endParaRPr lang="en-US" altLang="zh-CN" dirty="0"/>
              </a:p>
              <a:p>
                <a:pPr lvl="1"/>
                <a:r>
                  <a:rPr lang="zh-CN" altLang="en-US" dirty="0"/>
                  <a:t>算法</a:t>
                </a:r>
                <a:r>
                  <a:rPr lang="en-US" altLang="zh-CN" dirty="0"/>
                  <a:t>4.4: </a:t>
                </a:r>
                <a:r>
                  <a:rPr lang="zh-CN" altLang="en-US" dirty="0"/>
                  <a:t>检验分解是否保持函数依赖。</a:t>
                </a:r>
                <a:endParaRPr lang="en-US" altLang="zh-CN" dirty="0"/>
              </a:p>
              <a:p>
                <a:pPr lvl="2"/>
                <a:r>
                  <a:rPr lang="zh-CN" altLang="en-US" sz="2200" dirty="0"/>
                  <a:t>输入：</a:t>
                </a:r>
                <a:r>
                  <a:rPr lang="en-US" altLang="zh-CN" sz="2200" dirty="0"/>
                  <a:t> </a:t>
                </a:r>
                <a14:m>
                  <m:oMath xmlns:m="http://schemas.openxmlformats.org/officeDocument/2006/math">
                    <m:r>
                      <a:rPr lang="en-US" altLang="zh-CN" sz="2200" i="1">
                        <a:latin typeface="Cambria Math" panose="02040503050406030204" pitchFamily="18" charset="0"/>
                        <a:ea typeface="Cambria Math" panose="02040503050406030204" pitchFamily="18" charset="0"/>
                      </a:rPr>
                      <m:t>𝜌</m:t>
                    </m:r>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𝑅</m:t>
                        </m:r>
                      </m:e>
                      <m:sub>
                        <m:r>
                          <a:rPr lang="en-US" altLang="zh-CN" sz="2200" i="1">
                            <a:latin typeface="Cambria Math" panose="02040503050406030204" pitchFamily="18" charset="0"/>
                            <a:ea typeface="Cambria Math" panose="02040503050406030204" pitchFamily="18" charset="0"/>
                          </a:rPr>
                          <m:t>1</m:t>
                        </m:r>
                      </m:sub>
                    </m:sSub>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𝑅</m:t>
                        </m:r>
                      </m:e>
                      <m:sub>
                        <m:r>
                          <a:rPr lang="en-US" altLang="zh-CN" sz="2200" i="1">
                            <a:latin typeface="Cambria Math" panose="02040503050406030204" pitchFamily="18" charset="0"/>
                            <a:ea typeface="Cambria Math" panose="02040503050406030204" pitchFamily="18" charset="0"/>
                          </a:rPr>
                          <m:t>2</m:t>
                        </m:r>
                      </m:sub>
                    </m:sSub>
                    <m:r>
                      <a:rPr lang="en-US" altLang="zh-CN" sz="2200" i="1">
                        <a:latin typeface="Cambria Math" panose="02040503050406030204" pitchFamily="18" charset="0"/>
                        <a:ea typeface="Cambria Math" panose="02040503050406030204" pitchFamily="18" charset="0"/>
                      </a:rPr>
                      <m:t>,…,</m:t>
                    </m:r>
                    <m:sSub>
                      <m:sSubPr>
                        <m:ctrlPr>
                          <a:rPr lang="en-US" altLang="zh-CN" sz="2200" i="1">
                            <a:latin typeface="Cambria Math" panose="02040503050406030204" pitchFamily="18" charset="0"/>
                            <a:ea typeface="Cambria Math" panose="02040503050406030204" pitchFamily="18" charset="0"/>
                          </a:rPr>
                        </m:ctrlPr>
                      </m:sSubPr>
                      <m:e>
                        <m:r>
                          <a:rPr lang="en-US" altLang="zh-CN" sz="2200" i="1">
                            <a:latin typeface="Cambria Math" panose="02040503050406030204" pitchFamily="18" charset="0"/>
                            <a:ea typeface="Cambria Math" panose="02040503050406030204" pitchFamily="18" charset="0"/>
                          </a:rPr>
                          <m:t>𝑅</m:t>
                        </m:r>
                      </m:e>
                      <m:sub>
                        <m:r>
                          <a:rPr lang="en-US" altLang="zh-CN" sz="2200" i="1">
                            <a:latin typeface="Cambria Math" panose="02040503050406030204" pitchFamily="18" charset="0"/>
                            <a:ea typeface="Cambria Math" panose="02040503050406030204" pitchFamily="18" charset="0"/>
                          </a:rPr>
                          <m:t>𝑘</m:t>
                        </m:r>
                      </m:sub>
                    </m:sSub>
                    <m:r>
                      <a:rPr lang="en-US" altLang="zh-CN" sz="2200" i="1">
                        <a:latin typeface="Cambria Math" panose="02040503050406030204" pitchFamily="18" charset="0"/>
                        <a:ea typeface="Cambria Math" panose="02040503050406030204" pitchFamily="18" charset="0"/>
                      </a:rPr>
                      <m:t>} </m:t>
                    </m:r>
                  </m:oMath>
                </a14:m>
                <a:r>
                  <a:rPr lang="zh-CN" altLang="en-US" sz="2200" dirty="0"/>
                  <a:t>，函数依赖集</a:t>
                </a:r>
                <a14:m>
                  <m:oMath xmlns:m="http://schemas.openxmlformats.org/officeDocument/2006/math">
                    <m:r>
                      <a:rPr lang="en-US" altLang="zh-CN" sz="2200" i="1" dirty="0">
                        <a:latin typeface="Cambria Math" panose="02040503050406030204" pitchFamily="18" charset="0"/>
                      </a:rPr>
                      <m:t>𝐹</m:t>
                    </m:r>
                  </m:oMath>
                </a14:m>
                <a:endParaRPr lang="en-US" altLang="zh-CN" sz="2200" dirty="0"/>
              </a:p>
              <a:p>
                <a:pPr lvl="2"/>
                <a:r>
                  <a:rPr lang="zh-CN" altLang="en-US" sz="2200" dirty="0"/>
                  <a:t>输出：</a:t>
                </a:r>
                <a14:m>
                  <m:oMath xmlns:m="http://schemas.openxmlformats.org/officeDocument/2006/math">
                    <m:r>
                      <a:rPr lang="en-US" altLang="zh-CN" sz="2200" i="1">
                        <a:latin typeface="Cambria Math" panose="02040503050406030204" pitchFamily="18" charset="0"/>
                        <a:ea typeface="Cambria Math" panose="02040503050406030204" pitchFamily="18" charset="0"/>
                      </a:rPr>
                      <m:t>𝜌</m:t>
                    </m:r>
                  </m:oMath>
                </a14:m>
                <a:r>
                  <a:rPr lang="zh-CN" altLang="en-US" sz="2200" dirty="0"/>
                  <a:t>是否保持</a:t>
                </a:r>
                <a14:m>
                  <m:oMath xmlns:m="http://schemas.openxmlformats.org/officeDocument/2006/math">
                    <m:r>
                      <a:rPr lang="en-US" altLang="zh-CN" sz="2200" i="1" dirty="0">
                        <a:latin typeface="Cambria Math" panose="02040503050406030204" pitchFamily="18" charset="0"/>
                      </a:rPr>
                      <m:t>𝐹</m:t>
                    </m:r>
                  </m:oMath>
                </a14:m>
                <a:endParaRPr lang="en-US" altLang="zh-CN" sz="2200" dirty="0"/>
              </a:p>
              <a:p>
                <a:pPr lvl="2"/>
                <a:r>
                  <a:rPr lang="zh-CN" altLang="en-US" sz="2200" dirty="0"/>
                  <a:t>方法：令</a:t>
                </a:r>
                <a14:m>
                  <m:oMath xmlns:m="http://schemas.openxmlformats.org/officeDocument/2006/math">
                    <m:r>
                      <a:rPr lang="en-US" altLang="zh-CN" sz="2200" b="0" i="1" smtClean="0">
                        <a:latin typeface="Cambria Math" panose="02040503050406030204" pitchFamily="18" charset="0"/>
                      </a:rPr>
                      <m:t>𝐺</m:t>
                    </m:r>
                    <m:r>
                      <a:rPr lang="en-US" altLang="zh-CN" sz="2200" b="0" i="1" smtClean="0">
                        <a:latin typeface="Cambria Math" panose="02040503050406030204" pitchFamily="18" charset="0"/>
                      </a:rPr>
                      <m:t>=</m:t>
                    </m:r>
                  </m:oMath>
                </a14:m>
                <a:r>
                  <a:rPr lang="zh-CN" altLang="en-US" sz="2200" dirty="0"/>
                  <a:t> </a:t>
                </a:r>
                <a14:m>
                  <m:oMath xmlns:m="http://schemas.openxmlformats.org/officeDocument/2006/math">
                    <m:nary>
                      <m:naryPr>
                        <m:chr m:val="⋃"/>
                        <m:limLoc m:val="subSup"/>
                        <m:ctrlPr>
                          <a:rPr lang="zh-CN" altLang="en-US" sz="2200" i="1">
                            <a:latin typeface="Cambria Math" panose="02040503050406030204" pitchFamily="18" charset="0"/>
                          </a:rPr>
                        </m:ctrlPr>
                      </m:naryPr>
                      <m:sub>
                        <m:r>
                          <m:rPr>
                            <m:brk m:alnAt="25"/>
                          </m:rPr>
                          <a:rPr lang="en-US" altLang="zh-CN" sz="2200" i="1">
                            <a:latin typeface="Cambria Math" panose="02040503050406030204" pitchFamily="18" charset="0"/>
                          </a:rPr>
                          <m:t>𝑖</m:t>
                        </m:r>
                        <m:r>
                          <a:rPr lang="en-US" altLang="zh-CN" sz="2200" i="1">
                            <a:latin typeface="Cambria Math" panose="02040503050406030204" pitchFamily="18" charset="0"/>
                          </a:rPr>
                          <m:t>=</m:t>
                        </m:r>
                        <m:r>
                          <a:rPr lang="en-US" altLang="zh-CN" sz="2200" i="1">
                            <a:latin typeface="Cambria Math" panose="02040503050406030204" pitchFamily="18" charset="0"/>
                          </a:rPr>
                          <m:t>1</m:t>
                        </m:r>
                      </m:sub>
                      <m:sup>
                        <m:r>
                          <a:rPr lang="en-US" altLang="zh-CN" sz="2200" i="1">
                            <a:latin typeface="Cambria Math" panose="02040503050406030204" pitchFamily="18" charset="0"/>
                          </a:rPr>
                          <m:t>𝑘</m:t>
                        </m:r>
                      </m:sup>
                      <m:e>
                        <m:sSub>
                          <m:sSubPr>
                            <m:ctrlPr>
                              <a:rPr lang="en-US" altLang="zh-CN" sz="2200" i="1" dirty="0">
                                <a:latin typeface="Cambria Math" panose="02040503050406030204" pitchFamily="18" charset="0"/>
                              </a:rPr>
                            </m:ctrlPr>
                          </m:sSubPr>
                          <m:e>
                            <m:r>
                              <a:rPr lang="en-US" altLang="zh-CN" sz="2200" i="1" dirty="0">
                                <a:latin typeface="Cambria Math" panose="02040503050406030204" pitchFamily="18" charset="0"/>
                              </a:rPr>
                              <m:t>𝜋</m:t>
                            </m:r>
                          </m:e>
                          <m:sub>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𝑈</m:t>
                                </m:r>
                              </m:e>
                              <m:sub>
                                <m:r>
                                  <a:rPr lang="en-US" altLang="zh-CN" sz="2200" i="1">
                                    <a:latin typeface="Cambria Math" panose="02040503050406030204" pitchFamily="18" charset="0"/>
                                  </a:rPr>
                                  <m:t>𝑖</m:t>
                                </m:r>
                              </m:sub>
                            </m:sSub>
                          </m:sub>
                        </m:sSub>
                        <m:d>
                          <m:dPr>
                            <m:ctrlPr>
                              <a:rPr lang="en-US" altLang="zh-CN" sz="2200" i="1" dirty="0">
                                <a:latin typeface="Cambria Math" panose="02040503050406030204" pitchFamily="18" charset="0"/>
                              </a:rPr>
                            </m:ctrlPr>
                          </m:dPr>
                          <m:e>
                            <m:r>
                              <a:rPr lang="en-US" altLang="zh-CN" sz="2200" i="1" dirty="0">
                                <a:latin typeface="Cambria Math" panose="02040503050406030204" pitchFamily="18" charset="0"/>
                              </a:rPr>
                              <m:t>𝐹</m:t>
                            </m:r>
                          </m:e>
                        </m:d>
                      </m:e>
                    </m:nary>
                  </m:oMath>
                </a14:m>
                <a:endParaRPr lang="en-US" altLang="zh-CN" sz="2200" dirty="0"/>
              </a:p>
              <a:p>
                <a:pPr lvl="2"/>
                <a:r>
                  <a:rPr lang="zh-CN" altLang="en-US" sz="2200" dirty="0"/>
                  <a:t>为检验</a:t>
                </a:r>
                <a14:m>
                  <m:oMath xmlns:m="http://schemas.openxmlformats.org/officeDocument/2006/math">
                    <m:r>
                      <a:rPr lang="en-US" altLang="zh-CN" sz="2200" i="1">
                        <a:latin typeface="Cambria Math" panose="02040503050406030204" pitchFamily="18" charset="0"/>
                      </a:rPr>
                      <m:t>𝐺</m:t>
                    </m:r>
                  </m:oMath>
                </a14:m>
                <a:r>
                  <a:rPr lang="zh-CN" altLang="en-US" sz="2200" dirty="0"/>
                  <a:t>是否覆盖</a:t>
                </a:r>
                <a14:m>
                  <m:oMath xmlns:m="http://schemas.openxmlformats.org/officeDocument/2006/math">
                    <m:r>
                      <a:rPr lang="en-US" altLang="zh-CN" sz="2200" i="1" dirty="0">
                        <a:latin typeface="Cambria Math" panose="02040503050406030204" pitchFamily="18" charset="0"/>
                      </a:rPr>
                      <m:t>𝐹</m:t>
                    </m:r>
                    <m:r>
                      <a:rPr lang="en-US" altLang="zh-CN" sz="2200" i="1" dirty="0">
                        <a:latin typeface="Cambria Math" panose="02040503050406030204" pitchFamily="18" charset="0"/>
                      </a:rPr>
                      <m:t> </m:t>
                    </m:r>
                  </m:oMath>
                </a14:m>
                <a:r>
                  <a:rPr lang="zh-CN" altLang="en-US" sz="2200" dirty="0"/>
                  <a:t>，可对</a:t>
                </a:r>
                <a14:m>
                  <m:oMath xmlns:m="http://schemas.openxmlformats.org/officeDocument/2006/math">
                    <m:r>
                      <a:rPr lang="en-US" altLang="zh-CN" sz="2200" i="1" dirty="0">
                        <a:latin typeface="Cambria Math" panose="02040503050406030204" pitchFamily="18" charset="0"/>
                      </a:rPr>
                      <m:t>𝐹</m:t>
                    </m:r>
                  </m:oMath>
                </a14:m>
                <a:r>
                  <a:rPr lang="zh-CN" altLang="en-US" sz="2200" dirty="0"/>
                  <a:t>中的每一函数依赖</a:t>
                </a:r>
                <a14:m>
                  <m:oMath xmlns:m="http://schemas.openxmlformats.org/officeDocument/2006/math">
                    <m:r>
                      <a:rPr lang="en-US" altLang="zh-CN" sz="2200" i="1" dirty="0" smtClean="0">
                        <a:latin typeface="Cambria Math" panose="02040503050406030204" pitchFamily="18" charset="0"/>
                      </a:rPr>
                      <m:t>𝑋</m:t>
                    </m:r>
                    <m:r>
                      <a:rPr lang="en-US" altLang="zh-CN" sz="2200" i="1" dirty="0">
                        <a:latin typeface="Cambria Math" panose="02040503050406030204" pitchFamily="18" charset="0"/>
                      </a:rPr>
                      <m:t>→</m:t>
                    </m:r>
                    <m:r>
                      <a:rPr lang="en-US" altLang="zh-CN" sz="2200" i="1" dirty="0">
                        <a:latin typeface="Cambria Math" panose="02040503050406030204" pitchFamily="18" charset="0"/>
                      </a:rPr>
                      <m:t>𝑌</m:t>
                    </m:r>
                  </m:oMath>
                </a14:m>
                <a:r>
                  <a:rPr lang="zh-CN" altLang="en-US" sz="2200" dirty="0"/>
                  <a:t>进行下列检验：</a:t>
                </a:r>
                <a:endParaRPr lang="en-US" altLang="zh-CN" sz="2200" dirty="0"/>
              </a:p>
              <a:p>
                <a:pPr lvl="2"/>
                <a:r>
                  <a:rPr lang="zh-CN" altLang="en-US" sz="2200" dirty="0"/>
                  <a:t>首先计算</a:t>
                </a:r>
                <a14:m>
                  <m:oMath xmlns:m="http://schemas.openxmlformats.org/officeDocument/2006/math">
                    <m:sSubSup>
                      <m:sSubSupPr>
                        <m:ctrlPr>
                          <a:rPr lang="en-US" altLang="zh-CN" sz="2200" i="1" smtClean="0">
                            <a:latin typeface="Cambria Math" panose="02040503050406030204" pitchFamily="18" charset="0"/>
                          </a:rPr>
                        </m:ctrlPr>
                      </m:sSubSupPr>
                      <m:e>
                        <m:r>
                          <a:rPr lang="en-US" altLang="zh-CN" sz="2200" b="0" i="1" smtClean="0">
                            <a:latin typeface="Cambria Math" panose="02040503050406030204" pitchFamily="18" charset="0"/>
                          </a:rPr>
                          <m:t>𝑋</m:t>
                        </m:r>
                      </m:e>
                      <m:sub>
                        <m:r>
                          <a:rPr lang="en-US" altLang="zh-CN" sz="2200" b="0" i="1" smtClean="0">
                            <a:latin typeface="Cambria Math" panose="02040503050406030204" pitchFamily="18" charset="0"/>
                          </a:rPr>
                          <m:t>𝐺</m:t>
                        </m:r>
                      </m:sub>
                      <m:sup>
                        <m:r>
                          <a:rPr lang="en-US" altLang="zh-CN" sz="2200" b="0" i="1" smtClean="0">
                            <a:latin typeface="Cambria Math" panose="02040503050406030204" pitchFamily="18" charset="0"/>
                          </a:rPr>
                          <m:t>+</m:t>
                        </m:r>
                      </m:sup>
                    </m:sSubSup>
                  </m:oMath>
                </a14:m>
                <a:r>
                  <a:rPr lang="zh-CN" altLang="en-US" sz="2200" dirty="0"/>
                  <a:t>，然后检查</a:t>
                </a:r>
                <a14:m>
                  <m:oMath xmlns:m="http://schemas.openxmlformats.org/officeDocument/2006/math">
                    <m:r>
                      <a:rPr lang="en-US" altLang="zh-CN" sz="2200" i="1" dirty="0" smtClean="0">
                        <a:latin typeface="Cambria Math" panose="02040503050406030204" pitchFamily="18" charset="0"/>
                      </a:rPr>
                      <m:t>𝑌</m:t>
                    </m:r>
                  </m:oMath>
                </a14:m>
                <a:r>
                  <a:rPr lang="zh-CN" altLang="en-US" sz="2200" dirty="0"/>
                  <a:t>是否被包含在</a:t>
                </a:r>
                <a14:m>
                  <m:oMath xmlns:m="http://schemas.openxmlformats.org/officeDocument/2006/math">
                    <m:sSubSup>
                      <m:sSubSupPr>
                        <m:ctrlPr>
                          <a:rPr lang="en-US" altLang="zh-CN" sz="2200" i="1">
                            <a:latin typeface="Cambria Math" panose="02040503050406030204" pitchFamily="18" charset="0"/>
                          </a:rPr>
                        </m:ctrlPr>
                      </m:sSubSupPr>
                      <m:e>
                        <m:r>
                          <a:rPr lang="en-US" altLang="zh-CN" sz="2200" i="1">
                            <a:latin typeface="Cambria Math" panose="02040503050406030204" pitchFamily="18" charset="0"/>
                          </a:rPr>
                          <m:t>𝑋</m:t>
                        </m:r>
                      </m:e>
                      <m:sub>
                        <m:r>
                          <a:rPr lang="en-US" altLang="zh-CN" sz="2200" i="1">
                            <a:latin typeface="Cambria Math" panose="02040503050406030204" pitchFamily="18" charset="0"/>
                          </a:rPr>
                          <m:t>𝐺</m:t>
                        </m:r>
                      </m:sub>
                      <m:sup>
                        <m:r>
                          <a:rPr lang="en-US" altLang="zh-CN" sz="2200" i="1">
                            <a:latin typeface="Cambria Math" panose="02040503050406030204" pitchFamily="18" charset="0"/>
                          </a:rPr>
                          <m:t>+</m:t>
                        </m:r>
                      </m:sup>
                    </m:sSubSup>
                  </m:oMath>
                </a14:m>
                <a:r>
                  <a:rPr lang="zh-CN" altLang="en-US" sz="2200" dirty="0"/>
                  <a:t>中</a:t>
                </a:r>
                <a:endParaRPr lang="zh-CN" altLang="en-US" sz="2200" dirty="0"/>
              </a:p>
              <a:p>
                <a:pPr lvl="1"/>
                <a:endParaRPr lang="en-US" altLang="zh-CN" dirty="0"/>
              </a:p>
              <a:p>
                <a:pPr marL="457200" lvl="1" indent="0">
                  <a:buNone/>
                </a:pPr>
                <a:endParaRPr lang="en-US" altLang="zh-CN" sz="2600"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1569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保持函数依赖的分解</a:t>
                </a:r>
                <a:endParaRPr lang="en-US" altLang="zh-CN" dirty="0"/>
              </a:p>
              <a:p>
                <a:pPr lvl="1"/>
                <a:r>
                  <a:rPr lang="zh-CN" altLang="en-US" dirty="0"/>
                  <a:t>下面是不必求出</a:t>
                </a:r>
                <a14:m>
                  <m:oMath xmlns:m="http://schemas.openxmlformats.org/officeDocument/2006/math">
                    <m:r>
                      <a:rPr lang="en-US" altLang="zh-CN" i="1" dirty="0" smtClean="0">
                        <a:latin typeface="Cambria Math" panose="02040503050406030204" pitchFamily="18" charset="0"/>
                      </a:rPr>
                      <m:t>𝐺</m:t>
                    </m:r>
                  </m:oMath>
                </a14:m>
                <a:r>
                  <a:rPr lang="zh-CN" altLang="en-US" dirty="0"/>
                  <a:t>而计算</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𝑋</m:t>
                        </m:r>
                      </m:e>
                      <m:sub>
                        <m:r>
                          <a:rPr lang="en-US" altLang="zh-CN" i="1">
                            <a:latin typeface="Cambria Math" panose="02040503050406030204" pitchFamily="18" charset="0"/>
                          </a:rPr>
                          <m:t>𝐺</m:t>
                        </m:r>
                      </m:sub>
                      <m:sup>
                        <m:r>
                          <a:rPr lang="en-US" altLang="zh-CN" i="1">
                            <a:latin typeface="Cambria Math" panose="02040503050406030204" pitchFamily="18" charset="0"/>
                          </a:rPr>
                          <m:t>+</m:t>
                        </m:r>
                      </m:sup>
                    </m:sSubSup>
                  </m:oMath>
                </a14:m>
                <a:r>
                  <a:rPr lang="zh-CN" altLang="en-US" dirty="0"/>
                  <a:t>的算法：</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如果</a:t>
                </a:r>
                <a14:m>
                  <m:oMath xmlns:m="http://schemas.openxmlformats.org/officeDocument/2006/math">
                    <m:r>
                      <a:rPr lang="en-US" altLang="zh-CN" i="1" dirty="0" smtClean="0">
                        <a:latin typeface="Cambria Math" panose="02040503050406030204" pitchFamily="18" charset="0"/>
                      </a:rPr>
                      <m:t>𝑌</m:t>
                    </m:r>
                  </m:oMath>
                </a14:m>
                <a:r>
                  <a:rPr lang="zh-CN" altLang="en-US" dirty="0"/>
                  <a:t>被包含在</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𝑋</m:t>
                        </m:r>
                      </m:e>
                      <m:sub>
                        <m:r>
                          <a:rPr lang="en-US" altLang="zh-CN" i="1">
                            <a:latin typeface="Cambria Math" panose="02040503050406030204" pitchFamily="18" charset="0"/>
                          </a:rPr>
                          <m:t>𝐺</m:t>
                        </m:r>
                      </m:sub>
                      <m:sup>
                        <m:r>
                          <a:rPr lang="en-US" altLang="zh-CN" i="1">
                            <a:latin typeface="Cambria Math" panose="02040503050406030204" pitchFamily="18" charset="0"/>
                          </a:rPr>
                          <m:t>+</m:t>
                        </m:r>
                      </m:sup>
                    </m:sSubSup>
                  </m:oMath>
                </a14:m>
                <a:r>
                  <a:rPr lang="zh-CN" altLang="en-US" dirty="0"/>
                  <a:t>中，则</a:t>
                </a:r>
                <a14:m>
                  <m:oMath xmlns:m="http://schemas.openxmlformats.org/officeDocument/2006/math">
                    <m:r>
                      <a:rPr lang="en-US" altLang="zh-CN" i="1" dirty="0" smtClean="0">
                        <a:latin typeface="Cambria Math" panose="02040503050406030204" pitchFamily="18" charset="0"/>
                      </a:rPr>
                      <m:t>𝑋</m:t>
                    </m:r>
                    <m:r>
                      <a:rPr lang="en-US" altLang="zh-CN" i="1" dirty="0">
                        <a:latin typeface="Cambria Math" panose="02040503050406030204" pitchFamily="18" charset="0"/>
                      </a:rPr>
                      <m:t>→</m:t>
                    </m:r>
                    <m:r>
                      <a:rPr lang="en-US" altLang="zh-CN" i="1" dirty="0">
                        <a:latin typeface="Cambria Math" panose="02040503050406030204" pitchFamily="18" charset="0"/>
                      </a:rPr>
                      <m:t>𝑌</m:t>
                    </m:r>
                    <m:r>
                      <a:rPr lang="en-US" altLang="zh-CN" i="1" dirty="0" smtClean="0">
                        <a:latin typeface="Cambria Math" panose="02040503050406030204" pitchFamily="18" charset="0"/>
                        <a:ea typeface="Cambria Math" panose="02040503050406030204" pitchFamily="18" charset="0"/>
                      </a:rPr>
                      <m:t>∈</m:t>
                    </m:r>
                    <m:sSup>
                      <m:sSupPr>
                        <m:ctrlPr>
                          <a:rPr lang="en-US" altLang="zh-CN" i="1" dirty="0" smtClean="0">
                            <a:latin typeface="Cambria Math" panose="02040503050406030204" pitchFamily="18" charset="0"/>
                            <a:ea typeface="Cambria Math" panose="02040503050406030204" pitchFamily="18" charset="0"/>
                          </a:rPr>
                        </m:ctrlPr>
                      </m:sSupPr>
                      <m:e>
                        <m:r>
                          <a:rPr lang="en-US" altLang="zh-CN" b="0" i="1" dirty="0" smtClean="0">
                            <a:latin typeface="Cambria Math" panose="02040503050406030204" pitchFamily="18" charset="0"/>
                            <a:ea typeface="Cambria Math" panose="02040503050406030204" pitchFamily="18" charset="0"/>
                          </a:rPr>
                          <m:t>𝐺</m:t>
                        </m:r>
                      </m:e>
                      <m:sup>
                        <m:r>
                          <a:rPr lang="en-US" altLang="zh-CN" b="0" i="1" dirty="0" smtClean="0">
                            <a:latin typeface="Cambria Math" panose="02040503050406030204" pitchFamily="18" charset="0"/>
                            <a:ea typeface="Cambria Math" panose="02040503050406030204" pitchFamily="18" charset="0"/>
                          </a:rPr>
                          <m:t>+</m:t>
                        </m:r>
                      </m:sup>
                    </m:sSup>
                  </m:oMath>
                </a14:m>
                <a:r>
                  <a:rPr lang="en-US" altLang="zh-CN" dirty="0"/>
                  <a:t>  </a:t>
                </a:r>
                <a:endParaRPr lang="en-US" altLang="zh-CN" dirty="0"/>
              </a:p>
              <a:p>
                <a:pPr lvl="1"/>
                <a:r>
                  <a:rPr lang="zh-CN" altLang="en-US" dirty="0"/>
                  <a:t>如果</a:t>
                </a:r>
                <a14:m>
                  <m:oMath xmlns:m="http://schemas.openxmlformats.org/officeDocument/2006/math">
                    <m:r>
                      <a:rPr lang="en-US" altLang="zh-CN" i="1" dirty="0" smtClean="0">
                        <a:latin typeface="Cambria Math" panose="02040503050406030204" pitchFamily="18" charset="0"/>
                      </a:rPr>
                      <m:t>𝐹</m:t>
                    </m:r>
                  </m:oMath>
                </a14:m>
                <a:r>
                  <a:rPr lang="zh-CN" altLang="en-US" dirty="0"/>
                  <a:t>中的所有函数依赖经检验都属于</a:t>
                </a:r>
                <a14:m>
                  <m:oMath xmlns:m="http://schemas.openxmlformats.org/officeDocument/2006/math">
                    <m:sSup>
                      <m:sSupPr>
                        <m:ctrlPr>
                          <a:rPr lang="en-US" altLang="zh-CN" i="1" dirty="0">
                            <a:latin typeface="Cambria Math" panose="02040503050406030204" pitchFamily="18" charset="0"/>
                            <a:ea typeface="Cambria Math" panose="02040503050406030204" pitchFamily="18" charset="0"/>
                          </a:rPr>
                        </m:ctrlPr>
                      </m:sSupPr>
                      <m:e>
                        <m:r>
                          <a:rPr lang="en-US" altLang="zh-CN" i="1" dirty="0">
                            <a:latin typeface="Cambria Math" panose="02040503050406030204" pitchFamily="18" charset="0"/>
                            <a:ea typeface="Cambria Math" panose="02040503050406030204" pitchFamily="18" charset="0"/>
                          </a:rPr>
                          <m:t>𝐺</m:t>
                        </m:r>
                      </m:e>
                      <m:sup>
                        <m:r>
                          <a:rPr lang="en-US" altLang="zh-CN" i="1" dirty="0">
                            <a:latin typeface="Cambria Math" panose="02040503050406030204" pitchFamily="18" charset="0"/>
                            <a:ea typeface="Cambria Math" panose="02040503050406030204" pitchFamily="18" charset="0"/>
                          </a:rPr>
                          <m:t>+</m:t>
                        </m:r>
                      </m:sup>
                    </m:sSup>
                  </m:oMath>
                </a14:m>
                <a:r>
                  <a:rPr lang="en-US" altLang="zh-CN" dirty="0"/>
                  <a:t> </a:t>
                </a:r>
                <a:r>
                  <a:rPr lang="zh-CN" altLang="en-US" dirty="0"/>
                  <a:t>，则</a:t>
                </a:r>
                <a14:m>
                  <m:oMath xmlns:m="http://schemas.openxmlformats.org/officeDocument/2006/math">
                    <m:r>
                      <a:rPr lang="en-US" altLang="zh-CN" i="1">
                        <a:latin typeface="Cambria Math" panose="02040503050406030204" pitchFamily="18" charset="0"/>
                        <a:ea typeface="Cambria Math" panose="02040503050406030204" pitchFamily="18" charset="0"/>
                      </a:rPr>
                      <m:t>𝜌</m:t>
                    </m:r>
                  </m:oMath>
                </a14:m>
                <a:r>
                  <a:rPr lang="zh-CN" altLang="en-US" dirty="0"/>
                  <a:t>保持依赖，否则不保持依赖</a:t>
                </a: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7" name="文本框 6"/>
          <p:cNvSpPr txBox="1"/>
          <p:nvPr/>
        </p:nvSpPr>
        <p:spPr bwMode="auto">
          <a:xfrm>
            <a:off x="1238959" y="2379554"/>
            <a:ext cx="4476936" cy="1745523"/>
          </a:xfrm>
          <a:prstGeom prst="rect">
            <a:avLst/>
          </a:prstGeom>
          <a:solidFill>
            <a:sysClr val="window" lastClr="FFFFFF">
              <a:lumMod val="85000"/>
            </a:sysClr>
          </a:solidFill>
          <a:ln w="9525" algn="ctr">
            <a:solidFill>
              <a:sysClr val="window" lastClr="FFFFFF">
                <a:lumMod val="85000"/>
              </a:sysClr>
            </a:solidFill>
            <a:miter lim="800000"/>
          </a:ln>
        </p:spPr>
        <p:txBody>
          <a:bodyPr wrap="square" lIns="87802" tIns="43901" rIns="87802" bIns="43901" anchor="ctr">
            <a:spAutoFit/>
          </a:bodyPr>
          <a:lstStyle>
            <a:defPPr>
              <a:defRPr lang="en-US"/>
            </a:defPPr>
            <a:lvl1pPr>
              <a:lnSpc>
                <a:spcPct val="100000"/>
              </a:lnSpc>
              <a:spcBef>
                <a:spcPts val="400"/>
              </a:spcBef>
              <a:spcAft>
                <a:spcPts val="400"/>
              </a:spcAft>
              <a:defRPr sz="1600" spc="-5">
                <a:latin typeface="Courier New" panose="02070309020205020404" pitchFamily="49" charset="0"/>
                <a:ea typeface="宋体" panose="02010600030101010101" pitchFamily="2" charset="-122"/>
              </a:defRPr>
            </a:lvl1pPr>
          </a:lstStyle>
          <a:p>
            <a:pPr marL="193675" indent="-193675">
              <a:lnSpc>
                <a:spcPct val="90000"/>
              </a:lnSpc>
              <a:buNone/>
            </a:pPr>
            <a:r>
              <a:rPr lang="en-US" altLang="zh-CN" sz="18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Z := X;</a:t>
            </a:r>
            <a:endParaRPr lang="en-US" altLang="zh-CN" sz="18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193675" indent="-193675">
              <a:lnSpc>
                <a:spcPct val="90000"/>
              </a:lnSpc>
              <a:buNone/>
            </a:pPr>
            <a:r>
              <a:rPr lang="en-US" altLang="zh-CN" sz="18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repeat</a:t>
            </a:r>
            <a:endParaRPr lang="en-US" altLang="zh-CN" sz="18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193675" indent="-193675">
              <a:lnSpc>
                <a:spcPct val="90000"/>
              </a:lnSpc>
              <a:buNone/>
            </a:pPr>
            <a:r>
              <a:rPr lang="en-US" altLang="zh-CN" sz="18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for </a:t>
            </a:r>
            <a:r>
              <a:rPr lang="en-US" altLang="zh-CN" sz="1800" dirty="0" err="1">
                <a:solidFill>
                  <a:srgbClr val="000000"/>
                </a:solidFill>
                <a:latin typeface="Cambria Math" panose="02040503050406030204" pitchFamily="18" charset="0"/>
                <a:ea typeface="Cambria Math" panose="02040503050406030204" pitchFamily="18" charset="0"/>
                <a:cs typeface="Calibri" panose="020F0502020204030204" pitchFamily="34" charset="0"/>
              </a:rPr>
              <a:t>i</a:t>
            </a:r>
            <a:r>
              <a:rPr lang="en-US" altLang="zh-CN" sz="18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=1 to k do</a:t>
            </a:r>
            <a:endParaRPr lang="en-US" altLang="zh-CN" sz="18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193675" indent="-193675">
              <a:lnSpc>
                <a:spcPct val="90000"/>
              </a:lnSpc>
              <a:buNone/>
            </a:pPr>
            <a:r>
              <a:rPr lang="en-US" altLang="zh-CN" sz="18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Z:=Z∪((Z ∩ Ui)F+ ∩ Ui)</a:t>
            </a:r>
            <a:endParaRPr lang="en-US" altLang="zh-CN" sz="18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a:p>
            <a:pPr marL="193675" indent="-193675">
              <a:lnSpc>
                <a:spcPct val="90000"/>
              </a:lnSpc>
              <a:buNone/>
            </a:pPr>
            <a:r>
              <a:rPr lang="en-US" altLang="zh-CN" sz="1800" dirty="0">
                <a:solidFill>
                  <a:srgbClr val="000000"/>
                </a:solidFill>
                <a:latin typeface="Cambria Math" panose="02040503050406030204" pitchFamily="18" charset="0"/>
                <a:ea typeface="Cambria Math" panose="02040503050406030204" pitchFamily="18" charset="0"/>
                <a:cs typeface="Calibri" panose="020F0502020204030204" pitchFamily="34" charset="0"/>
              </a:rPr>
              <a:t>    until Z</a:t>
            </a:r>
            <a:r>
              <a:rPr lang="zh-CN" altLang="en-US" sz="1800" dirty="0">
                <a:solidFill>
                  <a:srgbClr val="000000"/>
                </a:solidFill>
                <a:latin typeface="Cambria Math" panose="02040503050406030204" pitchFamily="18" charset="0"/>
                <a:cs typeface="Calibri" panose="020F0502020204030204" pitchFamily="34" charset="0"/>
              </a:rPr>
              <a:t>不再变化；</a:t>
            </a:r>
            <a:endParaRPr lang="en-US" altLang="zh-CN" sz="1800" dirty="0">
              <a:solidFill>
                <a:srgbClr val="000000"/>
              </a:solidFill>
              <a:latin typeface="Cambria Math" panose="02040503050406030204" pitchFamily="18" charset="0"/>
              <a:ea typeface="Cambria Math" panose="02040503050406030204" pitchFamily="18" charset="0"/>
              <a:cs typeface="Calibri" panose="020F0502020204030204" pitchFamily="34" charset="0"/>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lnSpcReduction="10000"/>
              </a:bodyPr>
              <a:lstStyle/>
              <a:p>
                <a:r>
                  <a:rPr lang="zh-CN" altLang="en-US" dirty="0"/>
                  <a:t>保持函数依赖的分解：举例</a:t>
                </a:r>
                <a:endParaRPr lang="en-US" altLang="zh-CN" dirty="0"/>
              </a:p>
              <a:p>
                <a:pPr lvl="1" algn="l"/>
                <a:r>
                  <a:rPr lang="zh-CN" altLang="en-US" dirty="0"/>
                  <a:t>例</a:t>
                </a:r>
                <a:r>
                  <a:rPr lang="en-US" altLang="zh-CN" dirty="0"/>
                  <a:t>4.6</a:t>
                </a:r>
                <a:r>
                  <a:rPr lang="zh-CN" altLang="en-US" dirty="0"/>
                  <a:t>：</a:t>
                </a:r>
                <a14:m>
                  <m:oMath xmlns:m="http://schemas.openxmlformats.org/officeDocument/2006/math">
                    <m:r>
                      <a:rPr lang="en-US" altLang="zh-CN" i="1" dirty="0" smtClean="0">
                        <a:latin typeface="Cambria Math" panose="02040503050406030204" pitchFamily="18" charset="0"/>
                      </a:rPr>
                      <m:t>𝑅</m:t>
                    </m:r>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𝐴𝐵𝐶𝐷</m:t>
                        </m:r>
                      </m:e>
                    </m:d>
                    <m:r>
                      <a:rPr lang="en-US" altLang="zh-CN" i="1" dirty="0" smtClean="0">
                        <a:latin typeface="Cambria Math" panose="02040503050406030204" pitchFamily="18" charset="0"/>
                      </a:rPr>
                      <m:t>𝐹</m:t>
                    </m:r>
                    <m:r>
                      <a:rPr lang="en-US" altLang="zh-CN" i="1" dirty="0" smtClean="0">
                        <a:latin typeface="Cambria Math" panose="02040503050406030204" pitchFamily="18" charset="0"/>
                      </a:rPr>
                      <m:t>=</m:t>
                    </m:r>
                    <m:d>
                      <m:dPr>
                        <m:begChr m:val="{"/>
                        <m:endChr m:val="}"/>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𝐵</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𝐵</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𝐶</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𝐶</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𝐷</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𝐷</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𝐴</m:t>
                        </m:r>
                      </m:e>
                    </m:d>
                  </m:oMath>
                </a14:m>
                <a:endParaRPr lang="en-US" altLang="zh-CN" dirty="0"/>
              </a:p>
              <a:p>
                <a:pPr marL="457200" lvl="1" indent="0" algn="l">
                  <a:buNone/>
                </a:pPr>
                <a:r>
                  <a:rPr lang="en-US" altLang="zh-CN" dirty="0"/>
                  <a:t>   </a:t>
                </a:r>
                <a:r>
                  <a:rPr lang="zh-CN" altLang="en-US" dirty="0"/>
                  <a:t>试判别</a:t>
                </a:r>
                <a14:m>
                  <m:oMath xmlns:m="http://schemas.openxmlformats.org/officeDocument/2006/math">
                    <m:r>
                      <a:rPr lang="en-US" altLang="zh-CN" i="1" dirty="0" smtClean="0">
                        <a:latin typeface="Cambria Math" panose="02040503050406030204" pitchFamily="18" charset="0"/>
                      </a:rPr>
                      <m:t>𝜌</m:t>
                    </m:r>
                    <m:r>
                      <a:rPr lang="en-US" altLang="zh-CN" i="1" dirty="0" smtClean="0">
                        <a:latin typeface="Cambria Math" panose="02040503050406030204" pitchFamily="18" charset="0"/>
                      </a:rPr>
                      <m:t>={</m:t>
                    </m:r>
                    <m:sSub>
                      <m:sSubPr>
                        <m:ctrlPr>
                          <a:rPr lang="zh-CN" altLang="en-US" i="1" dirty="0" smtClean="0">
                            <a:latin typeface="Cambria Math" panose="02040503050406030204" pitchFamily="18" charset="0"/>
                          </a:rPr>
                        </m:ctrlPr>
                      </m:sSub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m:t>
                    </m:r>
                    <m:r>
                      <a:rPr lang="en-US" altLang="zh-CN" i="1" dirty="0">
                        <a:latin typeface="Cambria Math" panose="02040503050406030204" pitchFamily="18" charset="0"/>
                      </a:rPr>
                      <m:t>𝐴𝐵</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b="0" i="1" dirty="0" smtClean="0">
                            <a:latin typeface="Cambria Math" panose="02040503050406030204" pitchFamily="18" charset="0"/>
                          </a:rPr>
                          <m:t>2</m:t>
                        </m:r>
                      </m:sub>
                    </m:sSub>
                    <m:r>
                      <a:rPr lang="en-US" altLang="zh-CN" i="1" dirty="0">
                        <a:latin typeface="Cambria Math" panose="02040503050406030204" pitchFamily="18" charset="0"/>
                      </a:rPr>
                      <m:t>(</m:t>
                    </m:r>
                    <m:r>
                      <a:rPr lang="en-US" altLang="zh-CN" i="1" dirty="0">
                        <a:latin typeface="Cambria Math" panose="02040503050406030204" pitchFamily="18" charset="0"/>
                      </a:rPr>
                      <m:t>𝐵𝐶</m:t>
                    </m:r>
                    <m:r>
                      <a:rPr lang="en-US" altLang="zh-CN" i="1" dirty="0">
                        <a:latin typeface="Cambria Math" panose="02040503050406030204" pitchFamily="18" charset="0"/>
                      </a:rPr>
                      <m:t>),</m:t>
                    </m:r>
                    <m:sSub>
                      <m:sSubPr>
                        <m:ctrlPr>
                          <a:rPr lang="zh-CN" altLang="en-US" i="1" dirty="0">
                            <a:latin typeface="Cambria Math" panose="02040503050406030204" pitchFamily="18" charset="0"/>
                          </a:rPr>
                        </m:ctrlPr>
                      </m:sSubPr>
                      <m:e>
                        <m:r>
                          <a:rPr lang="en-US" altLang="zh-CN" i="1" dirty="0">
                            <a:latin typeface="Cambria Math" panose="02040503050406030204" pitchFamily="18" charset="0"/>
                          </a:rPr>
                          <m:t>𝑅</m:t>
                        </m:r>
                      </m:e>
                      <m:sub>
                        <m:r>
                          <a:rPr lang="en-US" altLang="zh-CN" b="0" i="1" dirty="0" smtClean="0">
                            <a:latin typeface="Cambria Math" panose="02040503050406030204" pitchFamily="18" charset="0"/>
                          </a:rPr>
                          <m:t>3</m:t>
                        </m:r>
                      </m:sub>
                    </m:sSub>
                    <m:r>
                      <a:rPr lang="en-US" altLang="zh-CN" i="1" dirty="0">
                        <a:latin typeface="Cambria Math" panose="02040503050406030204" pitchFamily="18" charset="0"/>
                      </a:rPr>
                      <m:t>(</m:t>
                    </m:r>
                    <m:r>
                      <a:rPr lang="en-US" altLang="zh-CN" i="1" dirty="0">
                        <a:latin typeface="Cambria Math" panose="02040503050406030204" pitchFamily="18" charset="0"/>
                      </a:rPr>
                      <m:t>𝐶𝐷</m:t>
                    </m:r>
                    <m:r>
                      <a:rPr lang="en-US" altLang="zh-CN" i="1" dirty="0">
                        <a:latin typeface="Cambria Math" panose="02040503050406030204" pitchFamily="18" charset="0"/>
                      </a:rPr>
                      <m:t>)}</m:t>
                    </m:r>
                  </m:oMath>
                </a14:m>
                <a:r>
                  <a:rPr lang="zh-CN" altLang="en-US" dirty="0"/>
                  <a:t>是否保持依赖</a:t>
                </a:r>
                <a14:m>
                  <m:oMath xmlns:m="http://schemas.openxmlformats.org/officeDocument/2006/math">
                    <m:r>
                      <a:rPr lang="en-US" altLang="zh-CN" i="1" dirty="0" smtClean="0">
                        <a:latin typeface="Cambria Math" panose="02040503050406030204" pitchFamily="18" charset="0"/>
                      </a:rPr>
                      <m:t>𝐹</m:t>
                    </m:r>
                  </m:oMath>
                </a14:m>
                <a:endParaRPr lang="en-US" altLang="zh-CN" dirty="0"/>
              </a:p>
              <a:p>
                <a:pPr>
                  <a:buNone/>
                  <a:defRPr/>
                </a:pPr>
                <a:r>
                  <a:rPr lang="zh-CN" altLang="en-US" sz="2400" b="0" dirty="0"/>
                  <a:t>         解：显然，</a:t>
                </a:r>
                <a:r>
                  <a:rPr lang="en-US" altLang="zh-CN" sz="2400" dirty="0"/>
                  <a:t> </a:t>
                </a:r>
                <a14:m>
                  <m:oMath xmlns:m="http://schemas.openxmlformats.org/officeDocument/2006/math">
                    <m:r>
                      <a:rPr lang="en-US" altLang="zh-CN" sz="2400" i="1" dirty="0">
                        <a:latin typeface="Cambria Math" panose="02040503050406030204" pitchFamily="18" charset="0"/>
                      </a:rPr>
                      <m:t>𝜌</m:t>
                    </m:r>
                  </m:oMath>
                </a14:m>
                <a:r>
                  <a:rPr lang="zh-CN" altLang="en-US" sz="2400" b="0" dirty="0"/>
                  <a:t>可以保持 </a:t>
                </a:r>
                <a14:m>
                  <m:oMath xmlns:m="http://schemas.openxmlformats.org/officeDocument/2006/math">
                    <m:r>
                      <a:rPr lang="en-US" altLang="zh-CN" sz="2400" b="0" i="1" dirty="0" smtClean="0">
                        <a:latin typeface="Cambria Math" panose="02040503050406030204" pitchFamily="18" charset="0"/>
                      </a:rPr>
                      <m:t>𝐴</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𝐵</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𝐵</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𝐶</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𝐶</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𝐷</m:t>
                    </m:r>
                  </m:oMath>
                </a14:m>
                <a:endParaRPr lang="en-US" altLang="zh-CN" sz="2400" b="0" dirty="0"/>
              </a:p>
              <a:p>
                <a:pPr>
                  <a:buNone/>
                  <a:defRPr/>
                </a:pPr>
                <a:r>
                  <a:rPr lang="zh-CN" altLang="en-US" sz="2400" b="0" dirty="0"/>
                  <a:t>               下面检验</a:t>
                </a:r>
                <a14:m>
                  <m:oMath xmlns:m="http://schemas.openxmlformats.org/officeDocument/2006/math">
                    <m:r>
                      <a:rPr lang="en-US" altLang="zh-CN" sz="2400" i="1" dirty="0">
                        <a:latin typeface="Cambria Math" panose="02040503050406030204" pitchFamily="18" charset="0"/>
                      </a:rPr>
                      <m:t>𝜌</m:t>
                    </m:r>
                  </m:oMath>
                </a14:m>
                <a:r>
                  <a:rPr lang="zh-CN" altLang="en-US" sz="2400" b="0" dirty="0"/>
                  <a:t>是否保持</a:t>
                </a:r>
                <a14:m>
                  <m:oMath xmlns:m="http://schemas.openxmlformats.org/officeDocument/2006/math">
                    <m:r>
                      <a:rPr lang="en-US" altLang="zh-CN" sz="2400" b="0" i="1" dirty="0" smtClean="0">
                        <a:latin typeface="Cambria Math" panose="02040503050406030204" pitchFamily="18" charset="0"/>
                      </a:rPr>
                      <m:t>𝐷</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𝐴</m:t>
                    </m:r>
                  </m:oMath>
                </a14:m>
                <a:r>
                  <a:rPr lang="zh-CN" altLang="en-US" sz="2400" b="0" dirty="0"/>
                  <a:t>？</a:t>
                </a:r>
                <a:endParaRPr lang="zh-CN" altLang="en-US" sz="2400" b="0" dirty="0"/>
              </a:p>
              <a:p>
                <a:pPr>
                  <a:buNone/>
                  <a:defRPr/>
                </a:pPr>
                <a:r>
                  <a:rPr lang="zh-CN" altLang="en-US" sz="2400" b="0" dirty="0"/>
                  <a:t>                令</a:t>
                </a:r>
                <a14:m>
                  <m:oMath xmlns:m="http://schemas.openxmlformats.org/officeDocument/2006/math">
                    <m:r>
                      <a:rPr lang="en-US" altLang="zh-CN" sz="2400" b="0" i="1" smtClean="0">
                        <a:latin typeface="Cambria Math" panose="02040503050406030204" pitchFamily="18" charset="0"/>
                      </a:rPr>
                      <m:t>𝐺</m:t>
                    </m:r>
                    <m:r>
                      <a:rPr lang="en-US" altLang="zh-CN" sz="2400" b="0" i="1" smtClean="0">
                        <a:latin typeface="Cambria Math" panose="02040503050406030204" pitchFamily="18" charset="0"/>
                      </a:rPr>
                      <m:t>=</m:t>
                    </m:r>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𝑘</m:t>
                        </m:r>
                      </m:sup>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𝜋</m:t>
                            </m:r>
                          </m:e>
                          <m: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𝑈</m:t>
                                </m:r>
                              </m:e>
                              <m:sub>
                                <m:r>
                                  <a:rPr lang="en-US" altLang="zh-CN" sz="2400" i="1">
                                    <a:latin typeface="Cambria Math" panose="02040503050406030204" pitchFamily="18" charset="0"/>
                                  </a:rPr>
                                  <m:t>𝑖</m:t>
                                </m:r>
                              </m:sub>
                            </m:sSub>
                          </m:sub>
                        </m:sSub>
                        <m:d>
                          <m:dPr>
                            <m:ctrlPr>
                              <a:rPr lang="en-US" altLang="zh-CN" sz="2400" i="1" dirty="0">
                                <a:latin typeface="Cambria Math" panose="02040503050406030204" pitchFamily="18" charset="0"/>
                              </a:rPr>
                            </m:ctrlPr>
                          </m:dPr>
                          <m:e>
                            <m:r>
                              <a:rPr lang="en-US" altLang="zh-CN" sz="2400" i="1" dirty="0">
                                <a:latin typeface="Cambria Math" panose="02040503050406030204" pitchFamily="18" charset="0"/>
                              </a:rPr>
                              <m:t>𝐹</m:t>
                            </m:r>
                          </m:e>
                        </m:d>
                      </m:e>
                    </m:nary>
                  </m:oMath>
                </a14:m>
                <a:r>
                  <a:rPr lang="en-US" altLang="zh-CN" sz="2400" b="0" dirty="0"/>
                  <a:t>       </a:t>
                </a:r>
                <a:endParaRPr lang="en-US" altLang="zh-CN" sz="2400" b="0" dirty="0"/>
              </a:p>
              <a:p>
                <a:pPr>
                  <a:buNone/>
                  <a:defRPr/>
                </a:pPr>
                <a:r>
                  <a:rPr lang="en-US" altLang="zh-CN" sz="2400" b="0" dirty="0"/>
                  <a:t>   </a:t>
                </a:r>
                <a:r>
                  <a:rPr lang="zh-CN" altLang="en-US" sz="2400" b="0" dirty="0"/>
                  <a:t>       </a:t>
                </a:r>
                <a:r>
                  <a:rPr lang="en-US" altLang="zh-CN" sz="2400" b="0" dirty="0"/>
                  <a:t>       ∵ </a:t>
                </a:r>
                <a14:m>
                  <m:oMath xmlns:m="http://schemas.openxmlformats.org/officeDocument/2006/math">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𝐷</m:t>
                        </m:r>
                      </m:e>
                      <m:sub>
                        <m:r>
                          <a:rPr lang="en-US" altLang="zh-CN" sz="2400" b="0" i="1" smtClean="0">
                            <a:latin typeface="Cambria Math" panose="02040503050406030204" pitchFamily="18" charset="0"/>
                          </a:rPr>
                          <m:t>𝐺</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𝐷𝐶𝐵𝐴</m:t>
                    </m:r>
                  </m:oMath>
                </a14:m>
                <a:r>
                  <a:rPr lang="en-US" altLang="zh-CN" sz="2400" b="0" dirty="0"/>
                  <a:t> </a:t>
                </a:r>
                <a:r>
                  <a:rPr lang="zh-CN" altLang="en-US" sz="2400" b="0" dirty="0"/>
                  <a:t>其中包含</a:t>
                </a:r>
                <a14:m>
                  <m:oMath xmlns:m="http://schemas.openxmlformats.org/officeDocument/2006/math">
                    <m:r>
                      <a:rPr lang="en-US" altLang="zh-CN" sz="2400" b="0" i="1">
                        <a:latin typeface="Cambria Math" panose="02040503050406030204" pitchFamily="18" charset="0"/>
                      </a:rPr>
                      <m:t>𝐴</m:t>
                    </m:r>
                  </m:oMath>
                </a14:m>
                <a:endParaRPr lang="en-US" altLang="zh-CN" sz="2400" b="0" dirty="0"/>
              </a:p>
              <a:p>
                <a:pPr>
                  <a:buNone/>
                  <a:defRPr/>
                </a:pPr>
                <a:r>
                  <a:rPr lang="en-US" altLang="zh-CN" sz="2400" b="0" dirty="0"/>
                  <a:t>   </a:t>
                </a:r>
                <a:r>
                  <a:rPr lang="zh-CN" altLang="en-US" sz="2400" b="0" dirty="0"/>
                  <a:t>       </a:t>
                </a:r>
                <a:r>
                  <a:rPr lang="en-US" altLang="zh-CN" sz="2400" b="0" dirty="0"/>
                  <a:t>       ∴ </a:t>
                </a:r>
                <a14:m>
                  <m:oMath xmlns:m="http://schemas.openxmlformats.org/officeDocument/2006/math">
                    <m:r>
                      <a:rPr lang="en-US" altLang="zh-CN" sz="2400" i="1" dirty="0">
                        <a:latin typeface="Cambria Math" panose="02040503050406030204" pitchFamily="18" charset="0"/>
                      </a:rPr>
                      <m:t>𝜌</m:t>
                    </m:r>
                  </m:oMath>
                </a14:m>
                <a:r>
                  <a:rPr lang="zh-CN" altLang="en-US" sz="2400" b="0" dirty="0"/>
                  <a:t>保持依赖</a:t>
                </a:r>
                <a:r>
                  <a:rPr lang="en-US" altLang="zh-CN" sz="2400" b="0" dirty="0"/>
                  <a:t>F</a:t>
                </a:r>
                <a:endParaRPr lang="en-US" altLang="zh-CN" sz="2400" b="0" dirty="0"/>
              </a:p>
              <a:p>
                <a:pPr marL="0" indent="0">
                  <a:lnSpc>
                    <a:spcPct val="200000"/>
                  </a:lnSpc>
                  <a:buNone/>
                  <a:defRPr/>
                </a:pPr>
                <a:r>
                  <a:rPr lang="en-US" altLang="zh-CN" sz="2400" b="0" dirty="0"/>
                  <a:t>  </a:t>
                </a:r>
                <a:r>
                  <a:rPr lang="zh-CN" altLang="en-US" sz="2400" b="0" dirty="0"/>
                  <a:t>              </a:t>
                </a:r>
                <a14:m>
                  <m:oMath xmlns:m="http://schemas.openxmlformats.org/officeDocument/2006/math">
                    <m:r>
                      <a:rPr lang="en-US" altLang="zh-CN" sz="2400" b="0" i="1" dirty="0" smtClean="0">
                        <a:solidFill>
                          <a:srgbClr val="C00000"/>
                        </a:solidFill>
                        <a:latin typeface="Cambria Math" panose="02040503050406030204" pitchFamily="18" charset="0"/>
                      </a:rPr>
                      <m:t>𝑍</m:t>
                    </m:r>
                    <m:r>
                      <a:rPr lang="en-US" altLang="zh-CN" sz="2400" b="0" i="1" dirty="0">
                        <a:solidFill>
                          <a:srgbClr val="C00000"/>
                        </a:solidFill>
                        <a:latin typeface="Cambria Math" panose="02040503050406030204" pitchFamily="18" charset="0"/>
                      </a:rPr>
                      <m:t>:=</m:t>
                    </m:r>
                    <m:r>
                      <a:rPr lang="en-US" altLang="zh-CN" sz="2400" b="0" i="1" dirty="0">
                        <a:solidFill>
                          <a:srgbClr val="C00000"/>
                        </a:solidFill>
                        <a:latin typeface="Cambria Math" panose="02040503050406030204" pitchFamily="18" charset="0"/>
                      </a:rPr>
                      <m:t>𝑍</m:t>
                    </m:r>
                    <m:r>
                      <a:rPr lang="en-US" altLang="zh-CN" sz="2400" b="0" i="1" dirty="0">
                        <a:solidFill>
                          <a:srgbClr val="C00000"/>
                        </a:solidFill>
                        <a:latin typeface="Cambria Math" panose="02040503050406030204" pitchFamily="18" charset="0"/>
                        <a:cs typeface="Times New Roman" panose="02020603050405020304" pitchFamily="18" charset="0"/>
                      </a:rPr>
                      <m:t>∪</m:t>
                    </m:r>
                    <m:r>
                      <a:rPr lang="en-US" altLang="zh-CN" sz="2400" b="0" i="1" dirty="0">
                        <a:solidFill>
                          <a:srgbClr val="C00000"/>
                        </a:solidFill>
                        <a:latin typeface="Cambria Math" panose="02040503050406030204" pitchFamily="18" charset="0"/>
                      </a:rPr>
                      <m:t>((</m:t>
                    </m:r>
                    <m:r>
                      <a:rPr lang="en-US" altLang="zh-CN" sz="2400" b="0" i="1" dirty="0">
                        <a:solidFill>
                          <a:srgbClr val="C00000"/>
                        </a:solidFill>
                        <a:latin typeface="Cambria Math" panose="02040503050406030204" pitchFamily="18" charset="0"/>
                      </a:rPr>
                      <m:t>𝑍</m:t>
                    </m:r>
                    <m:r>
                      <a:rPr lang="en-US" altLang="zh-CN" sz="2400" b="0" i="1" dirty="0">
                        <a:solidFill>
                          <a:srgbClr val="C00000"/>
                        </a:solidFill>
                        <a:latin typeface="Cambria Math" panose="02040503050406030204" pitchFamily="18" charset="0"/>
                      </a:rPr>
                      <m:t> ∩ </m:t>
                    </m:r>
                    <m:r>
                      <a:rPr lang="en-US" altLang="zh-CN" sz="2400" b="0" i="1" dirty="0">
                        <a:solidFill>
                          <a:srgbClr val="C00000"/>
                        </a:solidFill>
                        <a:latin typeface="Cambria Math" panose="02040503050406030204" pitchFamily="18" charset="0"/>
                      </a:rPr>
                      <m:t>𝑈𝑖</m:t>
                    </m:r>
                    <m:r>
                      <a:rPr lang="en-US" altLang="zh-CN" sz="2400" b="0" i="1" dirty="0">
                        <a:solidFill>
                          <a:srgbClr val="C00000"/>
                        </a:solidFill>
                        <a:latin typeface="Cambria Math" panose="02040503050406030204" pitchFamily="18" charset="0"/>
                      </a:rPr>
                      <m:t>) </m:t>
                    </m:r>
                    <m:r>
                      <a:rPr lang="en-US" altLang="zh-CN" sz="2400" b="0" i="1" dirty="0">
                        <a:solidFill>
                          <a:srgbClr val="C00000"/>
                        </a:solidFill>
                        <a:latin typeface="Cambria Math" panose="02040503050406030204" pitchFamily="18" charset="0"/>
                      </a:rPr>
                      <m:t>𝐹</m:t>
                    </m:r>
                    <m:r>
                      <a:rPr lang="en-US" altLang="zh-CN" sz="2400" b="0" i="1" baseline="30000" dirty="0">
                        <a:solidFill>
                          <a:srgbClr val="C00000"/>
                        </a:solidFill>
                        <a:latin typeface="Cambria Math" panose="02040503050406030204" pitchFamily="18" charset="0"/>
                      </a:rPr>
                      <m:t>+</m:t>
                    </m:r>
                    <m:r>
                      <a:rPr lang="en-US" altLang="zh-CN" sz="2400" b="0" i="1" dirty="0">
                        <a:solidFill>
                          <a:srgbClr val="C00000"/>
                        </a:solidFill>
                        <a:latin typeface="Cambria Math" panose="02040503050406030204" pitchFamily="18" charset="0"/>
                      </a:rPr>
                      <m:t> </m:t>
                    </m:r>
                    <m:r>
                      <a:rPr lang="en-US" altLang="zh-CN" sz="2400" b="0" i="1" dirty="0">
                        <a:solidFill>
                          <a:srgbClr val="C00000"/>
                        </a:solidFill>
                        <a:latin typeface="Cambria Math" panose="02040503050406030204" pitchFamily="18" charset="0"/>
                        <a:cs typeface="Times New Roman" panose="02020603050405020304" pitchFamily="18" charset="0"/>
                      </a:rPr>
                      <m:t>∩ </m:t>
                    </m:r>
                    <m:r>
                      <a:rPr lang="en-US" altLang="zh-CN" sz="2400" b="0" i="1" dirty="0">
                        <a:solidFill>
                          <a:srgbClr val="C00000"/>
                        </a:solidFill>
                        <a:latin typeface="Cambria Math" panose="02040503050406030204" pitchFamily="18" charset="0"/>
                        <a:cs typeface="Times New Roman" panose="02020603050405020304" pitchFamily="18" charset="0"/>
                      </a:rPr>
                      <m:t>𝑈𝑖</m:t>
                    </m:r>
                    <m:r>
                      <a:rPr lang="en-US" altLang="zh-CN" sz="2400" b="0" i="1" dirty="0" smtClean="0">
                        <a:solidFill>
                          <a:srgbClr val="C00000"/>
                        </a:solidFill>
                        <a:latin typeface="Cambria Math" panose="02040503050406030204" pitchFamily="18" charset="0"/>
                        <a:cs typeface="Times New Roman" panose="02020603050405020304" pitchFamily="18" charset="0"/>
                      </a:rPr>
                      <m:t>)</m:t>
                    </m:r>
                  </m:oMath>
                </a14:m>
                <a:endParaRPr lang="en-US" altLang="zh-CN" sz="2400" b="0" dirty="0">
                  <a:solidFill>
                    <a:srgbClr val="C00000"/>
                  </a:solidFill>
                  <a:cs typeface="Times New Roman" panose="02020603050405020304" pitchFamily="18" charset="0"/>
                </a:endParaRPr>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2248"/>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fontScale="92500" lnSpcReduction="10000"/>
              </a:bodyPr>
              <a:lstStyle/>
              <a:p>
                <a:r>
                  <a:rPr lang="zh-CN" altLang="en-US" sz="3000" dirty="0"/>
                  <a:t>保持函数依赖的分解：举例</a:t>
                </a:r>
                <a:endParaRPr lang="en-US" altLang="zh-CN" sz="3000" dirty="0"/>
              </a:p>
              <a:p>
                <a:pPr lvl="1" algn="l"/>
                <a:r>
                  <a:rPr lang="zh-CN" altLang="en-US" dirty="0"/>
                  <a:t>设关系模式</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𝐶𝐼𝑇𝑌</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𝑆𝑇</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𝑍𝐼𝑃</m:t>
                    </m:r>
                    <m:r>
                      <a:rPr lang="en-US" altLang="zh-CN" i="1" dirty="0" smtClean="0">
                        <a:latin typeface="Cambria Math" panose="02040503050406030204" pitchFamily="18" charset="0"/>
                      </a:rPr>
                      <m:t>}</m:t>
                    </m:r>
                  </m:oMath>
                </a14:m>
                <a:r>
                  <a:rPr lang="zh-CN" altLang="en-US" dirty="0"/>
                  <a:t>满足函数依赖：</a:t>
                </a:r>
                <a:endParaRPr lang="en-US" altLang="zh-CN" dirty="0"/>
              </a:p>
              <a:p>
                <a:pPr marL="457200" lvl="1" indent="0" algn="l">
                  <a:buNone/>
                </a:pPr>
                <a:r>
                  <a:rPr lang="en-US" altLang="zh-CN" b="0" dirty="0"/>
                  <a:t>     </a:t>
                </a:r>
                <a14:m>
                  <m:oMath xmlns:m="http://schemas.openxmlformats.org/officeDocument/2006/math">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𝐶𝐼𝑇𝑌</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𝑆𝑇</m:t>
                    </m:r>
                    <m:r>
                      <a:rPr lang="en-US" altLang="zh-CN" b="0" i="1" dirty="0" smtClean="0">
                        <a:latin typeface="Cambria Math" panose="02040503050406030204" pitchFamily="18" charset="0"/>
                      </a:rPr>
                      <m:t>) → </m:t>
                    </m:r>
                    <m:r>
                      <a:rPr lang="en-US" altLang="zh-CN" b="0" i="1" dirty="0" smtClean="0">
                        <a:latin typeface="Cambria Math" panose="02040503050406030204" pitchFamily="18" charset="0"/>
                      </a:rPr>
                      <m:t>𝑍𝐼𝑃</m:t>
                    </m:r>
                  </m:oMath>
                </a14:m>
                <a:endParaRPr lang="en-US" altLang="zh-CN" b="0" dirty="0"/>
              </a:p>
              <a:p>
                <a:pPr>
                  <a:buNone/>
                </a:pPr>
                <a:r>
                  <a:rPr lang="en-US" altLang="zh-CN" sz="2400" b="0" dirty="0"/>
                  <a:t>           </a:t>
                </a:r>
                <a14:m>
                  <m:oMath xmlns:m="http://schemas.openxmlformats.org/officeDocument/2006/math">
                    <m:r>
                      <a:rPr lang="en-US" altLang="zh-CN" sz="2400" b="0" i="1" dirty="0" smtClean="0">
                        <a:latin typeface="Cambria Math" panose="02040503050406030204" pitchFamily="18" charset="0"/>
                      </a:rPr>
                      <m:t>𝑍𝐼𝑃</m:t>
                    </m:r>
                    <m:r>
                      <a:rPr lang="en-US" altLang="zh-CN" sz="2400" b="0" i="1" dirty="0" smtClean="0">
                        <a:latin typeface="Cambria Math" panose="02040503050406030204" pitchFamily="18" charset="0"/>
                      </a:rPr>
                      <m:t> →</m:t>
                    </m:r>
                    <m:r>
                      <a:rPr lang="en-US" altLang="zh-CN" sz="2400" b="0" i="1" dirty="0" smtClean="0">
                        <a:latin typeface="Cambria Math" panose="02040503050406030204" pitchFamily="18" charset="0"/>
                      </a:rPr>
                      <m:t>𝐶𝐼𝑇𝑌</m:t>
                    </m:r>
                  </m:oMath>
                </a14:m>
                <a:endParaRPr lang="en-US" altLang="zh-CN" sz="2400" b="0" dirty="0"/>
              </a:p>
              <a:p>
                <a:pPr>
                  <a:buNone/>
                </a:pPr>
                <a:r>
                  <a:rPr lang="en-US" altLang="zh-CN" sz="2400" b="0" dirty="0"/>
                  <a:t>         </a:t>
                </a:r>
                <a:r>
                  <a:rPr lang="zh-CN" altLang="en-US" sz="2400" b="0" dirty="0"/>
                  <a:t>分解成</a:t>
                </a:r>
                <a14:m>
                  <m:oMath xmlns:m="http://schemas.openxmlformats.org/officeDocument/2006/math">
                    <m:r>
                      <a:rPr lang="zh-CN" altLang="en-US" sz="2400" b="0" i="1" dirty="0" smtClean="0">
                        <a:latin typeface="Cambria Math" panose="02040503050406030204" pitchFamily="18" charset="0"/>
                        <a:sym typeface="Symbol" panose="05050102010706020507" pitchFamily="18" charset="2"/>
                      </a:rPr>
                      <m:t></m:t>
                    </m:r>
                    <m:r>
                      <a:rPr lang="zh-CN" altLang="en-US" sz="2400" b="0" i="1" dirty="0" smtClean="0">
                        <a:latin typeface="Cambria Math" panose="02040503050406030204" pitchFamily="18" charset="0"/>
                        <a:sym typeface="Symbol" panose="05050102010706020507" pitchFamily="18" charset="2"/>
                      </a:rPr>
                      <m:t>＝</m:t>
                    </m:r>
                    <m:r>
                      <a:rPr lang="en-US" altLang="zh-CN" sz="2400" b="0" i="1" dirty="0" smtClean="0">
                        <a:latin typeface="Cambria Math" panose="02040503050406030204" pitchFamily="18" charset="0"/>
                        <a:sym typeface="Symbol" panose="05050102010706020507" pitchFamily="18" charset="2"/>
                      </a:rPr>
                      <m:t>{</m:t>
                    </m:r>
                    <m:sSub>
                      <m:sSubPr>
                        <m:ctrlPr>
                          <a:rPr lang="en-US" altLang="zh-CN" sz="2400" b="0" i="1" dirty="0" smtClean="0">
                            <a:latin typeface="Cambria Math" panose="02040503050406030204" pitchFamily="18" charset="0"/>
                            <a:sym typeface="Symbol" panose="05050102010706020507" pitchFamily="18" charset="2"/>
                          </a:rPr>
                        </m:ctrlPr>
                      </m:sSubPr>
                      <m:e>
                        <m:r>
                          <a:rPr lang="en-US" altLang="zh-CN" sz="2400" b="0" i="1" dirty="0" smtClean="0">
                            <a:latin typeface="Cambria Math" panose="02040503050406030204" pitchFamily="18" charset="0"/>
                            <a:sym typeface="Symbol" panose="05050102010706020507" pitchFamily="18" charset="2"/>
                          </a:rPr>
                          <m:t>𝑅</m:t>
                        </m:r>
                      </m:e>
                      <m:sub>
                        <m:r>
                          <a:rPr lang="en-US" altLang="zh-CN" sz="2400" b="0" i="1" dirty="0" smtClean="0">
                            <a:latin typeface="Cambria Math" panose="02040503050406030204" pitchFamily="18" charset="0"/>
                            <a:sym typeface="Symbol" panose="05050102010706020507" pitchFamily="18" charset="2"/>
                          </a:rPr>
                          <m:t>1</m:t>
                        </m:r>
                      </m:sub>
                    </m:sSub>
                    <m:d>
                      <m:dPr>
                        <m:ctrlPr>
                          <a:rPr lang="en-US" altLang="zh-CN" sz="2400" b="0" i="1" dirty="0">
                            <a:latin typeface="Cambria Math" panose="02040503050406030204" pitchFamily="18" charset="0"/>
                            <a:sym typeface="Symbol" panose="05050102010706020507" pitchFamily="18" charset="2"/>
                          </a:rPr>
                        </m:ctrlPr>
                      </m:dPr>
                      <m:e>
                        <m:r>
                          <a:rPr lang="en-US" altLang="zh-CN" sz="2400" b="0" i="1" dirty="0">
                            <a:latin typeface="Cambria Math" panose="02040503050406030204" pitchFamily="18" charset="0"/>
                            <a:sym typeface="Symbol" panose="05050102010706020507" pitchFamily="18" charset="2"/>
                          </a:rPr>
                          <m:t>𝑆𝑇</m:t>
                        </m:r>
                        <m:r>
                          <a:rPr lang="en-US" altLang="zh-CN" sz="2400" b="0" i="1" dirty="0">
                            <a:latin typeface="Cambria Math" panose="02040503050406030204" pitchFamily="18" charset="0"/>
                            <a:sym typeface="Symbol" panose="05050102010706020507" pitchFamily="18" charset="2"/>
                          </a:rPr>
                          <m:t>,</m:t>
                        </m:r>
                        <m:r>
                          <a:rPr lang="en-US" altLang="zh-CN" sz="2400" b="0" i="1" dirty="0">
                            <a:latin typeface="Cambria Math" panose="02040503050406030204" pitchFamily="18" charset="0"/>
                            <a:sym typeface="Symbol" panose="05050102010706020507" pitchFamily="18" charset="2"/>
                          </a:rPr>
                          <m:t>𝑍𝐼𝑃</m:t>
                        </m:r>
                      </m:e>
                    </m:d>
                    <m:r>
                      <a:rPr lang="en-US" altLang="zh-CN" sz="2400" b="0" i="1" dirty="0">
                        <a:latin typeface="Cambria Math" panose="02040503050406030204" pitchFamily="18" charset="0"/>
                        <a:sym typeface="Symbol" panose="05050102010706020507" pitchFamily="18" charset="2"/>
                      </a:rPr>
                      <m:t>,</m:t>
                    </m:r>
                    <m:sSub>
                      <m:sSubPr>
                        <m:ctrlPr>
                          <a:rPr lang="en-US" altLang="zh-CN" sz="2400" b="0" i="1" dirty="0">
                            <a:latin typeface="Cambria Math" panose="02040503050406030204" pitchFamily="18" charset="0"/>
                            <a:sym typeface="Symbol" panose="05050102010706020507" pitchFamily="18" charset="2"/>
                          </a:rPr>
                        </m:ctrlPr>
                      </m:sSubPr>
                      <m:e>
                        <m:r>
                          <a:rPr lang="en-US" altLang="zh-CN" sz="2400" b="0" i="1" dirty="0">
                            <a:latin typeface="Cambria Math" panose="02040503050406030204" pitchFamily="18" charset="0"/>
                            <a:sym typeface="Symbol" panose="05050102010706020507" pitchFamily="18" charset="2"/>
                          </a:rPr>
                          <m:t>𝑅</m:t>
                        </m:r>
                      </m:e>
                      <m:sub>
                        <m:r>
                          <a:rPr lang="en-US" altLang="zh-CN" sz="2400" b="0" i="1" dirty="0" smtClean="0">
                            <a:latin typeface="Cambria Math" panose="02040503050406030204" pitchFamily="18" charset="0"/>
                            <a:sym typeface="Symbol" panose="05050102010706020507" pitchFamily="18" charset="2"/>
                          </a:rPr>
                          <m:t>2</m:t>
                        </m:r>
                      </m:sub>
                    </m:sSub>
                    <m:d>
                      <m:dPr>
                        <m:ctrlPr>
                          <a:rPr lang="en-US" altLang="zh-CN" sz="2400" b="0" i="1" dirty="0">
                            <a:latin typeface="Cambria Math" panose="02040503050406030204" pitchFamily="18" charset="0"/>
                            <a:sym typeface="Symbol" panose="05050102010706020507" pitchFamily="18" charset="2"/>
                          </a:rPr>
                        </m:ctrlPr>
                      </m:dPr>
                      <m:e>
                        <m:r>
                          <a:rPr lang="en-US" altLang="zh-CN" sz="2400" b="0" i="1" dirty="0">
                            <a:latin typeface="Cambria Math" panose="02040503050406030204" pitchFamily="18" charset="0"/>
                            <a:sym typeface="Symbol" panose="05050102010706020507" pitchFamily="18" charset="2"/>
                          </a:rPr>
                          <m:t>𝐶𝐼𝑇𝑌</m:t>
                        </m:r>
                        <m:r>
                          <a:rPr lang="en-US" altLang="zh-CN" sz="2400" b="0" i="1" dirty="0">
                            <a:latin typeface="Cambria Math" panose="02040503050406030204" pitchFamily="18" charset="0"/>
                            <a:sym typeface="Symbol" panose="05050102010706020507" pitchFamily="18" charset="2"/>
                          </a:rPr>
                          <m:t>,</m:t>
                        </m:r>
                        <m:r>
                          <a:rPr lang="en-US" altLang="zh-CN" sz="2400" b="0" i="1" dirty="0">
                            <a:latin typeface="Cambria Math" panose="02040503050406030204" pitchFamily="18" charset="0"/>
                            <a:sym typeface="Symbol" panose="05050102010706020507" pitchFamily="18" charset="2"/>
                          </a:rPr>
                          <m:t>𝑍𝐼𝑃</m:t>
                        </m:r>
                      </m:e>
                    </m:d>
                    <m:r>
                      <a:rPr lang="en-US" altLang="zh-CN" sz="2400" b="0" i="1" dirty="0" smtClean="0">
                        <a:latin typeface="Cambria Math" panose="02040503050406030204" pitchFamily="18" charset="0"/>
                        <a:sym typeface="Symbol" panose="05050102010706020507" pitchFamily="18" charset="2"/>
                      </a:rPr>
                      <m:t>}</m:t>
                    </m:r>
                  </m:oMath>
                </a14:m>
                <a:endParaRPr lang="zh-CN" altLang="en-US" sz="2400" b="0" dirty="0">
                  <a:sym typeface="Symbol" panose="05050102010706020507" pitchFamily="18" charset="2"/>
                </a:endParaRPr>
              </a:p>
              <a:p>
                <a:pPr lvl="1"/>
                <a:r>
                  <a:rPr lang="zh-CN" altLang="en-US" dirty="0">
                    <a:sym typeface="Symbol" panose="05050102010706020507" pitchFamily="18" charset="2"/>
                  </a:rPr>
                  <a:t>检查该分解是否具有保持函数依赖性：</a:t>
                </a:r>
                <a:endParaRPr lang="zh-CN" altLang="en-US" dirty="0">
                  <a:sym typeface="Symbol" panose="05050102010706020507" pitchFamily="18" charset="2"/>
                </a:endParaRPr>
              </a:p>
              <a:p>
                <a:pPr>
                  <a:buNone/>
                </a:pPr>
                <a:r>
                  <a:rPr lang="zh-CN" altLang="en-US" sz="2400" b="0" dirty="0">
                    <a:solidFill>
                      <a:schemeClr val="folHlink"/>
                    </a:solidFill>
                  </a:rPr>
                  <a:t>   </a:t>
                </a:r>
                <a:r>
                  <a:rPr lang="en-US" altLang="zh-CN" sz="2400" b="0" dirty="0">
                    <a:solidFill>
                      <a:schemeClr val="folHlink"/>
                    </a:solidFill>
                  </a:rPr>
                  <a:t>        </a:t>
                </a:r>
                <a:r>
                  <a:rPr lang="en-US" altLang="zh-CN" sz="2400" b="0" dirty="0"/>
                  <a:t>∵</a:t>
                </a:r>
                <a:r>
                  <a:rPr lang="zh-CN" altLang="en-US" sz="2400" b="0" dirty="0">
                    <a:solidFill>
                      <a:schemeClr val="folHlink"/>
                    </a:solidFill>
                  </a:rPr>
                  <a:t>  </a:t>
                </a:r>
                <a14:m>
                  <m:oMath xmlns:m="http://schemas.openxmlformats.org/officeDocument/2006/math">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ea typeface="Cambria Math" panose="02040503050406030204" pitchFamily="18" charset="0"/>
                          </a:rPr>
                          <m:t>∏</m:t>
                        </m:r>
                      </m:e>
                      <m:sub>
                        <m:sSub>
                          <m:sSubPr>
                            <m:ctrlPr>
                              <a:rPr lang="en-US" altLang="zh-CN" sz="2400" b="0" i="1" smtClean="0">
                                <a:solidFill>
                                  <a:schemeClr val="tx1"/>
                                </a:solidFill>
                                <a:latin typeface="Cambria Math" panose="02040503050406030204" pitchFamily="18" charset="0"/>
                              </a:rPr>
                            </m:ctrlPr>
                          </m:sSubPr>
                          <m:e>
                            <m:r>
                              <a:rPr lang="en-US" altLang="zh-CN" sz="2400" b="0" i="1" smtClean="0">
                                <a:solidFill>
                                  <a:schemeClr val="tx1"/>
                                </a:solidFill>
                                <a:latin typeface="Cambria Math" panose="02040503050406030204" pitchFamily="18" charset="0"/>
                              </a:rPr>
                              <m:t>𝑅</m:t>
                            </m:r>
                          </m:e>
                          <m:sub>
                            <m:r>
                              <a:rPr lang="en-US" altLang="zh-CN" sz="2400" b="0" i="1" smtClean="0">
                                <a:solidFill>
                                  <a:schemeClr val="tx1"/>
                                </a:solidFill>
                                <a:latin typeface="Cambria Math" panose="02040503050406030204" pitchFamily="18" charset="0"/>
                              </a:rPr>
                              <m:t>1</m:t>
                            </m:r>
                          </m:sub>
                        </m:sSub>
                      </m:sub>
                    </m:sSub>
                    <m:r>
                      <a:rPr lang="en-US" altLang="zh-CN" sz="2400" b="0" i="1" smtClean="0">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ea typeface="Cambria Math" panose="02040503050406030204" pitchFamily="18" charset="0"/>
                      </a:rPr>
                      <m:t>∅</m:t>
                    </m:r>
                  </m:oMath>
                </a14:m>
                <a:r>
                  <a:rPr lang="zh-CN" altLang="en-US" sz="2400" b="0" dirty="0"/>
                  <a:t>（平凡的函数依赖）</a:t>
                </a:r>
                <a:endParaRPr lang="zh-CN" altLang="en-US" sz="2400" b="0" dirty="0"/>
              </a:p>
              <a:p>
                <a:pPr>
                  <a:buNone/>
                </a:pPr>
                <a:r>
                  <a:rPr lang="en-US" altLang="zh-CN" sz="2400" b="0" dirty="0"/>
                  <a:t>               </a:t>
                </a:r>
                <a:r>
                  <a:rPr lang="zh-CN" altLang="en-US" sz="2400" b="0" dirty="0"/>
                  <a:t> </a:t>
                </a:r>
                <a14:m>
                  <m:oMath xmlns:m="http://schemas.openxmlformats.org/officeDocument/2006/math">
                    <m:sSub>
                      <m:sSubPr>
                        <m:ctrlPr>
                          <a:rPr lang="en-US" altLang="zh-CN" sz="2400" b="0" i="1">
                            <a:latin typeface="Cambria Math" panose="02040503050406030204" pitchFamily="18" charset="0"/>
                          </a:rPr>
                        </m:ctrlPr>
                      </m:sSubPr>
                      <m:e>
                        <m:r>
                          <a:rPr lang="en-US" altLang="zh-CN" sz="2400" b="0" i="1">
                            <a:latin typeface="Cambria Math" panose="02040503050406030204" pitchFamily="18" charset="0"/>
                            <a:ea typeface="Cambria Math" panose="02040503050406030204" pitchFamily="18" charset="0"/>
                          </a:rPr>
                          <m:t>∏</m:t>
                        </m:r>
                      </m:e>
                      <m:sub>
                        <m:sSub>
                          <m:sSubPr>
                            <m:ctrlPr>
                              <a:rPr lang="en-US" altLang="zh-CN" sz="2400" b="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smtClean="0">
                                <a:latin typeface="Cambria Math" panose="02040503050406030204" pitchFamily="18" charset="0"/>
                              </a:rPr>
                              <m:t>2</m:t>
                            </m:r>
                          </m:sub>
                        </m:sSub>
                      </m:sub>
                    </m:sSub>
                    <m:r>
                      <a:rPr lang="en-US" altLang="zh-CN" sz="2400" b="0" i="1">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𝑍𝐼𝑃</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𝐶𝐼𝑇𝑌</m:t>
                        </m:r>
                      </m:e>
                    </m:d>
                  </m:oMath>
                </a14:m>
                <a:endParaRPr lang="en-US" altLang="zh-CN" sz="2400" b="0" dirty="0"/>
              </a:p>
              <a:p>
                <a:pPr>
                  <a:buNone/>
                </a:pPr>
                <a:r>
                  <a:rPr lang="en-US" altLang="zh-CN" sz="2400" b="0" dirty="0"/>
                  <a:t>                </a:t>
                </a:r>
                <a14:m>
                  <m:oMath xmlns:m="http://schemas.openxmlformats.org/officeDocument/2006/math">
                    <m:sSub>
                      <m:sSubPr>
                        <m:ctrlPr>
                          <a:rPr lang="en-US" altLang="zh-CN" sz="2400" b="0" i="1">
                            <a:latin typeface="Cambria Math" panose="02040503050406030204" pitchFamily="18" charset="0"/>
                          </a:rPr>
                        </m:ctrlPr>
                      </m:sSubPr>
                      <m:e>
                        <m:r>
                          <a:rPr lang="en-US" altLang="zh-CN" sz="2400" b="0" i="1">
                            <a:latin typeface="Cambria Math" panose="02040503050406030204" pitchFamily="18" charset="0"/>
                            <a:ea typeface="Cambria Math" panose="02040503050406030204" pitchFamily="18" charset="0"/>
                          </a:rPr>
                          <m:t>∏</m:t>
                        </m:r>
                      </m:e>
                      <m:sub>
                        <m:sSub>
                          <m:sSubPr>
                            <m:ctrlPr>
                              <a:rPr lang="en-US" altLang="zh-CN" sz="2400" b="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1</m:t>
                            </m:r>
                          </m:sub>
                        </m:sSub>
                      </m:sub>
                    </m:sSub>
                    <m:r>
                      <a:rPr lang="en-US" altLang="zh-CN" sz="2400" b="0" i="1">
                        <a:latin typeface="Cambria Math" panose="02040503050406030204" pitchFamily="18" charset="0"/>
                      </a:rPr>
                      <m:t> </m:t>
                    </m:r>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a:latin typeface="Cambria Math" panose="02040503050406030204" pitchFamily="18" charset="0"/>
                          </a:rPr>
                        </m:ctrlPr>
                      </m:sSubPr>
                      <m:e>
                        <m:r>
                          <a:rPr lang="en-US" altLang="zh-CN" sz="2400" b="0" i="1">
                            <a:latin typeface="Cambria Math" panose="02040503050406030204" pitchFamily="18" charset="0"/>
                            <a:ea typeface="Cambria Math" panose="02040503050406030204" pitchFamily="18" charset="0"/>
                          </a:rPr>
                          <m:t>∏</m:t>
                        </m:r>
                      </m:e>
                      <m:sub>
                        <m:sSub>
                          <m:sSubPr>
                            <m:ctrlPr>
                              <a:rPr lang="en-US" altLang="zh-CN" sz="2400" b="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smtClean="0">
                                <a:latin typeface="Cambria Math" panose="02040503050406030204" pitchFamily="18" charset="0"/>
                              </a:rPr>
                              <m:t>2</m:t>
                            </m:r>
                          </m:sub>
                        </m:sSub>
                      </m:sub>
                    </m:sSub>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r>
                          <a:rPr lang="en-US" altLang="zh-CN" sz="2400" b="0" i="1">
                            <a:latin typeface="Cambria Math" panose="02040503050406030204" pitchFamily="18" charset="0"/>
                          </a:rPr>
                          <m:t>𝑍𝐼𝑃</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𝐶𝐼𝑇𝑌</m:t>
                        </m:r>
                      </m:e>
                    </m:d>
                  </m:oMath>
                </a14:m>
                <a:endParaRPr lang="en-US" altLang="zh-CN" sz="2400" b="0" dirty="0"/>
              </a:p>
              <a:p>
                <a:pPr>
                  <a:buNone/>
                </a:pPr>
                <a:r>
                  <a:rPr lang="en-US" altLang="zh-CN" sz="2400" b="0" dirty="0"/>
                  <a:t>           ∴</a:t>
                </a:r>
                <a:r>
                  <a:rPr lang="en-US" altLang="zh-CN" sz="2400" b="0" dirty="0">
                    <a:sym typeface="Symbol" panose="05050102010706020507" pitchFamily="18" charset="2"/>
                  </a:rPr>
                  <a:t> </a:t>
                </a:r>
                <a14:m>
                  <m:oMath xmlns:m="http://schemas.openxmlformats.org/officeDocument/2006/math">
                    <m:r>
                      <a:rPr lang="zh-CN" altLang="en-US" sz="2400" b="0" i="1" dirty="0">
                        <a:latin typeface="Cambria Math" panose="02040503050406030204" pitchFamily="18" charset="0"/>
                        <a:sym typeface="Symbol" panose="05050102010706020507" pitchFamily="18" charset="2"/>
                      </a:rPr>
                      <m:t></m:t>
                    </m:r>
                  </m:oMath>
                </a14:m>
                <a:r>
                  <a:rPr lang="zh-CN" altLang="en-US" sz="2400" b="0" dirty="0">
                    <a:sym typeface="Symbol" panose="05050102010706020507" pitchFamily="18" charset="2"/>
                  </a:rPr>
                  <a:t>不具有保持函数依赖性</a:t>
                </a:r>
                <a:endParaRPr lang="en-US" altLang="zh-CN" sz="2400" b="0" dirty="0">
                  <a:solidFill>
                    <a:srgbClr val="C00000"/>
                  </a:solidFill>
                  <a:cs typeface="Times New Roman" panose="02020603050405020304" pitchFamily="18" charset="0"/>
                </a:endParaRPr>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176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模式分解与模式等价问题</a:t>
            </a:r>
            <a:endParaRPr lang="en-US" altLang="zh-CN" b="0" dirty="0">
              <a:solidFill>
                <a:srgbClr val="C00000"/>
              </a:solidFill>
              <a:cs typeface="Times New Roman" panose="02020603050405020304" pitchFamily="18" charset="0"/>
            </a:endParaRPr>
          </a:p>
          <a:p>
            <a:pPr lvl="1"/>
            <a:r>
              <a:rPr lang="zh-CN" altLang="en-US" dirty="0"/>
              <a:t>本节讨论的关系模式分解的两个特性实际上涉及到两个数据库模式的等价问题，这种等价包括</a:t>
            </a:r>
            <a:r>
              <a:rPr lang="zh-CN" altLang="en-US" u="sng" dirty="0"/>
              <a:t>数据等价</a:t>
            </a:r>
            <a:r>
              <a:rPr lang="zh-CN" altLang="en-US" dirty="0"/>
              <a:t>和</a:t>
            </a:r>
            <a:r>
              <a:rPr lang="zh-CN" altLang="en-US" u="sng" dirty="0"/>
              <a:t>依赖等价</a:t>
            </a:r>
            <a:r>
              <a:rPr lang="zh-CN" altLang="en-US" dirty="0"/>
              <a:t>两个方面</a:t>
            </a:r>
            <a:endParaRPr lang="en-US" altLang="zh-CN" dirty="0"/>
          </a:p>
          <a:p>
            <a:pPr lvl="1"/>
            <a:r>
              <a:rPr lang="zh-CN" altLang="en-US" dirty="0"/>
              <a:t>数据等价是指两个数据库实例应表示同样的信息内容，用“无损分解”衡量</a:t>
            </a:r>
            <a:endParaRPr lang="en-US" altLang="zh-CN" dirty="0"/>
          </a:p>
          <a:p>
            <a:pPr lvl="1"/>
            <a:r>
              <a:rPr lang="zh-CN" altLang="en-US" dirty="0"/>
              <a:t>如果是无损分解，那么对泛关系反复的投影和联接都不会丢失信息</a:t>
            </a:r>
            <a:endParaRPr lang="en-US" altLang="zh-CN" dirty="0"/>
          </a:p>
          <a:p>
            <a:pPr lvl="1"/>
            <a:r>
              <a:rPr lang="zh-CN" altLang="en-US" dirty="0"/>
              <a:t>依赖等价是指两个数据库模式应有相同的依赖集闭包</a:t>
            </a:r>
            <a:endParaRPr lang="en-US" altLang="zh-CN" dirty="0"/>
          </a:p>
          <a:p>
            <a:pPr lvl="1"/>
            <a:r>
              <a:rPr lang="zh-CN" altLang="en-US" dirty="0"/>
              <a:t>在依赖集闭包相等情况下，数据的语义是不会出差错的。</a:t>
            </a:r>
            <a:endParaRPr lang="en-US" altLang="zh-CN" dirty="0"/>
          </a:p>
          <a:p>
            <a:pPr lvl="1"/>
            <a:r>
              <a:rPr lang="zh-CN" altLang="en-US" dirty="0"/>
              <a:t>违反数据等价或依赖等价的分解很难说是一个好的模式设计</a:t>
            </a:r>
            <a:endParaRPr lang="zh-CN" altLang="en-US" dirty="0"/>
          </a:p>
          <a:p>
            <a:pPr lvl="1"/>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模式分解与模式等价问题</a:t>
                </a:r>
                <a:endParaRPr lang="en-US" altLang="zh-CN" dirty="0"/>
              </a:p>
              <a:p>
                <a:pPr lvl="1"/>
                <a:r>
                  <a:rPr lang="zh-CN" altLang="en-US" sz="2200" i="1" dirty="0"/>
                  <a:t>例</a:t>
                </a:r>
                <a:r>
                  <a:rPr lang="en-US" altLang="zh-CN" sz="2200" i="1" dirty="0"/>
                  <a:t>4.7</a:t>
                </a:r>
                <a:r>
                  <a:rPr lang="zh-CN" altLang="en-US" sz="2200" i="1" dirty="0"/>
                  <a:t>：关系模式</a:t>
                </a:r>
                <a14:m>
                  <m:oMath xmlns:m="http://schemas.openxmlformats.org/officeDocument/2006/math">
                    <m:r>
                      <a:rPr lang="en-US" altLang="zh-CN" sz="2200" i="1" dirty="0" smtClean="0">
                        <a:latin typeface="Cambria Math" panose="02040503050406030204" pitchFamily="18" charset="0"/>
                      </a:rPr>
                      <m:t>𝑅</m:t>
                    </m:r>
                    <m:r>
                      <a:rPr lang="zh-CN" altLang="en-US" sz="2200" i="1" dirty="0">
                        <a:latin typeface="Cambria Math" panose="02040503050406030204" pitchFamily="18" charset="0"/>
                      </a:rPr>
                      <m:t>（</m:t>
                    </m:r>
                    <m:r>
                      <a:rPr lang="en-US" altLang="zh-CN" sz="2200" i="1" dirty="0">
                        <a:latin typeface="Cambria Math" panose="02040503050406030204" pitchFamily="18" charset="0"/>
                      </a:rPr>
                      <m:t>𝐴𝐵𝐶</m:t>
                    </m:r>
                    <m:r>
                      <a:rPr lang="zh-CN" altLang="en-US" sz="2200" i="1" dirty="0">
                        <a:latin typeface="Cambria Math" panose="02040503050406030204" pitchFamily="18" charset="0"/>
                      </a:rPr>
                      <m:t>）</m:t>
                    </m:r>
                  </m:oMath>
                </a14:m>
                <a:r>
                  <a:rPr lang="zh-CN" altLang="en-US" sz="2200" i="1" dirty="0"/>
                  <a:t>，</a:t>
                </a:r>
                <a14:m>
                  <m:oMath xmlns:m="http://schemas.openxmlformats.org/officeDocument/2006/math">
                    <m:r>
                      <a:rPr lang="en-US" altLang="zh-CN" sz="2200" i="1" dirty="0" smtClean="0">
                        <a:solidFill>
                          <a:srgbClr val="990099"/>
                        </a:solidFill>
                        <a:latin typeface="Cambria Math" panose="02040503050406030204" pitchFamily="18" charset="0"/>
                      </a:rPr>
                      <m:t>𝜌</m:t>
                    </m:r>
                    <m:r>
                      <a:rPr lang="en-US" altLang="zh-CN" sz="2200" i="1" dirty="0">
                        <a:solidFill>
                          <a:srgbClr val="990099"/>
                        </a:solidFill>
                        <a:latin typeface="Cambria Math" panose="02040503050406030204" pitchFamily="18" charset="0"/>
                      </a:rPr>
                      <m:t>=</m:t>
                    </m:r>
                    <m:r>
                      <a:rPr lang="zh-CN" altLang="en-US" sz="2200" i="1" dirty="0">
                        <a:solidFill>
                          <a:srgbClr val="990099"/>
                        </a:solidFill>
                        <a:latin typeface="Cambria Math" panose="02040503050406030204" pitchFamily="18" charset="0"/>
                      </a:rPr>
                      <m:t>｛</m:t>
                    </m:r>
                    <m:r>
                      <a:rPr lang="zh-CN" altLang="en-US" sz="2200" i="1" dirty="0">
                        <a:solidFill>
                          <a:srgbClr val="990099"/>
                        </a:solidFill>
                        <a:latin typeface="Cambria Math" panose="02040503050406030204" pitchFamily="18" charset="0"/>
                      </a:rPr>
                      <m:t> </m:t>
                    </m:r>
                    <m:r>
                      <a:rPr lang="en-US" altLang="zh-CN" sz="2200" i="1" dirty="0">
                        <a:solidFill>
                          <a:srgbClr val="990099"/>
                        </a:solidFill>
                        <a:latin typeface="Cambria Math" panose="02040503050406030204" pitchFamily="18" charset="0"/>
                      </a:rPr>
                      <m:t>𝐴𝐵</m:t>
                    </m:r>
                    <m:r>
                      <a:rPr lang="zh-CN" altLang="en-US" sz="2200" i="1" dirty="0">
                        <a:solidFill>
                          <a:srgbClr val="990099"/>
                        </a:solidFill>
                        <a:latin typeface="Cambria Math" panose="02040503050406030204" pitchFamily="18" charset="0"/>
                      </a:rPr>
                      <m:t>，</m:t>
                    </m:r>
                    <m:r>
                      <a:rPr lang="en-US" altLang="zh-CN" sz="2200" i="1" dirty="0">
                        <a:solidFill>
                          <a:srgbClr val="990099"/>
                        </a:solidFill>
                        <a:latin typeface="Cambria Math" panose="02040503050406030204" pitchFamily="18" charset="0"/>
                      </a:rPr>
                      <m:t>𝐴𝐶</m:t>
                    </m:r>
                    <m:r>
                      <a:rPr lang="en-US" altLang="zh-CN" sz="2200" i="1" dirty="0">
                        <a:solidFill>
                          <a:srgbClr val="990099"/>
                        </a:solidFill>
                        <a:latin typeface="Cambria Math" panose="02040503050406030204" pitchFamily="18" charset="0"/>
                      </a:rPr>
                      <m:t> </m:t>
                    </m:r>
                    <m:r>
                      <a:rPr lang="zh-CN" altLang="en-US" sz="2200" i="1" dirty="0">
                        <a:solidFill>
                          <a:srgbClr val="990099"/>
                        </a:solidFill>
                        <a:latin typeface="Cambria Math" panose="02040503050406030204" pitchFamily="18" charset="0"/>
                      </a:rPr>
                      <m:t>｝</m:t>
                    </m:r>
                  </m:oMath>
                </a14:m>
                <a:r>
                  <a:rPr lang="zh-CN" altLang="en-US" sz="2200" i="1" dirty="0"/>
                  <a:t>是</a:t>
                </a:r>
                <a14:m>
                  <m:oMath xmlns:m="http://schemas.openxmlformats.org/officeDocument/2006/math">
                    <m:r>
                      <a:rPr lang="en-US" altLang="zh-CN" sz="2200" i="1" dirty="0">
                        <a:latin typeface="Cambria Math" panose="02040503050406030204" pitchFamily="18" charset="0"/>
                      </a:rPr>
                      <m:t>𝑅</m:t>
                    </m:r>
                  </m:oMath>
                </a14:m>
                <a:r>
                  <a:rPr lang="zh-CN" altLang="en-US" sz="2200" i="1" dirty="0"/>
                  <a:t>的一个分解</a:t>
                </a:r>
                <a:endParaRPr lang="en-US" altLang="zh-CN" sz="2200" i="1" dirty="0"/>
              </a:p>
              <a:p>
                <a:pPr lvl="1"/>
                <a:r>
                  <a:rPr lang="zh-CN" altLang="en-US" sz="2200" dirty="0"/>
                  <a:t>试分析分别在</a:t>
                </a:r>
                <a14:m>
                  <m:oMath xmlns:m="http://schemas.openxmlformats.org/officeDocument/2006/math">
                    <m:r>
                      <a:rPr lang="en-US" altLang="zh-CN" sz="2200" i="1" dirty="0" smtClean="0">
                        <a:latin typeface="Cambria Math" panose="02040503050406030204" pitchFamily="18" charset="0"/>
                      </a:rPr>
                      <m:t>𝐹</m:t>
                    </m:r>
                    <m:r>
                      <a:rPr lang="en-US" altLang="zh-CN" sz="2200" i="1" baseline="-18000" dirty="0">
                        <a:latin typeface="Cambria Math" panose="02040503050406030204" pitchFamily="18" charset="0"/>
                      </a:rPr>
                      <m:t>1</m:t>
                    </m:r>
                    <m:r>
                      <a:rPr lang="en-US" altLang="zh-CN" sz="2200" i="1" dirty="0">
                        <a:latin typeface="Cambria Math" panose="02040503050406030204" pitchFamily="18" charset="0"/>
                      </a:rPr>
                      <m:t>=</m:t>
                    </m:r>
                    <m:r>
                      <a:rPr lang="zh-CN" altLang="en-US" sz="2200" i="1" dirty="0">
                        <a:latin typeface="Cambria Math" panose="02040503050406030204" pitchFamily="18" charset="0"/>
                      </a:rPr>
                      <m:t>｛</m:t>
                    </m:r>
                    <m:r>
                      <a:rPr lang="zh-CN" altLang="en-US" sz="2200" i="1" dirty="0">
                        <a:latin typeface="Cambria Math" panose="02040503050406030204" pitchFamily="18" charset="0"/>
                      </a:rPr>
                      <m:t> </m:t>
                    </m:r>
                    <m:r>
                      <a:rPr lang="en-US" altLang="zh-CN" sz="2200" i="1" dirty="0">
                        <a:latin typeface="Cambria Math" panose="02040503050406030204" pitchFamily="18" charset="0"/>
                      </a:rPr>
                      <m:t>𝐴</m:t>
                    </m:r>
                    <m:r>
                      <a:rPr lang="en-US" altLang="zh-CN" sz="2200" i="1" dirty="0">
                        <a:latin typeface="Cambria Math" panose="02040503050406030204" pitchFamily="18" charset="0"/>
                      </a:rPr>
                      <m:t>→</m:t>
                    </m:r>
                    <m:r>
                      <a:rPr lang="en-US" altLang="zh-CN" sz="2200" i="1" dirty="0">
                        <a:latin typeface="Cambria Math" panose="02040503050406030204" pitchFamily="18" charset="0"/>
                      </a:rPr>
                      <m:t>𝐵</m:t>
                    </m:r>
                    <m:r>
                      <a:rPr lang="en-US" altLang="zh-CN" sz="2200" i="1" dirty="0">
                        <a:latin typeface="Cambria Math" panose="02040503050406030204" pitchFamily="18" charset="0"/>
                      </a:rPr>
                      <m:t> </m:t>
                    </m:r>
                    <m:r>
                      <a:rPr lang="zh-CN" altLang="en-US" sz="2200" i="1" dirty="0">
                        <a:latin typeface="Cambria Math" panose="02040503050406030204" pitchFamily="18" charset="0"/>
                      </a:rPr>
                      <m:t>｝，</m:t>
                    </m:r>
                    <m:r>
                      <a:rPr lang="en-US" altLang="zh-CN" sz="2200" i="1" dirty="0">
                        <a:latin typeface="Cambria Math" panose="02040503050406030204" pitchFamily="18" charset="0"/>
                      </a:rPr>
                      <m:t>𝐹</m:t>
                    </m:r>
                    <m:r>
                      <a:rPr lang="en-US" altLang="zh-CN" sz="2200" i="1" baseline="-18000" dirty="0">
                        <a:latin typeface="Cambria Math" panose="02040503050406030204" pitchFamily="18" charset="0"/>
                      </a:rPr>
                      <m:t>2</m:t>
                    </m:r>
                    <m:r>
                      <a:rPr lang="en-US" altLang="zh-CN" sz="2200" i="1" dirty="0">
                        <a:latin typeface="Cambria Math" panose="02040503050406030204" pitchFamily="18" charset="0"/>
                      </a:rPr>
                      <m:t>=</m:t>
                    </m:r>
                    <m:r>
                      <a:rPr lang="zh-CN" altLang="en-US" sz="2200" i="1" dirty="0">
                        <a:latin typeface="Cambria Math" panose="02040503050406030204" pitchFamily="18" charset="0"/>
                      </a:rPr>
                      <m:t>｛</m:t>
                    </m:r>
                    <m:r>
                      <a:rPr lang="zh-CN" altLang="en-US" sz="2200" i="1" dirty="0">
                        <a:latin typeface="Cambria Math" panose="02040503050406030204" pitchFamily="18" charset="0"/>
                      </a:rPr>
                      <m:t> </m:t>
                    </m:r>
                    <m:r>
                      <a:rPr lang="en-US" altLang="zh-CN" sz="2200" i="1" dirty="0">
                        <a:latin typeface="Cambria Math" panose="02040503050406030204" pitchFamily="18" charset="0"/>
                      </a:rPr>
                      <m:t>𝐴</m:t>
                    </m:r>
                    <m:r>
                      <a:rPr lang="en-US" altLang="zh-CN" sz="2200" i="1" dirty="0">
                        <a:latin typeface="Cambria Math" panose="02040503050406030204" pitchFamily="18" charset="0"/>
                      </a:rPr>
                      <m:t>→</m:t>
                    </m:r>
                    <m:r>
                      <a:rPr lang="en-US" altLang="zh-CN" sz="2200" i="1" dirty="0">
                        <a:latin typeface="Cambria Math" panose="02040503050406030204" pitchFamily="18" charset="0"/>
                      </a:rPr>
                      <m:t>𝐶</m:t>
                    </m:r>
                    <m:r>
                      <a:rPr lang="zh-CN" altLang="en-US" sz="2200" i="1" dirty="0">
                        <a:latin typeface="Cambria Math" panose="02040503050406030204" pitchFamily="18" charset="0"/>
                      </a:rPr>
                      <m:t>，</m:t>
                    </m:r>
                    <m:r>
                      <a:rPr lang="en-US" altLang="zh-CN" sz="2200" i="1" dirty="0">
                        <a:latin typeface="Cambria Math" panose="02040503050406030204" pitchFamily="18" charset="0"/>
                      </a:rPr>
                      <m:t>𝐵</m:t>
                    </m:r>
                    <m:r>
                      <a:rPr lang="en-US" altLang="zh-CN" sz="2200" i="1" dirty="0">
                        <a:latin typeface="Cambria Math" panose="02040503050406030204" pitchFamily="18" charset="0"/>
                      </a:rPr>
                      <m:t>→</m:t>
                    </m:r>
                    <m:r>
                      <a:rPr lang="en-US" altLang="zh-CN" sz="2200" i="1" dirty="0">
                        <a:latin typeface="Cambria Math" panose="02040503050406030204" pitchFamily="18" charset="0"/>
                      </a:rPr>
                      <m:t>𝐶</m:t>
                    </m:r>
                    <m:r>
                      <a:rPr lang="en-US" altLang="zh-CN" sz="2200" i="1" dirty="0">
                        <a:latin typeface="Cambria Math" panose="02040503050406030204" pitchFamily="18" charset="0"/>
                      </a:rPr>
                      <m:t> </m:t>
                    </m:r>
                    <m:r>
                      <a:rPr lang="zh-CN" altLang="en-US" sz="2200" i="1" dirty="0">
                        <a:latin typeface="Cambria Math" panose="02040503050406030204" pitchFamily="18" charset="0"/>
                      </a:rPr>
                      <m:t>｝，</m:t>
                    </m:r>
                    <m:r>
                      <a:rPr lang="en-US" altLang="zh-CN" sz="2200" i="1" dirty="0">
                        <a:latin typeface="Cambria Math" panose="02040503050406030204" pitchFamily="18" charset="0"/>
                      </a:rPr>
                      <m:t>𝐹</m:t>
                    </m:r>
                    <m:r>
                      <a:rPr lang="en-US" altLang="zh-CN" sz="2200" i="1" baseline="-18000" dirty="0">
                        <a:latin typeface="Cambria Math" panose="02040503050406030204" pitchFamily="18" charset="0"/>
                      </a:rPr>
                      <m:t>3</m:t>
                    </m:r>
                    <m:r>
                      <a:rPr lang="en-US" altLang="zh-CN" sz="2200" i="1" dirty="0">
                        <a:latin typeface="Cambria Math" panose="02040503050406030204" pitchFamily="18" charset="0"/>
                      </a:rPr>
                      <m:t>=</m:t>
                    </m:r>
                    <m:r>
                      <a:rPr lang="zh-CN" altLang="en-US" sz="2200" i="1" dirty="0">
                        <a:latin typeface="Cambria Math" panose="02040503050406030204" pitchFamily="18" charset="0"/>
                      </a:rPr>
                      <m:t>｛</m:t>
                    </m:r>
                    <m:r>
                      <a:rPr lang="zh-CN" altLang="en-US" sz="2200" i="1" dirty="0">
                        <a:latin typeface="Cambria Math" panose="02040503050406030204" pitchFamily="18" charset="0"/>
                      </a:rPr>
                      <m:t> </m:t>
                    </m:r>
                    <m:r>
                      <a:rPr lang="en-US" altLang="zh-CN" sz="2200" i="1" dirty="0">
                        <a:latin typeface="Cambria Math" panose="02040503050406030204" pitchFamily="18" charset="0"/>
                      </a:rPr>
                      <m:t>𝐵</m:t>
                    </m:r>
                    <m:r>
                      <a:rPr lang="en-US" altLang="zh-CN" sz="2200" i="1" dirty="0">
                        <a:latin typeface="Cambria Math" panose="02040503050406030204" pitchFamily="18" charset="0"/>
                      </a:rPr>
                      <m:t>→</m:t>
                    </m:r>
                    <m:r>
                      <a:rPr lang="en-US" altLang="zh-CN" sz="2200" i="1" dirty="0">
                        <a:latin typeface="Cambria Math" panose="02040503050406030204" pitchFamily="18" charset="0"/>
                      </a:rPr>
                      <m:t>𝐴</m:t>
                    </m:r>
                    <m:r>
                      <a:rPr lang="en-US" altLang="zh-CN" sz="2200" i="1" dirty="0">
                        <a:latin typeface="Cambria Math" panose="02040503050406030204" pitchFamily="18" charset="0"/>
                      </a:rPr>
                      <m:t> </m:t>
                    </m:r>
                    <m:r>
                      <a:rPr lang="zh-CN" altLang="en-US" sz="2200" i="1" dirty="0">
                        <a:latin typeface="Cambria Math" panose="02040503050406030204" pitchFamily="18" charset="0"/>
                      </a:rPr>
                      <m:t>｝，</m:t>
                    </m:r>
                    <m:r>
                      <a:rPr lang="en-US" altLang="zh-CN" sz="2200" i="1" dirty="0">
                        <a:latin typeface="Cambria Math" panose="02040503050406030204" pitchFamily="18" charset="0"/>
                      </a:rPr>
                      <m:t>𝐹</m:t>
                    </m:r>
                    <m:r>
                      <a:rPr lang="en-US" altLang="zh-CN" sz="2200" i="1" baseline="-18000" dirty="0">
                        <a:latin typeface="Cambria Math" panose="02040503050406030204" pitchFamily="18" charset="0"/>
                      </a:rPr>
                      <m:t>4</m:t>
                    </m:r>
                    <m:r>
                      <a:rPr lang="en-US" altLang="zh-CN" sz="2200" i="1" dirty="0">
                        <a:latin typeface="Cambria Math" panose="02040503050406030204" pitchFamily="18" charset="0"/>
                      </a:rPr>
                      <m:t>=</m:t>
                    </m:r>
                    <m:r>
                      <a:rPr lang="zh-CN" altLang="en-US" sz="2200" i="1" dirty="0">
                        <a:latin typeface="Cambria Math" panose="02040503050406030204" pitchFamily="18" charset="0"/>
                      </a:rPr>
                      <m:t>｛</m:t>
                    </m:r>
                    <m:r>
                      <a:rPr lang="zh-CN" altLang="en-US" sz="2200" i="1" dirty="0">
                        <a:latin typeface="Cambria Math" panose="02040503050406030204" pitchFamily="18" charset="0"/>
                      </a:rPr>
                      <m:t> </m:t>
                    </m:r>
                    <m:r>
                      <a:rPr lang="en-US" altLang="zh-CN" sz="2200" i="1" dirty="0">
                        <a:latin typeface="Cambria Math" panose="02040503050406030204" pitchFamily="18" charset="0"/>
                      </a:rPr>
                      <m:t>𝐶</m:t>
                    </m:r>
                    <m:r>
                      <a:rPr lang="en-US" altLang="zh-CN" sz="2200" i="1" dirty="0">
                        <a:latin typeface="Cambria Math" panose="02040503050406030204" pitchFamily="18" charset="0"/>
                      </a:rPr>
                      <m:t>→</m:t>
                    </m:r>
                    <m:r>
                      <a:rPr lang="en-US" altLang="zh-CN" sz="2200" i="1" dirty="0">
                        <a:latin typeface="Cambria Math" panose="02040503050406030204" pitchFamily="18" charset="0"/>
                      </a:rPr>
                      <m:t>𝐵</m:t>
                    </m:r>
                    <m:r>
                      <a:rPr lang="zh-CN" altLang="en-US" sz="2200" i="1" dirty="0">
                        <a:latin typeface="Cambria Math" panose="02040503050406030204" pitchFamily="18" charset="0"/>
                      </a:rPr>
                      <m:t>，</m:t>
                    </m:r>
                    <m:r>
                      <a:rPr lang="en-US" altLang="zh-CN" sz="2200" i="1" dirty="0">
                        <a:latin typeface="Cambria Math" panose="02040503050406030204" pitchFamily="18" charset="0"/>
                      </a:rPr>
                      <m:t>𝐵</m:t>
                    </m:r>
                    <m:r>
                      <a:rPr lang="en-US" altLang="zh-CN" sz="2200" i="1" dirty="0">
                        <a:latin typeface="Cambria Math" panose="02040503050406030204" pitchFamily="18" charset="0"/>
                      </a:rPr>
                      <m:t>→</m:t>
                    </m:r>
                    <m:r>
                      <a:rPr lang="en-US" altLang="zh-CN" sz="2200" i="1" dirty="0">
                        <a:latin typeface="Cambria Math" panose="02040503050406030204" pitchFamily="18" charset="0"/>
                      </a:rPr>
                      <m:t>𝐴</m:t>
                    </m:r>
                    <m:r>
                      <a:rPr lang="en-US" altLang="zh-CN" sz="2200" i="1" dirty="0">
                        <a:latin typeface="Cambria Math" panose="02040503050406030204" pitchFamily="18" charset="0"/>
                      </a:rPr>
                      <m:t> </m:t>
                    </m:r>
                    <m:r>
                      <a:rPr lang="zh-CN" altLang="en-US" sz="2200" i="1" dirty="0">
                        <a:latin typeface="Cambria Math" panose="02040503050406030204" pitchFamily="18" charset="0"/>
                      </a:rPr>
                      <m:t>｝</m:t>
                    </m:r>
                  </m:oMath>
                </a14:m>
                <a:r>
                  <a:rPr lang="zh-CN" altLang="en-US" sz="2200" dirty="0"/>
                  <a:t>情况下，检验</a:t>
                </a:r>
                <a14:m>
                  <m:oMath xmlns:m="http://schemas.openxmlformats.org/officeDocument/2006/math">
                    <m:r>
                      <a:rPr lang="zh-CN" altLang="en-US" sz="2200" i="1" smtClean="0">
                        <a:latin typeface="Cambria Math" panose="02040503050406030204" pitchFamily="18" charset="0"/>
                      </a:rPr>
                      <m:t>𝜌</m:t>
                    </m:r>
                  </m:oMath>
                </a14:m>
                <a:r>
                  <a:rPr lang="zh-CN" altLang="en-US" sz="2200" dirty="0"/>
                  <a:t>是否具有无损分解和保持</a:t>
                </a:r>
                <a14:m>
                  <m:oMath xmlns:m="http://schemas.openxmlformats.org/officeDocument/2006/math">
                    <m:r>
                      <a:rPr lang="en-US" altLang="zh-CN" sz="2200" i="1" dirty="0" smtClean="0">
                        <a:latin typeface="Cambria Math" panose="02040503050406030204" pitchFamily="18" charset="0"/>
                      </a:rPr>
                      <m:t>𝐹𝐷</m:t>
                    </m:r>
                  </m:oMath>
                </a14:m>
                <a:r>
                  <a:rPr lang="zh-CN" altLang="en-US" sz="2200" dirty="0"/>
                  <a:t>的分解特性</a:t>
                </a:r>
                <a:endParaRPr lang="en-US" altLang="zh-CN" sz="2200" dirty="0"/>
              </a:p>
              <a:p>
                <a:pPr lvl="1"/>
                <a:r>
                  <a:rPr lang="zh-CN" altLang="en-US" sz="2200" dirty="0"/>
                  <a:t>解：</a:t>
                </a:r>
                <a:endParaRPr lang="zh-CN" altLang="en-US" sz="2200" dirty="0"/>
              </a:p>
              <a:p>
                <a:pPr marL="1257300" lvl="2" indent="-342900">
                  <a:lnSpc>
                    <a:spcPct val="90000"/>
                  </a:lnSpc>
                  <a:buClr>
                    <a:schemeClr val="tx1"/>
                  </a:buClr>
                  <a:buFontTx/>
                  <a:buAutoNum type="circleNumDbPlain"/>
                </a:pPr>
                <a:r>
                  <a:rPr lang="zh-CN" altLang="en-US" sz="2200" dirty="0"/>
                  <a:t>相对于</a:t>
                </a:r>
                <a14:m>
                  <m:oMath xmlns:m="http://schemas.openxmlformats.org/officeDocument/2006/math">
                    <m:r>
                      <a:rPr lang="en-US" altLang="zh-CN" sz="2200" i="1" dirty="0">
                        <a:latin typeface="Cambria Math" panose="02040503050406030204" pitchFamily="18" charset="0"/>
                      </a:rPr>
                      <m:t>𝐹</m:t>
                    </m:r>
                    <m:r>
                      <a:rPr lang="en-US" altLang="zh-CN" sz="2200" i="1" baseline="-18000" dirty="0">
                        <a:latin typeface="Cambria Math" panose="02040503050406030204" pitchFamily="18" charset="0"/>
                      </a:rPr>
                      <m:t>1</m:t>
                    </m:r>
                    <m:r>
                      <a:rPr lang="en-US" altLang="zh-CN" sz="2200" i="1" dirty="0" smtClean="0">
                        <a:latin typeface="Cambria Math" panose="02040503050406030204" pitchFamily="18" charset="0"/>
                      </a:rPr>
                      <m:t> =</m:t>
                    </m:r>
                    <m:r>
                      <a:rPr lang="en-US" altLang="zh-CN" sz="2200" b="0" i="1" dirty="0" smtClean="0">
                        <a:latin typeface="Cambria Math" panose="02040503050406030204" pitchFamily="18" charset="0"/>
                      </a:rPr>
                      <m:t>{</m:t>
                    </m:r>
                    <m:r>
                      <a:rPr lang="en-US" altLang="zh-CN" sz="2200" i="1" dirty="0">
                        <a:latin typeface="Cambria Math" panose="02040503050406030204" pitchFamily="18" charset="0"/>
                      </a:rPr>
                      <m:t>𝐴</m:t>
                    </m:r>
                    <m:r>
                      <a:rPr lang="en-US" altLang="zh-CN" sz="2200" i="1" dirty="0">
                        <a:latin typeface="Cambria Math" panose="02040503050406030204" pitchFamily="18" charset="0"/>
                      </a:rPr>
                      <m:t>→</m:t>
                    </m:r>
                    <m:r>
                      <a:rPr lang="en-US" altLang="zh-CN" sz="2200" i="1" dirty="0">
                        <a:latin typeface="Cambria Math" panose="02040503050406030204" pitchFamily="18" charset="0"/>
                      </a:rPr>
                      <m:t>𝐵</m:t>
                    </m:r>
                    <m:r>
                      <a:rPr lang="en-US" altLang="zh-CN" sz="2200" b="0" i="1" dirty="0" smtClean="0">
                        <a:latin typeface="Cambria Math" panose="02040503050406030204" pitchFamily="18" charset="0"/>
                      </a:rPr>
                      <m:t>}</m:t>
                    </m:r>
                    <m:r>
                      <a:rPr lang="zh-CN" altLang="en-US" sz="2200" i="1" dirty="0">
                        <a:latin typeface="Cambria Math" panose="02040503050406030204" pitchFamily="18" charset="0"/>
                      </a:rPr>
                      <m:t>，</m:t>
                    </m:r>
                  </m:oMath>
                </a14:m>
                <a:r>
                  <a:rPr lang="zh-CN" altLang="en-US" sz="2200" dirty="0"/>
                  <a:t>分解</a:t>
                </a:r>
                <a14:m>
                  <m:oMath xmlns:m="http://schemas.openxmlformats.org/officeDocument/2006/math">
                    <m:r>
                      <a:rPr lang="zh-CN" altLang="en-US" sz="2200" i="1">
                        <a:latin typeface="Cambria Math" panose="02040503050406030204" pitchFamily="18" charset="0"/>
                      </a:rPr>
                      <m:t>𝜌</m:t>
                    </m:r>
                  </m:oMath>
                </a14:m>
                <a:r>
                  <a:rPr lang="zh-CN" altLang="en-US" sz="2200" dirty="0"/>
                  <a:t>是无损分解且保持</a:t>
                </a:r>
                <a14:m>
                  <m:oMath xmlns:m="http://schemas.openxmlformats.org/officeDocument/2006/math">
                    <m:r>
                      <a:rPr lang="en-US" altLang="zh-CN" sz="2200" i="1" dirty="0">
                        <a:latin typeface="Cambria Math" panose="02040503050406030204" pitchFamily="18" charset="0"/>
                      </a:rPr>
                      <m:t>𝐹𝐷</m:t>
                    </m:r>
                  </m:oMath>
                </a14:m>
                <a:r>
                  <a:rPr lang="zh-CN" altLang="en-US" sz="2200" dirty="0"/>
                  <a:t>的分解</a:t>
                </a:r>
                <a:endParaRPr lang="zh-CN" altLang="en-US" sz="2200" dirty="0"/>
              </a:p>
              <a:p>
                <a:pPr marL="1257300" lvl="2" indent="-342900">
                  <a:lnSpc>
                    <a:spcPct val="90000"/>
                  </a:lnSpc>
                  <a:buClr>
                    <a:schemeClr val="tx1"/>
                  </a:buClr>
                  <a:buFontTx/>
                  <a:buAutoNum type="circleNumDbPlain"/>
                </a:pPr>
                <a:r>
                  <a:rPr lang="zh-CN" altLang="en-US" sz="2200" dirty="0"/>
                  <a:t>相对于</a:t>
                </a:r>
                <a14:m>
                  <m:oMath xmlns:m="http://schemas.openxmlformats.org/officeDocument/2006/math">
                    <m:r>
                      <a:rPr lang="en-US" altLang="zh-CN" sz="2200" i="1" dirty="0">
                        <a:latin typeface="Cambria Math" panose="02040503050406030204" pitchFamily="18" charset="0"/>
                      </a:rPr>
                      <m:t>𝐹</m:t>
                    </m:r>
                    <m:r>
                      <a:rPr lang="en-US" altLang="zh-CN" sz="2200" i="1" baseline="-18000" dirty="0">
                        <a:latin typeface="Cambria Math" panose="02040503050406030204" pitchFamily="18" charset="0"/>
                      </a:rPr>
                      <m:t>2</m:t>
                    </m:r>
                    <m:r>
                      <a:rPr lang="en-US" altLang="zh-CN" sz="2200" i="1" dirty="0">
                        <a:latin typeface="Cambria Math" panose="02040503050406030204" pitchFamily="18" charset="0"/>
                      </a:rPr>
                      <m:t>=</m:t>
                    </m:r>
                    <m:r>
                      <a:rPr lang="en-US" altLang="zh-CN" sz="2200" b="0" i="1" dirty="0" smtClean="0">
                        <a:latin typeface="Cambria Math" panose="02040503050406030204" pitchFamily="18" charset="0"/>
                      </a:rPr>
                      <m:t>{</m:t>
                    </m:r>
                    <m:r>
                      <a:rPr lang="en-US" altLang="zh-CN" sz="2200" i="1" dirty="0">
                        <a:latin typeface="Cambria Math" panose="02040503050406030204" pitchFamily="18" charset="0"/>
                      </a:rPr>
                      <m:t>𝐴</m:t>
                    </m:r>
                    <m:r>
                      <a:rPr lang="en-US" altLang="zh-CN" sz="2200" i="1" dirty="0">
                        <a:latin typeface="Cambria Math" panose="02040503050406030204" pitchFamily="18" charset="0"/>
                      </a:rPr>
                      <m:t>→</m:t>
                    </m:r>
                    <m:r>
                      <a:rPr lang="en-US" altLang="zh-CN" sz="2200" i="1" dirty="0">
                        <a:latin typeface="Cambria Math" panose="02040503050406030204" pitchFamily="18" charset="0"/>
                      </a:rPr>
                      <m:t>𝐶</m:t>
                    </m:r>
                    <m:r>
                      <a:rPr lang="zh-CN" altLang="en-US" sz="2200" i="1" dirty="0">
                        <a:latin typeface="Cambria Math" panose="02040503050406030204" pitchFamily="18" charset="0"/>
                      </a:rPr>
                      <m:t>，</m:t>
                    </m:r>
                    <m:r>
                      <a:rPr lang="en-US" altLang="zh-CN" sz="2200" i="1" dirty="0">
                        <a:latin typeface="Cambria Math" panose="02040503050406030204" pitchFamily="18" charset="0"/>
                      </a:rPr>
                      <m:t>𝐵</m:t>
                    </m:r>
                    <m:r>
                      <a:rPr lang="en-US" altLang="zh-CN" sz="2200" i="1" dirty="0">
                        <a:latin typeface="Cambria Math" panose="02040503050406030204" pitchFamily="18" charset="0"/>
                      </a:rPr>
                      <m:t>→</m:t>
                    </m:r>
                    <m:r>
                      <a:rPr lang="en-US" altLang="zh-CN" sz="2200" i="1" dirty="0">
                        <a:latin typeface="Cambria Math" panose="02040503050406030204" pitchFamily="18" charset="0"/>
                      </a:rPr>
                      <m:t>𝐶</m:t>
                    </m:r>
                    <m:r>
                      <a:rPr lang="en-US" altLang="zh-CN" sz="2200" b="0" i="1" dirty="0" smtClean="0">
                        <a:latin typeface="Cambria Math" panose="02040503050406030204" pitchFamily="18" charset="0"/>
                      </a:rPr>
                      <m:t>}</m:t>
                    </m:r>
                    <m:r>
                      <a:rPr lang="zh-CN" altLang="en-US" sz="2200" i="1" dirty="0">
                        <a:latin typeface="Cambria Math" panose="02040503050406030204" pitchFamily="18" charset="0"/>
                      </a:rPr>
                      <m:t>，</m:t>
                    </m:r>
                  </m:oMath>
                </a14:m>
                <a:r>
                  <a:rPr lang="zh-CN" altLang="en-US" sz="2200" dirty="0"/>
                  <a:t>分解</a:t>
                </a:r>
                <a14:m>
                  <m:oMath xmlns:m="http://schemas.openxmlformats.org/officeDocument/2006/math">
                    <m:r>
                      <a:rPr lang="zh-CN" altLang="en-US" sz="2200" i="1">
                        <a:latin typeface="Cambria Math" panose="02040503050406030204" pitchFamily="18" charset="0"/>
                      </a:rPr>
                      <m:t>𝜌</m:t>
                    </m:r>
                  </m:oMath>
                </a14:m>
                <a:r>
                  <a:rPr lang="zh-CN" altLang="en-US" sz="2200" dirty="0"/>
                  <a:t>是无损分解，但不保持</a:t>
                </a:r>
                <a14:m>
                  <m:oMath xmlns:m="http://schemas.openxmlformats.org/officeDocument/2006/math">
                    <m:r>
                      <a:rPr lang="en-US" altLang="zh-CN" sz="2200" i="1" dirty="0">
                        <a:latin typeface="Cambria Math" panose="02040503050406030204" pitchFamily="18" charset="0"/>
                      </a:rPr>
                      <m:t>𝐹𝐷</m:t>
                    </m:r>
                  </m:oMath>
                </a14:m>
                <a:r>
                  <a:rPr lang="zh-CN" altLang="en-US" sz="2200" dirty="0"/>
                  <a:t>集。因为</a:t>
                </a:r>
                <a14:m>
                  <m:oMath xmlns:m="http://schemas.openxmlformats.org/officeDocument/2006/math">
                    <m:r>
                      <a:rPr lang="en-US" altLang="zh-CN" sz="2200" i="1" dirty="0" smtClean="0">
                        <a:latin typeface="Cambria Math" panose="02040503050406030204" pitchFamily="18" charset="0"/>
                      </a:rPr>
                      <m:t>𝐵</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𝐶</m:t>
                    </m:r>
                  </m:oMath>
                </a14:m>
                <a:r>
                  <a:rPr lang="zh-CN" altLang="en-US" sz="2200" dirty="0"/>
                  <a:t>丢失了</a:t>
                </a:r>
                <a:endParaRPr lang="zh-CN" altLang="en-US" sz="2200" dirty="0"/>
              </a:p>
              <a:p>
                <a:pPr marL="1257300" lvl="2" indent="-342900">
                  <a:lnSpc>
                    <a:spcPct val="90000"/>
                  </a:lnSpc>
                  <a:buClr>
                    <a:schemeClr val="tx1"/>
                  </a:buClr>
                  <a:buFontTx/>
                  <a:buAutoNum type="circleNumDbPlain"/>
                </a:pPr>
                <a:r>
                  <a:rPr lang="zh-CN" altLang="en-US" sz="2200" dirty="0"/>
                  <a:t>相对于</a:t>
                </a:r>
                <a14:m>
                  <m:oMath xmlns:m="http://schemas.openxmlformats.org/officeDocument/2006/math">
                    <m:r>
                      <a:rPr lang="en-US" altLang="zh-CN" sz="2200" i="1" dirty="0">
                        <a:latin typeface="Cambria Math" panose="02040503050406030204" pitchFamily="18" charset="0"/>
                      </a:rPr>
                      <m:t>𝐹</m:t>
                    </m:r>
                    <m:r>
                      <a:rPr lang="en-US" altLang="zh-CN" sz="2200" i="1" baseline="-18000" dirty="0">
                        <a:latin typeface="Cambria Math" panose="02040503050406030204" pitchFamily="18" charset="0"/>
                      </a:rPr>
                      <m:t>3</m:t>
                    </m:r>
                    <m:r>
                      <a:rPr lang="en-US" altLang="zh-CN" sz="2200" i="1" dirty="0" smtClean="0">
                        <a:latin typeface="Cambria Math" panose="02040503050406030204" pitchFamily="18" charset="0"/>
                      </a:rPr>
                      <m:t>=</m:t>
                    </m:r>
                    <m:r>
                      <a:rPr lang="en-US" altLang="zh-CN" sz="2200" b="0" i="1" dirty="0" smtClean="0">
                        <a:latin typeface="Cambria Math" panose="02040503050406030204" pitchFamily="18" charset="0"/>
                      </a:rPr>
                      <m:t>{</m:t>
                    </m:r>
                    <m:r>
                      <a:rPr lang="en-US" altLang="zh-CN" sz="2200" i="1" dirty="0">
                        <a:latin typeface="Cambria Math" panose="02040503050406030204" pitchFamily="18" charset="0"/>
                      </a:rPr>
                      <m:t>𝐵</m:t>
                    </m:r>
                    <m:r>
                      <a:rPr lang="en-US" altLang="zh-CN" sz="2200" i="1" dirty="0">
                        <a:latin typeface="Cambria Math" panose="02040503050406030204" pitchFamily="18" charset="0"/>
                      </a:rPr>
                      <m:t>→</m:t>
                    </m:r>
                    <m:r>
                      <a:rPr lang="en-US" altLang="zh-CN" sz="2200" i="1" dirty="0">
                        <a:latin typeface="Cambria Math" panose="02040503050406030204" pitchFamily="18" charset="0"/>
                      </a:rPr>
                      <m:t>𝐴</m:t>
                    </m:r>
                    <m:r>
                      <a:rPr lang="en-US" altLang="zh-CN" sz="2200" b="0" i="1" dirty="0" smtClean="0">
                        <a:latin typeface="Cambria Math" panose="02040503050406030204" pitchFamily="18" charset="0"/>
                      </a:rPr>
                      <m:t>}</m:t>
                    </m:r>
                    <m:r>
                      <a:rPr lang="zh-CN" altLang="en-US" sz="2200" i="1" dirty="0">
                        <a:latin typeface="Cambria Math" panose="02040503050406030204" pitchFamily="18" charset="0"/>
                      </a:rPr>
                      <m:t>，</m:t>
                    </m:r>
                  </m:oMath>
                </a14:m>
                <a:r>
                  <a:rPr lang="zh-CN" altLang="en-US" sz="2200" dirty="0"/>
                  <a:t>分解</a:t>
                </a:r>
                <a14:m>
                  <m:oMath xmlns:m="http://schemas.openxmlformats.org/officeDocument/2006/math">
                    <m:r>
                      <a:rPr lang="zh-CN" altLang="en-US" sz="2200" i="1">
                        <a:latin typeface="Cambria Math" panose="02040503050406030204" pitchFamily="18" charset="0"/>
                      </a:rPr>
                      <m:t>𝜌</m:t>
                    </m:r>
                  </m:oMath>
                </a14:m>
                <a:r>
                  <a:rPr lang="zh-CN" altLang="en-US" sz="2200" dirty="0"/>
                  <a:t>是损失分解（</a:t>
                </a:r>
                <a:r>
                  <a:rPr lang="zh-CN" altLang="en-US" sz="2200" dirty="0">
                    <a:solidFill>
                      <a:srgbClr val="FF0000"/>
                    </a:solidFill>
                  </a:rPr>
                  <a:t>见定理</a:t>
                </a:r>
                <a:r>
                  <a:rPr lang="en-US" altLang="zh-CN" sz="2200" dirty="0">
                    <a:solidFill>
                      <a:srgbClr val="FF0000"/>
                    </a:solidFill>
                  </a:rPr>
                  <a:t>4.5——(</a:t>
                </a:r>
                <a14:m>
                  <m:oMath xmlns:m="http://schemas.openxmlformats.org/officeDocument/2006/math">
                    <m:sSub>
                      <m:sSubPr>
                        <m:ctrlPr>
                          <a:rPr lang="en-US" altLang="zh-CN" sz="2200" i="1" smtClean="0">
                            <a:solidFill>
                              <a:srgbClr val="FF0000"/>
                            </a:solidFill>
                            <a:latin typeface="Cambria Math" panose="02040503050406030204" pitchFamily="18" charset="0"/>
                          </a:rPr>
                        </m:ctrlPr>
                      </m:sSubPr>
                      <m:e>
                        <m:r>
                          <a:rPr lang="en-US" altLang="zh-CN" sz="2200" b="0" i="1" smtClean="0">
                            <a:solidFill>
                              <a:srgbClr val="FF0000"/>
                            </a:solidFill>
                            <a:latin typeface="Cambria Math" panose="02040503050406030204" pitchFamily="18" charset="0"/>
                          </a:rPr>
                          <m:t>𝑅</m:t>
                        </m:r>
                      </m:e>
                      <m:sub>
                        <m:r>
                          <a:rPr lang="en-US" altLang="zh-CN" sz="2200" b="0" i="1" smtClean="0">
                            <a:solidFill>
                              <a:srgbClr val="FF0000"/>
                            </a:solidFill>
                            <a:latin typeface="Cambria Math" panose="02040503050406030204" pitchFamily="18" charset="0"/>
                          </a:rPr>
                          <m:t>1</m:t>
                        </m:r>
                      </m:sub>
                    </m:sSub>
                  </m:oMath>
                </a14:m>
                <a:r>
                  <a:rPr lang="zh-CN" altLang="en-US" sz="2200" dirty="0">
                    <a:solidFill>
                      <a:srgbClr val="FF0000"/>
                    </a:solidFill>
                  </a:rPr>
                  <a:t>交</a:t>
                </a:r>
                <a14:m>
                  <m:oMath xmlns:m="http://schemas.openxmlformats.org/officeDocument/2006/math">
                    <m:sSub>
                      <m:sSubPr>
                        <m:ctrlPr>
                          <a:rPr lang="en-US" altLang="zh-CN" sz="2200" i="1">
                            <a:solidFill>
                              <a:srgbClr val="FF0000"/>
                            </a:solidFill>
                            <a:latin typeface="Cambria Math" panose="02040503050406030204" pitchFamily="18" charset="0"/>
                          </a:rPr>
                        </m:ctrlPr>
                      </m:sSubPr>
                      <m:e>
                        <m:r>
                          <a:rPr lang="en-US" altLang="zh-CN" sz="2200" i="1">
                            <a:solidFill>
                              <a:srgbClr val="FF0000"/>
                            </a:solidFill>
                            <a:latin typeface="Cambria Math" panose="02040503050406030204" pitchFamily="18" charset="0"/>
                          </a:rPr>
                          <m:t>𝑅</m:t>
                        </m:r>
                      </m:e>
                      <m:sub>
                        <m:r>
                          <a:rPr lang="en-US" altLang="zh-CN" sz="2200" b="0" i="1" smtClean="0">
                            <a:solidFill>
                              <a:srgbClr val="FF0000"/>
                            </a:solidFill>
                            <a:latin typeface="Cambria Math" panose="02040503050406030204" pitchFamily="18" charset="0"/>
                          </a:rPr>
                          <m:t>2</m:t>
                        </m:r>
                      </m:sub>
                    </m:sSub>
                  </m:oMath>
                </a14:m>
                <a:r>
                  <a:rPr lang="en-US" altLang="zh-CN" sz="2200" dirty="0">
                    <a:solidFill>
                      <a:srgbClr val="FF0000"/>
                    </a:solidFill>
                  </a:rPr>
                  <a:t>)-&gt;(</a:t>
                </a:r>
                <a14:m>
                  <m:oMath xmlns:m="http://schemas.openxmlformats.org/officeDocument/2006/math">
                    <m:sSub>
                      <m:sSubPr>
                        <m:ctrlPr>
                          <a:rPr lang="en-US" altLang="zh-CN" sz="2200" i="1">
                            <a:solidFill>
                              <a:srgbClr val="FF0000"/>
                            </a:solidFill>
                            <a:latin typeface="Cambria Math" panose="02040503050406030204" pitchFamily="18" charset="0"/>
                          </a:rPr>
                        </m:ctrlPr>
                      </m:sSubPr>
                      <m:e>
                        <m:r>
                          <a:rPr lang="en-US" altLang="zh-CN" sz="2200" i="1">
                            <a:solidFill>
                              <a:srgbClr val="FF0000"/>
                            </a:solidFill>
                            <a:latin typeface="Cambria Math" panose="02040503050406030204" pitchFamily="18" charset="0"/>
                          </a:rPr>
                          <m:t>𝑅</m:t>
                        </m:r>
                      </m:e>
                      <m:sub>
                        <m:r>
                          <a:rPr lang="en-US" altLang="zh-CN" sz="2200" i="1">
                            <a:solidFill>
                              <a:srgbClr val="FF0000"/>
                            </a:solidFill>
                            <a:latin typeface="Cambria Math" panose="02040503050406030204" pitchFamily="18" charset="0"/>
                          </a:rPr>
                          <m:t>1</m:t>
                        </m:r>
                      </m:sub>
                    </m:sSub>
                  </m:oMath>
                </a14:m>
                <a:r>
                  <a:rPr lang="zh-CN" altLang="en-US" sz="2200" dirty="0">
                    <a:solidFill>
                      <a:srgbClr val="FF0000"/>
                    </a:solidFill>
                  </a:rPr>
                  <a:t>差</a:t>
                </a:r>
                <a14:m>
                  <m:oMath xmlns:m="http://schemas.openxmlformats.org/officeDocument/2006/math">
                    <m:sSub>
                      <m:sSubPr>
                        <m:ctrlPr>
                          <a:rPr lang="en-US" altLang="zh-CN" sz="2200" i="1">
                            <a:solidFill>
                              <a:srgbClr val="FF0000"/>
                            </a:solidFill>
                            <a:latin typeface="Cambria Math" panose="02040503050406030204" pitchFamily="18" charset="0"/>
                          </a:rPr>
                        </m:ctrlPr>
                      </m:sSubPr>
                      <m:e>
                        <m:r>
                          <a:rPr lang="en-US" altLang="zh-CN" sz="2200" i="1">
                            <a:solidFill>
                              <a:srgbClr val="FF0000"/>
                            </a:solidFill>
                            <a:latin typeface="Cambria Math" panose="02040503050406030204" pitchFamily="18" charset="0"/>
                          </a:rPr>
                          <m:t>𝑅</m:t>
                        </m:r>
                      </m:e>
                      <m:sub>
                        <m:r>
                          <a:rPr lang="en-US" altLang="zh-CN" sz="2200" b="0" i="1" smtClean="0">
                            <a:solidFill>
                              <a:srgbClr val="FF0000"/>
                            </a:solidFill>
                            <a:latin typeface="Cambria Math" panose="02040503050406030204" pitchFamily="18" charset="0"/>
                          </a:rPr>
                          <m:t>2</m:t>
                        </m:r>
                      </m:sub>
                    </m:sSub>
                  </m:oMath>
                </a14:m>
                <a:r>
                  <a:rPr lang="en-US" altLang="zh-CN" sz="2200" dirty="0">
                    <a:solidFill>
                      <a:srgbClr val="FF0000"/>
                    </a:solidFill>
                  </a:rPr>
                  <a:t>)</a:t>
                </a:r>
                <a:r>
                  <a:rPr lang="zh-CN" altLang="en-US" sz="2200" dirty="0"/>
                  <a:t>）但保持</a:t>
                </a:r>
                <a14:m>
                  <m:oMath xmlns:m="http://schemas.openxmlformats.org/officeDocument/2006/math">
                    <m:r>
                      <a:rPr lang="en-US" altLang="zh-CN" sz="2200" i="1" dirty="0">
                        <a:latin typeface="Cambria Math" panose="02040503050406030204" pitchFamily="18" charset="0"/>
                      </a:rPr>
                      <m:t>𝐹𝐷</m:t>
                    </m:r>
                  </m:oMath>
                </a14:m>
                <a:r>
                  <a:rPr lang="zh-CN" altLang="en-US" sz="2200" dirty="0"/>
                  <a:t>集的分解</a:t>
                </a:r>
                <a:endParaRPr lang="zh-CN" altLang="en-US" sz="2200" dirty="0"/>
              </a:p>
              <a:p>
                <a:pPr marL="1257300" lvl="2" indent="-342900">
                  <a:lnSpc>
                    <a:spcPct val="90000"/>
                  </a:lnSpc>
                  <a:buClr>
                    <a:schemeClr val="tx1"/>
                  </a:buClr>
                  <a:buFontTx/>
                  <a:buAutoNum type="circleNumDbPlain"/>
                </a:pPr>
                <a:r>
                  <a:rPr lang="zh-CN" altLang="en-US" sz="2200" dirty="0"/>
                  <a:t>相对于</a:t>
                </a:r>
                <a14:m>
                  <m:oMath xmlns:m="http://schemas.openxmlformats.org/officeDocument/2006/math">
                    <m:r>
                      <a:rPr lang="en-US" altLang="zh-CN" sz="2200" i="1" dirty="0">
                        <a:latin typeface="Cambria Math" panose="02040503050406030204" pitchFamily="18" charset="0"/>
                      </a:rPr>
                      <m:t>𝐹</m:t>
                    </m:r>
                    <m:r>
                      <a:rPr lang="en-US" altLang="zh-CN" sz="2200" i="1" baseline="-18000" dirty="0">
                        <a:latin typeface="Cambria Math" panose="02040503050406030204" pitchFamily="18" charset="0"/>
                      </a:rPr>
                      <m:t>4</m:t>
                    </m:r>
                    <m:r>
                      <a:rPr lang="en-US" altLang="zh-CN" sz="2200" i="1" dirty="0">
                        <a:latin typeface="Cambria Math" panose="02040503050406030204" pitchFamily="18" charset="0"/>
                      </a:rPr>
                      <m:t>=</m:t>
                    </m:r>
                    <m:r>
                      <a:rPr lang="en-US" altLang="zh-CN" sz="2200" b="0" i="1" dirty="0" smtClean="0">
                        <a:latin typeface="Cambria Math" panose="02040503050406030204" pitchFamily="18" charset="0"/>
                      </a:rPr>
                      <m:t>{</m:t>
                    </m:r>
                    <m:r>
                      <a:rPr lang="en-US" altLang="zh-CN" sz="2200" i="1" dirty="0">
                        <a:latin typeface="Cambria Math" panose="02040503050406030204" pitchFamily="18" charset="0"/>
                      </a:rPr>
                      <m:t>𝐶</m:t>
                    </m:r>
                    <m:r>
                      <a:rPr lang="en-US" altLang="zh-CN" sz="2200" i="1" dirty="0">
                        <a:latin typeface="Cambria Math" panose="02040503050406030204" pitchFamily="18" charset="0"/>
                      </a:rPr>
                      <m:t>→</m:t>
                    </m:r>
                    <m:r>
                      <a:rPr lang="en-US" altLang="zh-CN" sz="2200" i="1" dirty="0">
                        <a:latin typeface="Cambria Math" panose="02040503050406030204" pitchFamily="18" charset="0"/>
                      </a:rPr>
                      <m:t>𝐵</m:t>
                    </m:r>
                    <m:r>
                      <a:rPr lang="zh-CN" altLang="en-US" sz="2200" i="1" dirty="0">
                        <a:latin typeface="Cambria Math" panose="02040503050406030204" pitchFamily="18" charset="0"/>
                      </a:rPr>
                      <m:t>，</m:t>
                    </m:r>
                    <m:r>
                      <a:rPr lang="en-US" altLang="zh-CN" sz="2200" i="1" dirty="0">
                        <a:latin typeface="Cambria Math" panose="02040503050406030204" pitchFamily="18" charset="0"/>
                      </a:rPr>
                      <m:t>𝐵</m:t>
                    </m:r>
                    <m:r>
                      <a:rPr lang="en-US" altLang="zh-CN" sz="2200" i="1" dirty="0">
                        <a:latin typeface="Cambria Math" panose="02040503050406030204" pitchFamily="18" charset="0"/>
                      </a:rPr>
                      <m:t>→</m:t>
                    </m:r>
                    <m:r>
                      <a:rPr lang="en-US" altLang="zh-CN" sz="2200" i="1" dirty="0">
                        <a:latin typeface="Cambria Math" panose="02040503050406030204" pitchFamily="18" charset="0"/>
                      </a:rPr>
                      <m:t>𝐴</m:t>
                    </m:r>
                    <m:r>
                      <a:rPr lang="en-US" altLang="zh-CN" sz="2200" b="0" i="1" dirty="0" smtClean="0">
                        <a:latin typeface="Cambria Math" panose="02040503050406030204" pitchFamily="18" charset="0"/>
                      </a:rPr>
                      <m:t>}</m:t>
                    </m:r>
                    <m:r>
                      <a:rPr lang="zh-CN" altLang="en-US" sz="2200" i="1" dirty="0">
                        <a:latin typeface="Cambria Math" panose="02040503050406030204" pitchFamily="18" charset="0"/>
                      </a:rPr>
                      <m:t>，</m:t>
                    </m:r>
                  </m:oMath>
                </a14:m>
                <a:r>
                  <a:rPr lang="zh-CN" altLang="en-US" sz="2200" dirty="0"/>
                  <a:t>分解</a:t>
                </a:r>
                <a14:m>
                  <m:oMath xmlns:m="http://schemas.openxmlformats.org/officeDocument/2006/math">
                    <m:r>
                      <a:rPr lang="zh-CN" altLang="en-US" sz="2200" i="1">
                        <a:latin typeface="Cambria Math" panose="02040503050406030204" pitchFamily="18" charset="0"/>
                      </a:rPr>
                      <m:t>𝜌</m:t>
                    </m:r>
                  </m:oMath>
                </a14:m>
                <a:r>
                  <a:rPr lang="zh-CN" altLang="en-US" sz="2200" dirty="0"/>
                  <a:t>是损失分解且不保持</a:t>
                </a:r>
                <a14:m>
                  <m:oMath xmlns:m="http://schemas.openxmlformats.org/officeDocument/2006/math">
                    <m:r>
                      <a:rPr lang="en-US" altLang="zh-CN" sz="2200" i="1" dirty="0">
                        <a:latin typeface="Cambria Math" panose="02040503050406030204" pitchFamily="18" charset="0"/>
                      </a:rPr>
                      <m:t>𝐹𝐷</m:t>
                    </m:r>
                  </m:oMath>
                </a14:m>
                <a:r>
                  <a:rPr lang="zh-CN" altLang="en-US" sz="2200" dirty="0"/>
                  <a:t>集的分解</a:t>
                </a:r>
                <a:r>
                  <a:rPr lang="en-US" altLang="zh-CN" sz="2200" dirty="0"/>
                  <a:t>(</a:t>
                </a:r>
                <a:r>
                  <a:rPr lang="zh-CN" altLang="en-US" sz="2200" dirty="0"/>
                  <a:t>丢失了</a:t>
                </a:r>
                <a14:m>
                  <m:oMath xmlns:m="http://schemas.openxmlformats.org/officeDocument/2006/math">
                    <m:r>
                      <a:rPr lang="en-US" altLang="zh-CN" sz="2200" i="1" dirty="0" smtClean="0">
                        <a:latin typeface="Cambria Math" panose="02040503050406030204" pitchFamily="18" charset="0"/>
                      </a:rPr>
                      <m:t>𝐶</m:t>
                    </m:r>
                    <m:r>
                      <a:rPr lang="en-US" altLang="zh-CN" sz="2200" i="1" dirty="0" smtClean="0">
                        <a:latin typeface="Cambria Math" panose="02040503050406030204" pitchFamily="18" charset="0"/>
                      </a:rPr>
                      <m:t>→</m:t>
                    </m:r>
                    <m:r>
                      <a:rPr lang="en-US" altLang="zh-CN" sz="2200" i="1" dirty="0" smtClean="0">
                        <a:latin typeface="Cambria Math" panose="02040503050406030204" pitchFamily="18" charset="0"/>
                      </a:rPr>
                      <m:t>𝐵</m:t>
                    </m:r>
                  </m:oMath>
                </a14:m>
                <a:r>
                  <a:rPr lang="en-US" altLang="zh-CN" sz="2200" dirty="0"/>
                  <a:t>) </a:t>
                </a:r>
                <a:endParaRPr lang="zh-CN" altLang="en-US" sz="2200" dirty="0"/>
              </a:p>
              <a:p>
                <a:pPr lvl="1"/>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536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p:txBody>
          <a:bodyPr/>
          <a:lstStyle/>
          <a:p>
            <a:r>
              <a:rPr lang="en-US" altLang="zh-CN" dirty="0"/>
              <a:t>4.3 </a:t>
            </a:r>
            <a:r>
              <a:rPr lang="zh-CN" altLang="en-US" dirty="0"/>
              <a:t>关系模式分解</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关系模式的规范化</a:t>
            </a:r>
            <a:endParaRPr lang="en-US" altLang="zh-CN" dirty="0"/>
          </a:p>
          <a:p>
            <a:pPr lvl="1">
              <a:lnSpc>
                <a:spcPct val="150000"/>
              </a:lnSpc>
            </a:pPr>
            <a:r>
              <a:rPr lang="zh-CN" altLang="en-US" dirty="0"/>
              <a:t>为了使数据库设计的理论和方法走向完备，人们研究了关系规范化理论，以指导我们设计规范化的数据库模式</a:t>
            </a:r>
            <a:endParaRPr lang="zh-CN" altLang="en-US" dirty="0"/>
          </a:p>
          <a:p>
            <a:pPr lvl="1">
              <a:lnSpc>
                <a:spcPct val="150000"/>
              </a:lnSpc>
            </a:pPr>
            <a:r>
              <a:rPr lang="zh-CN" altLang="en-US" dirty="0"/>
              <a:t>在进行关系模式设计时，首先面临的一个问题是如何评价一个关系模式的“好”与“坏”，即用什么标准衡量？</a:t>
            </a:r>
            <a:endParaRPr lang="zh-CN" altLang="en-US" dirty="0"/>
          </a:p>
          <a:p>
            <a:pPr lvl="1">
              <a:lnSpc>
                <a:spcPct val="150000"/>
              </a:lnSpc>
            </a:pPr>
            <a:r>
              <a:rPr lang="zh-CN" altLang="en-US" dirty="0"/>
              <a:t>这个标准就是模式的范式</a:t>
            </a:r>
            <a:r>
              <a:rPr lang="en-US" altLang="zh-CN" dirty="0"/>
              <a:t>(Normal Forms</a:t>
            </a:r>
            <a:r>
              <a:rPr lang="zh-CN" altLang="en-US" dirty="0"/>
              <a:t>，简记为</a:t>
            </a:r>
            <a:r>
              <a:rPr lang="en-US" altLang="zh-CN" dirty="0"/>
              <a:t>NF)</a:t>
            </a:r>
            <a:endParaRPr lang="en-US" altLang="zh-CN" dirty="0"/>
          </a:p>
          <a:p>
            <a:pPr lvl="1">
              <a:lnSpc>
                <a:spcPct val="150000"/>
              </a:lnSpc>
            </a:pPr>
            <a:r>
              <a:rPr lang="zh-CN" altLang="en-US" dirty="0"/>
              <a:t>而使得关系模式达到一定范式要求，就是关系模式的规范化</a:t>
            </a:r>
            <a:endParaRPr lang="zh-CN" altLang="en-US" dirty="0"/>
          </a:p>
          <a:p>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范式</a:t>
                </a:r>
                <a:endParaRPr lang="en-US" altLang="zh-CN" dirty="0"/>
              </a:p>
              <a:p>
                <a:pPr lvl="1"/>
                <a:r>
                  <a:rPr lang="zh-CN" altLang="en-US" dirty="0"/>
                  <a:t>关系数据库中的关系模式要满足一定的规范化要求，满足不同程度规范化要求的关系模式的类</a:t>
                </a:r>
                <a:r>
                  <a:rPr lang="en-US" altLang="zh-CN" dirty="0"/>
                  <a:t>,</a:t>
                </a:r>
                <a:r>
                  <a:rPr lang="zh-CN" altLang="en-US" dirty="0"/>
                  <a:t>称为不同的</a:t>
                </a:r>
                <a:r>
                  <a:rPr lang="zh-CN" altLang="en-US" u="sng" dirty="0"/>
                  <a:t>范式</a:t>
                </a:r>
                <a:r>
                  <a:rPr lang="en-US" altLang="zh-CN" dirty="0"/>
                  <a:t>(Normal Forms</a:t>
                </a:r>
                <a:r>
                  <a:rPr lang="zh-CN" altLang="en-US" dirty="0"/>
                  <a:t>，简记为</a:t>
                </a:r>
                <a:r>
                  <a:rPr lang="en-US" altLang="zh-CN" dirty="0"/>
                  <a:t>NF)</a:t>
                </a:r>
                <a:endParaRPr lang="en-US" altLang="zh-CN" dirty="0"/>
              </a:p>
              <a:p>
                <a:pPr lvl="1"/>
                <a:r>
                  <a:rPr lang="zh-CN" altLang="en-US" dirty="0"/>
                  <a:t>范式的种类与数据依赖有着直接的联系，基于</a:t>
                </a:r>
                <a:r>
                  <a:rPr lang="en-US" altLang="zh-CN" dirty="0"/>
                  <a:t>FD</a:t>
                </a:r>
                <a:r>
                  <a:rPr lang="zh-CN" altLang="en-US" dirty="0"/>
                  <a:t>的范式有</a:t>
                </a:r>
                <a:r>
                  <a:rPr lang="en-US" altLang="zh-CN" dirty="0"/>
                  <a:t>1NF</a:t>
                </a:r>
                <a:r>
                  <a:rPr lang="zh-CN" altLang="en-US" dirty="0"/>
                  <a:t>、</a:t>
                </a:r>
                <a:r>
                  <a:rPr lang="en-US" altLang="zh-CN" dirty="0"/>
                  <a:t>2NF</a:t>
                </a:r>
                <a:r>
                  <a:rPr lang="zh-CN" altLang="en-US" dirty="0"/>
                  <a:t>、</a:t>
                </a:r>
                <a:r>
                  <a:rPr lang="en-US" altLang="zh-CN" dirty="0"/>
                  <a:t>3NF</a:t>
                </a:r>
                <a:r>
                  <a:rPr lang="zh-CN" altLang="en-US" dirty="0"/>
                  <a:t>、</a:t>
                </a:r>
                <a:r>
                  <a:rPr lang="en-US" altLang="zh-CN" dirty="0"/>
                  <a:t>BCNF</a:t>
                </a:r>
                <a:r>
                  <a:rPr lang="zh-CN" altLang="en-US" dirty="0"/>
                  <a:t>等多种</a:t>
                </a:r>
                <a:endParaRPr lang="en-US" altLang="zh-CN" dirty="0"/>
              </a:p>
              <a:p>
                <a:pPr lvl="1"/>
                <a:r>
                  <a:rPr lang="zh-CN" altLang="en-US" dirty="0"/>
                  <a:t>满足最低要求的关系模式称为第一范式</a:t>
                </a:r>
                <a:r>
                  <a:rPr lang="en-US" altLang="zh-CN" dirty="0"/>
                  <a:t>,</a:t>
                </a:r>
                <a:r>
                  <a:rPr lang="zh-CN" altLang="en-US" dirty="0"/>
                  <a:t>简称</a:t>
                </a:r>
                <a:r>
                  <a:rPr lang="en-US" altLang="zh-CN" dirty="0"/>
                  <a:t>1NF</a:t>
                </a:r>
                <a:r>
                  <a:rPr lang="zh-CN" altLang="en-US" dirty="0"/>
                  <a:t>。在第一范式中满足进一步要求的为第二范式，其余以此类推</a:t>
                </a:r>
                <a:endParaRPr lang="en-US" altLang="zh-CN" dirty="0"/>
              </a:p>
              <a:p>
                <a:pPr lvl="1"/>
                <a:r>
                  <a:rPr lang="en-US" altLang="zh-CN" dirty="0"/>
                  <a:t>R</a:t>
                </a:r>
                <a:r>
                  <a:rPr lang="zh-CN" altLang="en-US" dirty="0"/>
                  <a:t>为第几范式就写成</a:t>
                </a:r>
                <a14:m>
                  <m:oMath xmlns:m="http://schemas.openxmlformats.org/officeDocument/2006/math">
                    <m:r>
                      <a:rPr lang="en-US" altLang="zh-CN" i="1" dirty="0" smtClean="0">
                        <a:latin typeface="Cambria Math" panose="02040503050406030204" pitchFamily="18" charset="0"/>
                      </a:rPr>
                      <m:t>𝑅</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𝑥</m:t>
                    </m:r>
                  </m:oMath>
                </a14:m>
                <a:r>
                  <a:rPr lang="en-US" altLang="zh-CN" dirty="0"/>
                  <a:t>NF</a:t>
                </a:r>
                <a:endParaRPr lang="zh-CN" altLang="en-US" dirty="0"/>
              </a:p>
              <a:p>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各种范式之间的关系</a:t>
            </a:r>
            <a:endParaRPr lang="en-US" altLang="zh-CN" dirty="0"/>
          </a:p>
          <a:p>
            <a:pPr lvl="1" algn="l"/>
            <a:r>
              <a:rPr lang="zh-CN" altLang="en-US" dirty="0"/>
              <a:t>按属性间依赖情况来区分，关系规范化的程度为</a:t>
            </a:r>
            <a:r>
              <a:rPr lang="en-US" altLang="zh-CN" dirty="0"/>
              <a:t>1NF,2NF,3NF,BCNF,4NF </a:t>
            </a:r>
            <a:r>
              <a:rPr lang="zh-CN" altLang="en-US" dirty="0"/>
              <a:t>和 </a:t>
            </a:r>
            <a:r>
              <a:rPr lang="en-US" altLang="zh-CN" dirty="0"/>
              <a:t>5NF</a:t>
            </a:r>
            <a:r>
              <a:rPr lang="zh-CN" altLang="en-US" dirty="0"/>
              <a:t>等 </a:t>
            </a:r>
            <a:endParaRPr lang="en-US" altLang="zh-CN" dirty="0"/>
          </a:p>
          <a:p>
            <a:pPr lvl="1" algn="l"/>
            <a:r>
              <a:rPr lang="zh-CN" altLang="en-US" dirty="0"/>
              <a:t>各种范式之间的关系如图所示</a:t>
            </a:r>
            <a:r>
              <a:rPr lang="en-US" altLang="zh-CN" dirty="0"/>
              <a:t>:</a:t>
            </a: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grpSp>
        <p:nvGrpSpPr>
          <p:cNvPr id="9" name="Group 4"/>
          <p:cNvGrpSpPr/>
          <p:nvPr/>
        </p:nvGrpSpPr>
        <p:grpSpPr bwMode="auto">
          <a:xfrm>
            <a:off x="4161396" y="3113816"/>
            <a:ext cx="3806825" cy="3657600"/>
            <a:chOff x="1632" y="1824"/>
            <a:chExt cx="2446" cy="2448"/>
          </a:xfrm>
        </p:grpSpPr>
        <p:sp>
          <p:nvSpPr>
            <p:cNvPr id="10" name="Oval 5"/>
            <p:cNvSpPr>
              <a:spLocks noChangeArrowheads="1"/>
            </p:cNvSpPr>
            <p:nvPr/>
          </p:nvSpPr>
          <p:spPr bwMode="auto">
            <a:xfrm>
              <a:off x="2592" y="2834"/>
              <a:ext cx="576" cy="57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160000"/>
                </a:lnSpc>
                <a:buFontTx/>
                <a:buNone/>
              </a:pPr>
              <a:endParaRPr lang="zh-CN" altLang="en-US" sz="3600">
                <a:latin typeface="Arial" panose="020B0604020202020204" pitchFamily="34" charset="0"/>
              </a:endParaRPr>
            </a:p>
          </p:txBody>
        </p:sp>
        <p:sp>
          <p:nvSpPr>
            <p:cNvPr id="11" name="Oval 6"/>
            <p:cNvSpPr>
              <a:spLocks noChangeAspect="1" noChangeArrowheads="1"/>
            </p:cNvSpPr>
            <p:nvPr/>
          </p:nvSpPr>
          <p:spPr bwMode="auto">
            <a:xfrm>
              <a:off x="2400" y="2629"/>
              <a:ext cx="973" cy="973"/>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160000"/>
                </a:lnSpc>
                <a:buFontTx/>
                <a:buNone/>
              </a:pPr>
              <a:endParaRPr lang="zh-CN" altLang="en-US" sz="3600">
                <a:latin typeface="Arial" panose="020B0604020202020204" pitchFamily="34" charset="0"/>
              </a:endParaRPr>
            </a:p>
          </p:txBody>
        </p:sp>
        <p:sp>
          <p:nvSpPr>
            <p:cNvPr id="12" name="Oval 7"/>
            <p:cNvSpPr>
              <a:spLocks noChangeAspect="1" noChangeArrowheads="1"/>
            </p:cNvSpPr>
            <p:nvPr/>
          </p:nvSpPr>
          <p:spPr bwMode="auto">
            <a:xfrm>
              <a:off x="2237" y="2431"/>
              <a:ext cx="1315" cy="1315"/>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160000"/>
                </a:lnSpc>
                <a:buFontTx/>
                <a:buNone/>
              </a:pPr>
              <a:endParaRPr lang="zh-CN" altLang="en-US" sz="3600">
                <a:latin typeface="Arial" panose="020B0604020202020204" pitchFamily="34" charset="0"/>
              </a:endParaRPr>
            </a:p>
          </p:txBody>
        </p:sp>
        <p:sp>
          <p:nvSpPr>
            <p:cNvPr id="13" name="Oval 8"/>
            <p:cNvSpPr>
              <a:spLocks noChangeAspect="1" noChangeArrowheads="1"/>
            </p:cNvSpPr>
            <p:nvPr/>
          </p:nvSpPr>
          <p:spPr bwMode="auto">
            <a:xfrm>
              <a:off x="2064" y="2249"/>
              <a:ext cx="1650" cy="165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160000"/>
                </a:lnSpc>
                <a:buFontTx/>
                <a:buNone/>
              </a:pPr>
              <a:endParaRPr lang="zh-CN" altLang="en-US" sz="3600">
                <a:latin typeface="Arial" panose="020B0604020202020204" pitchFamily="34" charset="0"/>
              </a:endParaRPr>
            </a:p>
          </p:txBody>
        </p:sp>
        <p:sp>
          <p:nvSpPr>
            <p:cNvPr id="14" name="Oval 9"/>
            <p:cNvSpPr>
              <a:spLocks noChangeAspect="1" noChangeArrowheads="1"/>
            </p:cNvSpPr>
            <p:nvPr/>
          </p:nvSpPr>
          <p:spPr bwMode="auto">
            <a:xfrm>
              <a:off x="1850" y="2044"/>
              <a:ext cx="2038" cy="203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160000"/>
                </a:lnSpc>
                <a:buFontTx/>
                <a:buNone/>
              </a:pPr>
              <a:endParaRPr lang="zh-CN" altLang="en-US" sz="3600">
                <a:latin typeface="Arial" panose="020B0604020202020204" pitchFamily="34" charset="0"/>
              </a:endParaRPr>
            </a:p>
          </p:txBody>
        </p:sp>
        <p:sp>
          <p:nvSpPr>
            <p:cNvPr id="15" name="Oval 10"/>
            <p:cNvSpPr>
              <a:spLocks noChangeAspect="1" noChangeArrowheads="1"/>
            </p:cNvSpPr>
            <p:nvPr/>
          </p:nvSpPr>
          <p:spPr bwMode="auto">
            <a:xfrm>
              <a:off x="1632" y="1826"/>
              <a:ext cx="2446" cy="2446"/>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160000"/>
                </a:lnSpc>
                <a:buFontTx/>
                <a:buNone/>
              </a:pPr>
              <a:endParaRPr lang="zh-CN" altLang="en-US" sz="3600">
                <a:latin typeface="Arial" panose="020B0604020202020204" pitchFamily="34" charset="0"/>
              </a:endParaRPr>
            </a:p>
          </p:txBody>
        </p:sp>
        <p:sp>
          <p:nvSpPr>
            <p:cNvPr id="16" name="Text Box 11"/>
            <p:cNvSpPr txBox="1">
              <a:spLocks noChangeArrowheads="1"/>
            </p:cNvSpPr>
            <p:nvPr/>
          </p:nvSpPr>
          <p:spPr bwMode="auto">
            <a:xfrm>
              <a:off x="2688" y="1824"/>
              <a:ext cx="528"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kumimoji="1" lang="en-US" altLang="zh-CN" sz="2400">
                  <a:latin typeface="Times New Roman" panose="02020603050405020304" pitchFamily="18" charset="0"/>
                </a:rPr>
                <a:t>1NF</a:t>
              </a:r>
              <a:endParaRPr kumimoji="1" lang="en-US" altLang="zh-CN" sz="2400">
                <a:latin typeface="Times New Roman" panose="02020603050405020304" pitchFamily="18" charset="0"/>
              </a:endParaRPr>
            </a:p>
          </p:txBody>
        </p:sp>
        <p:sp>
          <p:nvSpPr>
            <p:cNvPr id="17" name="Text Box 12"/>
            <p:cNvSpPr txBox="1">
              <a:spLocks noChangeArrowheads="1"/>
            </p:cNvSpPr>
            <p:nvPr/>
          </p:nvSpPr>
          <p:spPr bwMode="auto">
            <a:xfrm>
              <a:off x="2688" y="2018"/>
              <a:ext cx="528"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kumimoji="1" lang="en-US" altLang="zh-CN" sz="2400" dirty="0">
                  <a:latin typeface="Times New Roman" panose="02020603050405020304" pitchFamily="18" charset="0"/>
                </a:rPr>
                <a:t>2NF</a:t>
              </a:r>
              <a:endParaRPr kumimoji="1" lang="en-US" altLang="zh-CN" sz="2400" dirty="0">
                <a:latin typeface="Times New Roman" panose="02020603050405020304" pitchFamily="18" charset="0"/>
              </a:endParaRPr>
            </a:p>
          </p:txBody>
        </p:sp>
        <p:sp>
          <p:nvSpPr>
            <p:cNvPr id="18" name="Text Box 13"/>
            <p:cNvSpPr txBox="1">
              <a:spLocks noChangeArrowheads="1"/>
            </p:cNvSpPr>
            <p:nvPr/>
          </p:nvSpPr>
          <p:spPr bwMode="auto">
            <a:xfrm>
              <a:off x="2688" y="2208"/>
              <a:ext cx="528"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kumimoji="1" lang="en-US" altLang="zh-CN" sz="2400">
                  <a:latin typeface="Times New Roman" panose="02020603050405020304" pitchFamily="18" charset="0"/>
                </a:rPr>
                <a:t>3NF</a:t>
              </a:r>
              <a:endParaRPr kumimoji="1" lang="en-US" altLang="zh-CN" sz="2400">
                <a:latin typeface="Times New Roman" panose="02020603050405020304" pitchFamily="18" charset="0"/>
              </a:endParaRPr>
            </a:p>
          </p:txBody>
        </p:sp>
        <p:sp>
          <p:nvSpPr>
            <p:cNvPr id="19" name="Text Box 14"/>
            <p:cNvSpPr txBox="1">
              <a:spLocks noChangeArrowheads="1"/>
            </p:cNvSpPr>
            <p:nvPr/>
          </p:nvSpPr>
          <p:spPr bwMode="auto">
            <a:xfrm>
              <a:off x="2688" y="2594"/>
              <a:ext cx="528"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kumimoji="1" lang="en-US" altLang="zh-CN" sz="2400">
                  <a:latin typeface="Times New Roman" panose="02020603050405020304" pitchFamily="18" charset="0"/>
                </a:rPr>
                <a:t>4NF</a:t>
              </a:r>
              <a:endParaRPr kumimoji="1" lang="en-US" altLang="zh-CN" sz="2400">
                <a:latin typeface="Times New Roman" panose="02020603050405020304" pitchFamily="18" charset="0"/>
              </a:endParaRPr>
            </a:p>
          </p:txBody>
        </p:sp>
        <p:sp>
          <p:nvSpPr>
            <p:cNvPr id="20" name="Text Box 15"/>
            <p:cNvSpPr txBox="1">
              <a:spLocks noChangeArrowheads="1"/>
            </p:cNvSpPr>
            <p:nvPr/>
          </p:nvSpPr>
          <p:spPr bwMode="auto">
            <a:xfrm>
              <a:off x="2592" y="2402"/>
              <a:ext cx="720"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kumimoji="1" lang="en-US" altLang="zh-CN" sz="2400">
                  <a:latin typeface="Times New Roman" panose="02020603050405020304" pitchFamily="18" charset="0"/>
                </a:rPr>
                <a:t>BCNF</a:t>
              </a:r>
              <a:endParaRPr kumimoji="1" lang="en-US" altLang="zh-CN" sz="2400">
                <a:latin typeface="Times New Roman" panose="02020603050405020304" pitchFamily="18" charset="0"/>
              </a:endParaRPr>
            </a:p>
          </p:txBody>
        </p:sp>
        <p:sp>
          <p:nvSpPr>
            <p:cNvPr id="21" name="Text Box 16"/>
            <p:cNvSpPr txBox="1">
              <a:spLocks noChangeArrowheads="1"/>
            </p:cNvSpPr>
            <p:nvPr/>
          </p:nvSpPr>
          <p:spPr bwMode="auto">
            <a:xfrm>
              <a:off x="2688" y="2978"/>
              <a:ext cx="528"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kumimoji="1" lang="en-US" altLang="zh-CN" sz="2400" dirty="0">
                  <a:latin typeface="Times New Roman" panose="02020603050405020304" pitchFamily="18" charset="0"/>
                </a:rPr>
                <a:t>5NF</a:t>
              </a:r>
              <a:endParaRPr kumimoji="1" lang="en-US" altLang="zh-CN" sz="2400" dirty="0">
                <a:latin typeface="Times New Roman" panose="02020603050405020304" pitchFamily="18" charset="0"/>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规范化的过程</a:t>
            </a:r>
            <a:endParaRPr lang="en-US" altLang="zh-CN" dirty="0"/>
          </a:p>
          <a:p>
            <a:pPr lvl="1" algn="l"/>
            <a:r>
              <a:rPr lang="en-US" altLang="zh-CN" dirty="0"/>
              <a:t>1NF</a:t>
            </a:r>
            <a:r>
              <a:rPr lang="zh-CN" altLang="en-US" dirty="0"/>
              <a:t>是关系模式的基础；</a:t>
            </a:r>
            <a:r>
              <a:rPr lang="en-US" altLang="zh-CN" dirty="0"/>
              <a:t>2NF</a:t>
            </a:r>
            <a:r>
              <a:rPr lang="zh-CN" altLang="en-US" dirty="0"/>
              <a:t>已成为历史，一般不再提及；在数据库设计中最常用的是</a:t>
            </a:r>
            <a:r>
              <a:rPr lang="en-US" altLang="zh-CN" dirty="0"/>
              <a:t>3NF</a:t>
            </a:r>
            <a:r>
              <a:rPr lang="zh-CN" altLang="en-US" dirty="0"/>
              <a:t>和</a:t>
            </a:r>
            <a:r>
              <a:rPr lang="en-US" altLang="zh-CN" dirty="0"/>
              <a:t>BCNF</a:t>
            </a:r>
            <a:endParaRPr lang="en-US" altLang="zh-CN" dirty="0"/>
          </a:p>
          <a:p>
            <a:pPr lvl="1" algn="l"/>
            <a:r>
              <a:rPr lang="zh-CN" altLang="en-US" dirty="0"/>
              <a:t>为了叙述的方便，我们按照</a:t>
            </a:r>
            <a:r>
              <a:rPr lang="en-US" altLang="zh-CN" dirty="0"/>
              <a:t>1NF</a:t>
            </a:r>
            <a:r>
              <a:rPr lang="zh-CN" altLang="en-US" dirty="0"/>
              <a:t>、</a:t>
            </a:r>
            <a:r>
              <a:rPr lang="en-US" altLang="zh-CN" dirty="0"/>
              <a:t>2NF</a:t>
            </a:r>
            <a:r>
              <a:rPr lang="zh-CN" altLang="en-US" dirty="0"/>
              <a:t>、</a:t>
            </a:r>
            <a:r>
              <a:rPr lang="en-US" altLang="zh-CN" dirty="0"/>
              <a:t>3NF</a:t>
            </a:r>
            <a:r>
              <a:rPr lang="zh-CN" altLang="en-US" dirty="0"/>
              <a:t>、</a:t>
            </a:r>
            <a:r>
              <a:rPr lang="en-US" altLang="zh-CN" dirty="0"/>
              <a:t>BCNF</a:t>
            </a:r>
            <a:r>
              <a:rPr lang="zh-CN" altLang="en-US" dirty="0"/>
              <a:t>顺序来介绍 </a:t>
            </a:r>
            <a:endParaRPr lang="zh-CN" altLang="en-US" dirty="0"/>
          </a:p>
          <a:p>
            <a:pPr lvl="1" algn="l"/>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第一范式（</a:t>
            </a:r>
            <a:r>
              <a:rPr lang="en-US" altLang="zh-CN" dirty="0"/>
              <a:t>1</a:t>
            </a:r>
            <a:r>
              <a:rPr lang="en-GB" altLang="zh-CN" dirty="0"/>
              <a:t>NF</a:t>
            </a:r>
            <a:r>
              <a:rPr lang="zh-CN" altLang="en-GB" dirty="0"/>
              <a:t>）</a:t>
            </a:r>
            <a:endParaRPr lang="en-US" altLang="zh-CN" dirty="0"/>
          </a:p>
          <a:p>
            <a:pPr lvl="1" algn="l"/>
            <a:r>
              <a:rPr lang="zh-CN" altLang="en-US" dirty="0"/>
              <a:t>定义</a:t>
            </a:r>
            <a:r>
              <a:rPr lang="en-US" altLang="zh-CN" dirty="0"/>
              <a:t>4.19</a:t>
            </a:r>
            <a:r>
              <a:rPr lang="zh-CN" altLang="en-US" dirty="0"/>
              <a:t>：如果关系模式</a:t>
            </a:r>
            <a:r>
              <a:rPr lang="en-US" altLang="zh-CN" dirty="0"/>
              <a:t>R</a:t>
            </a:r>
            <a:r>
              <a:rPr lang="zh-CN" altLang="en-US" dirty="0"/>
              <a:t>的每个关系</a:t>
            </a:r>
            <a:r>
              <a:rPr lang="en-US" altLang="zh-CN" dirty="0"/>
              <a:t>r</a:t>
            </a:r>
            <a:r>
              <a:rPr lang="zh-CN" altLang="en-US" dirty="0"/>
              <a:t>的属性值都是不可分的原子值，则称</a:t>
            </a:r>
            <a:r>
              <a:rPr lang="en-US" altLang="zh-CN" dirty="0"/>
              <a:t>R</a:t>
            </a:r>
            <a:r>
              <a:rPr lang="zh-CN" altLang="en-US" dirty="0"/>
              <a:t>是第一范式（</a:t>
            </a:r>
            <a:r>
              <a:rPr lang="en-US" altLang="zh-CN" dirty="0"/>
              <a:t>first normal form</a:t>
            </a:r>
            <a:r>
              <a:rPr lang="zh-CN" altLang="en-US" dirty="0"/>
              <a:t>，简记为</a:t>
            </a:r>
            <a:r>
              <a:rPr lang="en-US" altLang="zh-CN" dirty="0"/>
              <a:t>1NF</a:t>
            </a:r>
            <a:r>
              <a:rPr lang="zh-CN" altLang="en-US" dirty="0"/>
              <a:t>）的模式</a:t>
            </a:r>
            <a:endParaRPr lang="zh-CN" altLang="en-US" dirty="0"/>
          </a:p>
          <a:p>
            <a:pPr lvl="1" algn="l"/>
            <a:r>
              <a:rPr lang="zh-CN" altLang="en-US" dirty="0"/>
              <a:t>满足</a:t>
            </a:r>
            <a:r>
              <a:rPr lang="en-US" altLang="zh-CN" dirty="0"/>
              <a:t>1NF</a:t>
            </a:r>
            <a:r>
              <a:rPr lang="zh-CN" altLang="en-US" dirty="0"/>
              <a:t>的关系称为规范化的关系，否则称为非规范化的关系</a:t>
            </a:r>
            <a:endParaRPr lang="zh-CN" altLang="en-US" dirty="0"/>
          </a:p>
          <a:p>
            <a:pPr lvl="1" algn="l"/>
            <a:r>
              <a:rPr lang="zh-CN" altLang="en-US" dirty="0"/>
              <a:t>关系数据库研究的关系都是规范化的关系。</a:t>
            </a:r>
            <a:endParaRPr lang="zh-CN" altLang="en-US" dirty="0"/>
          </a:p>
          <a:p>
            <a:pPr lvl="1" algn="l"/>
            <a:r>
              <a:rPr lang="zh-CN" altLang="en-US" dirty="0"/>
              <a:t>例如关系模式</a:t>
            </a:r>
            <a:r>
              <a:rPr lang="en-US" altLang="zh-CN" dirty="0"/>
              <a:t>R</a:t>
            </a:r>
            <a:r>
              <a:rPr lang="zh-CN" altLang="en-US" dirty="0"/>
              <a:t>（</a:t>
            </a:r>
            <a:r>
              <a:rPr lang="en-US" altLang="zh-CN" dirty="0"/>
              <a:t>NAME</a:t>
            </a:r>
            <a:r>
              <a:rPr lang="zh-CN" altLang="en-US" dirty="0"/>
              <a:t>，</a:t>
            </a:r>
            <a:r>
              <a:rPr lang="en-US" altLang="zh-CN" dirty="0"/>
              <a:t>ADDRESS</a:t>
            </a:r>
            <a:r>
              <a:rPr lang="zh-CN" altLang="en-US" dirty="0"/>
              <a:t>，</a:t>
            </a:r>
            <a:r>
              <a:rPr lang="en-US" altLang="zh-CN" dirty="0"/>
              <a:t>PHONE</a:t>
            </a:r>
            <a:r>
              <a:rPr lang="zh-CN" altLang="en-US" dirty="0"/>
              <a:t>），如果一个人有两个电话号码（</a:t>
            </a:r>
            <a:r>
              <a:rPr lang="en-US" altLang="zh-CN" dirty="0"/>
              <a:t>PHONE</a:t>
            </a:r>
            <a:r>
              <a:rPr lang="zh-CN" altLang="en-US" dirty="0"/>
              <a:t>），那么在关系中至少要出现两个元组，以便存储这两个号码</a:t>
            </a:r>
            <a:endParaRPr lang="zh-CN" altLang="en-US" dirty="0"/>
          </a:p>
          <a:p>
            <a:pPr lvl="1" algn="l"/>
            <a:r>
              <a:rPr lang="en-US" altLang="zh-CN" dirty="0"/>
              <a:t>1NF</a:t>
            </a:r>
            <a:r>
              <a:rPr lang="zh-CN" altLang="en-US" dirty="0"/>
              <a:t>是关系模式应具备的最起码的条件 </a:t>
            </a:r>
            <a:endParaRPr lang="zh-CN" altLang="en-US" dirty="0"/>
          </a:p>
          <a:p>
            <a:pPr lvl="1" algn="l"/>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fontScale="92500"/>
          </a:bodyPr>
          <a:lstStyle/>
          <a:p>
            <a:r>
              <a:rPr lang="zh-CN" altLang="en-US" sz="3000" dirty="0"/>
              <a:t>第一范式（</a:t>
            </a:r>
            <a:r>
              <a:rPr lang="en-US" altLang="zh-CN" sz="3000" dirty="0"/>
              <a:t>1</a:t>
            </a:r>
            <a:r>
              <a:rPr lang="en-GB" altLang="zh-CN" sz="3000" dirty="0"/>
              <a:t>NF</a:t>
            </a:r>
            <a:r>
              <a:rPr lang="zh-CN" altLang="en-GB" sz="3000" dirty="0"/>
              <a:t>）</a:t>
            </a:r>
            <a:endParaRPr lang="en-US" altLang="zh-CN" sz="3000" dirty="0"/>
          </a:p>
          <a:p>
            <a:pPr lvl="1" algn="l"/>
            <a:r>
              <a:rPr lang="zh-CN" altLang="en-US" dirty="0"/>
              <a:t>分量是否需要再分，与具体应用有关</a:t>
            </a:r>
            <a:r>
              <a:rPr lang="en-US" altLang="zh-CN" dirty="0"/>
              <a:t>,</a:t>
            </a:r>
            <a:r>
              <a:rPr lang="zh-CN" altLang="en-US" dirty="0"/>
              <a:t>如果用到值的一部分，则需要进一步分割</a:t>
            </a:r>
            <a:r>
              <a:rPr lang="en-US" altLang="zh-CN" dirty="0"/>
              <a:t>,</a:t>
            </a:r>
            <a:r>
              <a:rPr lang="zh-CN" altLang="en-US" dirty="0"/>
              <a:t>例如</a:t>
            </a:r>
            <a:r>
              <a:rPr lang="en-US" altLang="zh-CN" dirty="0"/>
              <a:t>:</a:t>
            </a:r>
            <a:endParaRPr lang="en-US" altLang="zh-CN" dirty="0"/>
          </a:p>
          <a:p>
            <a:pPr lvl="1" algn="l"/>
            <a:endParaRPr lang="en-US" altLang="zh-CN" dirty="0"/>
          </a:p>
          <a:p>
            <a:pPr marL="457200" lvl="1" indent="0" algn="l">
              <a:buNone/>
            </a:pPr>
            <a:endParaRPr lang="en-US" altLang="zh-CN" dirty="0"/>
          </a:p>
          <a:p>
            <a:pPr lvl="1" algn="l"/>
            <a:endParaRPr lang="en-US" altLang="zh-CN" dirty="0"/>
          </a:p>
          <a:p>
            <a:pPr lvl="1" algn="l"/>
            <a:endParaRPr lang="en-US" altLang="zh-CN" dirty="0"/>
          </a:p>
          <a:p>
            <a:pPr marL="457200" lvl="1" indent="0" algn="l">
              <a:buNone/>
            </a:pPr>
            <a:endParaRPr lang="en-US" altLang="zh-CN" dirty="0"/>
          </a:p>
          <a:p>
            <a:pPr lvl="1" algn="l"/>
            <a:r>
              <a:rPr lang="zh-CN" altLang="en-US" dirty="0"/>
              <a:t>如果只是查询出生日期，则它满足</a:t>
            </a:r>
            <a:r>
              <a:rPr lang="en-US" altLang="zh-CN" dirty="0"/>
              <a:t>1NF</a:t>
            </a:r>
            <a:endParaRPr lang="en-US" altLang="zh-CN" dirty="0"/>
          </a:p>
          <a:p>
            <a:pPr lvl="1" algn="l"/>
            <a:r>
              <a:rPr lang="zh-CN" altLang="en-US" dirty="0"/>
              <a:t>如果查询两人生日是否相同，则只比较月、日，需要将生日分解，就不满足</a:t>
            </a:r>
            <a:r>
              <a:rPr lang="en-US" altLang="zh-CN" dirty="0"/>
              <a:t>1NF</a:t>
            </a:r>
            <a:endParaRPr lang="en-US" altLang="zh-CN" dirty="0"/>
          </a:p>
          <a:p>
            <a:pPr lvl="1" algn="l"/>
            <a:r>
              <a:rPr lang="zh-CN" altLang="en-US" dirty="0"/>
              <a:t>如果比较两人的生肖呢？</a:t>
            </a: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graphicFrame>
        <p:nvGraphicFramePr>
          <p:cNvPr id="7" name="Group 44"/>
          <p:cNvGraphicFramePr>
            <a:graphicFrameLocks noGrp="1"/>
          </p:cNvGraphicFramePr>
          <p:nvPr/>
        </p:nvGraphicFramePr>
        <p:xfrm>
          <a:off x="2393391" y="2575718"/>
          <a:ext cx="3141663" cy="1706563"/>
        </p:xfrm>
        <a:graphic>
          <a:graphicData uri="http://schemas.openxmlformats.org/drawingml/2006/table">
            <a:tbl>
              <a:tblPr/>
              <a:tblGrid>
                <a:gridCol w="1611313"/>
                <a:gridCol w="1530350"/>
              </a:tblGrid>
              <a:tr h="412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姓名</a:t>
                      </a:r>
                      <a:endPar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生日</a:t>
                      </a:r>
                      <a:endPar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97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王军</a:t>
                      </a:r>
                      <a:endPar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68.7.10</a:t>
                      </a:r>
                      <a:endPar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413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张立</a:t>
                      </a:r>
                      <a:endParaRPr kumimoji="0" lang="zh-CN" altLang="en-US"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69.7.10</a:t>
                      </a:r>
                      <a:endPar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7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李明</a:t>
                      </a:r>
                      <a:endPar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80.3.28</a:t>
                      </a:r>
                      <a:endPar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 name="Group 43"/>
          <p:cNvGraphicFramePr>
            <a:graphicFrameLocks noGrp="1"/>
          </p:cNvGraphicFramePr>
          <p:nvPr/>
        </p:nvGraphicFramePr>
        <p:xfrm>
          <a:off x="6064809" y="2570955"/>
          <a:ext cx="3733800" cy="1711326"/>
        </p:xfrm>
        <a:graphic>
          <a:graphicData uri="http://schemas.openxmlformats.org/drawingml/2006/table">
            <a:tbl>
              <a:tblPr/>
              <a:tblGrid>
                <a:gridCol w="982663"/>
                <a:gridCol w="1150937"/>
                <a:gridCol w="1600200"/>
              </a:tblGrid>
              <a:tr h="396216">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姓名</a:t>
                      </a:r>
                      <a:endPar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年</a:t>
                      </a:r>
                      <a:endPar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月日</a:t>
                      </a:r>
                      <a:endPar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8654">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王军</a:t>
                      </a:r>
                      <a:endPar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68</a:t>
                      </a:r>
                      <a:endPar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7.10</a:t>
                      </a:r>
                      <a:endPar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024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张立</a:t>
                      </a:r>
                      <a:endPar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69</a:t>
                      </a:r>
                      <a:endPar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7.10</a:t>
                      </a:r>
                      <a:endParaRPr kumimoji="0" lang="en-US" altLang="zh-CN"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216">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rPr>
                        <a:t>李明</a:t>
                      </a:r>
                      <a:endParaRPr kumimoji="0" lang="zh-CN" altLang="en-US" sz="2000" b="0"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marT="45708" marB="4570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80</a:t>
                      </a:r>
                      <a:endPar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08" marB="4570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rPr>
                        <a:t>3.28</a:t>
                      </a:r>
                      <a:endParaRPr kumimoji="0" lang="en-US" altLang="zh-CN" sz="2000" b="0"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marT="45708" marB="4570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键</a:t>
                </a:r>
                <a:r>
                  <a:rPr lang="en-US" altLang="zh-CN" dirty="0"/>
                  <a:t>(</a:t>
                </a:r>
                <a:r>
                  <a:rPr lang="en-GB" altLang="zh-CN" dirty="0"/>
                  <a:t>Key</a:t>
                </a:r>
                <a:r>
                  <a:rPr lang="zh-CN" altLang="en-GB" dirty="0"/>
                  <a:t>）</a:t>
                </a:r>
                <a:endParaRPr lang="en-US" altLang="zh-CN" dirty="0"/>
              </a:p>
              <a:p>
                <a:pPr lvl="1"/>
                <a:r>
                  <a:rPr lang="zh-CN" altLang="en-US" sz="2200" dirty="0"/>
                  <a:t>定义</a:t>
                </a:r>
                <a:r>
                  <a:rPr lang="en-US" altLang="zh-CN" sz="2200" dirty="0"/>
                  <a:t>4.20: </a:t>
                </a:r>
                <a:r>
                  <a:rPr lang="zh-CN" altLang="en-US" sz="2200" dirty="0"/>
                  <a:t>设</a:t>
                </a:r>
                <a14:m>
                  <m:oMath xmlns:m="http://schemas.openxmlformats.org/officeDocument/2006/math">
                    <m:r>
                      <a:rPr lang="en-US" altLang="zh-CN" sz="2200" i="1" dirty="0" smtClean="0">
                        <a:latin typeface="Cambria Math" panose="02040503050406030204" pitchFamily="18" charset="0"/>
                      </a:rPr>
                      <m:t>𝐾</m:t>
                    </m:r>
                  </m:oMath>
                </a14:m>
                <a:r>
                  <a:rPr lang="zh-CN" altLang="en-US" sz="2200" dirty="0"/>
                  <a:t>为</a:t>
                </a:r>
                <a14:m>
                  <m:oMath xmlns:m="http://schemas.openxmlformats.org/officeDocument/2006/math">
                    <m:r>
                      <a:rPr lang="en-US" altLang="zh-CN" sz="2200" i="1" dirty="0" smtClean="0">
                        <a:latin typeface="Cambria Math" panose="02040503050406030204" pitchFamily="18" charset="0"/>
                      </a:rPr>
                      <m:t>𝑅</m:t>
                    </m:r>
                    <m:r>
                      <a:rPr lang="en-US" altLang="zh-CN" sz="2200" i="1" dirty="0" smtClean="0">
                        <a:latin typeface="Cambria Math" panose="02040503050406030204" pitchFamily="18" charset="0"/>
                      </a:rPr>
                      <m:t>&lt;</m:t>
                    </m:r>
                    <m:r>
                      <a:rPr lang="en-US" altLang="zh-CN" sz="2200" i="1" dirty="0" smtClean="0">
                        <a:latin typeface="Cambria Math" panose="02040503050406030204" pitchFamily="18" charset="0"/>
                      </a:rPr>
                      <m:t>𝑈</m:t>
                    </m:r>
                    <m:r>
                      <a:rPr lang="zh-CN" altLang="en-US" sz="2200" i="1" dirty="0">
                        <a:latin typeface="Cambria Math" panose="02040503050406030204" pitchFamily="18" charset="0"/>
                      </a:rPr>
                      <m:t>，</m:t>
                    </m:r>
                    <m:r>
                      <a:rPr lang="en-US" altLang="zh-CN" sz="2200" i="1" dirty="0">
                        <a:latin typeface="Cambria Math" panose="02040503050406030204" pitchFamily="18" charset="0"/>
                      </a:rPr>
                      <m:t>𝐹</m:t>
                    </m:r>
                    <m:r>
                      <a:rPr lang="en-US" altLang="zh-CN" sz="2200" i="1" dirty="0">
                        <a:latin typeface="Cambria Math" panose="02040503050406030204" pitchFamily="18" charset="0"/>
                      </a:rPr>
                      <m:t>&gt;</m:t>
                    </m:r>
                  </m:oMath>
                </a14:m>
                <a:r>
                  <a:rPr lang="zh-CN" altLang="en-US" sz="2200" dirty="0"/>
                  <a:t>中的属性或属性组合，若</a:t>
                </a:r>
                <a14:m>
                  <m:oMath xmlns:m="http://schemas.openxmlformats.org/officeDocument/2006/math">
                    <m:r>
                      <a:rPr lang="en-US" altLang="zh-CN" sz="2200" i="1" dirty="0" smtClean="0">
                        <a:latin typeface="Cambria Math" panose="02040503050406030204" pitchFamily="18" charset="0"/>
                      </a:rPr>
                      <m:t>𝐾</m:t>
                    </m:r>
                    <m:r>
                      <a:rPr lang="en-US" altLang="zh-CN" sz="2200" i="1" dirty="0">
                        <a:latin typeface="Cambria Math" panose="02040503050406030204" pitchFamily="18" charset="0"/>
                      </a:rPr>
                      <m:t>→</m:t>
                    </m:r>
                    <m:r>
                      <a:rPr lang="en-US" altLang="zh-CN" sz="2200" i="1" dirty="0">
                        <a:latin typeface="Cambria Math" panose="02040503050406030204" pitchFamily="18" charset="0"/>
                      </a:rPr>
                      <m:t>𝑈</m:t>
                    </m:r>
                    <m:r>
                      <a:rPr lang="en-US" altLang="en-US" sz="2200" i="1" dirty="0">
                        <a:latin typeface="Cambria Math" panose="02040503050406030204" pitchFamily="18" charset="0"/>
                      </a:rPr>
                      <m:t>∈</m:t>
                    </m:r>
                    <m:sSup>
                      <m:sSupPr>
                        <m:ctrlPr>
                          <a:rPr lang="en-US" altLang="en-US" sz="2200" i="1" dirty="0" smtClean="0">
                            <a:latin typeface="Cambria Math" panose="02040503050406030204" pitchFamily="18" charset="0"/>
                          </a:rPr>
                        </m:ctrlPr>
                      </m:sSupPr>
                      <m:e>
                        <m:r>
                          <a:rPr lang="en-US" altLang="en-US" sz="2200" b="0" i="1" dirty="0" smtClean="0">
                            <a:latin typeface="Cambria Math" panose="02040503050406030204" pitchFamily="18" charset="0"/>
                          </a:rPr>
                          <m:t>𝐹</m:t>
                        </m:r>
                      </m:e>
                      <m:sup>
                        <m:r>
                          <a:rPr lang="en-US" altLang="en-US" sz="2200" b="0" i="1" dirty="0" smtClean="0">
                            <a:latin typeface="Cambria Math" panose="02040503050406030204" pitchFamily="18" charset="0"/>
                          </a:rPr>
                          <m:t>+</m:t>
                        </m:r>
                      </m:sup>
                    </m:sSup>
                  </m:oMath>
                </a14:m>
                <a:r>
                  <a:rPr lang="zh-CN" altLang="en-US" sz="2200" dirty="0"/>
                  <a:t>，则称</a:t>
                </a:r>
                <a14:m>
                  <m:oMath xmlns:m="http://schemas.openxmlformats.org/officeDocument/2006/math">
                    <m:r>
                      <a:rPr lang="en-US" altLang="zh-CN" sz="2200" i="1" dirty="0">
                        <a:latin typeface="Cambria Math" panose="02040503050406030204" pitchFamily="18" charset="0"/>
                      </a:rPr>
                      <m:t>𝐾</m:t>
                    </m:r>
                  </m:oMath>
                </a14:m>
                <a:r>
                  <a:rPr lang="zh-CN" altLang="en-US" sz="2200" dirty="0"/>
                  <a:t>为</a:t>
                </a:r>
                <a14:m>
                  <m:oMath xmlns:m="http://schemas.openxmlformats.org/officeDocument/2006/math">
                    <m:r>
                      <a:rPr lang="en-US" altLang="zh-CN" sz="2200" i="1" dirty="0" smtClean="0">
                        <a:latin typeface="Cambria Math" panose="02040503050406030204" pitchFamily="18" charset="0"/>
                      </a:rPr>
                      <m:t>𝑅</m:t>
                    </m:r>
                  </m:oMath>
                </a14:m>
                <a:r>
                  <a:rPr lang="zh-CN" altLang="en-US" sz="2200" dirty="0"/>
                  <a:t>的一个</a:t>
                </a:r>
                <a:r>
                  <a:rPr lang="zh-CN" altLang="en-US" sz="2200" dirty="0">
                    <a:solidFill>
                      <a:srgbClr val="FF9933"/>
                    </a:solidFill>
                  </a:rPr>
                  <a:t>超键</a:t>
                </a:r>
                <a:endParaRPr lang="en-US" altLang="zh-CN" sz="2200" dirty="0">
                  <a:solidFill>
                    <a:srgbClr val="FF9933"/>
                  </a:solidFill>
                </a:endParaRPr>
              </a:p>
              <a:p>
                <a:pPr lvl="1"/>
                <a:r>
                  <a:rPr lang="zh-CN" altLang="en-US" sz="2200" dirty="0"/>
                  <a:t>定义</a:t>
                </a:r>
                <a:r>
                  <a:rPr lang="en-US" altLang="zh-CN" sz="2200" dirty="0"/>
                  <a:t>4.21: </a:t>
                </a:r>
                <a:r>
                  <a:rPr lang="zh-CN" altLang="en-US" sz="2200" dirty="0"/>
                  <a:t>如果一个超键</a:t>
                </a:r>
                <a14:m>
                  <m:oMath xmlns:m="http://schemas.openxmlformats.org/officeDocument/2006/math">
                    <m:r>
                      <a:rPr lang="en-US" altLang="zh-CN" sz="2200" i="1" dirty="0">
                        <a:latin typeface="Cambria Math" panose="02040503050406030204" pitchFamily="18" charset="0"/>
                      </a:rPr>
                      <m:t>𝐾</m:t>
                    </m:r>
                  </m:oMath>
                </a14:m>
                <a:r>
                  <a:rPr lang="zh-CN" altLang="en-US" sz="2200" dirty="0"/>
                  <a:t>的任何真子集都不再是超键，则称</a:t>
                </a:r>
                <a14:m>
                  <m:oMath xmlns:m="http://schemas.openxmlformats.org/officeDocument/2006/math">
                    <m:r>
                      <a:rPr lang="en-US" altLang="zh-CN" sz="2200" i="1" dirty="0">
                        <a:latin typeface="Cambria Math" panose="02040503050406030204" pitchFamily="18" charset="0"/>
                      </a:rPr>
                      <m:t>𝐾</m:t>
                    </m:r>
                  </m:oMath>
                </a14:m>
                <a:r>
                  <a:rPr lang="zh-CN" altLang="en-US" sz="2200" dirty="0"/>
                  <a:t>为</a:t>
                </a:r>
                <a14:m>
                  <m:oMath xmlns:m="http://schemas.openxmlformats.org/officeDocument/2006/math">
                    <m:r>
                      <a:rPr lang="en-US" altLang="zh-CN" sz="2200" i="1" dirty="0">
                        <a:latin typeface="Cambria Math" panose="02040503050406030204" pitchFamily="18" charset="0"/>
                      </a:rPr>
                      <m:t>𝑅</m:t>
                    </m:r>
                  </m:oMath>
                </a14:m>
                <a:r>
                  <a:rPr lang="zh-CN" altLang="en-US" sz="2200" dirty="0"/>
                  <a:t>的一个</a:t>
                </a:r>
                <a:r>
                  <a:rPr lang="zh-CN" altLang="en-US" sz="2200" dirty="0">
                    <a:solidFill>
                      <a:srgbClr val="FF9933"/>
                    </a:solidFill>
                  </a:rPr>
                  <a:t>候选键</a:t>
                </a:r>
                <a:r>
                  <a:rPr lang="en-US" altLang="zh-CN" sz="2200" dirty="0"/>
                  <a:t>(Candidate key)</a:t>
                </a:r>
                <a:endParaRPr lang="en-US" altLang="zh-CN" sz="2200" dirty="0"/>
              </a:p>
              <a:p>
                <a:pPr lvl="1"/>
                <a:r>
                  <a:rPr lang="zh-CN" altLang="en-US" sz="2200" dirty="0"/>
                  <a:t>候选键有时也简称为键</a:t>
                </a:r>
                <a:endParaRPr lang="en-US" altLang="zh-CN" sz="2200" dirty="0"/>
              </a:p>
              <a:p>
                <a:pPr lvl="1"/>
                <a:r>
                  <a:rPr lang="zh-CN" altLang="en-US" sz="2200" dirty="0"/>
                  <a:t>若关系模式中有多个候选键，则选定其中的一个为</a:t>
                </a:r>
                <a:r>
                  <a:rPr lang="zh-CN" altLang="en-US" sz="2200" dirty="0">
                    <a:solidFill>
                      <a:srgbClr val="FF9933"/>
                    </a:solidFill>
                  </a:rPr>
                  <a:t>主键</a:t>
                </a:r>
                <a:r>
                  <a:rPr lang="en-US" altLang="zh-CN" sz="2200" dirty="0"/>
                  <a:t>(Primary key)</a:t>
                </a:r>
                <a:endParaRPr lang="en-US" altLang="zh-CN" sz="2200" dirty="0"/>
              </a:p>
              <a:p>
                <a:pPr lvl="1"/>
                <a:r>
                  <a:rPr lang="zh-CN" altLang="en-US" sz="2200" dirty="0"/>
                  <a:t>定义</a:t>
                </a:r>
                <a:r>
                  <a:rPr lang="en-US" altLang="zh-CN" sz="2200" dirty="0"/>
                  <a:t>4.22: </a:t>
                </a:r>
                <a:r>
                  <a:rPr lang="zh-CN" altLang="en-US" sz="2200" dirty="0"/>
                  <a:t>包含在任何一个候选键中的属性，称为</a:t>
                </a:r>
                <a:r>
                  <a:rPr lang="zh-CN" altLang="en-US" sz="2200" u="sng" dirty="0">
                    <a:solidFill>
                      <a:srgbClr val="FF0000"/>
                    </a:solidFill>
                  </a:rPr>
                  <a:t>主属性</a:t>
                </a:r>
                <a:r>
                  <a:rPr lang="en-US" altLang="zh-CN" sz="2200" dirty="0"/>
                  <a:t>(Prime attribute)</a:t>
                </a:r>
                <a:r>
                  <a:rPr lang="zh-CN" altLang="en-US" sz="2200" dirty="0"/>
                  <a:t>或</a:t>
                </a:r>
                <a:r>
                  <a:rPr lang="zh-CN" altLang="en-US" sz="2200" u="sng" dirty="0"/>
                  <a:t>键属性</a:t>
                </a:r>
                <a:r>
                  <a:rPr lang="en-US" altLang="zh-CN" sz="2200" dirty="0"/>
                  <a:t>(Key attribute) </a:t>
                </a:r>
                <a:r>
                  <a:rPr lang="zh-CN" altLang="en-US" sz="2200" dirty="0"/>
                  <a:t>。不包含在任何候选键中的属性，则称为</a:t>
                </a:r>
                <a:r>
                  <a:rPr lang="zh-CN" altLang="en-US" sz="2200" u="sng" dirty="0">
                    <a:solidFill>
                      <a:srgbClr val="FF0000"/>
                    </a:solidFill>
                  </a:rPr>
                  <a:t>非主属性</a:t>
                </a:r>
                <a:r>
                  <a:rPr lang="en-US" altLang="zh-CN" sz="2200" dirty="0"/>
                  <a:t>(Nonprime attribute)</a:t>
                </a:r>
                <a:r>
                  <a:rPr lang="zh-CN" altLang="en-US" sz="2200" dirty="0"/>
                  <a:t>或</a:t>
                </a:r>
                <a:r>
                  <a:rPr lang="zh-CN" altLang="en-US" sz="2200" u="sng" dirty="0"/>
                  <a:t>非键属性</a:t>
                </a:r>
                <a:r>
                  <a:rPr lang="en-US" altLang="zh-CN" sz="2200" dirty="0"/>
                  <a:t>(Non-key attribute)</a:t>
                </a:r>
                <a:endParaRPr lang="zh-CN" altLang="en-US" sz="2200" dirty="0"/>
              </a:p>
              <a:p>
                <a:pPr lvl="1" algn="l"/>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83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键</a:t>
            </a:r>
            <a:r>
              <a:rPr lang="en-US" altLang="zh-CN" dirty="0"/>
              <a:t>(</a:t>
            </a:r>
            <a:r>
              <a:rPr lang="en-GB" altLang="zh-CN" dirty="0"/>
              <a:t>Key</a:t>
            </a:r>
            <a:r>
              <a:rPr lang="zh-CN" altLang="en-GB" dirty="0"/>
              <a:t>）</a:t>
            </a:r>
            <a:endParaRPr lang="en-US" altLang="zh-CN" dirty="0"/>
          </a:p>
          <a:p>
            <a:pPr lvl="1" algn="l"/>
            <a:r>
              <a:rPr lang="zh-CN" altLang="en-US" dirty="0"/>
              <a:t>最简单的情况，单个属性是候选键。最极端的情况下，整个属性组是候选键，并称为全键</a:t>
            </a:r>
            <a:r>
              <a:rPr lang="en-US" altLang="zh-CN" dirty="0"/>
              <a:t>(All-key)</a:t>
            </a:r>
            <a:endParaRPr lang="en-US" altLang="zh-CN" dirty="0"/>
          </a:p>
          <a:p>
            <a:pPr lvl="1" algn="l"/>
            <a:endParaRPr lang="en-US" altLang="zh-CN" dirty="0"/>
          </a:p>
          <a:p>
            <a:pPr lvl="1" algn="l"/>
            <a:r>
              <a:rPr lang="zh-CN" altLang="en-US" dirty="0"/>
              <a:t>例：关系模式</a:t>
            </a:r>
            <a:r>
              <a:rPr lang="en-US" altLang="zh-CN" dirty="0"/>
              <a:t>R(P,W,A),</a:t>
            </a:r>
            <a:r>
              <a:rPr lang="zh-CN" altLang="en-US" dirty="0"/>
              <a:t>属性</a:t>
            </a:r>
            <a:r>
              <a:rPr lang="en-US" altLang="zh-CN" dirty="0"/>
              <a:t>P</a:t>
            </a:r>
            <a:r>
              <a:rPr lang="zh-CN" altLang="en-US" dirty="0"/>
              <a:t>表示演奏者，</a:t>
            </a:r>
            <a:r>
              <a:rPr lang="en-US" altLang="zh-CN" dirty="0"/>
              <a:t>W</a:t>
            </a:r>
            <a:r>
              <a:rPr lang="zh-CN" altLang="en-US" dirty="0"/>
              <a:t>表示作品</a:t>
            </a:r>
            <a:r>
              <a:rPr lang="en-US" altLang="zh-CN" dirty="0"/>
              <a:t>,A</a:t>
            </a:r>
            <a:r>
              <a:rPr lang="zh-CN" altLang="en-US" dirty="0"/>
              <a:t>表示听众。假设一个演奏者可以演奏多个作品，某一作品可被多个演奏者演奏。听众也可以欣赏不同演奏者的不同作品，这个关系模式的候选键为</a:t>
            </a:r>
            <a:r>
              <a:rPr lang="en-US" altLang="zh-CN" dirty="0"/>
              <a:t>(P,W,A)</a:t>
            </a:r>
            <a:r>
              <a:rPr lang="zh-CN" altLang="en-US" dirty="0"/>
              <a:t>，即</a:t>
            </a:r>
            <a:r>
              <a:rPr lang="en-US" altLang="zh-CN" dirty="0"/>
              <a:t>All-key</a:t>
            </a:r>
            <a:endParaRPr lang="en-US" altLang="zh-CN" dirty="0"/>
          </a:p>
          <a:p>
            <a:pPr lvl="1" algn="l"/>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fontScale="92500" lnSpcReduction="10000"/>
          </a:bodyPr>
          <a:lstStyle/>
          <a:p>
            <a:r>
              <a:rPr lang="zh-CN" altLang="en-US" sz="3000" dirty="0"/>
              <a:t>求关系模式上全部候选键</a:t>
            </a:r>
            <a:endParaRPr lang="en-US" altLang="zh-CN" sz="3000" dirty="0"/>
          </a:p>
          <a:p>
            <a:pPr lvl="1" algn="l"/>
            <a:r>
              <a:rPr lang="zh-CN" altLang="en-US" dirty="0"/>
              <a:t>求</a:t>
            </a:r>
            <a:r>
              <a:rPr lang="zh-CN" altLang="zh-CN" dirty="0"/>
              <a:t>关系模式上的全部候选键</a:t>
            </a:r>
            <a:r>
              <a:rPr lang="zh-CN" altLang="en-US" dirty="0"/>
              <a:t>的方法</a:t>
            </a:r>
            <a:endParaRPr lang="en-US" altLang="zh-CN" dirty="0"/>
          </a:p>
          <a:p>
            <a:pPr lvl="1" algn="l"/>
            <a:r>
              <a:rPr lang="zh-CN" altLang="zh-CN" dirty="0"/>
              <a:t>输入：关系模式R(U，F)，</a:t>
            </a:r>
            <a:r>
              <a:rPr lang="zh-CN" altLang="zh-CN" dirty="0">
                <a:solidFill>
                  <a:srgbClr val="C00000"/>
                </a:solidFill>
              </a:rPr>
              <a:t>其中F</a:t>
            </a:r>
            <a:r>
              <a:rPr lang="zh-CN" altLang="en-US" dirty="0">
                <a:solidFill>
                  <a:srgbClr val="C00000"/>
                </a:solidFill>
              </a:rPr>
              <a:t>已化简为</a:t>
            </a:r>
            <a:r>
              <a:rPr lang="zh-CN" altLang="zh-CN" dirty="0">
                <a:solidFill>
                  <a:srgbClr val="C00000"/>
                </a:solidFill>
              </a:rPr>
              <a:t>最小覆盖</a:t>
            </a:r>
            <a:endParaRPr lang="en-US" altLang="zh-CN" dirty="0">
              <a:solidFill>
                <a:srgbClr val="C00000"/>
              </a:solidFill>
            </a:endParaRPr>
          </a:p>
          <a:p>
            <a:pPr lvl="1" algn="l"/>
            <a:r>
              <a:rPr lang="zh-CN" altLang="zh-CN" dirty="0"/>
              <a:t>输出：R上的所有候选键</a:t>
            </a:r>
            <a:endParaRPr lang="en-US" altLang="zh-CN" dirty="0"/>
          </a:p>
          <a:p>
            <a:pPr lvl="1" algn="l"/>
            <a:r>
              <a:rPr lang="zh-CN" altLang="zh-CN" dirty="0"/>
              <a:t>步骤(1)</a:t>
            </a:r>
            <a:r>
              <a:rPr lang="zh-CN" altLang="en-US" dirty="0"/>
              <a:t>：</a:t>
            </a:r>
            <a:r>
              <a:rPr lang="zh-CN" altLang="zh-CN" dirty="0"/>
              <a:t>将R的全部属性分为四类，分别是</a:t>
            </a:r>
            <a:endParaRPr lang="en-US" altLang="zh-CN" dirty="0"/>
          </a:p>
          <a:p>
            <a:pPr marL="1187450" lvl="2" indent="-273050">
              <a:lnSpc>
                <a:spcPct val="160000"/>
              </a:lnSpc>
              <a:spcBef>
                <a:spcPct val="20000"/>
              </a:spcBef>
              <a:buFontTx/>
              <a:buChar char="•"/>
              <a:defRPr/>
            </a:pPr>
            <a:r>
              <a:rPr lang="zh-CN" altLang="zh-CN" sz="2200" dirty="0"/>
              <a:t>C1：不在任何函数依赖中出现的属性；</a:t>
            </a:r>
            <a:endParaRPr lang="en-US" altLang="zh-CN" sz="2200" dirty="0"/>
          </a:p>
          <a:p>
            <a:pPr marL="1187450" lvl="2" indent="-273050">
              <a:lnSpc>
                <a:spcPct val="160000"/>
              </a:lnSpc>
              <a:spcBef>
                <a:spcPct val="20000"/>
              </a:spcBef>
              <a:buFontTx/>
              <a:buChar char="•"/>
              <a:defRPr/>
            </a:pPr>
            <a:r>
              <a:rPr lang="zh-CN" altLang="zh-CN" sz="2200" dirty="0"/>
              <a:t>C2：仅在函数依赖决定子中出现的属性；</a:t>
            </a:r>
            <a:endParaRPr lang="en-US" altLang="zh-CN" sz="2200" dirty="0"/>
          </a:p>
          <a:p>
            <a:pPr marL="1187450" lvl="2" indent="-273050">
              <a:lnSpc>
                <a:spcPct val="160000"/>
              </a:lnSpc>
              <a:spcBef>
                <a:spcPct val="20000"/>
              </a:spcBef>
              <a:buFontTx/>
              <a:buChar char="•"/>
              <a:defRPr/>
            </a:pPr>
            <a:r>
              <a:rPr lang="zh-CN" altLang="zh-CN" sz="2200" dirty="0"/>
              <a:t>C3：仅在函数依赖右部出现的属性；</a:t>
            </a:r>
            <a:endParaRPr lang="en-US" altLang="zh-CN" sz="2200" dirty="0"/>
          </a:p>
          <a:p>
            <a:pPr marL="1187450" lvl="2" indent="-273050">
              <a:lnSpc>
                <a:spcPct val="160000"/>
              </a:lnSpc>
              <a:spcBef>
                <a:spcPct val="20000"/>
              </a:spcBef>
              <a:buFontTx/>
              <a:buChar char="•"/>
              <a:defRPr/>
            </a:pPr>
            <a:r>
              <a:rPr lang="zh-CN" altLang="zh-CN" sz="2200" dirty="0"/>
              <a:t>C4：在函数依赖左部右部均有出现的属性。</a:t>
            </a:r>
            <a:endParaRPr lang="en-US" altLang="zh-CN" sz="2200" dirty="0"/>
          </a:p>
          <a:p>
            <a:pPr marL="1187450" lvl="2" indent="-273050">
              <a:lnSpc>
                <a:spcPct val="160000"/>
              </a:lnSpc>
              <a:spcBef>
                <a:spcPct val="20000"/>
              </a:spcBef>
              <a:buFontTx/>
              <a:buChar char="•"/>
              <a:defRPr/>
            </a:pPr>
            <a:r>
              <a:rPr lang="zh-CN" altLang="en-US" sz="2200" u="sng" dirty="0"/>
              <a:t>注意，</a:t>
            </a:r>
            <a:r>
              <a:rPr lang="zh-CN" altLang="zh-CN" sz="2200" u="sng" dirty="0"/>
              <a:t>任何候选键中必然会包括C1、C2中的属性</a:t>
            </a: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求关系模式上全部候选键</a:t>
                </a:r>
                <a:endParaRPr lang="en-US" altLang="zh-CN" dirty="0"/>
              </a:p>
              <a:p>
                <a:pPr lvl="1" algn="l"/>
                <a:r>
                  <a:rPr lang="zh-CN" altLang="zh-CN" sz="2200" dirty="0"/>
                  <a:t>步骤(2)</a:t>
                </a:r>
                <a:r>
                  <a:rPr lang="zh-CN" altLang="en-US" sz="2200" dirty="0"/>
                  <a:t>：</a:t>
                </a:r>
                <a:r>
                  <a:rPr lang="zh-CN" altLang="zh-CN" sz="2200" dirty="0"/>
                  <a:t>若(C1∪C2)</a:t>
                </a:r>
                <a:r>
                  <a:rPr lang="en-US" altLang="zh-CN" sz="2200" baseline="30000" dirty="0"/>
                  <a:t>+</a:t>
                </a:r>
                <a:r>
                  <a:rPr lang="zh-CN" altLang="zh-CN" sz="2200" dirty="0"/>
                  <a:t>＝U</a:t>
                </a:r>
                <a:r>
                  <a:rPr lang="zh-CN" altLang="en-US" sz="2200" dirty="0"/>
                  <a:t> </a:t>
                </a:r>
                <a:r>
                  <a:rPr lang="zh-CN" altLang="zh-CN" sz="2200" dirty="0"/>
                  <a:t>或者</a:t>
                </a:r>
                <a:r>
                  <a:rPr lang="zh-CN" altLang="en-US" sz="2200" dirty="0"/>
                  <a:t> </a:t>
                </a:r>
                <a:r>
                  <a:rPr lang="zh-CN" altLang="zh-CN" sz="2200" dirty="0"/>
                  <a:t>C4＝</a:t>
                </a:r>
                <a14:m>
                  <m:oMath xmlns:m="http://schemas.openxmlformats.org/officeDocument/2006/math">
                    <m:r>
                      <a:rPr lang="zh-CN" altLang="en-US" sz="2200" i="1" smtClean="0">
                        <a:latin typeface="Cambria Math" panose="02040503050406030204" pitchFamily="18" charset="0"/>
                      </a:rPr>
                      <m:t>∅</m:t>
                    </m:r>
                  </m:oMath>
                </a14:m>
                <a:r>
                  <a:rPr lang="zh-CN" altLang="zh-CN" sz="2200" dirty="0"/>
                  <a:t>，则C1∪C2即为</a:t>
                </a:r>
                <a:r>
                  <a:rPr lang="zh-CN" altLang="en-US" sz="2200" dirty="0"/>
                  <a:t>唯</a:t>
                </a:r>
                <a:r>
                  <a:rPr lang="zh-CN" altLang="zh-CN" sz="2200" dirty="0"/>
                  <a:t>一的候选键；否则，逐一将C4中的属性加入C1∪C2并计算其闭包，若其闭包为U，则C1∪C2与该属性构成关系上的一个候选键，重复该过程直至找出所有的候选键</a:t>
                </a:r>
                <a:endParaRPr lang="zh-CN" altLang="zh-CN" sz="2200" dirty="0"/>
              </a:p>
              <a:p>
                <a:pPr lvl="1" algn="l"/>
                <a:endParaRPr lang="en-US" altLang="zh-CN" sz="2200"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求关系模式上全部候选键</a:t>
                </a:r>
                <a:endParaRPr lang="en-US" altLang="zh-CN" dirty="0"/>
              </a:p>
              <a:p>
                <a:pPr lvl="1">
                  <a:lnSpc>
                    <a:spcPct val="150000"/>
                  </a:lnSpc>
                </a:pPr>
                <a:r>
                  <a:rPr lang="zh-CN" altLang="zh-CN" b="0" i="1" dirty="0"/>
                  <a:t>例4</a:t>
                </a:r>
                <a:r>
                  <a:rPr lang="zh-CN" altLang="en-US" b="0" i="1" dirty="0"/>
                  <a:t>.</a:t>
                </a:r>
                <a:r>
                  <a:rPr lang="en-US" altLang="zh-CN" b="0" i="1" dirty="0"/>
                  <a:t>8</a:t>
                </a:r>
                <a:r>
                  <a:rPr lang="zh-CN" altLang="en-US" b="0" i="1" dirty="0"/>
                  <a:t>：</a:t>
                </a:r>
                <a:r>
                  <a:rPr lang="zh-CN" altLang="zh-CN" b="0" i="1" dirty="0"/>
                  <a:t>求R(A，B，C，D)，F＝{A→B，B→C，BD→A}的所有候选键：</a:t>
                </a:r>
                <a:endParaRPr lang="en-US" altLang="zh-CN" b="0" i="1" dirty="0"/>
              </a:p>
              <a:p>
                <a:pPr lvl="1">
                  <a:lnSpc>
                    <a:spcPct val="150000"/>
                  </a:lnSpc>
                </a:pPr>
                <a:r>
                  <a:rPr lang="zh-CN" altLang="zh-CN" b="0" dirty="0"/>
                  <a:t>解：C1＝</a:t>
                </a:r>
                <a14:m>
                  <m:oMath xmlns:m="http://schemas.openxmlformats.org/officeDocument/2006/math">
                    <m:r>
                      <a:rPr lang="zh-CN" altLang="en-US" b="0" i="1" smtClean="0">
                        <a:latin typeface="Cambria Math" panose="02040503050406030204" pitchFamily="18" charset="0"/>
                      </a:rPr>
                      <m:t>∅</m:t>
                    </m:r>
                  </m:oMath>
                </a14:m>
                <a:r>
                  <a:rPr lang="zh-CN" altLang="zh-CN" b="0" dirty="0"/>
                  <a:t>，C2＝{D}，C3＝{C}，C4＝{A，B}，(C1∪C2)＋＝{D}，所以C1∪C2不是候选键，依次将C4中的A、B加入C1∪C2中计算其闭包可得：(AD)＋＝ADBC，(BD)＋＝BDAC，所以可知R的候选键为AD和BD</a:t>
                </a:r>
                <a:endParaRPr lang="zh-CN" altLang="en-US" b="0" dirty="0"/>
              </a:p>
              <a:p>
                <a:pPr lvl="1" algn="l"/>
                <a:endParaRPr lang="en-US" altLang="zh-CN" sz="2200"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第二范式（</a:t>
                </a:r>
                <a:r>
                  <a:rPr lang="en-US" altLang="zh-CN" dirty="0"/>
                  <a:t>2</a:t>
                </a:r>
                <a:r>
                  <a:rPr lang="en-GB" altLang="zh-CN" dirty="0"/>
                  <a:t>NF</a:t>
                </a:r>
                <a:r>
                  <a:rPr lang="zh-CN" altLang="en-GB" dirty="0"/>
                  <a:t>）</a:t>
                </a:r>
                <a:endParaRPr lang="en-US" altLang="zh-CN" dirty="0"/>
              </a:p>
              <a:p>
                <a:pPr lvl="1">
                  <a:lnSpc>
                    <a:spcPct val="150000"/>
                  </a:lnSpc>
                </a:pPr>
                <a:r>
                  <a:rPr lang="zh-CN" altLang="zh-CN" dirty="0"/>
                  <a:t>定义4</a:t>
                </a:r>
                <a:r>
                  <a:rPr lang="zh-CN" altLang="en-US" dirty="0"/>
                  <a:t>.</a:t>
                </a:r>
                <a:r>
                  <a:rPr lang="en-US" altLang="zh-CN" dirty="0"/>
                  <a:t>23</a:t>
                </a:r>
                <a:r>
                  <a:rPr lang="zh-CN" altLang="zh-CN" dirty="0"/>
                  <a:t>：如果关系模式R中的</a:t>
                </a:r>
                <a:r>
                  <a:rPr lang="zh-CN" altLang="zh-CN" u="sng" dirty="0"/>
                  <a:t>所有</a:t>
                </a:r>
                <a:r>
                  <a:rPr lang="zh-CN" altLang="zh-CN" dirty="0"/>
                  <a:t>非主属性都完全函数依赖于</a:t>
                </a:r>
                <a:r>
                  <a:rPr lang="zh-CN" altLang="zh-CN" u="sng" dirty="0"/>
                  <a:t>所有</a:t>
                </a:r>
                <a:r>
                  <a:rPr lang="zh-CN" altLang="zh-CN" dirty="0"/>
                  <a:t>CK，则称R满足2NF，表示为R</a:t>
                </a:r>
                <a14:m>
                  <m:oMath xmlns:m="http://schemas.openxmlformats.org/officeDocument/2006/math">
                    <m:r>
                      <a:rPr lang="zh-CN" altLang="en-US" i="1" smtClean="0">
                        <a:latin typeface="Cambria Math" panose="02040503050406030204" pitchFamily="18" charset="0"/>
                      </a:rPr>
                      <m:t>∈</m:t>
                    </m:r>
                  </m:oMath>
                </a14:m>
                <a:r>
                  <a:rPr lang="zh-CN" altLang="zh-CN" dirty="0"/>
                  <a:t>2NF</a:t>
                </a:r>
                <a:endParaRPr lang="en-US" altLang="zh-CN" dirty="0"/>
              </a:p>
              <a:p>
                <a:pPr lvl="1">
                  <a:lnSpc>
                    <a:spcPct val="150000"/>
                  </a:lnSpc>
                </a:pPr>
                <a:r>
                  <a:rPr lang="zh-CN" altLang="zh-CN" dirty="0"/>
                  <a:t>2NF是在1NF的基础上消除非主属性对于所有候选键的部分函数依赖</a:t>
                </a:r>
                <a:endParaRPr lang="en-US" altLang="zh-CN" dirty="0"/>
              </a:p>
              <a:p>
                <a:pPr lvl="1">
                  <a:lnSpc>
                    <a:spcPct val="150000"/>
                  </a:lnSpc>
                </a:pPr>
                <a:r>
                  <a:rPr lang="zh-CN" altLang="en-US" dirty="0">
                    <a:solidFill>
                      <a:schemeClr val="bg1">
                        <a:lumMod val="65000"/>
                      </a:schemeClr>
                    </a:solidFill>
                  </a:rPr>
                  <a:t>如果数据库模式中每个关系模式都是</a:t>
                </a:r>
                <a:r>
                  <a:rPr lang="en-US" altLang="zh-CN" dirty="0">
                    <a:solidFill>
                      <a:schemeClr val="bg1">
                        <a:lumMod val="65000"/>
                      </a:schemeClr>
                    </a:solidFill>
                  </a:rPr>
                  <a:t>2NF</a:t>
                </a:r>
                <a:r>
                  <a:rPr lang="zh-CN" altLang="en-US" dirty="0">
                    <a:solidFill>
                      <a:schemeClr val="bg1">
                        <a:lumMod val="65000"/>
                      </a:schemeClr>
                    </a:solidFill>
                  </a:rPr>
                  <a:t>，则称数据库模式为</a:t>
                </a:r>
                <a:r>
                  <a:rPr lang="en-US" altLang="zh-CN" dirty="0">
                    <a:solidFill>
                      <a:schemeClr val="bg1">
                        <a:lumMod val="65000"/>
                      </a:schemeClr>
                    </a:solidFill>
                  </a:rPr>
                  <a:t>2NF</a:t>
                </a:r>
                <a:r>
                  <a:rPr lang="zh-CN" altLang="en-US" dirty="0">
                    <a:solidFill>
                      <a:schemeClr val="bg1">
                        <a:lumMod val="65000"/>
                      </a:schemeClr>
                    </a:solidFill>
                  </a:rPr>
                  <a:t>的数据库模式</a:t>
                </a:r>
                <a:endParaRPr lang="zh-CN" altLang="zh-CN" dirty="0">
                  <a:solidFill>
                    <a:schemeClr val="bg1">
                      <a:lumMod val="65000"/>
                    </a:schemeClr>
                  </a:solidFill>
                </a:endParaRPr>
              </a:p>
              <a:p>
                <a:pPr lvl="1" algn="l"/>
                <a:endParaRPr lang="en-US" altLang="zh-CN" sz="2200"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第二范式（</a:t>
            </a:r>
            <a:r>
              <a:rPr lang="en-US" altLang="zh-CN" dirty="0"/>
              <a:t>2</a:t>
            </a:r>
            <a:r>
              <a:rPr lang="en-GB" altLang="zh-CN" dirty="0"/>
              <a:t>NF</a:t>
            </a:r>
            <a:r>
              <a:rPr lang="zh-CN" altLang="en-GB" dirty="0"/>
              <a:t>）</a:t>
            </a:r>
            <a:endParaRPr lang="en-US" altLang="zh-CN" dirty="0"/>
          </a:p>
          <a:p>
            <a:pPr lvl="1">
              <a:lnSpc>
                <a:spcPct val="150000"/>
              </a:lnSpc>
            </a:pPr>
            <a:r>
              <a:rPr lang="zh-CN" altLang="en-US" dirty="0"/>
              <a:t>例</a:t>
            </a:r>
            <a:r>
              <a:rPr lang="en-US" altLang="zh-CN" dirty="0"/>
              <a:t>4.14 :</a:t>
            </a:r>
            <a:r>
              <a:rPr lang="zh-CN" altLang="en-US" dirty="0"/>
              <a:t>设关系模式</a:t>
            </a:r>
            <a:r>
              <a:rPr lang="en-US" altLang="zh-CN" dirty="0"/>
              <a:t>R</a:t>
            </a:r>
            <a:r>
              <a:rPr lang="zh-CN" altLang="en-US" dirty="0"/>
              <a:t>（</a:t>
            </a:r>
            <a:r>
              <a:rPr lang="en-US" altLang="zh-CN" dirty="0"/>
              <a:t>S#</a:t>
            </a:r>
            <a:r>
              <a:rPr lang="zh-CN" altLang="en-US" dirty="0"/>
              <a:t>，</a:t>
            </a:r>
            <a:r>
              <a:rPr lang="en-US" altLang="zh-CN" dirty="0"/>
              <a:t>C#</a:t>
            </a:r>
            <a:r>
              <a:rPr lang="zh-CN" altLang="en-US" dirty="0"/>
              <a:t>，</a:t>
            </a:r>
            <a:r>
              <a:rPr lang="en-US" altLang="zh-CN" dirty="0"/>
              <a:t>Grade</a:t>
            </a:r>
            <a:r>
              <a:rPr lang="zh-CN" altLang="en-US" dirty="0"/>
              <a:t>，</a:t>
            </a:r>
            <a:r>
              <a:rPr lang="en-US" altLang="zh-CN" dirty="0"/>
              <a:t>Teacher</a:t>
            </a:r>
            <a:r>
              <a:rPr lang="zh-CN" altLang="en-US" dirty="0"/>
              <a:t>，</a:t>
            </a:r>
            <a:r>
              <a:rPr lang="en-US" altLang="zh-CN" dirty="0"/>
              <a:t>Dept</a:t>
            </a:r>
            <a:r>
              <a:rPr lang="zh-CN" altLang="en-US" dirty="0"/>
              <a:t>）的属性分别表示学生学号、选修课程的编号、成绩、任课教师姓名和所在系等意义。（</a:t>
            </a:r>
            <a:r>
              <a:rPr lang="en-US" altLang="zh-CN" dirty="0"/>
              <a:t>S#</a:t>
            </a:r>
            <a:r>
              <a:rPr lang="zh-CN" altLang="en-US" dirty="0"/>
              <a:t>，</a:t>
            </a:r>
            <a:r>
              <a:rPr lang="en-US" altLang="zh-CN" dirty="0"/>
              <a:t>C#</a:t>
            </a:r>
            <a:r>
              <a:rPr lang="zh-CN" altLang="en-US" dirty="0"/>
              <a:t>）是</a:t>
            </a:r>
            <a:r>
              <a:rPr lang="en-US" altLang="zh-CN" dirty="0"/>
              <a:t>R</a:t>
            </a:r>
            <a:r>
              <a:rPr lang="zh-CN" altLang="en-US" dirty="0"/>
              <a:t>的候选键</a:t>
            </a:r>
            <a:endParaRPr lang="zh-CN" altLang="en-US"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grpSp>
        <p:nvGrpSpPr>
          <p:cNvPr id="7" name="Group 5"/>
          <p:cNvGrpSpPr/>
          <p:nvPr/>
        </p:nvGrpSpPr>
        <p:grpSpPr bwMode="auto">
          <a:xfrm>
            <a:off x="2586252" y="3689350"/>
            <a:ext cx="7056438" cy="3168650"/>
            <a:chOff x="4140" y="1908"/>
            <a:chExt cx="3804" cy="2652"/>
          </a:xfrm>
        </p:grpSpPr>
        <p:sp>
          <p:nvSpPr>
            <p:cNvPr id="8" name="Text Box 6"/>
            <p:cNvSpPr txBox="1">
              <a:spLocks noChangeArrowheads="1"/>
            </p:cNvSpPr>
            <p:nvPr/>
          </p:nvSpPr>
          <p:spPr bwMode="auto">
            <a:xfrm>
              <a:off x="4140" y="1908"/>
              <a:ext cx="72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S#</a:t>
              </a:r>
              <a:endParaRPr lang="en-US" altLang="zh-CN" sz="2400" b="0">
                <a:latin typeface="Arial" panose="020B0604020202020204" pitchFamily="34" charset="0"/>
              </a:endParaRPr>
            </a:p>
          </p:txBody>
        </p:sp>
        <p:sp>
          <p:nvSpPr>
            <p:cNvPr id="9" name="Text Box 7"/>
            <p:cNvSpPr txBox="1">
              <a:spLocks noChangeArrowheads="1"/>
            </p:cNvSpPr>
            <p:nvPr/>
          </p:nvSpPr>
          <p:spPr bwMode="auto">
            <a:xfrm>
              <a:off x="5220" y="1908"/>
              <a:ext cx="72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C#</a:t>
              </a:r>
              <a:endParaRPr lang="en-US" altLang="zh-CN" sz="2400" b="0">
                <a:latin typeface="Arial" panose="020B0604020202020204" pitchFamily="34" charset="0"/>
              </a:endParaRPr>
            </a:p>
          </p:txBody>
        </p:sp>
        <p:sp>
          <p:nvSpPr>
            <p:cNvPr id="10" name="Line 8"/>
            <p:cNvSpPr>
              <a:spLocks noChangeShapeType="1"/>
            </p:cNvSpPr>
            <p:nvPr/>
          </p:nvSpPr>
          <p:spPr bwMode="auto">
            <a:xfrm>
              <a:off x="4500" y="2376"/>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 name="Line 9"/>
            <p:cNvSpPr>
              <a:spLocks noChangeShapeType="1"/>
            </p:cNvSpPr>
            <p:nvPr/>
          </p:nvSpPr>
          <p:spPr bwMode="auto">
            <a:xfrm>
              <a:off x="5580" y="2376"/>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10"/>
            <p:cNvSpPr>
              <a:spLocks noChangeShapeType="1"/>
            </p:cNvSpPr>
            <p:nvPr/>
          </p:nvSpPr>
          <p:spPr bwMode="auto">
            <a:xfrm>
              <a:off x="4500" y="2844"/>
              <a:ext cx="108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Line 11"/>
            <p:cNvSpPr>
              <a:spLocks noChangeShapeType="1"/>
            </p:cNvSpPr>
            <p:nvPr/>
          </p:nvSpPr>
          <p:spPr bwMode="auto">
            <a:xfrm>
              <a:off x="5040" y="2844"/>
              <a:ext cx="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Text Box 12"/>
            <p:cNvSpPr txBox="1">
              <a:spLocks noChangeArrowheads="1"/>
            </p:cNvSpPr>
            <p:nvPr/>
          </p:nvSpPr>
          <p:spPr bwMode="auto">
            <a:xfrm>
              <a:off x="4584" y="3312"/>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dirty="0">
                  <a:latin typeface="Times New Roman" panose="02020603050405020304" pitchFamily="18" charset="0"/>
                </a:rPr>
                <a:t>Grade</a:t>
              </a:r>
              <a:endParaRPr lang="en-US" altLang="zh-CN" sz="2400" b="0" dirty="0">
                <a:latin typeface="Arial" panose="020B0604020202020204" pitchFamily="34" charset="0"/>
              </a:endParaRPr>
            </a:p>
          </p:txBody>
        </p:sp>
        <p:sp>
          <p:nvSpPr>
            <p:cNvPr id="15" name="Line 13"/>
            <p:cNvSpPr>
              <a:spLocks noChangeShapeType="1"/>
            </p:cNvSpPr>
            <p:nvPr/>
          </p:nvSpPr>
          <p:spPr bwMode="auto">
            <a:xfrm>
              <a:off x="5940" y="2136"/>
              <a:ext cx="108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Text Box 14"/>
            <p:cNvSpPr txBox="1">
              <a:spLocks noChangeArrowheads="1"/>
            </p:cNvSpPr>
            <p:nvPr/>
          </p:nvSpPr>
          <p:spPr bwMode="auto">
            <a:xfrm>
              <a:off x="7044" y="1911"/>
              <a:ext cx="876" cy="468"/>
            </a:xfrm>
            <a:prstGeom prst="rect">
              <a:avLst/>
            </a:prstGeom>
            <a:solidFill>
              <a:srgbClr val="FFFFFF"/>
            </a:solidFill>
            <a:ln w="9525">
              <a:solidFill>
                <a:srgbClr val="000000"/>
              </a:solidFill>
              <a:miter lim="800000"/>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Teacher</a:t>
              </a:r>
              <a:endParaRPr lang="en-US" altLang="zh-CN" sz="2400" b="0">
                <a:latin typeface="Arial" panose="020B0604020202020204" pitchFamily="34" charset="0"/>
              </a:endParaRPr>
            </a:p>
          </p:txBody>
        </p:sp>
        <p:sp>
          <p:nvSpPr>
            <p:cNvPr id="17" name="Line 15"/>
            <p:cNvSpPr>
              <a:spLocks noChangeShapeType="1"/>
            </p:cNvSpPr>
            <p:nvPr/>
          </p:nvSpPr>
          <p:spPr bwMode="auto">
            <a:xfrm>
              <a:off x="7500" y="2388"/>
              <a:ext cx="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Text Box 16"/>
            <p:cNvSpPr txBox="1">
              <a:spLocks noChangeArrowheads="1"/>
            </p:cNvSpPr>
            <p:nvPr/>
          </p:nvSpPr>
          <p:spPr bwMode="auto">
            <a:xfrm>
              <a:off x="7044" y="3348"/>
              <a:ext cx="900" cy="468"/>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Dept</a:t>
              </a:r>
              <a:endParaRPr lang="en-US" altLang="zh-CN" sz="2400" b="0">
                <a:latin typeface="Arial" panose="020B0604020202020204" pitchFamily="34" charset="0"/>
              </a:endParaRPr>
            </a:p>
          </p:txBody>
        </p:sp>
        <p:sp>
          <p:nvSpPr>
            <p:cNvPr id="19" name="Text Box 17"/>
            <p:cNvSpPr txBox="1">
              <a:spLocks noChangeArrowheads="1"/>
            </p:cNvSpPr>
            <p:nvPr/>
          </p:nvSpPr>
          <p:spPr bwMode="auto">
            <a:xfrm>
              <a:off x="4140" y="4092"/>
              <a:ext cx="378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endParaRPr lang="zh-CN" altLang="en-US" sz="2400">
                <a:latin typeface="Arial" panose="020B0604020202020204" pitchFamily="34" charset="0"/>
              </a:endParaRPr>
            </a:p>
          </p:txBody>
        </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第二范式（</a:t>
            </a:r>
            <a:r>
              <a:rPr lang="en-US" altLang="zh-CN" dirty="0"/>
              <a:t>2</a:t>
            </a:r>
            <a:r>
              <a:rPr lang="en-GB" altLang="zh-CN" dirty="0"/>
              <a:t>NF</a:t>
            </a:r>
            <a:r>
              <a:rPr lang="zh-CN" altLang="en-GB" dirty="0"/>
              <a:t>）</a:t>
            </a:r>
            <a:endParaRPr lang="en-US" altLang="zh-CN" dirty="0"/>
          </a:p>
          <a:p>
            <a:pPr lvl="1">
              <a:lnSpc>
                <a:spcPct val="150000"/>
              </a:lnSpc>
            </a:pPr>
            <a:endParaRPr lang="en-US" altLang="zh-CN" dirty="0"/>
          </a:p>
          <a:p>
            <a:pPr lvl="1">
              <a:lnSpc>
                <a:spcPct val="150000"/>
              </a:lnSpc>
            </a:pPr>
            <a:endParaRPr lang="en-US" altLang="zh-CN" dirty="0"/>
          </a:p>
          <a:p>
            <a:pPr marL="457200" lvl="1" indent="0">
              <a:lnSpc>
                <a:spcPct val="150000"/>
              </a:lnSpc>
              <a:buNone/>
            </a:pPr>
            <a:endParaRPr lang="en-US" altLang="zh-CN" dirty="0"/>
          </a:p>
          <a:p>
            <a:pPr lvl="1">
              <a:lnSpc>
                <a:spcPct val="150000"/>
              </a:lnSpc>
            </a:pPr>
            <a:r>
              <a:rPr lang="en-US" altLang="zh-CN" dirty="0"/>
              <a:t>R</a:t>
            </a:r>
            <a:r>
              <a:rPr lang="zh-CN" altLang="en-US" dirty="0"/>
              <a:t>上有两个</a:t>
            </a:r>
            <a:r>
              <a:rPr lang="en-US" altLang="zh-CN" dirty="0"/>
              <a:t>FD</a:t>
            </a:r>
            <a:r>
              <a:rPr lang="zh-CN" altLang="en-US" dirty="0"/>
              <a:t>：（</a:t>
            </a:r>
            <a:r>
              <a:rPr lang="en-US" altLang="zh-CN" dirty="0"/>
              <a:t>S#</a:t>
            </a:r>
            <a:r>
              <a:rPr lang="zh-CN" altLang="en-US" dirty="0"/>
              <a:t>，</a:t>
            </a:r>
            <a:r>
              <a:rPr lang="en-US" altLang="zh-CN" dirty="0"/>
              <a:t>C#</a:t>
            </a:r>
            <a:r>
              <a:rPr lang="zh-CN" altLang="en-US" dirty="0"/>
              <a:t>）</a:t>
            </a:r>
            <a:r>
              <a:rPr lang="en-US" altLang="zh-CN" dirty="0"/>
              <a:t>→</a:t>
            </a:r>
            <a:r>
              <a:rPr lang="zh-CN" altLang="en-US" dirty="0"/>
              <a:t>（</a:t>
            </a:r>
            <a:r>
              <a:rPr lang="en-US" altLang="zh-CN" dirty="0"/>
              <a:t>Teacher</a:t>
            </a:r>
            <a:r>
              <a:rPr lang="zh-CN" altLang="en-US" dirty="0"/>
              <a:t>，</a:t>
            </a:r>
            <a:r>
              <a:rPr lang="en-US" altLang="zh-CN" dirty="0"/>
              <a:t>Dept</a:t>
            </a:r>
            <a:r>
              <a:rPr lang="zh-CN" altLang="en-US" dirty="0"/>
              <a:t>）和</a:t>
            </a:r>
            <a:r>
              <a:rPr lang="en-US" altLang="zh-CN" dirty="0"/>
              <a:t>C#→</a:t>
            </a:r>
            <a:r>
              <a:rPr lang="zh-CN" altLang="en-US" dirty="0"/>
              <a:t>（</a:t>
            </a:r>
            <a:r>
              <a:rPr lang="en-US" altLang="zh-CN" dirty="0"/>
              <a:t>Teacher</a:t>
            </a:r>
            <a:r>
              <a:rPr lang="zh-CN" altLang="en-US" dirty="0"/>
              <a:t>，</a:t>
            </a:r>
            <a:r>
              <a:rPr lang="en-US" altLang="zh-CN" dirty="0"/>
              <a:t>Dept</a:t>
            </a:r>
            <a:r>
              <a:rPr lang="zh-CN" altLang="en-US" dirty="0"/>
              <a:t>），由于前一个</a:t>
            </a:r>
            <a:r>
              <a:rPr lang="en-US" altLang="zh-CN" dirty="0"/>
              <a:t>FD</a:t>
            </a:r>
            <a:r>
              <a:rPr lang="zh-CN" altLang="en-US" dirty="0"/>
              <a:t>是部分依赖，因此</a:t>
            </a:r>
            <a:r>
              <a:rPr lang="en-US" altLang="zh-CN" dirty="0"/>
              <a:t>R</a:t>
            </a:r>
            <a:r>
              <a:rPr lang="zh-CN" altLang="en-US" dirty="0"/>
              <a:t>不是</a:t>
            </a:r>
            <a:r>
              <a:rPr lang="en-US" altLang="zh-CN" dirty="0"/>
              <a:t>2NF</a:t>
            </a:r>
            <a:r>
              <a:rPr lang="zh-CN" altLang="en-US" dirty="0"/>
              <a:t>模式。此时</a:t>
            </a:r>
            <a:r>
              <a:rPr lang="en-US" altLang="zh-CN" dirty="0"/>
              <a:t>R</a:t>
            </a:r>
            <a:r>
              <a:rPr lang="zh-CN" altLang="en-US" dirty="0"/>
              <a:t>的关系就会出现冗余和异常现象。譬如某一门课程有</a:t>
            </a:r>
            <a:r>
              <a:rPr lang="en-US" altLang="zh-CN" dirty="0"/>
              <a:t>100</a:t>
            </a:r>
            <a:r>
              <a:rPr lang="zh-CN" altLang="en-US" dirty="0"/>
              <a:t>个学生选修，那么在关系中就会存在</a:t>
            </a:r>
            <a:r>
              <a:rPr lang="en-US" altLang="zh-CN" dirty="0"/>
              <a:t>100</a:t>
            </a:r>
            <a:r>
              <a:rPr lang="zh-CN" altLang="en-US" dirty="0"/>
              <a:t>个元组，因而教师的姓名和所在系就会重复</a:t>
            </a:r>
            <a:r>
              <a:rPr lang="en-US" altLang="zh-CN" dirty="0"/>
              <a:t>100</a:t>
            </a:r>
            <a:r>
              <a:rPr lang="zh-CN" altLang="en-US" dirty="0"/>
              <a:t>次。</a:t>
            </a:r>
            <a:endParaRPr lang="zh-CN" altLang="en-US"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grpSp>
        <p:nvGrpSpPr>
          <p:cNvPr id="20" name="组合 1"/>
          <p:cNvGrpSpPr/>
          <p:nvPr/>
        </p:nvGrpSpPr>
        <p:grpSpPr bwMode="auto">
          <a:xfrm>
            <a:off x="4008207" y="1149350"/>
            <a:ext cx="7056437" cy="2279650"/>
            <a:chOff x="854743" y="1589562"/>
            <a:chExt cx="7056438" cy="2279708"/>
          </a:xfrm>
        </p:grpSpPr>
        <p:sp>
          <p:nvSpPr>
            <p:cNvPr id="21" name="Text Box 6"/>
            <p:cNvSpPr txBox="1">
              <a:spLocks noChangeArrowheads="1"/>
            </p:cNvSpPr>
            <p:nvPr/>
          </p:nvSpPr>
          <p:spPr bwMode="auto">
            <a:xfrm>
              <a:off x="854743" y="1589562"/>
              <a:ext cx="1335603" cy="559174"/>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S#</a:t>
              </a:r>
              <a:endParaRPr lang="en-US" altLang="zh-CN" sz="2400" b="0">
                <a:latin typeface="Arial" panose="020B0604020202020204" pitchFamily="34" charset="0"/>
              </a:endParaRPr>
            </a:p>
          </p:txBody>
        </p:sp>
        <p:sp>
          <p:nvSpPr>
            <p:cNvPr id="22" name="Text Box 7"/>
            <p:cNvSpPr txBox="1">
              <a:spLocks noChangeArrowheads="1"/>
            </p:cNvSpPr>
            <p:nvPr/>
          </p:nvSpPr>
          <p:spPr bwMode="auto">
            <a:xfrm>
              <a:off x="2858148" y="1589562"/>
              <a:ext cx="1335603" cy="559174"/>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C#</a:t>
              </a:r>
              <a:endParaRPr lang="en-US" altLang="zh-CN" sz="2400" b="0">
                <a:latin typeface="Arial" panose="020B0604020202020204" pitchFamily="34" charset="0"/>
              </a:endParaRPr>
            </a:p>
          </p:txBody>
        </p:sp>
        <p:sp>
          <p:nvSpPr>
            <p:cNvPr id="23" name="Line 8"/>
            <p:cNvSpPr>
              <a:spLocks noChangeShapeType="1"/>
            </p:cNvSpPr>
            <p:nvPr/>
          </p:nvSpPr>
          <p:spPr bwMode="auto">
            <a:xfrm>
              <a:off x="1522545" y="2148736"/>
              <a:ext cx="0" cy="55917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9"/>
            <p:cNvSpPr>
              <a:spLocks noChangeShapeType="1"/>
            </p:cNvSpPr>
            <p:nvPr/>
          </p:nvSpPr>
          <p:spPr bwMode="auto">
            <a:xfrm>
              <a:off x="3525950" y="2148736"/>
              <a:ext cx="0" cy="55917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10"/>
            <p:cNvSpPr>
              <a:spLocks noChangeShapeType="1"/>
            </p:cNvSpPr>
            <p:nvPr/>
          </p:nvSpPr>
          <p:spPr bwMode="auto">
            <a:xfrm>
              <a:off x="1522545" y="2707909"/>
              <a:ext cx="200340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11"/>
            <p:cNvSpPr>
              <a:spLocks noChangeShapeType="1"/>
            </p:cNvSpPr>
            <p:nvPr/>
          </p:nvSpPr>
          <p:spPr bwMode="auto">
            <a:xfrm>
              <a:off x="2524247" y="2707909"/>
              <a:ext cx="0" cy="55917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Text Box 12"/>
            <p:cNvSpPr txBox="1">
              <a:spLocks noChangeArrowheads="1"/>
            </p:cNvSpPr>
            <p:nvPr/>
          </p:nvSpPr>
          <p:spPr bwMode="auto">
            <a:xfrm>
              <a:off x="1678365" y="3267083"/>
              <a:ext cx="1669504" cy="559174"/>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Grade</a:t>
              </a:r>
              <a:endParaRPr lang="en-US" altLang="zh-CN" sz="2400" b="0">
                <a:latin typeface="Arial" panose="020B0604020202020204" pitchFamily="34" charset="0"/>
              </a:endParaRPr>
            </a:p>
          </p:txBody>
        </p:sp>
        <p:sp>
          <p:nvSpPr>
            <p:cNvPr id="28" name="Line 13"/>
            <p:cNvSpPr>
              <a:spLocks noChangeShapeType="1"/>
            </p:cNvSpPr>
            <p:nvPr/>
          </p:nvSpPr>
          <p:spPr bwMode="auto">
            <a:xfrm>
              <a:off x="4193752" y="1861980"/>
              <a:ext cx="200340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Text Box 14"/>
            <p:cNvSpPr txBox="1">
              <a:spLocks noChangeArrowheads="1"/>
            </p:cNvSpPr>
            <p:nvPr/>
          </p:nvSpPr>
          <p:spPr bwMode="auto">
            <a:xfrm>
              <a:off x="6241677" y="1593146"/>
              <a:ext cx="1624984" cy="559174"/>
            </a:xfrm>
            <a:prstGeom prst="rect">
              <a:avLst/>
            </a:prstGeom>
            <a:solidFill>
              <a:srgbClr val="FFFFFF"/>
            </a:solidFill>
            <a:ln w="9525">
              <a:solidFill>
                <a:srgbClr val="000000"/>
              </a:solidFill>
              <a:miter lim="800000"/>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Teacher</a:t>
              </a:r>
              <a:endParaRPr lang="en-US" altLang="zh-CN" sz="2400" b="0">
                <a:latin typeface="Arial" panose="020B0604020202020204" pitchFamily="34" charset="0"/>
              </a:endParaRPr>
            </a:p>
          </p:txBody>
        </p:sp>
        <p:sp>
          <p:nvSpPr>
            <p:cNvPr id="30" name="Line 15"/>
            <p:cNvSpPr>
              <a:spLocks noChangeShapeType="1"/>
            </p:cNvSpPr>
            <p:nvPr/>
          </p:nvSpPr>
          <p:spPr bwMode="auto">
            <a:xfrm>
              <a:off x="7087559" y="2163073"/>
              <a:ext cx="0" cy="111834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Text Box 16"/>
            <p:cNvSpPr txBox="1">
              <a:spLocks noChangeArrowheads="1"/>
            </p:cNvSpPr>
            <p:nvPr/>
          </p:nvSpPr>
          <p:spPr bwMode="auto">
            <a:xfrm>
              <a:off x="6241677" y="3310096"/>
              <a:ext cx="1669504" cy="559174"/>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Dept</a:t>
              </a:r>
              <a:endParaRPr lang="en-US" altLang="zh-CN" sz="2400" b="0">
                <a:latin typeface="Arial" panose="020B0604020202020204" pitchFamily="34" charset="0"/>
              </a:endParaRPr>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第二范式（</a:t>
            </a:r>
            <a:r>
              <a:rPr lang="en-US" altLang="zh-CN" dirty="0"/>
              <a:t>2</a:t>
            </a:r>
            <a:r>
              <a:rPr lang="en-GB" altLang="zh-CN" dirty="0"/>
              <a:t>NF</a:t>
            </a:r>
            <a:r>
              <a:rPr lang="zh-CN" altLang="en-GB" dirty="0"/>
              <a:t>）</a:t>
            </a:r>
            <a:endParaRPr lang="zh-CN" altLang="en-US" dirty="0"/>
          </a:p>
          <a:p>
            <a:pPr lvl="1">
              <a:lnSpc>
                <a:spcPct val="150000"/>
              </a:lnSpc>
            </a:pPr>
            <a:endParaRPr lang="en-US" altLang="zh-CN" dirty="0"/>
          </a:p>
          <a:p>
            <a:pPr lvl="1">
              <a:lnSpc>
                <a:spcPct val="150000"/>
              </a:lnSpc>
            </a:pPr>
            <a:endParaRPr lang="en-US" altLang="zh-CN" dirty="0"/>
          </a:p>
          <a:p>
            <a:pPr marL="457200" lvl="1" indent="0">
              <a:lnSpc>
                <a:spcPct val="150000"/>
              </a:lnSpc>
              <a:buNone/>
            </a:pPr>
            <a:endParaRPr lang="en-US" altLang="zh-CN" dirty="0"/>
          </a:p>
          <a:p>
            <a:pPr lvl="1">
              <a:lnSpc>
                <a:spcPct val="150000"/>
              </a:lnSpc>
            </a:pPr>
            <a:r>
              <a:rPr lang="zh-CN" altLang="en-US" dirty="0"/>
              <a:t>如果把</a:t>
            </a:r>
            <a:r>
              <a:rPr lang="en-US" altLang="zh-CN" dirty="0"/>
              <a:t>R</a:t>
            </a:r>
            <a:r>
              <a:rPr lang="zh-CN" altLang="en-US" dirty="0"/>
              <a:t>分解成</a:t>
            </a:r>
            <a:r>
              <a:rPr lang="en-US" altLang="zh-CN" dirty="0">
                <a:solidFill>
                  <a:srgbClr val="FF9933"/>
                </a:solidFill>
              </a:rPr>
              <a:t>R</a:t>
            </a:r>
            <a:r>
              <a:rPr lang="en-US" altLang="zh-CN" baseline="-25000" dirty="0">
                <a:solidFill>
                  <a:srgbClr val="FF9933"/>
                </a:solidFill>
              </a:rPr>
              <a:t>1</a:t>
            </a:r>
            <a:r>
              <a:rPr lang="zh-CN" altLang="en-US" dirty="0"/>
              <a:t>（</a:t>
            </a:r>
            <a:r>
              <a:rPr lang="en-US" altLang="zh-CN" dirty="0"/>
              <a:t>C#</a:t>
            </a:r>
            <a:r>
              <a:rPr lang="zh-CN" altLang="en-US" dirty="0"/>
              <a:t>，</a:t>
            </a:r>
            <a:r>
              <a:rPr lang="en-US" altLang="zh-CN" dirty="0"/>
              <a:t>Teacher</a:t>
            </a:r>
            <a:r>
              <a:rPr lang="zh-CN" altLang="en-US" dirty="0"/>
              <a:t>，</a:t>
            </a:r>
            <a:r>
              <a:rPr lang="en-US" altLang="zh-CN" dirty="0"/>
              <a:t>Dept</a:t>
            </a:r>
            <a:r>
              <a:rPr lang="zh-CN" altLang="en-US" dirty="0"/>
              <a:t>）和</a:t>
            </a:r>
            <a:r>
              <a:rPr lang="en-US" altLang="zh-CN" dirty="0">
                <a:solidFill>
                  <a:srgbClr val="FF9933"/>
                </a:solidFill>
              </a:rPr>
              <a:t>R</a:t>
            </a:r>
            <a:r>
              <a:rPr lang="en-US" altLang="zh-CN" baseline="-25000" dirty="0">
                <a:solidFill>
                  <a:srgbClr val="FF9933"/>
                </a:solidFill>
              </a:rPr>
              <a:t>2</a:t>
            </a:r>
            <a:r>
              <a:rPr lang="zh-CN" altLang="en-US" dirty="0"/>
              <a:t>（</a:t>
            </a:r>
            <a:r>
              <a:rPr lang="en-US" altLang="zh-CN" dirty="0"/>
              <a:t>S#</a:t>
            </a:r>
            <a:r>
              <a:rPr lang="zh-CN" altLang="en-US" dirty="0"/>
              <a:t>，</a:t>
            </a:r>
            <a:r>
              <a:rPr lang="en-US" altLang="zh-CN" dirty="0"/>
              <a:t>C#</a:t>
            </a:r>
            <a:r>
              <a:rPr lang="zh-CN" altLang="en-US" dirty="0"/>
              <a:t>，</a:t>
            </a:r>
            <a:r>
              <a:rPr lang="en-US" altLang="zh-CN" dirty="0"/>
              <a:t>Grade</a:t>
            </a:r>
            <a:r>
              <a:rPr lang="zh-CN" altLang="en-US" dirty="0"/>
              <a:t>）后，部分依赖（</a:t>
            </a:r>
            <a:r>
              <a:rPr lang="en-US" altLang="zh-CN" dirty="0"/>
              <a:t>S#</a:t>
            </a:r>
            <a:r>
              <a:rPr lang="zh-CN" altLang="en-US" dirty="0"/>
              <a:t>，</a:t>
            </a:r>
            <a:r>
              <a:rPr lang="en-US" altLang="zh-CN" dirty="0"/>
              <a:t>C#</a:t>
            </a:r>
            <a:r>
              <a:rPr lang="zh-CN" altLang="en-US" dirty="0"/>
              <a:t>）</a:t>
            </a:r>
            <a:r>
              <a:rPr lang="en-US" altLang="zh-CN" dirty="0"/>
              <a:t>→</a:t>
            </a:r>
            <a:r>
              <a:rPr lang="zh-CN" altLang="en-US" dirty="0"/>
              <a:t>（</a:t>
            </a:r>
            <a:r>
              <a:rPr lang="en-US" altLang="zh-CN" dirty="0"/>
              <a:t>Teacher</a:t>
            </a:r>
            <a:r>
              <a:rPr lang="zh-CN" altLang="en-US" dirty="0"/>
              <a:t>，</a:t>
            </a:r>
            <a:r>
              <a:rPr lang="en-US" altLang="zh-CN" dirty="0"/>
              <a:t>Dept</a:t>
            </a:r>
            <a:r>
              <a:rPr lang="zh-CN" altLang="en-US" dirty="0"/>
              <a:t>）就消失了。</a:t>
            </a:r>
            <a:r>
              <a:rPr lang="en-US" altLang="zh-CN" dirty="0"/>
              <a:t>R</a:t>
            </a:r>
            <a:r>
              <a:rPr lang="en-US" altLang="zh-CN" baseline="-25000" dirty="0"/>
              <a:t>1</a:t>
            </a:r>
            <a:r>
              <a:rPr lang="zh-CN" altLang="en-US" dirty="0"/>
              <a:t>和</a:t>
            </a:r>
            <a:r>
              <a:rPr lang="en-US" altLang="zh-CN" dirty="0"/>
              <a:t>R</a:t>
            </a:r>
            <a:r>
              <a:rPr lang="en-US" altLang="zh-CN" baseline="-25000" dirty="0"/>
              <a:t>2</a:t>
            </a:r>
            <a:r>
              <a:rPr lang="zh-CN" altLang="en-US" dirty="0"/>
              <a:t>都是</a:t>
            </a:r>
            <a:r>
              <a:rPr lang="en-US" altLang="zh-CN" dirty="0"/>
              <a:t>2NF</a:t>
            </a:r>
            <a:r>
              <a:rPr lang="zh-CN" altLang="en-US" dirty="0"/>
              <a:t>模式 </a:t>
            </a:r>
            <a:endParaRPr lang="zh-CN" altLang="en-US"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grpSp>
        <p:nvGrpSpPr>
          <p:cNvPr id="20" name="组合 1"/>
          <p:cNvGrpSpPr/>
          <p:nvPr/>
        </p:nvGrpSpPr>
        <p:grpSpPr bwMode="auto">
          <a:xfrm>
            <a:off x="4008207" y="1149350"/>
            <a:ext cx="7056437" cy="2279650"/>
            <a:chOff x="854743" y="1589562"/>
            <a:chExt cx="7056438" cy="2279708"/>
          </a:xfrm>
        </p:grpSpPr>
        <p:sp>
          <p:nvSpPr>
            <p:cNvPr id="21" name="Text Box 6"/>
            <p:cNvSpPr txBox="1">
              <a:spLocks noChangeArrowheads="1"/>
            </p:cNvSpPr>
            <p:nvPr/>
          </p:nvSpPr>
          <p:spPr bwMode="auto">
            <a:xfrm>
              <a:off x="854743" y="1589562"/>
              <a:ext cx="1335603" cy="559174"/>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S#</a:t>
              </a:r>
              <a:endParaRPr lang="en-US" altLang="zh-CN" sz="2400" b="0">
                <a:latin typeface="Arial" panose="020B0604020202020204" pitchFamily="34" charset="0"/>
              </a:endParaRPr>
            </a:p>
          </p:txBody>
        </p:sp>
        <p:sp>
          <p:nvSpPr>
            <p:cNvPr id="22" name="Text Box 7"/>
            <p:cNvSpPr txBox="1">
              <a:spLocks noChangeArrowheads="1"/>
            </p:cNvSpPr>
            <p:nvPr/>
          </p:nvSpPr>
          <p:spPr bwMode="auto">
            <a:xfrm>
              <a:off x="2858148" y="1589562"/>
              <a:ext cx="1335603" cy="559174"/>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dirty="0">
                  <a:latin typeface="Times New Roman" panose="02020603050405020304" pitchFamily="18" charset="0"/>
                </a:rPr>
                <a:t>C#</a:t>
              </a:r>
              <a:endParaRPr lang="en-US" altLang="zh-CN" sz="2400" b="0" dirty="0">
                <a:latin typeface="Arial" panose="020B0604020202020204" pitchFamily="34" charset="0"/>
              </a:endParaRPr>
            </a:p>
          </p:txBody>
        </p:sp>
        <p:sp>
          <p:nvSpPr>
            <p:cNvPr id="23" name="Line 8"/>
            <p:cNvSpPr>
              <a:spLocks noChangeShapeType="1"/>
            </p:cNvSpPr>
            <p:nvPr/>
          </p:nvSpPr>
          <p:spPr bwMode="auto">
            <a:xfrm>
              <a:off x="1522545" y="2148736"/>
              <a:ext cx="0" cy="55917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Line 9"/>
            <p:cNvSpPr>
              <a:spLocks noChangeShapeType="1"/>
            </p:cNvSpPr>
            <p:nvPr/>
          </p:nvSpPr>
          <p:spPr bwMode="auto">
            <a:xfrm>
              <a:off x="3525950" y="2148736"/>
              <a:ext cx="0" cy="55917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 name="Line 10"/>
            <p:cNvSpPr>
              <a:spLocks noChangeShapeType="1"/>
            </p:cNvSpPr>
            <p:nvPr/>
          </p:nvSpPr>
          <p:spPr bwMode="auto">
            <a:xfrm>
              <a:off x="1522545" y="2707909"/>
              <a:ext cx="200340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Line 11"/>
            <p:cNvSpPr>
              <a:spLocks noChangeShapeType="1"/>
            </p:cNvSpPr>
            <p:nvPr/>
          </p:nvSpPr>
          <p:spPr bwMode="auto">
            <a:xfrm>
              <a:off x="2524247" y="2707909"/>
              <a:ext cx="0" cy="55917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Text Box 12"/>
            <p:cNvSpPr txBox="1">
              <a:spLocks noChangeArrowheads="1"/>
            </p:cNvSpPr>
            <p:nvPr/>
          </p:nvSpPr>
          <p:spPr bwMode="auto">
            <a:xfrm>
              <a:off x="1678365" y="3267083"/>
              <a:ext cx="1669504" cy="559174"/>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dirty="0">
                  <a:latin typeface="Times New Roman" panose="02020603050405020304" pitchFamily="18" charset="0"/>
                </a:rPr>
                <a:t>Grade</a:t>
              </a:r>
              <a:endParaRPr lang="en-US" altLang="zh-CN" sz="2400" b="0" dirty="0">
                <a:latin typeface="Arial" panose="020B0604020202020204" pitchFamily="34" charset="0"/>
              </a:endParaRPr>
            </a:p>
          </p:txBody>
        </p:sp>
        <p:sp>
          <p:nvSpPr>
            <p:cNvPr id="28" name="Line 13"/>
            <p:cNvSpPr>
              <a:spLocks noChangeShapeType="1"/>
            </p:cNvSpPr>
            <p:nvPr/>
          </p:nvSpPr>
          <p:spPr bwMode="auto">
            <a:xfrm>
              <a:off x="4193752" y="1861980"/>
              <a:ext cx="200340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Text Box 14"/>
            <p:cNvSpPr txBox="1">
              <a:spLocks noChangeArrowheads="1"/>
            </p:cNvSpPr>
            <p:nvPr/>
          </p:nvSpPr>
          <p:spPr bwMode="auto">
            <a:xfrm>
              <a:off x="6241677" y="1593146"/>
              <a:ext cx="1624984" cy="559174"/>
            </a:xfrm>
            <a:prstGeom prst="rect">
              <a:avLst/>
            </a:prstGeom>
            <a:solidFill>
              <a:srgbClr val="FFFFFF"/>
            </a:solidFill>
            <a:ln w="9525">
              <a:solidFill>
                <a:srgbClr val="000000"/>
              </a:solidFill>
              <a:miter lim="800000"/>
            </a:ln>
          </p:spPr>
          <p:txBody>
            <a:bodyPr lIns="0" rIns="0"/>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Teacher</a:t>
              </a:r>
              <a:endParaRPr lang="en-US" altLang="zh-CN" sz="2400" b="0">
                <a:latin typeface="Arial" panose="020B0604020202020204" pitchFamily="34" charset="0"/>
              </a:endParaRPr>
            </a:p>
          </p:txBody>
        </p:sp>
        <p:sp>
          <p:nvSpPr>
            <p:cNvPr id="30" name="Line 15"/>
            <p:cNvSpPr>
              <a:spLocks noChangeShapeType="1"/>
            </p:cNvSpPr>
            <p:nvPr/>
          </p:nvSpPr>
          <p:spPr bwMode="auto">
            <a:xfrm>
              <a:off x="7087559" y="2163073"/>
              <a:ext cx="0" cy="111834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Text Box 16"/>
            <p:cNvSpPr txBox="1">
              <a:spLocks noChangeArrowheads="1"/>
            </p:cNvSpPr>
            <p:nvPr/>
          </p:nvSpPr>
          <p:spPr bwMode="auto">
            <a:xfrm>
              <a:off x="6241677" y="3310096"/>
              <a:ext cx="1669504" cy="559174"/>
            </a:xfrm>
            <a:prstGeom prst="rect">
              <a:avLst/>
            </a:prstGeom>
            <a:solidFill>
              <a:srgbClr val="FFFFFF"/>
            </a:solidFill>
            <a:ln w="9525">
              <a:solidFill>
                <a:srgbClr val="000000"/>
              </a:solidFill>
              <a:miter lim="800000"/>
            </a:ln>
          </p:spPr>
          <p:txBody>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lang="en-US" altLang="zh-CN" sz="2400" b="0">
                  <a:latin typeface="Times New Roman" panose="02020603050405020304" pitchFamily="18" charset="0"/>
                </a:rPr>
                <a:t>Dept</a:t>
              </a:r>
              <a:endParaRPr lang="en-US" altLang="zh-CN" sz="2400" b="0">
                <a:latin typeface="Arial" panose="020B0604020202020204" pitchFamily="34" charset="0"/>
              </a:endParaRPr>
            </a:p>
          </p:txBody>
        </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第三范式（</a:t>
            </a:r>
            <a:r>
              <a:rPr lang="en-US" altLang="zh-CN" dirty="0"/>
              <a:t>3</a:t>
            </a:r>
            <a:r>
              <a:rPr lang="en-GB" altLang="zh-CN" dirty="0"/>
              <a:t>NF</a:t>
            </a:r>
            <a:r>
              <a:rPr lang="zh-CN" altLang="en-GB" dirty="0"/>
              <a:t>）</a:t>
            </a:r>
            <a:endParaRPr lang="en-US" altLang="zh-CN" dirty="0"/>
          </a:p>
          <a:p>
            <a:pPr lvl="1">
              <a:lnSpc>
                <a:spcPct val="150000"/>
              </a:lnSpc>
            </a:pPr>
            <a:r>
              <a:rPr lang="zh-CN" altLang="zh-CN" dirty="0"/>
              <a:t>定义4</a:t>
            </a:r>
            <a:r>
              <a:rPr lang="zh-CN" altLang="en-US" dirty="0"/>
              <a:t>.</a:t>
            </a:r>
            <a:r>
              <a:rPr lang="en-US" altLang="zh-CN" dirty="0"/>
              <a:t>24</a:t>
            </a:r>
            <a:r>
              <a:rPr lang="zh-CN" altLang="zh-CN" dirty="0"/>
              <a:t>：如果关系模式R中的非主属性既不部分函数依赖也不传递函数依赖于R上的所有候选键，则称R满足3NF，表示为R∈3NF</a:t>
            </a:r>
            <a:endParaRPr lang="en-US" altLang="zh-CN" dirty="0"/>
          </a:p>
          <a:p>
            <a:pPr lvl="1">
              <a:lnSpc>
                <a:spcPct val="150000"/>
              </a:lnSpc>
            </a:pPr>
            <a:r>
              <a:rPr lang="zh-CN" altLang="zh-CN" dirty="0"/>
              <a:t>3NF是在2NF的基础上消除非主属性对于键的传递依赖</a:t>
            </a:r>
            <a:endParaRPr lang="en-US" altLang="zh-CN" dirty="0"/>
          </a:p>
          <a:p>
            <a:pPr lvl="1">
              <a:lnSpc>
                <a:spcPct val="150000"/>
              </a:lnSpc>
            </a:pPr>
            <a:r>
              <a:rPr lang="zh-CN" altLang="en-US" dirty="0">
                <a:solidFill>
                  <a:schemeClr val="bg1">
                    <a:lumMod val="65000"/>
                  </a:schemeClr>
                </a:solidFill>
              </a:rPr>
              <a:t>如果数据库模式中每个关系模式都是</a:t>
            </a:r>
            <a:r>
              <a:rPr lang="en-US" altLang="zh-CN" dirty="0">
                <a:solidFill>
                  <a:schemeClr val="bg1">
                    <a:lumMod val="65000"/>
                  </a:schemeClr>
                </a:solidFill>
              </a:rPr>
              <a:t>3NF</a:t>
            </a:r>
            <a:r>
              <a:rPr lang="zh-CN" altLang="en-US" dirty="0">
                <a:solidFill>
                  <a:schemeClr val="bg1">
                    <a:lumMod val="65000"/>
                  </a:schemeClr>
                </a:solidFill>
              </a:rPr>
              <a:t>，则称其为</a:t>
            </a:r>
            <a:r>
              <a:rPr lang="en-US" altLang="zh-CN" dirty="0">
                <a:solidFill>
                  <a:schemeClr val="bg1">
                    <a:lumMod val="65000"/>
                  </a:schemeClr>
                </a:solidFill>
              </a:rPr>
              <a:t>3NF</a:t>
            </a:r>
            <a:r>
              <a:rPr lang="zh-CN" altLang="en-US" dirty="0">
                <a:solidFill>
                  <a:schemeClr val="bg1">
                    <a:lumMod val="65000"/>
                  </a:schemeClr>
                </a:solidFill>
              </a:rPr>
              <a:t>的数据库模式 </a:t>
            </a:r>
            <a:endParaRPr lang="zh-CN" altLang="en-US" dirty="0">
              <a:solidFill>
                <a:schemeClr val="bg1">
                  <a:lumMod val="65000"/>
                </a:schemeClr>
              </a:solidFill>
            </a:endParaRPr>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第三范式（</a:t>
            </a:r>
            <a:r>
              <a:rPr lang="en-US" altLang="zh-CN" dirty="0"/>
              <a:t>3</a:t>
            </a:r>
            <a:r>
              <a:rPr lang="en-GB" altLang="zh-CN" dirty="0"/>
              <a:t>NF</a:t>
            </a:r>
            <a:r>
              <a:rPr lang="zh-CN" altLang="en-GB" dirty="0"/>
              <a:t>）</a:t>
            </a:r>
            <a:endParaRPr lang="en-US" altLang="zh-CN" dirty="0"/>
          </a:p>
          <a:p>
            <a:pPr lvl="1"/>
            <a:r>
              <a:rPr lang="zh-CN" altLang="en-US" i="1" dirty="0"/>
              <a:t>例</a:t>
            </a:r>
            <a:r>
              <a:rPr lang="en-US" altLang="zh-CN" i="1" dirty="0"/>
              <a:t>4.15  </a:t>
            </a:r>
            <a:r>
              <a:rPr lang="zh-CN" altLang="en-US" dirty="0"/>
              <a:t>在例</a:t>
            </a:r>
            <a:r>
              <a:rPr lang="en-US" altLang="zh-CN" dirty="0"/>
              <a:t>4.14</a:t>
            </a:r>
            <a:r>
              <a:rPr lang="zh-CN" altLang="en-US" dirty="0"/>
              <a:t>中，</a:t>
            </a:r>
            <a:r>
              <a:rPr lang="en-US" altLang="zh-CN" dirty="0"/>
              <a:t>R</a:t>
            </a:r>
            <a:r>
              <a:rPr lang="en-US" altLang="zh-CN" baseline="-25000" dirty="0"/>
              <a:t>2</a:t>
            </a:r>
            <a:r>
              <a:rPr lang="zh-CN" altLang="en-US" dirty="0"/>
              <a:t>是</a:t>
            </a:r>
            <a:r>
              <a:rPr lang="en-US" altLang="zh-CN" dirty="0"/>
              <a:t>2NF</a:t>
            </a:r>
            <a:r>
              <a:rPr lang="zh-CN" altLang="en-US" dirty="0"/>
              <a:t>模式，而且也已是</a:t>
            </a:r>
            <a:r>
              <a:rPr lang="en-US" altLang="zh-CN" dirty="0"/>
              <a:t>3NF</a:t>
            </a:r>
            <a:r>
              <a:rPr lang="zh-CN" altLang="en-US" dirty="0"/>
              <a:t>模式。但</a:t>
            </a:r>
            <a:r>
              <a:rPr lang="en-US" altLang="zh-CN" dirty="0"/>
              <a:t>R</a:t>
            </a:r>
            <a:r>
              <a:rPr lang="en-US" altLang="zh-CN" baseline="-25000" dirty="0"/>
              <a:t>1</a:t>
            </a:r>
            <a:r>
              <a:rPr lang="zh-CN" altLang="en-US" dirty="0"/>
              <a:t>（</a:t>
            </a:r>
            <a:r>
              <a:rPr lang="en-US" altLang="zh-CN" dirty="0"/>
              <a:t>C#</a:t>
            </a:r>
            <a:r>
              <a:rPr lang="zh-CN" altLang="en-US" dirty="0"/>
              <a:t>，</a:t>
            </a:r>
            <a:r>
              <a:rPr lang="en-US" altLang="zh-CN" dirty="0"/>
              <a:t>Teacher</a:t>
            </a:r>
            <a:r>
              <a:rPr lang="zh-CN" altLang="en-US" dirty="0"/>
              <a:t>，</a:t>
            </a:r>
            <a:r>
              <a:rPr lang="en-US" altLang="zh-CN" dirty="0"/>
              <a:t>Dept</a:t>
            </a:r>
            <a:r>
              <a:rPr lang="zh-CN" altLang="en-US" dirty="0"/>
              <a:t>）是</a:t>
            </a:r>
            <a:r>
              <a:rPr lang="en-US" altLang="zh-CN" dirty="0"/>
              <a:t>2NF</a:t>
            </a:r>
            <a:r>
              <a:rPr lang="zh-CN" altLang="en-US" dirty="0"/>
              <a:t>模式，却不是</a:t>
            </a:r>
            <a:r>
              <a:rPr lang="en-US" altLang="zh-CN" dirty="0"/>
              <a:t>3NF</a:t>
            </a:r>
            <a:r>
              <a:rPr lang="zh-CN" altLang="en-US" dirty="0"/>
              <a:t>模式。如果</a:t>
            </a:r>
            <a:r>
              <a:rPr lang="en-US" altLang="zh-CN" dirty="0"/>
              <a:t>R</a:t>
            </a:r>
            <a:r>
              <a:rPr lang="en-US" altLang="zh-CN" baseline="-25000" dirty="0"/>
              <a:t>1</a:t>
            </a:r>
            <a:r>
              <a:rPr lang="zh-CN" altLang="en-US" dirty="0"/>
              <a:t>中存在函数依赖</a:t>
            </a:r>
            <a:r>
              <a:rPr lang="en-US" altLang="zh-CN" dirty="0"/>
              <a:t>C#→Teacher</a:t>
            </a:r>
            <a:r>
              <a:rPr lang="zh-CN" altLang="en-US" dirty="0"/>
              <a:t>和</a:t>
            </a:r>
            <a:r>
              <a:rPr lang="en-US" altLang="zh-CN" dirty="0" err="1"/>
              <a:t>Teacher→Dept</a:t>
            </a:r>
            <a:r>
              <a:rPr lang="zh-CN" altLang="en-US" dirty="0"/>
              <a:t>，那么</a:t>
            </a:r>
            <a:r>
              <a:rPr lang="en-US" altLang="zh-CN" dirty="0"/>
              <a:t>C#→Dept</a:t>
            </a:r>
            <a:r>
              <a:rPr lang="zh-CN" altLang="en-US" dirty="0"/>
              <a:t>就是一个传递依赖，即</a:t>
            </a:r>
            <a:r>
              <a:rPr lang="en-US" altLang="zh-CN" dirty="0"/>
              <a:t>R</a:t>
            </a:r>
            <a:r>
              <a:rPr lang="en-US" altLang="zh-CN" baseline="-25000" dirty="0"/>
              <a:t>1</a:t>
            </a:r>
            <a:r>
              <a:rPr lang="zh-CN" altLang="en-US" dirty="0"/>
              <a:t>不是</a:t>
            </a:r>
            <a:r>
              <a:rPr lang="en-US" altLang="zh-CN" dirty="0"/>
              <a:t>3NF</a:t>
            </a:r>
            <a:r>
              <a:rPr lang="zh-CN" altLang="en-US" dirty="0"/>
              <a:t>模式。此时</a:t>
            </a:r>
            <a:r>
              <a:rPr lang="en-US" altLang="zh-CN" dirty="0"/>
              <a:t>R</a:t>
            </a:r>
            <a:r>
              <a:rPr lang="en-US" altLang="zh-CN" baseline="-25000" dirty="0"/>
              <a:t>1</a:t>
            </a:r>
            <a:r>
              <a:rPr lang="zh-CN" altLang="en-US" dirty="0"/>
              <a:t>的关系中也会出现冗余和异常操作。譬如一个教师开设五门课程，那么关系中就会出现五个元组，教师的</a:t>
            </a:r>
            <a:r>
              <a:rPr lang="en-US" altLang="zh-CN" dirty="0"/>
              <a:t>Dept</a:t>
            </a:r>
            <a:r>
              <a:rPr lang="zh-CN" altLang="en-US" dirty="0"/>
              <a:t>就会重复五次。</a:t>
            </a:r>
            <a:endParaRPr lang="en-US" altLang="zh-CN" dirty="0"/>
          </a:p>
          <a:p>
            <a:pPr lvl="1"/>
            <a:r>
              <a:rPr lang="zh-CN" altLang="en-US" dirty="0"/>
              <a:t>如果把</a:t>
            </a:r>
            <a:r>
              <a:rPr lang="en-US" altLang="zh-CN" dirty="0"/>
              <a:t>R</a:t>
            </a:r>
            <a:r>
              <a:rPr lang="en-US" altLang="zh-CN" baseline="-25000" dirty="0"/>
              <a:t>2</a:t>
            </a:r>
            <a:r>
              <a:rPr lang="zh-CN" altLang="en-US" dirty="0"/>
              <a:t>分解成</a:t>
            </a:r>
            <a:r>
              <a:rPr lang="en-US" altLang="zh-CN" dirty="0"/>
              <a:t>R</a:t>
            </a:r>
            <a:r>
              <a:rPr lang="en-US" altLang="zh-CN" baseline="-25000" dirty="0"/>
              <a:t>21</a:t>
            </a:r>
            <a:r>
              <a:rPr lang="zh-CN" altLang="en-US" dirty="0"/>
              <a:t>（</a:t>
            </a:r>
            <a:r>
              <a:rPr lang="en-US" altLang="zh-CN" dirty="0"/>
              <a:t>Teacher</a:t>
            </a:r>
            <a:r>
              <a:rPr lang="zh-CN" altLang="en-US" dirty="0"/>
              <a:t>，</a:t>
            </a:r>
            <a:r>
              <a:rPr lang="en-US" altLang="zh-CN" dirty="0"/>
              <a:t>Dept</a:t>
            </a:r>
            <a:r>
              <a:rPr lang="zh-CN" altLang="en-US" dirty="0"/>
              <a:t>）和</a:t>
            </a:r>
            <a:r>
              <a:rPr lang="en-US" altLang="zh-CN" dirty="0"/>
              <a:t>R</a:t>
            </a:r>
            <a:r>
              <a:rPr lang="en-US" altLang="zh-CN" baseline="-25000" dirty="0"/>
              <a:t>22</a:t>
            </a:r>
            <a:r>
              <a:rPr lang="zh-CN" altLang="en-US" dirty="0"/>
              <a:t>（</a:t>
            </a:r>
            <a:r>
              <a:rPr lang="en-US" altLang="zh-CN" dirty="0"/>
              <a:t>C#</a:t>
            </a:r>
            <a:r>
              <a:rPr lang="zh-CN" altLang="en-US" dirty="0"/>
              <a:t>，</a:t>
            </a:r>
            <a:r>
              <a:rPr lang="en-US" altLang="zh-CN" dirty="0"/>
              <a:t>Teacher</a:t>
            </a:r>
            <a:r>
              <a:rPr lang="zh-CN" altLang="en-US" dirty="0"/>
              <a:t>）后，</a:t>
            </a:r>
            <a:r>
              <a:rPr lang="en-US" altLang="zh-CN" dirty="0"/>
              <a:t>C#→Dept</a:t>
            </a:r>
            <a:r>
              <a:rPr lang="zh-CN" altLang="en-US" dirty="0"/>
              <a:t>就不会出现在</a:t>
            </a:r>
            <a:r>
              <a:rPr lang="en-US" altLang="zh-CN" dirty="0"/>
              <a:t>R</a:t>
            </a:r>
            <a:r>
              <a:rPr lang="en-US" altLang="zh-CN" baseline="-25000" dirty="0"/>
              <a:t>21</a:t>
            </a:r>
            <a:r>
              <a:rPr lang="zh-CN" altLang="en-US" dirty="0"/>
              <a:t>和</a:t>
            </a:r>
            <a:r>
              <a:rPr lang="en-US" altLang="zh-CN" dirty="0"/>
              <a:t>R</a:t>
            </a:r>
            <a:r>
              <a:rPr lang="en-US" altLang="zh-CN" baseline="-25000" dirty="0"/>
              <a:t>22</a:t>
            </a:r>
            <a:r>
              <a:rPr lang="zh-CN" altLang="en-US" dirty="0"/>
              <a:t>中。这样</a:t>
            </a:r>
            <a:r>
              <a:rPr lang="en-US" altLang="zh-CN" dirty="0"/>
              <a:t>R</a:t>
            </a:r>
            <a:r>
              <a:rPr lang="en-US" altLang="zh-CN" baseline="-25000" dirty="0"/>
              <a:t>21</a:t>
            </a:r>
            <a:r>
              <a:rPr lang="zh-CN" altLang="en-US" dirty="0"/>
              <a:t>和</a:t>
            </a:r>
            <a:r>
              <a:rPr lang="en-US" altLang="zh-CN" dirty="0"/>
              <a:t>R</a:t>
            </a:r>
            <a:r>
              <a:rPr lang="en-US" altLang="zh-CN" baseline="-25000" dirty="0"/>
              <a:t>22</a:t>
            </a:r>
            <a:r>
              <a:rPr lang="zh-CN" altLang="en-US" dirty="0"/>
              <a:t>都是</a:t>
            </a:r>
            <a:r>
              <a:rPr lang="en-US" altLang="zh-CN" dirty="0"/>
              <a:t>3NF</a:t>
            </a:r>
            <a:r>
              <a:rPr lang="zh-CN" altLang="en-US" dirty="0"/>
              <a:t>模式 </a:t>
            </a:r>
            <a:endParaRPr lang="zh-CN" altLang="en-US"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第三范式（</a:t>
            </a:r>
            <a:r>
              <a:rPr lang="en-US" altLang="zh-CN" dirty="0"/>
              <a:t>3</a:t>
            </a:r>
            <a:r>
              <a:rPr lang="en-GB" altLang="zh-CN" dirty="0"/>
              <a:t>NF</a:t>
            </a:r>
            <a:r>
              <a:rPr lang="zh-CN" altLang="en-GB" dirty="0"/>
              <a:t>）</a:t>
            </a:r>
            <a:endParaRPr lang="en-US" altLang="zh-CN" dirty="0"/>
          </a:p>
          <a:p>
            <a:pPr lvl="1"/>
            <a:r>
              <a:rPr lang="zh-CN" altLang="en-US" dirty="0"/>
              <a:t>推论</a:t>
            </a:r>
            <a:r>
              <a:rPr lang="en-US" altLang="zh-CN" dirty="0"/>
              <a:t>1:</a:t>
            </a:r>
            <a:r>
              <a:rPr lang="zh-CN" altLang="en-US" dirty="0"/>
              <a:t>如果</a:t>
            </a:r>
            <a:r>
              <a:rPr lang="en-US" altLang="zh-CN" dirty="0"/>
              <a:t>R</a:t>
            </a:r>
            <a:r>
              <a:rPr lang="zh-CN" altLang="en-US" dirty="0"/>
              <a:t>是</a:t>
            </a:r>
            <a:r>
              <a:rPr lang="en-US" altLang="zh-CN" dirty="0"/>
              <a:t>3NF</a:t>
            </a:r>
            <a:r>
              <a:rPr lang="zh-CN" altLang="en-US" dirty="0"/>
              <a:t>模式，那么</a:t>
            </a:r>
            <a:r>
              <a:rPr lang="en-US" altLang="zh-CN" dirty="0"/>
              <a:t>R</a:t>
            </a:r>
            <a:r>
              <a:rPr lang="zh-CN" altLang="en-US" dirty="0"/>
              <a:t>也是</a:t>
            </a:r>
            <a:r>
              <a:rPr lang="en-US" altLang="zh-CN" dirty="0"/>
              <a:t>2NF</a:t>
            </a:r>
            <a:r>
              <a:rPr lang="zh-CN" altLang="en-US" dirty="0"/>
              <a:t>模式</a:t>
            </a:r>
            <a:endParaRPr lang="en-US" altLang="zh-CN" dirty="0"/>
          </a:p>
          <a:p>
            <a:pPr lvl="1"/>
            <a:r>
              <a:rPr lang="zh-CN" altLang="en-US" dirty="0">
                <a:solidFill>
                  <a:srgbClr val="C00000"/>
                </a:solidFill>
              </a:rPr>
              <a:t>推论</a:t>
            </a:r>
            <a:r>
              <a:rPr lang="en-US" altLang="zh-CN" dirty="0">
                <a:solidFill>
                  <a:srgbClr val="C00000"/>
                </a:solidFill>
              </a:rPr>
              <a:t>2</a:t>
            </a:r>
            <a:r>
              <a:rPr lang="en-US" altLang="zh-CN" dirty="0"/>
              <a:t>:</a:t>
            </a:r>
            <a:r>
              <a:rPr lang="zh-CN" altLang="en-US" dirty="0"/>
              <a:t>设关系模式</a:t>
            </a:r>
            <a:r>
              <a:rPr lang="en-US" altLang="zh-CN" dirty="0"/>
              <a:t>R</a:t>
            </a:r>
            <a:r>
              <a:rPr lang="zh-CN" altLang="en-US" dirty="0"/>
              <a:t>，当</a:t>
            </a:r>
            <a:r>
              <a:rPr lang="en-US" altLang="zh-CN" dirty="0"/>
              <a:t>R</a:t>
            </a:r>
            <a:r>
              <a:rPr lang="zh-CN" altLang="en-US" dirty="0"/>
              <a:t>上每一个</a:t>
            </a:r>
            <a:r>
              <a:rPr lang="en-US" altLang="zh-CN" dirty="0"/>
              <a:t>FD: X→A</a:t>
            </a:r>
            <a:r>
              <a:rPr lang="zh-CN" altLang="en-US" dirty="0"/>
              <a:t>满足下列三个条件之一：</a:t>
            </a:r>
            <a:endParaRPr lang="zh-CN" altLang="en-US" dirty="0"/>
          </a:p>
          <a:p>
            <a:pPr lvl="1">
              <a:buNone/>
            </a:pPr>
            <a:r>
              <a:rPr lang="en-US" altLang="zh-CN" dirty="0"/>
              <a:t>  1. A∈X</a:t>
            </a:r>
            <a:r>
              <a:rPr lang="zh-CN" altLang="en-US" dirty="0"/>
              <a:t>（即</a:t>
            </a:r>
            <a:r>
              <a:rPr lang="en-US" altLang="zh-CN" dirty="0"/>
              <a:t>X→A</a:t>
            </a:r>
            <a:r>
              <a:rPr lang="zh-CN" altLang="en-US" dirty="0"/>
              <a:t>是一个平凡的</a:t>
            </a:r>
            <a:r>
              <a:rPr lang="en-US" altLang="zh-CN" dirty="0"/>
              <a:t>FD</a:t>
            </a:r>
            <a:r>
              <a:rPr lang="zh-CN" altLang="en-US" dirty="0"/>
              <a:t>）；</a:t>
            </a:r>
            <a:endParaRPr lang="zh-CN" altLang="en-US" dirty="0"/>
          </a:p>
          <a:p>
            <a:pPr lvl="1">
              <a:buNone/>
            </a:pPr>
            <a:r>
              <a:rPr lang="en-US" altLang="zh-CN" dirty="0"/>
              <a:t>  2. </a:t>
            </a:r>
            <a:r>
              <a:rPr lang="en-US" altLang="zh-CN" u="sng" dirty="0"/>
              <a:t>X</a:t>
            </a:r>
            <a:r>
              <a:rPr lang="zh-CN" altLang="en-US" u="sng" dirty="0"/>
              <a:t>是</a:t>
            </a:r>
            <a:r>
              <a:rPr lang="en-US" altLang="zh-CN" u="sng" dirty="0"/>
              <a:t>R</a:t>
            </a:r>
            <a:r>
              <a:rPr lang="zh-CN" altLang="en-US" u="sng" dirty="0"/>
              <a:t>的超键</a:t>
            </a:r>
            <a:r>
              <a:rPr lang="zh-CN" altLang="en-US" dirty="0"/>
              <a:t>；</a:t>
            </a:r>
            <a:endParaRPr lang="zh-CN" altLang="en-US" dirty="0"/>
          </a:p>
          <a:p>
            <a:pPr lvl="1">
              <a:buNone/>
            </a:pPr>
            <a:r>
              <a:rPr lang="en-US" altLang="zh-CN" dirty="0"/>
              <a:t>  3. A</a:t>
            </a:r>
            <a:r>
              <a:rPr lang="zh-CN" altLang="en-US" dirty="0"/>
              <a:t>是主属性。</a:t>
            </a:r>
            <a:endParaRPr lang="en-US" altLang="zh-CN" dirty="0"/>
          </a:p>
          <a:p>
            <a:pPr lvl="1">
              <a:buNone/>
            </a:pPr>
            <a:r>
              <a:rPr lang="en-US" altLang="zh-CN" dirty="0"/>
              <a:t>  </a:t>
            </a:r>
            <a:r>
              <a:rPr lang="zh-CN" altLang="en-US" dirty="0"/>
              <a:t>则关系模式</a:t>
            </a:r>
            <a:r>
              <a:rPr lang="en-US" altLang="zh-CN" dirty="0"/>
              <a:t>R</a:t>
            </a:r>
            <a:r>
              <a:rPr lang="zh-CN" altLang="en-US" dirty="0"/>
              <a:t>就是</a:t>
            </a:r>
            <a:r>
              <a:rPr lang="en-US" altLang="zh-CN" dirty="0"/>
              <a:t>3NF</a:t>
            </a:r>
            <a:r>
              <a:rPr lang="zh-CN" altLang="en-US" dirty="0"/>
              <a:t>模式。</a:t>
            </a:r>
            <a:endParaRPr lang="zh-CN" altLang="en-US"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第三范式（</a:t>
            </a:r>
            <a:r>
              <a:rPr lang="en-US" altLang="zh-CN" dirty="0"/>
              <a:t>3</a:t>
            </a:r>
            <a:r>
              <a:rPr lang="en-GB" altLang="zh-CN" dirty="0"/>
              <a:t>NF</a:t>
            </a:r>
            <a:r>
              <a:rPr lang="zh-CN" altLang="en-GB" dirty="0"/>
              <a:t>）</a:t>
            </a:r>
            <a:endParaRPr lang="en-US" altLang="zh-CN"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27350" y="1039816"/>
            <a:ext cx="6337300" cy="4965700"/>
          </a:xfrm>
          <a:prstGeom prst="rect">
            <a:avLst/>
          </a:prstGeom>
        </p:spPr>
      </p:pic>
      <p:sp>
        <p:nvSpPr>
          <p:cNvPr id="9" name="Text Box 5"/>
          <p:cNvSpPr txBox="1">
            <a:spLocks noChangeArrowheads="1"/>
          </p:cNvSpPr>
          <p:nvPr/>
        </p:nvSpPr>
        <p:spPr bwMode="auto">
          <a:xfrm>
            <a:off x="4261924" y="6008084"/>
            <a:ext cx="51570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FontTx/>
              <a:buNone/>
            </a:pPr>
            <a:r>
              <a:rPr lang="zh-CN" altLang="en-US" sz="2000" b="0" dirty="0">
                <a:latin typeface="微软雅黑" panose="020B0503020204020204" pitchFamily="34" charset="-122"/>
                <a:ea typeface="微软雅黑" panose="020B0503020204020204" pitchFamily="34" charset="-122"/>
              </a:rPr>
              <a:t>图</a:t>
            </a:r>
            <a:r>
              <a:rPr lang="en-US" altLang="zh-CN" sz="2000" b="0" dirty="0">
                <a:latin typeface="微软雅黑" panose="020B0503020204020204" pitchFamily="34" charset="-122"/>
                <a:ea typeface="微软雅黑" panose="020B0503020204020204" pitchFamily="34" charset="-122"/>
              </a:rPr>
              <a:t>6.15  </a:t>
            </a:r>
            <a:r>
              <a:rPr lang="zh-CN" altLang="en-US" sz="2000" b="0" dirty="0">
                <a:latin typeface="微软雅黑" panose="020B0503020204020204" pitchFamily="34" charset="-122"/>
                <a:ea typeface="微软雅黑" panose="020B0503020204020204" pitchFamily="34" charset="-122"/>
              </a:rPr>
              <a:t>违反3</a:t>
            </a:r>
            <a:r>
              <a:rPr lang="en-US" altLang="zh-CN" sz="2000" b="0" dirty="0">
                <a:latin typeface="微软雅黑" panose="020B0503020204020204" pitchFamily="34" charset="-122"/>
                <a:ea typeface="微软雅黑" panose="020B0503020204020204" pitchFamily="34" charset="-122"/>
              </a:rPr>
              <a:t>NF</a:t>
            </a:r>
            <a:r>
              <a:rPr lang="zh-CN" altLang="en-US" sz="2000" b="0" dirty="0">
                <a:latin typeface="微软雅黑" panose="020B0503020204020204" pitchFamily="34" charset="-122"/>
                <a:ea typeface="微软雅黑" panose="020B0503020204020204" pitchFamily="34" charset="-122"/>
              </a:rPr>
              <a:t>的传递依赖的三种情况 </a:t>
            </a:r>
            <a:endParaRPr lang="zh-CN" altLang="en-US" sz="20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en-GB" altLang="zh-CN" dirty="0"/>
              <a:t>BCNF</a:t>
            </a:r>
            <a:r>
              <a:rPr lang="zh-CN" altLang="en-GB" dirty="0"/>
              <a:t>（</a:t>
            </a:r>
            <a:r>
              <a:rPr lang="en-GB" altLang="zh-CN" dirty="0"/>
              <a:t>Boyce–Codd NF</a:t>
            </a:r>
            <a:r>
              <a:rPr lang="zh-CN" altLang="en-GB" dirty="0"/>
              <a:t>）</a:t>
            </a:r>
            <a:endParaRPr lang="en-US" altLang="zh-CN" dirty="0"/>
          </a:p>
          <a:p>
            <a:pPr lvl="1">
              <a:lnSpc>
                <a:spcPct val="150000"/>
              </a:lnSpc>
            </a:pPr>
            <a:r>
              <a:rPr lang="zh-CN" altLang="zh-CN" dirty="0"/>
              <a:t>定义4</a:t>
            </a:r>
            <a:r>
              <a:rPr lang="zh-CN" altLang="en-US" dirty="0"/>
              <a:t>.</a:t>
            </a:r>
            <a:r>
              <a:rPr lang="en-US" altLang="zh-CN" dirty="0"/>
              <a:t>25</a:t>
            </a:r>
            <a:r>
              <a:rPr lang="zh-CN" altLang="zh-CN" dirty="0"/>
              <a:t>：若对于R上的任何非平凡函数依赖X→Y都有X必包含R的某个候选键，则称R满足BCNF，表示为R∈BCNF</a:t>
            </a:r>
            <a:endParaRPr lang="en-US" altLang="zh-CN" dirty="0"/>
          </a:p>
          <a:p>
            <a:pPr lvl="1">
              <a:lnSpc>
                <a:spcPct val="150000"/>
              </a:lnSpc>
            </a:pPr>
            <a:r>
              <a:rPr lang="zh-CN" altLang="en-US" dirty="0"/>
              <a:t>定义</a:t>
            </a:r>
            <a:r>
              <a:rPr lang="zh-CN" altLang="zh-CN" dirty="0"/>
              <a:t>4</a:t>
            </a:r>
            <a:r>
              <a:rPr lang="zh-CN" altLang="en-US" dirty="0"/>
              <a:t>.</a:t>
            </a:r>
            <a:r>
              <a:rPr lang="en-US" altLang="zh-CN" dirty="0"/>
              <a:t>25'</a:t>
            </a:r>
            <a:r>
              <a:rPr lang="zh-CN" altLang="en-US" dirty="0"/>
              <a:t>：如果关系模式</a:t>
            </a:r>
            <a:r>
              <a:rPr lang="en-US" altLang="zh-CN" dirty="0"/>
              <a:t>R</a:t>
            </a:r>
            <a:r>
              <a:rPr lang="zh-CN" altLang="en-US" dirty="0"/>
              <a:t>中的每个属性都不</a:t>
            </a:r>
            <a:r>
              <a:rPr lang="zh-CN" altLang="en-US" u="sng" dirty="0"/>
              <a:t>传递依赖</a:t>
            </a:r>
            <a:r>
              <a:rPr lang="zh-CN" altLang="en-US" dirty="0"/>
              <a:t>于</a:t>
            </a:r>
            <a:r>
              <a:rPr lang="en-US" altLang="zh-CN" dirty="0"/>
              <a:t>R</a:t>
            </a:r>
            <a:r>
              <a:rPr lang="zh-CN" altLang="en-US" dirty="0"/>
              <a:t>的候选键，那么称</a:t>
            </a:r>
            <a:r>
              <a:rPr lang="en-US" altLang="zh-CN" dirty="0"/>
              <a:t>R</a:t>
            </a:r>
            <a:r>
              <a:rPr lang="zh-CN" altLang="en-US" dirty="0"/>
              <a:t>是</a:t>
            </a:r>
            <a:r>
              <a:rPr lang="en-US" altLang="zh-CN" dirty="0"/>
              <a:t>BCNF</a:t>
            </a:r>
            <a:r>
              <a:rPr lang="zh-CN" altLang="en-US" dirty="0"/>
              <a:t>的模式</a:t>
            </a:r>
            <a:endParaRPr lang="zh-CN" altLang="en-US" dirty="0"/>
          </a:p>
          <a:p>
            <a:endParaRPr lang="en-US" altLang="zh-CN"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en-GB" altLang="zh-CN" dirty="0"/>
              <a:t>BCNF</a:t>
            </a:r>
            <a:r>
              <a:rPr lang="zh-CN" altLang="en-GB" dirty="0"/>
              <a:t>（</a:t>
            </a:r>
            <a:r>
              <a:rPr lang="en-GB" altLang="zh-CN" dirty="0"/>
              <a:t>Boyce–Codd NF</a:t>
            </a:r>
            <a:r>
              <a:rPr lang="zh-CN" altLang="en-GB" dirty="0"/>
              <a:t>）</a:t>
            </a:r>
            <a:endParaRPr lang="en-US" altLang="zh-CN" dirty="0"/>
          </a:p>
          <a:p>
            <a:pPr lvl="1">
              <a:lnSpc>
                <a:spcPct val="150000"/>
              </a:lnSpc>
            </a:pPr>
            <a:r>
              <a:rPr lang="zh-CN" altLang="en-US" dirty="0"/>
              <a:t>推论</a:t>
            </a:r>
            <a:r>
              <a:rPr lang="en-US" altLang="zh-CN" dirty="0"/>
              <a:t>3</a:t>
            </a:r>
            <a:r>
              <a:rPr lang="zh-CN" altLang="en-US" dirty="0"/>
              <a:t>：如果</a:t>
            </a:r>
            <a:r>
              <a:rPr lang="en-US" altLang="zh-CN" dirty="0"/>
              <a:t>R</a:t>
            </a:r>
            <a:r>
              <a:rPr lang="zh-CN" altLang="en-US" dirty="0"/>
              <a:t>是</a:t>
            </a:r>
            <a:r>
              <a:rPr lang="en-US" altLang="zh-CN" dirty="0"/>
              <a:t>BCNF</a:t>
            </a:r>
            <a:r>
              <a:rPr lang="zh-CN" altLang="en-US" dirty="0"/>
              <a:t>模式，那么</a:t>
            </a:r>
            <a:r>
              <a:rPr lang="en-US" altLang="zh-CN" dirty="0"/>
              <a:t>R</a:t>
            </a:r>
            <a:r>
              <a:rPr lang="zh-CN" altLang="en-US" dirty="0"/>
              <a:t>也是</a:t>
            </a:r>
            <a:r>
              <a:rPr lang="en-US" altLang="zh-CN" dirty="0"/>
              <a:t>3NF</a:t>
            </a:r>
            <a:r>
              <a:rPr lang="zh-CN" altLang="en-US" dirty="0"/>
              <a:t>模式</a:t>
            </a:r>
            <a:endParaRPr lang="en-US" altLang="zh-CN" dirty="0"/>
          </a:p>
          <a:p>
            <a:pPr lvl="1">
              <a:lnSpc>
                <a:spcPct val="150000"/>
              </a:lnSpc>
            </a:pPr>
            <a:r>
              <a:rPr lang="zh-CN" altLang="zh-CN" dirty="0"/>
              <a:t>BCNF是在3NF的基础上消除</a:t>
            </a:r>
            <a:r>
              <a:rPr lang="zh-CN" altLang="zh-CN" dirty="0">
                <a:solidFill>
                  <a:srgbClr val="FF9933"/>
                </a:solidFill>
              </a:rPr>
              <a:t>主属性</a:t>
            </a:r>
            <a:r>
              <a:rPr lang="zh-CN" altLang="zh-CN" dirty="0"/>
              <a:t>对于键的部分依赖和传递依赖</a:t>
            </a:r>
            <a:endParaRPr lang="en-US" altLang="zh-CN" dirty="0"/>
          </a:p>
          <a:p>
            <a:pPr lvl="1">
              <a:lnSpc>
                <a:spcPct val="150000"/>
              </a:lnSpc>
            </a:pPr>
            <a:r>
              <a:rPr lang="zh-CN" altLang="en-US" dirty="0">
                <a:solidFill>
                  <a:schemeClr val="bg1">
                    <a:lumMod val="65000"/>
                  </a:schemeClr>
                </a:solidFill>
              </a:rPr>
              <a:t>如果数据库模式中每个关系模式都是</a:t>
            </a:r>
            <a:r>
              <a:rPr lang="en-US" altLang="zh-CN" dirty="0">
                <a:solidFill>
                  <a:schemeClr val="bg1">
                    <a:lumMod val="65000"/>
                  </a:schemeClr>
                </a:solidFill>
              </a:rPr>
              <a:t>BCNF</a:t>
            </a:r>
            <a:r>
              <a:rPr lang="zh-CN" altLang="en-US" dirty="0">
                <a:solidFill>
                  <a:schemeClr val="bg1">
                    <a:lumMod val="65000"/>
                  </a:schemeClr>
                </a:solidFill>
              </a:rPr>
              <a:t>，则称为</a:t>
            </a:r>
            <a:r>
              <a:rPr lang="en-US" altLang="zh-CN" dirty="0">
                <a:solidFill>
                  <a:schemeClr val="bg1">
                    <a:lumMod val="65000"/>
                  </a:schemeClr>
                </a:solidFill>
              </a:rPr>
              <a:t>BCNF</a:t>
            </a:r>
            <a:r>
              <a:rPr lang="zh-CN" altLang="en-US" dirty="0">
                <a:solidFill>
                  <a:schemeClr val="bg1">
                    <a:lumMod val="65000"/>
                  </a:schemeClr>
                </a:solidFill>
              </a:rPr>
              <a:t>的数据库模式。</a:t>
            </a:r>
            <a:endParaRPr lang="zh-CN" altLang="en-US" dirty="0">
              <a:solidFill>
                <a:schemeClr val="bg1">
                  <a:lumMod val="65000"/>
                </a:schemeClr>
              </a:solidFill>
            </a:endParaRPr>
          </a:p>
          <a:p>
            <a:pPr lvl="1">
              <a:lnSpc>
                <a:spcPct val="150000"/>
              </a:lnSpc>
            </a:pPr>
            <a:endParaRPr lang="en-US" altLang="zh-CN"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en-GB" altLang="zh-CN" dirty="0"/>
              <a:t>BCNF</a:t>
            </a:r>
            <a:r>
              <a:rPr lang="zh-CN" altLang="en-GB" dirty="0"/>
              <a:t>（</a:t>
            </a:r>
            <a:r>
              <a:rPr lang="en-GB" altLang="zh-CN" dirty="0"/>
              <a:t>Boyce–Codd NF</a:t>
            </a:r>
            <a:r>
              <a:rPr lang="zh-CN" altLang="en-GB" dirty="0"/>
              <a:t>）</a:t>
            </a:r>
            <a:endParaRPr lang="en-US" altLang="zh-CN" dirty="0"/>
          </a:p>
          <a:p>
            <a:pPr lvl="1">
              <a:lnSpc>
                <a:spcPct val="150000"/>
              </a:lnSpc>
            </a:pPr>
            <a:endParaRPr lang="en-US" altLang="zh-CN"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05995" y="1403350"/>
            <a:ext cx="6019800" cy="4051300"/>
          </a:xfrm>
          <a:prstGeom prst="rect">
            <a:avLst/>
          </a:prstGeom>
        </p:spPr>
      </p:pic>
      <p:sp>
        <p:nvSpPr>
          <p:cNvPr id="9" name="Text Box 5"/>
          <p:cNvSpPr txBox="1">
            <a:spLocks noChangeArrowheads="1"/>
          </p:cNvSpPr>
          <p:nvPr/>
        </p:nvSpPr>
        <p:spPr bwMode="auto">
          <a:xfrm>
            <a:off x="3961504" y="5615751"/>
            <a:ext cx="515709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spcBef>
                <a:spcPct val="50000"/>
              </a:spcBef>
              <a:buNone/>
            </a:pPr>
            <a:r>
              <a:rPr lang="zh-CN" altLang="en-US" sz="2000" dirty="0">
                <a:latin typeface="微软雅黑" panose="020B0503020204020204" pitchFamily="34" charset="-122"/>
                <a:ea typeface="微软雅黑" panose="020B0503020204020204" pitchFamily="34" charset="-122"/>
              </a:rPr>
              <a:t>图</a:t>
            </a:r>
            <a:r>
              <a:rPr lang="en-US" altLang="zh-CN" sz="2000" dirty="0">
                <a:latin typeface="微软雅黑" panose="020B0503020204020204" pitchFamily="34" charset="-122"/>
                <a:ea typeface="微软雅黑" panose="020B0503020204020204" pitchFamily="34" charset="-122"/>
              </a:rPr>
              <a:t>6.16   </a:t>
            </a:r>
            <a:r>
              <a:rPr lang="zh-CN" altLang="en-US" sz="2000" dirty="0">
                <a:latin typeface="微软雅黑" panose="020B0503020204020204" pitchFamily="34" charset="-122"/>
                <a:ea typeface="微软雅黑" panose="020B0503020204020204" pitchFamily="34" charset="-122"/>
              </a:rPr>
              <a:t>主属性对候选键的传递依赖 </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en-GB" altLang="zh-CN" dirty="0"/>
              <a:t>BCNF</a:t>
            </a:r>
            <a:r>
              <a:rPr lang="zh-CN" altLang="en-GB" dirty="0"/>
              <a:t>（</a:t>
            </a:r>
            <a:r>
              <a:rPr lang="en-GB" altLang="zh-CN" dirty="0"/>
              <a:t>Boyce–Codd NF</a:t>
            </a:r>
            <a:r>
              <a:rPr lang="zh-CN" altLang="en-GB" dirty="0"/>
              <a:t>）</a:t>
            </a:r>
            <a:endParaRPr lang="en-US" altLang="zh-CN" dirty="0"/>
          </a:p>
          <a:p>
            <a:pPr lvl="1"/>
            <a:r>
              <a:rPr lang="zh-CN" altLang="en-US" dirty="0"/>
              <a:t>上述定义说明，若关系模式</a:t>
            </a:r>
            <a:r>
              <a:rPr lang="en-US" altLang="zh-CN" dirty="0"/>
              <a:t>R&lt;U,F&gt;</a:t>
            </a:r>
            <a:r>
              <a:rPr lang="zh-CN" altLang="en-US" dirty="0"/>
              <a:t>中的每一个决定因素都包含键，则</a:t>
            </a:r>
            <a:r>
              <a:rPr lang="en-US" altLang="zh-CN" dirty="0"/>
              <a:t>R∈BCNF</a:t>
            </a:r>
            <a:endParaRPr lang="en-US" altLang="zh-CN" dirty="0"/>
          </a:p>
          <a:p>
            <a:pPr lvl="1"/>
            <a:r>
              <a:rPr lang="zh-CN" altLang="en-US" dirty="0"/>
              <a:t>这就是说，在</a:t>
            </a:r>
            <a:r>
              <a:rPr lang="en-US" altLang="zh-CN" dirty="0"/>
              <a:t>BCNF</a:t>
            </a:r>
            <a:r>
              <a:rPr lang="zh-CN" altLang="en-US" dirty="0"/>
              <a:t>中，除了键决定其它所有属性这样的函数依赖及其所蕴涵的函数依赖外，不再有其它非平凡的函数依赖，特别是不存在以不含键的属性组作为决定子</a:t>
            </a:r>
            <a:r>
              <a:rPr lang="en-US" altLang="zh-CN" dirty="0"/>
              <a:t>(</a:t>
            </a:r>
            <a:r>
              <a:rPr lang="zh-CN" altLang="en-US" dirty="0"/>
              <a:t>即左部</a:t>
            </a:r>
            <a:r>
              <a:rPr lang="en-US" altLang="zh-CN" dirty="0"/>
              <a:t>)</a:t>
            </a:r>
            <a:r>
              <a:rPr lang="zh-CN" altLang="en-US" dirty="0"/>
              <a:t>的非平凡的函数依赖。</a:t>
            </a:r>
            <a:endParaRPr lang="en-US" altLang="zh-CN" dirty="0"/>
          </a:p>
          <a:p>
            <a:pPr lvl="1"/>
            <a:r>
              <a:rPr lang="en-US" altLang="zh-CN" dirty="0"/>
              <a:t>BCNF</a:t>
            </a:r>
            <a:r>
              <a:rPr lang="zh-CN" altLang="en-US" dirty="0"/>
              <a:t>在概念上已足够“单纯”</a:t>
            </a:r>
            <a:r>
              <a:rPr lang="en-US" altLang="zh-CN" dirty="0"/>
              <a:t>,</a:t>
            </a:r>
            <a:r>
              <a:rPr lang="zh-CN" altLang="en-US" dirty="0"/>
              <a:t>就函数依赖而言，它已进行了所有必须的分解，并消除了增、删、改异常和数据冗余</a:t>
            </a:r>
            <a:endParaRPr lang="zh-CN" altLang="en-US" dirty="0"/>
          </a:p>
          <a:p>
            <a:pPr lvl="1">
              <a:lnSpc>
                <a:spcPct val="150000"/>
              </a:lnSpc>
            </a:pPr>
            <a:endParaRPr lang="en-US" altLang="zh-CN"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en-GB" altLang="zh-CN" dirty="0"/>
              <a:t>BCNF</a:t>
            </a:r>
            <a:r>
              <a:rPr lang="zh-CN" altLang="en-US" dirty="0"/>
              <a:t>举例</a:t>
            </a:r>
            <a:endParaRPr lang="en-US" altLang="zh-CN" dirty="0"/>
          </a:p>
          <a:p>
            <a:pPr lvl="1"/>
            <a:r>
              <a:rPr lang="zh-CN" altLang="en-US" sz="2300" i="1" dirty="0"/>
              <a:t>例</a:t>
            </a:r>
            <a:r>
              <a:rPr lang="en-US" altLang="zh-CN" sz="2300" i="1" dirty="0"/>
              <a:t>1</a:t>
            </a:r>
            <a:r>
              <a:rPr lang="zh-CN" altLang="en-US" sz="2300" i="1" dirty="0"/>
              <a:t>： 关系模式</a:t>
            </a:r>
            <a:r>
              <a:rPr lang="en-US" altLang="zh-CN" sz="2300" i="1" dirty="0"/>
              <a:t>SJP(S,J,P)</a:t>
            </a:r>
            <a:r>
              <a:rPr lang="zh-CN" altLang="en-US" sz="2300" i="1" dirty="0"/>
              <a:t>中，</a:t>
            </a:r>
            <a:r>
              <a:rPr lang="en-US" altLang="zh-CN" sz="2300" i="1" dirty="0"/>
              <a:t>S</a:t>
            </a:r>
            <a:r>
              <a:rPr lang="zh-CN" altLang="en-US" sz="2300" i="1" dirty="0"/>
              <a:t>表示学生，</a:t>
            </a:r>
            <a:r>
              <a:rPr lang="en-US" altLang="zh-CN" sz="2300" i="1" dirty="0"/>
              <a:t>J</a:t>
            </a:r>
            <a:r>
              <a:rPr lang="zh-CN" altLang="en-US" sz="2300" i="1" dirty="0"/>
              <a:t>表示课程，</a:t>
            </a:r>
            <a:r>
              <a:rPr lang="en-US" altLang="zh-CN" sz="2300" i="1" dirty="0"/>
              <a:t>P</a:t>
            </a:r>
            <a:r>
              <a:rPr lang="zh-CN" altLang="en-US" sz="2300" i="1" dirty="0"/>
              <a:t>表示名次；每一个学生选修每门课程的成绩有一定的名次，每门课程中每一名次只有一个学生（即没有并列名次），由语义可得到下面的函数依赖： </a:t>
            </a:r>
            <a:endParaRPr lang="zh-CN" altLang="en-US" sz="2300" i="1" dirty="0"/>
          </a:p>
          <a:p>
            <a:pPr marL="282575" indent="-282575" algn="ctr">
              <a:buNone/>
            </a:pPr>
            <a:r>
              <a:rPr lang="en-US" altLang="zh-CN" sz="2300" b="0" dirty="0"/>
              <a:t>(S,J)→P </a:t>
            </a:r>
            <a:r>
              <a:rPr lang="zh-CN" altLang="en-US" sz="2300" b="0" dirty="0"/>
              <a:t>，</a:t>
            </a:r>
            <a:r>
              <a:rPr lang="en-US" altLang="zh-CN" sz="2300" b="0" dirty="0"/>
              <a:t>(J,P)→S </a:t>
            </a:r>
            <a:endParaRPr lang="en-US" altLang="zh-CN" sz="2300" b="0" dirty="0"/>
          </a:p>
          <a:p>
            <a:pPr marL="739775" lvl="1" indent="-282575"/>
            <a:r>
              <a:rPr lang="en-US" altLang="zh-CN" sz="2300" dirty="0"/>
              <a:t>(S,J)</a:t>
            </a:r>
            <a:r>
              <a:rPr lang="zh-CN" altLang="en-US" sz="2300" dirty="0"/>
              <a:t>与</a:t>
            </a:r>
            <a:r>
              <a:rPr lang="en-US" altLang="zh-CN" sz="2300" dirty="0"/>
              <a:t>(J,P)</a:t>
            </a:r>
            <a:r>
              <a:rPr lang="zh-CN" altLang="en-US" sz="2300" dirty="0"/>
              <a:t>都可以作为候选键</a:t>
            </a:r>
            <a:endParaRPr lang="zh-CN" altLang="en-US" sz="2300" dirty="0"/>
          </a:p>
          <a:p>
            <a:pPr marL="739775" lvl="1" indent="-282575"/>
            <a:r>
              <a:rPr lang="zh-CN" altLang="en-US" sz="2300" dirty="0"/>
              <a:t>这两个键各由两个属性组成</a:t>
            </a:r>
            <a:r>
              <a:rPr lang="en-US" altLang="zh-CN" sz="2300" dirty="0"/>
              <a:t>,</a:t>
            </a:r>
            <a:r>
              <a:rPr lang="zh-CN" altLang="en-US" sz="2300" dirty="0"/>
              <a:t>而且它们是相交的</a:t>
            </a:r>
            <a:endParaRPr lang="zh-CN" altLang="en-US" sz="2300" dirty="0"/>
          </a:p>
          <a:p>
            <a:pPr marL="739775" lvl="1" indent="-282575"/>
            <a:r>
              <a:rPr lang="zh-CN" altLang="en-US" sz="2300" dirty="0"/>
              <a:t>这个关系模式中显然没有非主属性对键的传递依赖或部分依赖，所以</a:t>
            </a:r>
            <a:r>
              <a:rPr lang="en-US" altLang="zh-CN" sz="2300" dirty="0"/>
              <a:t>SJP</a:t>
            </a:r>
            <a:r>
              <a:rPr lang="zh-CN" altLang="en-US" sz="2300" dirty="0"/>
              <a:t>是</a:t>
            </a:r>
            <a:r>
              <a:rPr lang="en-US" altLang="zh-CN" sz="2300" dirty="0"/>
              <a:t>3NF</a:t>
            </a:r>
            <a:endParaRPr lang="zh-CN" altLang="en-US" sz="2300" dirty="0"/>
          </a:p>
          <a:p>
            <a:pPr marL="739775" lvl="1" indent="-282575"/>
            <a:r>
              <a:rPr lang="zh-CN" altLang="en-US" sz="2300" dirty="0"/>
              <a:t>而且除</a:t>
            </a:r>
            <a:r>
              <a:rPr lang="en-US" altLang="zh-CN" sz="2300" dirty="0"/>
              <a:t>(S,J)</a:t>
            </a:r>
            <a:r>
              <a:rPr lang="zh-CN" altLang="en-US" sz="2300" dirty="0"/>
              <a:t>与</a:t>
            </a:r>
            <a:r>
              <a:rPr lang="en-US" altLang="zh-CN" sz="2300" dirty="0"/>
              <a:t>(J,P)</a:t>
            </a:r>
            <a:r>
              <a:rPr lang="zh-CN" altLang="en-US" sz="2300" dirty="0"/>
              <a:t>以外没有其它决定因素，所以</a:t>
            </a:r>
            <a:r>
              <a:rPr lang="en-US" altLang="zh-CN" sz="2300" dirty="0"/>
              <a:t>SJP</a:t>
            </a:r>
            <a:r>
              <a:rPr lang="zh-CN" altLang="en-US" sz="2300" dirty="0"/>
              <a:t>也是</a:t>
            </a:r>
            <a:r>
              <a:rPr lang="en-US" altLang="zh-CN" sz="2300" dirty="0"/>
              <a:t>BCNF</a:t>
            </a:r>
            <a:r>
              <a:rPr lang="zh-CN" altLang="en-US" sz="2300" dirty="0"/>
              <a:t> </a:t>
            </a:r>
            <a:endParaRPr lang="zh-CN" altLang="en-US" sz="2300" dirty="0"/>
          </a:p>
          <a:p>
            <a:pPr lvl="1"/>
            <a:endParaRPr lang="en-US" altLang="zh-CN"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en-GB" altLang="zh-CN" dirty="0"/>
              <a:t>BCNF</a:t>
            </a:r>
            <a:r>
              <a:rPr lang="zh-CN" altLang="en-GB" dirty="0"/>
              <a:t>举例</a:t>
            </a:r>
            <a:endParaRPr lang="en-US" altLang="zh-CN" sz="2300" i="1" dirty="0"/>
          </a:p>
          <a:p>
            <a:pPr lvl="1"/>
            <a:r>
              <a:rPr lang="zh-CN" altLang="en-US" sz="2300" i="1" dirty="0"/>
              <a:t>例</a:t>
            </a:r>
            <a:r>
              <a:rPr lang="en-US" altLang="zh-CN" sz="2300" i="1" dirty="0"/>
              <a:t>2 </a:t>
            </a:r>
            <a:r>
              <a:rPr lang="zh-CN" altLang="en-US" sz="2300" i="1" dirty="0"/>
              <a:t>：关系模式</a:t>
            </a:r>
            <a:r>
              <a:rPr lang="en-US" altLang="zh-CN" sz="2300" i="1" dirty="0"/>
              <a:t>STJ(S,T,J)</a:t>
            </a:r>
            <a:r>
              <a:rPr lang="zh-CN" altLang="en-US" sz="2300" i="1" dirty="0"/>
              <a:t>中，</a:t>
            </a:r>
            <a:r>
              <a:rPr lang="en-US" altLang="zh-CN" sz="2300" i="1" dirty="0"/>
              <a:t>S</a:t>
            </a:r>
            <a:r>
              <a:rPr lang="zh-CN" altLang="en-US" sz="2300" i="1" dirty="0"/>
              <a:t>表示学生，</a:t>
            </a:r>
            <a:r>
              <a:rPr lang="en-US" altLang="zh-CN" sz="2300" i="1" dirty="0"/>
              <a:t>T</a:t>
            </a:r>
            <a:r>
              <a:rPr lang="zh-CN" altLang="en-US" sz="2300" i="1" dirty="0"/>
              <a:t>表示教师，</a:t>
            </a:r>
            <a:r>
              <a:rPr lang="en-US" altLang="zh-CN" sz="2300" i="1" dirty="0"/>
              <a:t>J</a:t>
            </a:r>
            <a:r>
              <a:rPr lang="zh-CN" altLang="en-US" sz="2300" i="1" dirty="0"/>
              <a:t>表示课程。每一教师只教一门课。每门课有若干教师</a:t>
            </a:r>
            <a:r>
              <a:rPr lang="en-US" altLang="zh-CN" sz="2300" i="1" dirty="0"/>
              <a:t>,</a:t>
            </a:r>
            <a:r>
              <a:rPr lang="zh-CN" altLang="en-US" sz="2300" i="1" dirty="0"/>
              <a:t>某一学生选定某门课</a:t>
            </a:r>
            <a:r>
              <a:rPr lang="en-US" altLang="zh-CN" sz="2300" i="1" dirty="0"/>
              <a:t>,</a:t>
            </a:r>
            <a:r>
              <a:rPr lang="zh-CN" altLang="en-US" sz="2300" i="1" dirty="0"/>
              <a:t>就对应一个固定的教师。由语义可得到如下的函数依赖： </a:t>
            </a:r>
            <a:endParaRPr lang="zh-CN" altLang="en-US" sz="2300" i="1" dirty="0"/>
          </a:p>
          <a:p>
            <a:pPr marL="282575" indent="-282575" algn="ctr">
              <a:buNone/>
            </a:pPr>
            <a:r>
              <a:rPr lang="en-US" altLang="zh-CN" sz="2300" b="0" dirty="0"/>
              <a:t>(S,J)→T</a:t>
            </a:r>
            <a:r>
              <a:rPr lang="zh-CN" altLang="en-US" sz="2300" b="0" dirty="0"/>
              <a:t>；</a:t>
            </a:r>
            <a:r>
              <a:rPr lang="en-US" altLang="zh-CN" sz="2300" b="0" dirty="0"/>
              <a:t>(S,T)→J</a:t>
            </a:r>
            <a:r>
              <a:rPr lang="zh-CN" altLang="en-US" sz="2300" b="0" dirty="0"/>
              <a:t>；</a:t>
            </a:r>
            <a:r>
              <a:rPr lang="en-US" altLang="zh-CN" sz="2300" b="0" dirty="0"/>
              <a:t>T→J</a:t>
            </a:r>
            <a:r>
              <a:rPr lang="zh-CN" altLang="en-US" sz="2300" b="0" dirty="0"/>
              <a:t> </a:t>
            </a:r>
            <a:endParaRPr lang="zh-CN" altLang="en-US" sz="2300" b="0" dirty="0"/>
          </a:p>
          <a:p>
            <a:pPr marL="739775" lvl="1" indent="-282575"/>
            <a:r>
              <a:rPr lang="zh-CN" altLang="en-US" sz="2300" dirty="0"/>
              <a:t>这里</a:t>
            </a:r>
            <a:r>
              <a:rPr lang="en-US" altLang="zh-CN" sz="2300" dirty="0"/>
              <a:t>(S,J),(S,T)</a:t>
            </a:r>
            <a:r>
              <a:rPr lang="zh-CN" altLang="en-US" sz="2300" dirty="0"/>
              <a:t>都是候选键。</a:t>
            </a:r>
            <a:endParaRPr lang="en-US" altLang="zh-CN" sz="2300" dirty="0"/>
          </a:p>
          <a:p>
            <a:pPr marL="739775" lvl="1" indent="-282575"/>
            <a:r>
              <a:rPr lang="zh-CN" altLang="en-US" sz="2300" dirty="0"/>
              <a:t>由于</a:t>
            </a:r>
            <a:r>
              <a:rPr lang="en-US" altLang="zh-CN" sz="2300" dirty="0"/>
              <a:t>STJ</a:t>
            </a:r>
            <a:r>
              <a:rPr lang="zh-CN" altLang="en-US" sz="2300" dirty="0"/>
              <a:t>中没有非主属性，因此也不会任何非主属性对键传递依赖或部分依赖，所以</a:t>
            </a:r>
            <a:r>
              <a:rPr lang="en-US" altLang="zh-CN" sz="2300" dirty="0"/>
              <a:t>STJ</a:t>
            </a:r>
            <a:r>
              <a:rPr lang="zh-CN" altLang="en-US" sz="2300" dirty="0"/>
              <a:t>是</a:t>
            </a:r>
            <a:r>
              <a:rPr lang="en-US" altLang="zh-CN" sz="2300" dirty="0"/>
              <a:t>3NF</a:t>
            </a:r>
            <a:endParaRPr lang="en-US" altLang="zh-CN" sz="2300" dirty="0"/>
          </a:p>
          <a:p>
            <a:pPr marL="739775" lvl="1" indent="-282575"/>
            <a:r>
              <a:rPr lang="zh-CN" altLang="en-US" sz="2300" dirty="0"/>
              <a:t>但</a:t>
            </a:r>
            <a:r>
              <a:rPr lang="en-US" altLang="zh-CN" sz="2300" dirty="0"/>
              <a:t>STJ</a:t>
            </a:r>
            <a:r>
              <a:rPr lang="zh-CN" altLang="en-US" sz="2300" dirty="0"/>
              <a:t>不是</a:t>
            </a:r>
            <a:r>
              <a:rPr lang="en-US" altLang="zh-CN" sz="2300" dirty="0"/>
              <a:t>BCNF</a:t>
            </a:r>
            <a:r>
              <a:rPr lang="zh-CN" altLang="en-US" sz="2300" dirty="0"/>
              <a:t>，因为</a:t>
            </a:r>
            <a:r>
              <a:rPr lang="en-US" altLang="zh-CN" sz="2300" dirty="0"/>
              <a:t>T</a:t>
            </a:r>
            <a:r>
              <a:rPr lang="zh-CN" altLang="en-US" sz="2300" dirty="0"/>
              <a:t>是决定因素，而</a:t>
            </a:r>
            <a:r>
              <a:rPr lang="en-US" altLang="zh-CN" sz="2300" dirty="0"/>
              <a:t>T</a:t>
            </a:r>
            <a:r>
              <a:rPr lang="zh-CN" altLang="en-US" sz="2300" dirty="0"/>
              <a:t>不包含键</a:t>
            </a:r>
            <a:endParaRPr lang="zh-CN" altLang="en-US" sz="2300" dirty="0"/>
          </a:p>
          <a:p>
            <a:pPr lvl="1"/>
            <a:endParaRPr lang="en-US" altLang="zh-CN"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en-GB" altLang="zh-CN" dirty="0"/>
              <a:t>BCNF</a:t>
            </a:r>
            <a:r>
              <a:rPr lang="zh-CN" altLang="en-US" dirty="0"/>
              <a:t>举例</a:t>
            </a:r>
            <a:endParaRPr lang="en-US" altLang="zh-CN" sz="2300" i="1" dirty="0"/>
          </a:p>
          <a:p>
            <a:pPr lvl="1">
              <a:lnSpc>
                <a:spcPct val="150000"/>
              </a:lnSpc>
            </a:pPr>
            <a:r>
              <a:rPr lang="zh-CN" altLang="en-US" dirty="0"/>
              <a:t>例</a:t>
            </a:r>
            <a:r>
              <a:rPr lang="en-US" altLang="zh-CN" dirty="0"/>
              <a:t>3</a:t>
            </a:r>
            <a:r>
              <a:rPr lang="zh-CN" altLang="en-US" dirty="0"/>
              <a:t>：</a:t>
            </a:r>
            <a:r>
              <a:rPr lang="zh-CN" altLang="zh-CN" dirty="0"/>
              <a:t>关系模式Teaching(Cname，Class，Tname) </a:t>
            </a:r>
            <a:endParaRPr lang="en-US" altLang="zh-CN" dirty="0"/>
          </a:p>
          <a:p>
            <a:pPr lvl="1">
              <a:lnSpc>
                <a:spcPct val="150000"/>
              </a:lnSpc>
            </a:pPr>
            <a:r>
              <a:rPr lang="zh-CN" altLang="zh-CN" dirty="0"/>
              <a:t>假定每门课程由多名教师承担多个班级的教学任务，同时规定每名老师仅限承担一门课程的教学任务，但是可以同时给若干个班级带课，于是有 (Cname，Class)→Tname，Tname→Cname</a:t>
            </a:r>
            <a:endParaRPr lang="en-US" altLang="zh-CN" dirty="0"/>
          </a:p>
          <a:p>
            <a:pPr lvl="1">
              <a:lnSpc>
                <a:spcPct val="150000"/>
              </a:lnSpc>
            </a:pPr>
            <a:r>
              <a:rPr lang="zh-CN" altLang="zh-CN" dirty="0"/>
              <a:t>Teaching </a:t>
            </a:r>
            <a:r>
              <a:rPr lang="zh-CN" altLang="en-US" dirty="0"/>
              <a:t>是</a:t>
            </a:r>
            <a:r>
              <a:rPr lang="zh-CN" altLang="en-US" dirty="0">
                <a:solidFill>
                  <a:srgbClr val="FF0000"/>
                </a:solidFill>
              </a:rPr>
              <a:t> </a:t>
            </a:r>
            <a:r>
              <a:rPr lang="en-US" altLang="zh-CN" dirty="0">
                <a:solidFill>
                  <a:schemeClr val="bg1"/>
                </a:solidFill>
              </a:rPr>
              <a:t>3</a:t>
            </a:r>
            <a:r>
              <a:rPr lang="en-US" altLang="zh-CN" dirty="0">
                <a:solidFill>
                  <a:srgbClr val="FF0000"/>
                </a:solidFill>
              </a:rPr>
              <a:t> </a:t>
            </a:r>
            <a:r>
              <a:rPr lang="zh-CN" altLang="zh-CN" dirty="0"/>
              <a:t>NF</a:t>
            </a:r>
            <a:r>
              <a:rPr lang="zh-CN" altLang="en-US" dirty="0">
                <a:solidFill>
                  <a:schemeClr val="bg1"/>
                </a:solidFill>
              </a:rPr>
              <a:t>，但不</a:t>
            </a:r>
            <a:endParaRPr lang="en-US" altLang="zh-CN"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en-GB" altLang="zh-CN" dirty="0"/>
              <a:t>BCNF</a:t>
            </a:r>
            <a:r>
              <a:rPr lang="zh-CN" altLang="en-US" dirty="0"/>
              <a:t>举例</a:t>
            </a:r>
            <a:endParaRPr lang="en-US" altLang="zh-CN" dirty="0"/>
          </a:p>
          <a:p>
            <a:pPr lvl="1">
              <a:lnSpc>
                <a:spcPct val="150000"/>
              </a:lnSpc>
            </a:pPr>
            <a:r>
              <a:rPr lang="en-US" altLang="zh-CN" dirty="0"/>
              <a:t>3NF</a:t>
            </a:r>
            <a:r>
              <a:rPr lang="zh-CN" altLang="en-US" dirty="0"/>
              <a:t>的“不彻底”性表现在可能存在主属性对键的部分依赖和传递依赖</a:t>
            </a:r>
            <a:endParaRPr lang="en-US" altLang="zh-CN" dirty="0"/>
          </a:p>
          <a:p>
            <a:pPr lvl="1">
              <a:lnSpc>
                <a:spcPct val="150000"/>
              </a:lnSpc>
            </a:pPr>
            <a:r>
              <a:rPr lang="zh-CN" altLang="en-US" dirty="0"/>
              <a:t>任何非</a:t>
            </a:r>
            <a:r>
              <a:rPr lang="en-US" altLang="zh-CN" dirty="0"/>
              <a:t>BCNF</a:t>
            </a:r>
            <a:r>
              <a:rPr lang="zh-CN" altLang="en-US" dirty="0"/>
              <a:t>的关系模式都可以通过分解规范化为</a:t>
            </a:r>
            <a:r>
              <a:rPr lang="en-US" altLang="zh-CN" dirty="0"/>
              <a:t>BCNF</a:t>
            </a:r>
            <a:endParaRPr lang="en-US" altLang="zh-CN" dirty="0"/>
          </a:p>
          <a:p>
            <a:pPr lvl="1">
              <a:lnSpc>
                <a:spcPct val="150000"/>
              </a:lnSpc>
            </a:pPr>
            <a:r>
              <a:rPr lang="zh-CN" altLang="en-US" dirty="0"/>
              <a:t>例如：</a:t>
            </a:r>
            <a:r>
              <a:rPr lang="en-US" altLang="zh-CN" dirty="0"/>
              <a:t>STJ</a:t>
            </a:r>
            <a:r>
              <a:rPr lang="zh-CN" altLang="en-US" dirty="0"/>
              <a:t>可分解为</a:t>
            </a:r>
            <a:r>
              <a:rPr lang="en-US" altLang="zh-CN" dirty="0"/>
              <a:t>ST(S,T)</a:t>
            </a:r>
            <a:r>
              <a:rPr lang="zh-CN" altLang="en-US" dirty="0"/>
              <a:t>与</a:t>
            </a:r>
            <a:r>
              <a:rPr lang="en-US" altLang="zh-CN" dirty="0"/>
              <a:t>TJ</a:t>
            </a:r>
            <a:r>
              <a:rPr lang="zh-CN" altLang="en-US" dirty="0"/>
              <a:t>（</a:t>
            </a:r>
            <a:r>
              <a:rPr lang="en-US" altLang="zh-CN" dirty="0"/>
              <a:t>T,J)</a:t>
            </a:r>
            <a:r>
              <a:rPr lang="zh-CN" altLang="en-US" dirty="0"/>
              <a:t>，并且它们都是</a:t>
            </a:r>
            <a:r>
              <a:rPr lang="en-US" altLang="zh-CN" dirty="0"/>
              <a:t>BCNF</a:t>
            </a:r>
            <a:r>
              <a:rPr lang="zh-CN" altLang="en-US" dirty="0"/>
              <a:t>，但注意这一分解已不保持函数依赖</a:t>
            </a:r>
            <a:endParaRPr lang="zh-CN" altLang="en-US" dirty="0"/>
          </a:p>
          <a:p>
            <a:pPr lvl="1">
              <a:lnSpc>
                <a:spcPct val="150000"/>
              </a:lnSpc>
            </a:pPr>
            <a:r>
              <a:rPr lang="zh-CN" altLang="en-US" dirty="0">
                <a:solidFill>
                  <a:schemeClr val="bg1"/>
                </a:solidFill>
              </a:rPr>
              <a:t>不</a:t>
            </a:r>
            <a:endParaRPr lang="en-US" altLang="zh-CN" dirty="0"/>
          </a:p>
          <a:p>
            <a:pPr lvl="1">
              <a:lnSpc>
                <a:spcPct val="150000"/>
              </a:lnSpc>
            </a:pPr>
            <a:endParaRPr lang="en-US" altLang="zh-CN" sz="22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fontScale="85000" lnSpcReduction="20000"/>
          </a:bodyPr>
          <a:lstStyle/>
          <a:p>
            <a:r>
              <a:rPr lang="en-GB" altLang="zh-CN" sz="3300" dirty="0"/>
              <a:t>BCNF</a:t>
            </a:r>
            <a:r>
              <a:rPr lang="zh-CN" altLang="en-US" sz="3300" dirty="0"/>
              <a:t>举例</a:t>
            </a:r>
            <a:endParaRPr lang="en-US" altLang="zh-CN" sz="3300" dirty="0"/>
          </a:p>
          <a:p>
            <a:pPr lvl="1">
              <a:lnSpc>
                <a:spcPct val="130000"/>
              </a:lnSpc>
            </a:pPr>
            <a:r>
              <a:rPr lang="zh-CN" altLang="en-US" i="1" dirty="0"/>
              <a:t>例</a:t>
            </a:r>
            <a:r>
              <a:rPr lang="en-US" altLang="zh-CN" i="1" dirty="0"/>
              <a:t>4</a:t>
            </a:r>
            <a:r>
              <a:rPr lang="zh-CN" altLang="en-US" i="1" dirty="0"/>
              <a:t>：设有关系模式</a:t>
            </a:r>
            <a:r>
              <a:rPr lang="en-US" altLang="zh-CN" i="1" dirty="0"/>
              <a:t>R(S,C,Z)</a:t>
            </a:r>
            <a:r>
              <a:rPr lang="zh-CN" altLang="en-US" i="1" dirty="0"/>
              <a:t>，其中</a:t>
            </a:r>
            <a:r>
              <a:rPr lang="en-US" altLang="zh-CN" i="1" dirty="0"/>
              <a:t>S</a:t>
            </a:r>
            <a:r>
              <a:rPr lang="zh-CN" altLang="en-US" i="1" dirty="0"/>
              <a:t>表示街道</a:t>
            </a:r>
            <a:r>
              <a:rPr lang="en-US" altLang="zh-CN" i="1" dirty="0"/>
              <a:t>(street) </a:t>
            </a:r>
            <a:r>
              <a:rPr lang="zh-CN" altLang="en-US" i="1" dirty="0"/>
              <a:t>，</a:t>
            </a:r>
            <a:r>
              <a:rPr lang="en-US" altLang="zh-CN" i="1" dirty="0"/>
              <a:t>C</a:t>
            </a:r>
            <a:r>
              <a:rPr lang="zh-CN" altLang="en-US" i="1" dirty="0"/>
              <a:t>表示城市</a:t>
            </a:r>
            <a:r>
              <a:rPr lang="en-US" altLang="zh-CN" i="1" dirty="0"/>
              <a:t>(city) </a:t>
            </a:r>
            <a:r>
              <a:rPr lang="zh-CN" altLang="en-US" i="1" dirty="0"/>
              <a:t>，</a:t>
            </a:r>
            <a:r>
              <a:rPr lang="en-US" altLang="zh-CN" i="1" dirty="0"/>
              <a:t>Z</a:t>
            </a:r>
            <a:r>
              <a:rPr lang="zh-CN" altLang="en-US" i="1" dirty="0"/>
              <a:t>表示邮编</a:t>
            </a:r>
            <a:r>
              <a:rPr lang="en-US" altLang="zh-CN" i="1" dirty="0"/>
              <a:t>(zip) </a:t>
            </a:r>
            <a:r>
              <a:rPr lang="zh-CN" altLang="en-US" i="1" dirty="0"/>
              <a:t>；由语义可以得到以下函数依赖集：</a:t>
            </a:r>
            <a:endParaRPr lang="zh-CN" altLang="en-US" i="1" dirty="0"/>
          </a:p>
          <a:p>
            <a:pPr marL="758825" lvl="1" algn="ctr">
              <a:lnSpc>
                <a:spcPct val="130000"/>
              </a:lnSpc>
              <a:buNone/>
            </a:pPr>
            <a:r>
              <a:rPr lang="en-US" altLang="zh-CN" b="1" dirty="0"/>
              <a:t>          </a:t>
            </a:r>
            <a:r>
              <a:rPr lang="en-US" altLang="zh-CN" dirty="0"/>
              <a:t>F={CS→Z</a:t>
            </a:r>
            <a:r>
              <a:rPr lang="zh-CN" altLang="en-US" dirty="0"/>
              <a:t>，</a:t>
            </a:r>
            <a:r>
              <a:rPr lang="en-US" altLang="zh-CN" dirty="0"/>
              <a:t>Z→C}</a:t>
            </a:r>
            <a:endParaRPr lang="en-US" altLang="zh-CN" dirty="0"/>
          </a:p>
          <a:p>
            <a:pPr marL="739775" lvl="1" indent="-282575">
              <a:lnSpc>
                <a:spcPct val="130000"/>
              </a:lnSpc>
            </a:pPr>
            <a:r>
              <a:rPr lang="en-US" altLang="zh-CN" dirty="0"/>
              <a:t>CS</a:t>
            </a:r>
            <a:r>
              <a:rPr lang="zh-CN" altLang="en-US" dirty="0"/>
              <a:t>是</a:t>
            </a:r>
            <a:r>
              <a:rPr lang="en-US" altLang="zh-CN" dirty="0"/>
              <a:t>R</a:t>
            </a:r>
            <a:r>
              <a:rPr lang="zh-CN" altLang="en-US" dirty="0"/>
              <a:t>的键</a:t>
            </a:r>
            <a:endParaRPr lang="zh-CN" altLang="en-US" dirty="0"/>
          </a:p>
          <a:p>
            <a:pPr marL="739775" lvl="1" indent="-282575">
              <a:lnSpc>
                <a:spcPct val="130000"/>
              </a:lnSpc>
            </a:pPr>
            <a:r>
              <a:rPr lang="zh-CN" altLang="en-US" dirty="0"/>
              <a:t>在</a:t>
            </a:r>
            <a:r>
              <a:rPr lang="en-US" altLang="zh-CN" dirty="0"/>
              <a:t>F</a:t>
            </a:r>
            <a:r>
              <a:rPr lang="zh-CN" altLang="en-US" dirty="0"/>
              <a:t>中，</a:t>
            </a:r>
            <a:r>
              <a:rPr lang="en-US" altLang="zh-CN" dirty="0"/>
              <a:t>Z→C</a:t>
            </a:r>
            <a:r>
              <a:rPr lang="zh-CN" altLang="en-US" dirty="0"/>
              <a:t>的左部虽不是超键，但</a:t>
            </a:r>
            <a:r>
              <a:rPr lang="en-US" altLang="zh-CN" dirty="0"/>
              <a:t>C</a:t>
            </a:r>
            <a:r>
              <a:rPr lang="zh-CN" altLang="en-US" dirty="0"/>
              <a:t>是主属性，在</a:t>
            </a:r>
            <a:r>
              <a:rPr lang="en-US" altLang="zh-CN" dirty="0"/>
              <a:t>3NF</a:t>
            </a:r>
            <a:r>
              <a:rPr lang="zh-CN" altLang="en-US" dirty="0"/>
              <a:t>中允许这样函数依赖，而</a:t>
            </a:r>
            <a:r>
              <a:rPr lang="en-US" altLang="zh-CN" dirty="0"/>
              <a:t>BCNF</a:t>
            </a:r>
            <a:r>
              <a:rPr lang="zh-CN" altLang="en-US" dirty="0"/>
              <a:t>中则不允许</a:t>
            </a:r>
            <a:endParaRPr lang="zh-CN" altLang="en-US" dirty="0"/>
          </a:p>
          <a:p>
            <a:pPr marL="739775" lvl="1" indent="-282575">
              <a:lnSpc>
                <a:spcPct val="130000"/>
              </a:lnSpc>
            </a:pPr>
            <a:r>
              <a:rPr lang="zh-CN" altLang="en-US" dirty="0"/>
              <a:t>因此，</a:t>
            </a:r>
            <a:r>
              <a:rPr lang="en-US" altLang="zh-CN" dirty="0"/>
              <a:t>R</a:t>
            </a:r>
            <a:r>
              <a:rPr lang="zh-CN" altLang="en-US" dirty="0"/>
              <a:t>属于</a:t>
            </a:r>
            <a:r>
              <a:rPr lang="en-US" altLang="zh-CN" dirty="0"/>
              <a:t>3NF</a:t>
            </a:r>
            <a:r>
              <a:rPr lang="zh-CN" altLang="en-US" dirty="0"/>
              <a:t>，但不属于</a:t>
            </a:r>
            <a:r>
              <a:rPr lang="en-US" altLang="zh-CN" dirty="0"/>
              <a:t>BCNF</a:t>
            </a:r>
            <a:endParaRPr lang="en-US" altLang="zh-CN" dirty="0"/>
          </a:p>
          <a:p>
            <a:pPr marL="739775" lvl="1" indent="-282575">
              <a:lnSpc>
                <a:spcPct val="130000"/>
              </a:lnSpc>
            </a:pPr>
            <a:r>
              <a:rPr lang="en-US" altLang="zh-CN" dirty="0"/>
              <a:t>R</a:t>
            </a:r>
            <a:r>
              <a:rPr lang="zh-CN" altLang="en-US" dirty="0"/>
              <a:t>在被更新时仍可能发生异常，例如要插入一邮政编码与某个城市的对应关系，则必须知道该邮政编码所对应的一个街道</a:t>
            </a:r>
            <a:endParaRPr lang="zh-CN" altLang="en-US" dirty="0"/>
          </a:p>
          <a:p>
            <a:pPr marL="739775" lvl="1" indent="-282575">
              <a:lnSpc>
                <a:spcPct val="130000"/>
              </a:lnSpc>
            </a:pPr>
            <a:r>
              <a:rPr lang="zh-CN" altLang="en-US" dirty="0"/>
              <a:t>我们可以将</a:t>
            </a:r>
            <a:r>
              <a:rPr lang="en-US" altLang="zh-CN" dirty="0"/>
              <a:t>R</a:t>
            </a:r>
            <a:r>
              <a:rPr lang="zh-CN" altLang="en-US" dirty="0"/>
              <a:t>分解为 </a:t>
            </a:r>
            <a:r>
              <a:rPr lang="en-US" altLang="zh-CN" dirty="0"/>
              <a:t>R1(Z,C)</a:t>
            </a:r>
            <a:r>
              <a:rPr lang="zh-CN" altLang="en-US" dirty="0"/>
              <a:t>和</a:t>
            </a:r>
            <a:r>
              <a:rPr lang="en-US" altLang="zh-CN" dirty="0"/>
              <a:t>R2(S,Z)</a:t>
            </a:r>
            <a:r>
              <a:rPr lang="zh-CN" altLang="en-US" dirty="0"/>
              <a:t>，其中</a:t>
            </a:r>
            <a:r>
              <a:rPr lang="en-US" altLang="zh-CN" dirty="0"/>
              <a:t>R1</a:t>
            </a:r>
            <a:r>
              <a:rPr lang="zh-CN" altLang="en-US" dirty="0"/>
              <a:t>和</a:t>
            </a:r>
            <a:r>
              <a:rPr lang="en-US" altLang="zh-CN" dirty="0"/>
              <a:t>R2</a:t>
            </a:r>
            <a:r>
              <a:rPr lang="zh-CN" altLang="en-US" dirty="0"/>
              <a:t>都是</a:t>
            </a:r>
            <a:r>
              <a:rPr lang="en-US" altLang="zh-CN" dirty="0"/>
              <a:t>BCNF</a:t>
            </a:r>
            <a:r>
              <a:rPr lang="zh-CN" altLang="en-US" dirty="0"/>
              <a:t>，并且这一分解是无损的，但却不保持函数依赖</a:t>
            </a: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en-GB" altLang="zh-CN" dirty="0"/>
              <a:t>BCNF</a:t>
            </a:r>
            <a:r>
              <a:rPr lang="zh-CN" altLang="en-US" dirty="0"/>
              <a:t>举例</a:t>
            </a:r>
            <a:endParaRPr lang="en-US" altLang="zh-CN" dirty="0"/>
          </a:p>
          <a:p>
            <a:pPr marL="739775" lvl="1" indent="-282575">
              <a:lnSpc>
                <a:spcPct val="150000"/>
              </a:lnSpc>
            </a:pPr>
            <a:r>
              <a:rPr lang="zh-CN" altLang="en-US" dirty="0"/>
              <a:t>一般而言，属于</a:t>
            </a:r>
            <a:r>
              <a:rPr lang="en-US" altLang="zh-CN" dirty="0"/>
              <a:t>3NF</a:t>
            </a:r>
            <a:r>
              <a:rPr lang="zh-CN" altLang="en-US" dirty="0"/>
              <a:t>但不属于</a:t>
            </a:r>
            <a:r>
              <a:rPr lang="en-US" altLang="zh-CN" dirty="0"/>
              <a:t>BCNF</a:t>
            </a:r>
            <a:r>
              <a:rPr lang="zh-CN" altLang="en-US" dirty="0"/>
              <a:t>的关系并不多见</a:t>
            </a:r>
            <a:endParaRPr lang="zh-CN" altLang="en-US" dirty="0"/>
          </a:p>
          <a:p>
            <a:pPr marL="739775" lvl="1" indent="-282575">
              <a:lnSpc>
                <a:spcPct val="150000"/>
              </a:lnSpc>
            </a:pPr>
            <a:r>
              <a:rPr lang="zh-CN" altLang="en-US" dirty="0"/>
              <a:t>而且，即使出现这样的关系模式，其引起的更新异常也不是很严重</a:t>
            </a:r>
            <a:endParaRPr lang="zh-CN" altLang="en-US" dirty="0"/>
          </a:p>
          <a:p>
            <a:pPr marL="739775" lvl="1" indent="-282575">
              <a:lnSpc>
                <a:spcPct val="150000"/>
              </a:lnSpc>
            </a:pPr>
            <a:r>
              <a:rPr lang="zh-CN" altLang="en-US" dirty="0"/>
              <a:t>例如，上面例子中的</a:t>
            </a:r>
            <a:r>
              <a:rPr lang="en-US" altLang="zh-CN" dirty="0"/>
              <a:t>R(S,C,Z)</a:t>
            </a:r>
            <a:r>
              <a:rPr lang="zh-CN" altLang="en-US" dirty="0"/>
              <a:t>，虽然不属于</a:t>
            </a:r>
            <a:r>
              <a:rPr lang="en-US" altLang="zh-CN" dirty="0"/>
              <a:t>BCNF</a:t>
            </a:r>
            <a:r>
              <a:rPr lang="zh-CN" altLang="en-US" dirty="0"/>
              <a:t>，但基本上是“合理”的关系模式</a:t>
            </a:r>
            <a:endParaRPr lang="zh-CN" altLang="en-US" dirty="0"/>
          </a:p>
          <a:p>
            <a:pPr marL="739775" lvl="1" indent="-282575">
              <a:lnSpc>
                <a:spcPct val="150000"/>
              </a:lnSpc>
            </a:pPr>
            <a:r>
              <a:rPr lang="zh-CN" altLang="en-US" dirty="0"/>
              <a:t>任何关系模式都可以分解为一组</a:t>
            </a:r>
            <a:r>
              <a:rPr lang="en-US" altLang="zh-CN" dirty="0"/>
              <a:t>3NF</a:t>
            </a:r>
            <a:r>
              <a:rPr lang="zh-CN" altLang="en-US" dirty="0"/>
              <a:t>，且既无损连接，又保持函数依赖</a:t>
            </a:r>
            <a:endParaRPr lang="en-US" altLang="zh-CN" dirty="0"/>
          </a:p>
          <a:p>
            <a:pPr marL="739775" lvl="1" indent="-282575">
              <a:lnSpc>
                <a:spcPct val="150000"/>
              </a:lnSpc>
            </a:pPr>
            <a:r>
              <a:rPr lang="zh-CN" altLang="en-US" dirty="0"/>
              <a:t>若要求分解既保持函数依赖，那么模式分解可以达到</a:t>
            </a:r>
            <a:r>
              <a:rPr lang="en-US" altLang="zh-CN" dirty="0"/>
              <a:t>3NF</a:t>
            </a:r>
            <a:r>
              <a:rPr lang="zh-CN" altLang="en-US" dirty="0"/>
              <a:t>，但是不一定达到</a:t>
            </a:r>
            <a:r>
              <a:rPr lang="en-US" altLang="zh-CN" dirty="0"/>
              <a:t>BCNF</a:t>
            </a:r>
            <a:endParaRPr lang="zh-CN" altLang="en-US" dirty="0"/>
          </a:p>
          <a:p>
            <a:pPr lvl="1">
              <a:lnSpc>
                <a:spcPct val="130000"/>
              </a:lnSpc>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第四范式（</a:t>
            </a:r>
            <a:r>
              <a:rPr lang="en-US" altLang="zh-CN" dirty="0"/>
              <a:t>4</a:t>
            </a:r>
            <a:r>
              <a:rPr lang="en-GB" altLang="zh-CN" dirty="0"/>
              <a:t>NF</a:t>
            </a:r>
            <a:r>
              <a:rPr lang="zh-CN" altLang="en-GB" dirty="0"/>
              <a:t>）</a:t>
            </a:r>
            <a:endParaRPr lang="en-US" altLang="zh-CN" dirty="0"/>
          </a:p>
          <a:p>
            <a:pPr lvl="1">
              <a:lnSpc>
                <a:spcPct val="150000"/>
              </a:lnSpc>
            </a:pPr>
            <a:r>
              <a:rPr lang="zh-CN" altLang="en-US" dirty="0"/>
              <a:t>定义</a:t>
            </a:r>
            <a:r>
              <a:rPr lang="en-US" altLang="zh-CN" dirty="0"/>
              <a:t>4.26:</a:t>
            </a:r>
            <a:r>
              <a:rPr lang="zh-CN" altLang="en-US" dirty="0"/>
              <a:t>设</a:t>
            </a:r>
            <a:r>
              <a:rPr lang="en-US" altLang="zh-CN" dirty="0"/>
              <a:t>D</a:t>
            </a:r>
            <a:r>
              <a:rPr lang="zh-CN" altLang="en-US" dirty="0"/>
              <a:t>是关系模式</a:t>
            </a:r>
            <a:r>
              <a:rPr lang="en-US" altLang="zh-CN" dirty="0"/>
              <a:t>R</a:t>
            </a:r>
            <a:r>
              <a:rPr lang="zh-CN" altLang="en-US" dirty="0"/>
              <a:t>上成立的</a:t>
            </a:r>
            <a:r>
              <a:rPr lang="en-US" altLang="zh-CN" dirty="0"/>
              <a:t>FD</a:t>
            </a:r>
            <a:r>
              <a:rPr lang="zh-CN" altLang="en-US" dirty="0"/>
              <a:t>和</a:t>
            </a:r>
            <a:r>
              <a:rPr lang="en-US" altLang="zh-CN" dirty="0"/>
              <a:t>MVD</a:t>
            </a:r>
            <a:r>
              <a:rPr lang="zh-CN" altLang="en-US" dirty="0"/>
              <a:t>集合。如果</a:t>
            </a:r>
            <a:r>
              <a:rPr lang="en-US" altLang="zh-CN" dirty="0"/>
              <a:t>D</a:t>
            </a:r>
            <a:r>
              <a:rPr lang="zh-CN" altLang="en-US" dirty="0"/>
              <a:t>中每个非平凡的</a:t>
            </a:r>
            <a:r>
              <a:rPr lang="en-US" altLang="zh-CN" dirty="0"/>
              <a:t>MVD X→→Y</a:t>
            </a:r>
            <a:r>
              <a:rPr lang="zh-CN" altLang="en-US" dirty="0"/>
              <a:t>的左部</a:t>
            </a:r>
            <a:r>
              <a:rPr lang="en-US" altLang="zh-CN" dirty="0"/>
              <a:t>X</a:t>
            </a:r>
            <a:r>
              <a:rPr lang="zh-CN" altLang="en-US" dirty="0"/>
              <a:t>都是</a:t>
            </a:r>
            <a:r>
              <a:rPr lang="en-US" altLang="zh-CN" dirty="0"/>
              <a:t>R</a:t>
            </a:r>
            <a:r>
              <a:rPr lang="zh-CN" altLang="en-US" dirty="0"/>
              <a:t>的超键，那么称</a:t>
            </a:r>
            <a:r>
              <a:rPr lang="en-US" altLang="zh-CN" dirty="0"/>
              <a:t>R</a:t>
            </a:r>
            <a:r>
              <a:rPr lang="zh-CN" altLang="en-US" dirty="0"/>
              <a:t>是</a:t>
            </a:r>
            <a:r>
              <a:rPr lang="en-US" altLang="zh-CN" dirty="0"/>
              <a:t>4NF</a:t>
            </a:r>
            <a:r>
              <a:rPr lang="zh-CN" altLang="en-US" dirty="0"/>
              <a:t>的模式</a:t>
            </a:r>
            <a:endParaRPr lang="zh-CN" altLang="en-US" dirty="0"/>
          </a:p>
          <a:p>
            <a:pPr lvl="1">
              <a:lnSpc>
                <a:spcPct val="150000"/>
              </a:lnSpc>
            </a:pPr>
            <a:r>
              <a:rPr lang="en-US" altLang="zh-CN" dirty="0"/>
              <a:t>4NF</a:t>
            </a:r>
            <a:r>
              <a:rPr lang="zh-CN" altLang="en-US" dirty="0"/>
              <a:t>就是限制关系模式的属性之间不允许有非平凡且非函数依赖的多值依赖</a:t>
            </a:r>
            <a:endParaRPr lang="zh-CN" altLang="en-US" dirty="0"/>
          </a:p>
          <a:p>
            <a:pPr lvl="1">
              <a:lnSpc>
                <a:spcPct val="150000"/>
              </a:lnSpc>
            </a:pPr>
            <a:r>
              <a:rPr lang="zh-CN" altLang="en-US" dirty="0"/>
              <a:t>因为根据定义，对于每一个非平凡的多值依赖</a:t>
            </a:r>
            <a:r>
              <a:rPr lang="en-US" altLang="zh-CN" dirty="0"/>
              <a:t>X→→Y</a:t>
            </a:r>
            <a:r>
              <a:rPr lang="zh-CN" altLang="en-US" dirty="0"/>
              <a:t>，</a:t>
            </a:r>
            <a:r>
              <a:rPr lang="en-US" altLang="zh-CN" dirty="0"/>
              <a:t>X</a:t>
            </a:r>
            <a:r>
              <a:rPr lang="zh-CN" altLang="en-US" dirty="0"/>
              <a:t>都含有候选键，于是就有</a:t>
            </a:r>
            <a:r>
              <a:rPr lang="en-US" altLang="zh-CN" dirty="0"/>
              <a:t>X→Y</a:t>
            </a:r>
            <a:r>
              <a:rPr lang="zh-CN" altLang="en-US" dirty="0"/>
              <a:t>，所以</a:t>
            </a:r>
            <a:r>
              <a:rPr lang="en-US" altLang="zh-CN" dirty="0"/>
              <a:t>4NF</a:t>
            </a:r>
            <a:r>
              <a:rPr lang="zh-CN" altLang="en-US" dirty="0"/>
              <a:t>所允许的非平凡的多值依赖实际上是函数依赖</a:t>
            </a:r>
            <a:endParaRPr lang="zh-CN" altLang="en-US" dirty="0"/>
          </a:p>
          <a:p>
            <a:pPr lvl="1"/>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第四范式（</a:t>
            </a:r>
            <a:r>
              <a:rPr lang="en-US" altLang="zh-CN" dirty="0"/>
              <a:t>4</a:t>
            </a:r>
            <a:r>
              <a:rPr lang="en-GB" altLang="zh-CN" dirty="0"/>
              <a:t>NF</a:t>
            </a:r>
            <a:r>
              <a:rPr lang="zh-CN" altLang="en-GB" dirty="0"/>
              <a:t>）</a:t>
            </a:r>
            <a:endParaRPr lang="en-US" altLang="zh-CN" dirty="0"/>
          </a:p>
          <a:p>
            <a:pPr lvl="1">
              <a:lnSpc>
                <a:spcPct val="150000"/>
              </a:lnSpc>
            </a:pPr>
            <a:r>
              <a:rPr lang="zh-CN" altLang="en-US" dirty="0"/>
              <a:t>显然，如果一个关系模式是</a:t>
            </a:r>
            <a:r>
              <a:rPr lang="en-US" altLang="zh-CN" dirty="0"/>
              <a:t>4NF</a:t>
            </a:r>
            <a:r>
              <a:rPr lang="zh-CN" altLang="en-US" dirty="0"/>
              <a:t>， 则必为</a:t>
            </a:r>
            <a:r>
              <a:rPr lang="en-US" altLang="zh-CN" dirty="0"/>
              <a:t>BCNF</a:t>
            </a:r>
            <a:r>
              <a:rPr lang="zh-CN" altLang="en-US" dirty="0"/>
              <a:t>。但反之不然 </a:t>
            </a:r>
            <a:endParaRPr lang="zh-CN" altLang="en-US" dirty="0"/>
          </a:p>
          <a:p>
            <a:pPr lvl="1">
              <a:lnSpc>
                <a:spcPct val="150000"/>
              </a:lnSpc>
            </a:pPr>
            <a:r>
              <a:rPr lang="zh-CN" altLang="en-US" dirty="0"/>
              <a:t>多值依赖的“毛病”在于数据冗余太大。我们可以用投影分解的方法消去非平凡且非函数依赖的多值依赖 </a:t>
            </a:r>
            <a:endParaRPr lang="zh-CN" altLang="en-US" dirty="0"/>
          </a:p>
          <a:p>
            <a:pPr lvl="1">
              <a:lnSpc>
                <a:spcPct val="150000"/>
              </a:lnSpc>
            </a:pPr>
            <a:r>
              <a:rPr lang="zh-CN" altLang="en-US" dirty="0"/>
              <a:t>函数依赖和多值依赖是两种最重要的数据依赖</a:t>
            </a:r>
            <a:endParaRPr lang="zh-CN" altLang="en-US" dirty="0"/>
          </a:p>
          <a:p>
            <a:pPr lvl="1">
              <a:lnSpc>
                <a:spcPct val="150000"/>
              </a:lnSpc>
            </a:pPr>
            <a:r>
              <a:rPr lang="zh-CN" altLang="en-US" dirty="0"/>
              <a:t>如果只考虑函数依赖，则属于</a:t>
            </a:r>
            <a:r>
              <a:rPr lang="en-US" altLang="zh-CN" dirty="0"/>
              <a:t>BCNF</a:t>
            </a:r>
            <a:r>
              <a:rPr lang="zh-CN" altLang="en-US" dirty="0"/>
              <a:t>的关系模式规范化程度为最高。如果考虑多值依赖，则属于</a:t>
            </a:r>
            <a:r>
              <a:rPr lang="en-US" altLang="zh-CN" dirty="0"/>
              <a:t>4NF</a:t>
            </a:r>
            <a:r>
              <a:rPr lang="zh-CN" altLang="en-US" dirty="0"/>
              <a:t>的关系模式规范化程度为最高 </a:t>
            </a:r>
            <a:endParaRPr lang="zh-CN" altLang="en-US" dirty="0"/>
          </a:p>
          <a:p>
            <a:pPr lvl="1"/>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判断范式级别</a:t>
            </a:r>
            <a:endParaRPr lang="en-US" altLang="zh-CN" dirty="0"/>
          </a:p>
          <a:p>
            <a:pPr lvl="1"/>
            <a:r>
              <a:rPr lang="zh-CN" altLang="en-US" dirty="0"/>
              <a:t>给定关系模式和函数依赖集合，要求判断达到的最高范式。</a:t>
            </a:r>
            <a:endParaRPr lang="en-US" altLang="zh-CN" dirty="0"/>
          </a:p>
          <a:p>
            <a:pPr lvl="1"/>
            <a:r>
              <a:rPr lang="zh-CN" altLang="en-US" dirty="0"/>
              <a:t>方法：</a:t>
            </a:r>
            <a:endParaRPr lang="zh-CN" altLang="en-US" dirty="0"/>
          </a:p>
          <a:p>
            <a:pPr marL="1371600" lvl="2" indent="-457200">
              <a:buFont typeface="Wingdings" panose="05000000000000000000" pitchFamily="2" charset="2"/>
              <a:buAutoNum type="arabicPeriod"/>
            </a:pPr>
            <a:r>
              <a:rPr lang="zh-CN" altLang="en-US" sz="2200" dirty="0"/>
              <a:t>求出给定关系的候选键（可能不止一个）</a:t>
            </a:r>
            <a:endParaRPr lang="zh-CN" altLang="en-US" sz="2200" dirty="0"/>
          </a:p>
          <a:p>
            <a:pPr marL="1371600" lvl="2" indent="-457200">
              <a:buFont typeface="Wingdings" panose="05000000000000000000" pitchFamily="2" charset="2"/>
              <a:buAutoNum type="arabicPeriod"/>
            </a:pPr>
            <a:r>
              <a:rPr lang="zh-CN" altLang="en-US" sz="2200" dirty="0"/>
              <a:t>根据键，确定主属性和非主属性。</a:t>
            </a:r>
            <a:endParaRPr lang="zh-CN" altLang="en-US" sz="2200" dirty="0"/>
          </a:p>
          <a:p>
            <a:pPr marL="1371600" lvl="2" indent="-457200">
              <a:buFont typeface="Wingdings" panose="05000000000000000000" pitchFamily="2" charset="2"/>
              <a:buAutoNum type="arabicPeriod"/>
            </a:pPr>
            <a:r>
              <a:rPr lang="zh-CN" altLang="en-US" sz="2200" dirty="0"/>
              <a:t>判断是否满足第一范式</a:t>
            </a:r>
            <a:r>
              <a:rPr lang="en-US" altLang="zh-CN" sz="2200" dirty="0"/>
              <a:t>(</a:t>
            </a:r>
            <a:r>
              <a:rPr lang="zh-CN" altLang="en-US" sz="2200" dirty="0"/>
              <a:t>看属性的值域是否可以分解）</a:t>
            </a:r>
            <a:endParaRPr lang="zh-CN" altLang="en-US" sz="2200" dirty="0"/>
          </a:p>
          <a:p>
            <a:pPr marL="1371600" lvl="2" indent="-457200">
              <a:buFont typeface="Wingdings" panose="05000000000000000000" pitchFamily="2" charset="2"/>
              <a:buAutoNum type="arabicPeriod"/>
            </a:pPr>
            <a:r>
              <a:rPr lang="zh-CN" altLang="en-US" sz="2200" dirty="0"/>
              <a:t>判断是否满足第二范式</a:t>
            </a:r>
            <a:r>
              <a:rPr lang="en-US" altLang="zh-CN" sz="2200" dirty="0"/>
              <a:t>(</a:t>
            </a:r>
            <a:r>
              <a:rPr lang="zh-CN" altLang="en-US" sz="2200" dirty="0"/>
              <a:t>非主属性对键的部分函数依赖</a:t>
            </a:r>
            <a:r>
              <a:rPr lang="en-US" altLang="zh-CN" sz="2200" dirty="0"/>
              <a:t>) </a:t>
            </a:r>
            <a:endParaRPr lang="en-US" altLang="zh-CN" sz="2200" dirty="0"/>
          </a:p>
          <a:p>
            <a:pPr marL="1371600" lvl="2" indent="-457200">
              <a:buFont typeface="Wingdings" panose="05000000000000000000" pitchFamily="2" charset="2"/>
              <a:buAutoNum type="arabicPeriod"/>
            </a:pPr>
            <a:r>
              <a:rPr lang="zh-CN" altLang="en-US" sz="2200" dirty="0"/>
              <a:t>判断是否满足第三范式</a:t>
            </a:r>
            <a:r>
              <a:rPr lang="en-US" altLang="zh-CN" sz="2200" dirty="0"/>
              <a:t>(</a:t>
            </a:r>
            <a:r>
              <a:rPr lang="zh-CN" altLang="en-US" sz="2200" dirty="0"/>
              <a:t>非主属性对键的传递函数依赖</a:t>
            </a:r>
            <a:r>
              <a:rPr lang="en-US" altLang="zh-CN" sz="2200" dirty="0"/>
              <a:t>) </a:t>
            </a:r>
            <a:endParaRPr lang="en-US" altLang="zh-CN" sz="2200" dirty="0"/>
          </a:p>
          <a:p>
            <a:pPr marL="1371600" lvl="2" indent="-457200">
              <a:buFont typeface="Wingdings" panose="05000000000000000000" pitchFamily="2" charset="2"/>
              <a:buAutoNum type="arabicPeriod"/>
            </a:pPr>
            <a:r>
              <a:rPr lang="zh-CN" altLang="en-US" sz="2200" dirty="0"/>
              <a:t>判断是否满足</a:t>
            </a:r>
            <a:r>
              <a:rPr lang="en-US" altLang="zh-CN" sz="2200" dirty="0"/>
              <a:t>BCNF</a:t>
            </a:r>
            <a:r>
              <a:rPr lang="zh-CN" altLang="en-US" sz="2200" dirty="0"/>
              <a:t>范式</a:t>
            </a:r>
            <a:r>
              <a:rPr lang="en-US" altLang="zh-CN" sz="2200" dirty="0"/>
              <a:t>(</a:t>
            </a:r>
            <a:r>
              <a:rPr lang="zh-CN" altLang="en-US" sz="2200" dirty="0"/>
              <a:t>主属性对键的传递函数依赖</a:t>
            </a:r>
            <a:r>
              <a:rPr lang="en-US" altLang="zh-CN" sz="2200" dirty="0"/>
              <a:t>)</a:t>
            </a:r>
            <a:endParaRPr lang="en-US" altLang="zh-CN" sz="2200" dirty="0"/>
          </a:p>
          <a:p>
            <a:pPr lvl="1">
              <a:lnSpc>
                <a:spcPct val="150000"/>
              </a:lnSpc>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判断范式级别：举例</a:t>
            </a: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7" name="Rectangle 3"/>
          <p:cNvSpPr txBox="1">
            <a:spLocks noChangeArrowheads="1"/>
          </p:cNvSpPr>
          <p:nvPr/>
        </p:nvSpPr>
        <p:spPr>
          <a:xfrm>
            <a:off x="968297" y="1817687"/>
            <a:ext cx="10893498" cy="4721225"/>
          </a:xfrm>
          <a:prstGeom prst="rect">
            <a:avLst/>
          </a:prstGeom>
        </p:spPr>
        <p:txBody>
          <a:bodyPr vert="horz" lIns="91440" tIns="45720" rIns="91440" bIns="45720" rtlCol="0">
            <a:noAutofit/>
          </a:bodyPr>
          <a:lstStyle>
            <a:lvl1pPr marL="228600" indent="-228600" algn="just"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just"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just"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just"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zh-CN" altLang="en-US" sz="2000" b="0" i="1" dirty="0"/>
              <a:t>例</a:t>
            </a:r>
            <a:r>
              <a:rPr lang="en-US" altLang="zh-CN" sz="2000" b="0" i="1" dirty="0"/>
              <a:t>1:</a:t>
            </a:r>
            <a:r>
              <a:rPr lang="zh-CN" altLang="en-US" sz="2000" b="0" i="1" dirty="0"/>
              <a:t>已知关系</a:t>
            </a:r>
            <a:r>
              <a:rPr lang="en-US" altLang="zh-CN" sz="2000" b="0" i="1" dirty="0"/>
              <a:t>R</a:t>
            </a:r>
            <a:r>
              <a:rPr lang="zh-CN" altLang="en-US" sz="2000" b="0" i="1" dirty="0"/>
              <a:t>（</a:t>
            </a:r>
            <a:r>
              <a:rPr lang="en-US" altLang="zh-CN" sz="2000" b="0" i="1" dirty="0"/>
              <a:t>A,B,C,D,E</a:t>
            </a:r>
            <a:r>
              <a:rPr lang="zh-CN" altLang="en-US" sz="2000" b="0" i="1" dirty="0"/>
              <a:t>）和</a:t>
            </a:r>
            <a:r>
              <a:rPr lang="en-US" altLang="zh-CN" sz="2000" b="0" i="1" dirty="0"/>
              <a:t>F={AB</a:t>
            </a:r>
            <a:r>
              <a:rPr lang="en-US" altLang="zh-CN" sz="2000" b="0" i="1" dirty="0">
                <a:sym typeface="Symbol" panose="05050102010706020507" pitchFamily="18" charset="2"/>
              </a:rPr>
              <a:t>CE,EAB,CD},</a:t>
            </a:r>
            <a:r>
              <a:rPr lang="zh-CN" altLang="en-US" sz="2000" b="0" i="1" dirty="0">
                <a:sym typeface="Symbol" panose="05050102010706020507" pitchFamily="18" charset="2"/>
              </a:rPr>
              <a:t>试判断该关系最高为第几范式？</a:t>
            </a:r>
            <a:endParaRPr lang="zh-CN" altLang="en-US" sz="2000" b="0" i="1" dirty="0">
              <a:sym typeface="Symbol" panose="05050102010706020507" pitchFamily="18" charset="2"/>
            </a:endParaRPr>
          </a:p>
          <a:p>
            <a:pPr>
              <a:buFontTx/>
              <a:buNone/>
            </a:pPr>
            <a:r>
              <a:rPr lang="zh-CN" altLang="en-US" sz="2000" b="0" dirty="0">
                <a:sym typeface="Symbol" panose="05050102010706020507" pitchFamily="18" charset="2"/>
              </a:rPr>
              <a:t>解：</a:t>
            </a:r>
            <a:endParaRPr lang="zh-CN" altLang="en-US" sz="2000" b="0" dirty="0">
              <a:sym typeface="Symbol" panose="05050102010706020507" pitchFamily="18" charset="2"/>
            </a:endParaRPr>
          </a:p>
          <a:p>
            <a:pPr>
              <a:buFontTx/>
              <a:buNone/>
            </a:pPr>
            <a:r>
              <a:rPr lang="en-US" altLang="zh-CN" sz="2000" b="0" dirty="0">
                <a:solidFill>
                  <a:srgbClr val="C00000"/>
                </a:solidFill>
                <a:sym typeface="Symbol" panose="05050102010706020507" pitchFamily="18" charset="2"/>
              </a:rPr>
              <a:t>1</a:t>
            </a:r>
            <a:r>
              <a:rPr lang="zh-CN" altLang="en-US" sz="2000" b="0" dirty="0">
                <a:solidFill>
                  <a:srgbClr val="C00000"/>
                </a:solidFill>
                <a:sym typeface="Symbol" panose="05050102010706020507" pitchFamily="18" charset="2"/>
              </a:rPr>
              <a:t>、</a:t>
            </a:r>
            <a:r>
              <a:rPr lang="zh-CN" altLang="en-US" sz="2000" b="0" dirty="0">
                <a:solidFill>
                  <a:srgbClr val="C00000"/>
                </a:solidFill>
              </a:rPr>
              <a:t>关系</a:t>
            </a:r>
            <a:r>
              <a:rPr lang="en-US" altLang="zh-CN" sz="2000" b="0" dirty="0">
                <a:solidFill>
                  <a:srgbClr val="C00000"/>
                </a:solidFill>
              </a:rPr>
              <a:t>R</a:t>
            </a:r>
            <a:r>
              <a:rPr lang="zh-CN" altLang="en-US" sz="2000" b="0" dirty="0">
                <a:solidFill>
                  <a:srgbClr val="C00000"/>
                </a:solidFill>
              </a:rPr>
              <a:t>的候选键为：</a:t>
            </a:r>
            <a:r>
              <a:rPr lang="en-US" altLang="zh-CN" sz="2000" b="0" dirty="0">
                <a:solidFill>
                  <a:srgbClr val="C00000"/>
                </a:solidFill>
              </a:rPr>
              <a:t>AB</a:t>
            </a:r>
            <a:r>
              <a:rPr lang="zh-CN" altLang="en-US" sz="2000" b="0" dirty="0">
                <a:solidFill>
                  <a:srgbClr val="C00000"/>
                </a:solidFill>
              </a:rPr>
              <a:t>和</a:t>
            </a:r>
            <a:r>
              <a:rPr lang="en-US" altLang="zh-CN" sz="2000" b="0" dirty="0">
                <a:solidFill>
                  <a:srgbClr val="C00000"/>
                </a:solidFill>
              </a:rPr>
              <a:t>E</a:t>
            </a:r>
            <a:r>
              <a:rPr lang="zh-CN" altLang="en-US" sz="2000" b="0" dirty="0">
                <a:solidFill>
                  <a:srgbClr val="C00000"/>
                </a:solidFill>
              </a:rPr>
              <a:t>。</a:t>
            </a:r>
            <a:endParaRPr lang="zh-CN" altLang="en-US" sz="2000" b="0" dirty="0">
              <a:solidFill>
                <a:srgbClr val="C00000"/>
              </a:solidFill>
            </a:endParaRPr>
          </a:p>
          <a:p>
            <a:pPr>
              <a:buFontTx/>
              <a:buNone/>
            </a:pPr>
            <a:r>
              <a:rPr lang="zh-CN" altLang="en-US" sz="2000" b="0" dirty="0"/>
              <a:t>  因为</a:t>
            </a:r>
            <a:r>
              <a:rPr lang="en-US" altLang="zh-CN" sz="2000" b="0" dirty="0"/>
              <a:t>:(AB)</a:t>
            </a:r>
            <a:r>
              <a:rPr lang="en-US" altLang="zh-CN" sz="2000" b="0" baseline="30000" dirty="0"/>
              <a:t>+</a:t>
            </a:r>
            <a:r>
              <a:rPr lang="en-US" altLang="zh-CN" sz="2000" b="0" dirty="0"/>
              <a:t>={ABCED}</a:t>
            </a:r>
            <a:endParaRPr lang="en-US" altLang="zh-CN" sz="2000" b="0" dirty="0"/>
          </a:p>
          <a:p>
            <a:pPr>
              <a:buFontTx/>
              <a:buNone/>
            </a:pPr>
            <a:r>
              <a:rPr lang="en-US" altLang="zh-CN" sz="2000" b="0" dirty="0"/>
              <a:t>        (E)</a:t>
            </a:r>
            <a:r>
              <a:rPr lang="en-US" altLang="zh-CN" sz="2000" b="0" baseline="30000" dirty="0"/>
              <a:t>+</a:t>
            </a:r>
            <a:r>
              <a:rPr lang="en-US" altLang="zh-CN" sz="2000" b="0" dirty="0"/>
              <a:t>={EABCD}</a:t>
            </a:r>
            <a:endParaRPr lang="en-US" altLang="zh-CN" sz="2000" b="0" dirty="0"/>
          </a:p>
          <a:p>
            <a:pPr>
              <a:buFontTx/>
              <a:buNone/>
            </a:pPr>
            <a:r>
              <a:rPr lang="en-US" altLang="zh-CN" sz="2000" b="0" dirty="0"/>
              <a:t>  AB</a:t>
            </a:r>
            <a:r>
              <a:rPr lang="zh-CN" altLang="en-US" sz="2000" b="0" dirty="0"/>
              <a:t>可以决定关系的所有属性，</a:t>
            </a:r>
            <a:r>
              <a:rPr lang="en-US" altLang="zh-CN" sz="2000" b="0" dirty="0"/>
              <a:t>E</a:t>
            </a:r>
            <a:r>
              <a:rPr lang="zh-CN" altLang="en-US" sz="2000" b="0" dirty="0"/>
              <a:t>可以决定关系的所有属性，所以</a:t>
            </a:r>
            <a:r>
              <a:rPr lang="en-US" altLang="zh-CN" sz="2000" b="0" dirty="0"/>
              <a:t>AB </a:t>
            </a:r>
            <a:r>
              <a:rPr lang="zh-CN" altLang="en-US" sz="2000" b="0" dirty="0"/>
              <a:t>和</a:t>
            </a:r>
            <a:r>
              <a:rPr lang="en-US" altLang="zh-CN" sz="2000" b="0" dirty="0"/>
              <a:t>E</a:t>
            </a:r>
            <a:r>
              <a:rPr lang="zh-CN" altLang="en-US" sz="2000" b="0" dirty="0"/>
              <a:t>是关系的候选键</a:t>
            </a:r>
            <a:endParaRPr lang="zh-CN" altLang="en-US" sz="2000" b="0" dirty="0"/>
          </a:p>
          <a:p>
            <a:pPr>
              <a:buFontTx/>
              <a:buNone/>
            </a:pPr>
            <a:r>
              <a:rPr lang="en-US" altLang="zh-CN" sz="2000" b="0" dirty="0">
                <a:sym typeface="Symbol" panose="05050102010706020507" pitchFamily="18" charset="2"/>
              </a:rPr>
              <a:t>2</a:t>
            </a:r>
            <a:r>
              <a:rPr lang="zh-CN" altLang="en-US" sz="2000" b="0" dirty="0">
                <a:sym typeface="Symbol" panose="05050102010706020507" pitchFamily="18" charset="2"/>
              </a:rPr>
              <a:t>、主属性为：</a:t>
            </a:r>
            <a:r>
              <a:rPr lang="en-US" altLang="zh-CN" sz="2000" b="0" dirty="0">
                <a:sym typeface="Symbol" panose="05050102010706020507" pitchFamily="18" charset="2"/>
              </a:rPr>
              <a:t>A</a:t>
            </a:r>
            <a:r>
              <a:rPr lang="zh-CN" altLang="en-US" sz="2000" b="0" dirty="0">
                <a:sym typeface="Symbol" panose="05050102010706020507" pitchFamily="18" charset="2"/>
              </a:rPr>
              <a:t>、</a:t>
            </a:r>
            <a:r>
              <a:rPr lang="en-US" altLang="zh-CN" sz="2000" b="0" dirty="0">
                <a:sym typeface="Symbol" panose="05050102010706020507" pitchFamily="18" charset="2"/>
              </a:rPr>
              <a:t>B</a:t>
            </a:r>
            <a:r>
              <a:rPr lang="zh-CN" altLang="en-US" sz="2000" b="0" dirty="0">
                <a:sym typeface="Symbol" panose="05050102010706020507" pitchFamily="18" charset="2"/>
              </a:rPr>
              <a:t>、</a:t>
            </a:r>
            <a:r>
              <a:rPr lang="en-US" altLang="zh-CN" sz="2000" b="0" dirty="0">
                <a:sym typeface="Symbol" panose="05050102010706020507" pitchFamily="18" charset="2"/>
              </a:rPr>
              <a:t>E</a:t>
            </a:r>
            <a:r>
              <a:rPr lang="zh-CN" altLang="en-US" sz="2000" b="0" dirty="0">
                <a:sym typeface="Symbol" panose="05050102010706020507" pitchFamily="18" charset="2"/>
              </a:rPr>
              <a:t>，非主属性为：</a:t>
            </a:r>
            <a:r>
              <a:rPr lang="en-US" altLang="zh-CN" sz="2000" b="0" dirty="0">
                <a:sym typeface="Symbol" panose="05050102010706020507" pitchFamily="18" charset="2"/>
              </a:rPr>
              <a:t>C</a:t>
            </a:r>
            <a:r>
              <a:rPr lang="zh-CN" altLang="en-US" sz="2000" b="0" dirty="0">
                <a:sym typeface="Symbol" panose="05050102010706020507" pitchFamily="18" charset="2"/>
              </a:rPr>
              <a:t>、</a:t>
            </a:r>
            <a:r>
              <a:rPr lang="en-US" altLang="zh-CN" sz="2000" b="0" dirty="0">
                <a:sym typeface="Symbol" panose="05050102010706020507" pitchFamily="18" charset="2"/>
              </a:rPr>
              <a:t>D</a:t>
            </a:r>
            <a:endParaRPr lang="en-US" altLang="zh-CN" sz="2000" b="0" dirty="0">
              <a:sym typeface="Symbol" panose="05050102010706020507" pitchFamily="18" charset="2"/>
            </a:endParaRPr>
          </a:p>
          <a:p>
            <a:pPr>
              <a:buFontTx/>
              <a:buNone/>
            </a:pPr>
            <a:r>
              <a:rPr lang="en-US" altLang="zh-CN" sz="2000" b="0" dirty="0">
                <a:sym typeface="Symbol" panose="05050102010706020507" pitchFamily="18" charset="2"/>
              </a:rPr>
              <a:t>3</a:t>
            </a:r>
            <a:r>
              <a:rPr lang="zh-CN" altLang="en-US" sz="2000" b="0" dirty="0">
                <a:sym typeface="Symbol" panose="05050102010706020507" pitchFamily="18" charset="2"/>
              </a:rPr>
              <a:t>、判断是否满足各个范式的要求：</a:t>
            </a:r>
            <a:endParaRPr lang="zh-CN" altLang="en-US" sz="2000" b="0" dirty="0">
              <a:sym typeface="Symbol" panose="05050102010706020507" pitchFamily="18" charset="2"/>
            </a:endParaRPr>
          </a:p>
          <a:p>
            <a:pPr lvl="1"/>
            <a:r>
              <a:rPr lang="zh-CN" altLang="en-US" sz="1800" dirty="0">
                <a:sym typeface="Symbol" panose="05050102010706020507" pitchFamily="18" charset="2"/>
              </a:rPr>
              <a:t>因为</a:t>
            </a:r>
            <a:r>
              <a:rPr lang="en-US" altLang="zh-CN" sz="1800" dirty="0">
                <a:sym typeface="Symbol" panose="05050102010706020507" pitchFamily="18" charset="2"/>
              </a:rPr>
              <a:t>R</a:t>
            </a:r>
            <a:r>
              <a:rPr lang="zh-CN" altLang="en-US" sz="1800" dirty="0">
                <a:sym typeface="Symbol" panose="05050102010706020507" pitchFamily="18" charset="2"/>
              </a:rPr>
              <a:t>的</a:t>
            </a:r>
            <a:r>
              <a:rPr lang="zh-CN" altLang="en-US" sz="1800" dirty="0"/>
              <a:t>所有的属性值域都是不可再分，所以</a:t>
            </a:r>
            <a:r>
              <a:rPr lang="en-US" altLang="zh-CN" sz="1800" dirty="0"/>
              <a:t>R</a:t>
            </a:r>
            <a:r>
              <a:rPr lang="zh-CN" altLang="en-US" sz="1800" dirty="0"/>
              <a:t>已经在</a:t>
            </a:r>
            <a:r>
              <a:rPr lang="en-US" altLang="zh-CN" sz="1800" dirty="0"/>
              <a:t>1NF</a:t>
            </a:r>
            <a:r>
              <a:rPr lang="zh-CN" altLang="en-US" sz="1800" dirty="0"/>
              <a:t>中了</a:t>
            </a:r>
            <a:endParaRPr lang="zh-CN" altLang="en-US" sz="1800" dirty="0"/>
          </a:p>
          <a:p>
            <a:pPr lvl="1"/>
            <a:r>
              <a:rPr lang="zh-CN" altLang="en-US" sz="1800" dirty="0"/>
              <a:t>该关系为</a:t>
            </a:r>
            <a:r>
              <a:rPr lang="en-US" altLang="zh-CN" sz="1800" dirty="0"/>
              <a:t>2NF</a:t>
            </a:r>
            <a:r>
              <a:rPr lang="zh-CN" altLang="en-US" sz="1800" dirty="0"/>
              <a:t>，因为</a:t>
            </a:r>
            <a:r>
              <a:rPr lang="en-US" altLang="zh-CN" sz="1800" dirty="0"/>
              <a:t>C</a:t>
            </a:r>
            <a:r>
              <a:rPr lang="zh-CN" altLang="en-US" sz="1800" dirty="0"/>
              <a:t>、</a:t>
            </a:r>
            <a:r>
              <a:rPr lang="en-US" altLang="zh-CN" sz="1800" dirty="0"/>
              <a:t>D</a:t>
            </a:r>
            <a:r>
              <a:rPr lang="zh-CN" altLang="en-US" sz="1800" dirty="0"/>
              <a:t>不存在对任何键的部分依赖</a:t>
            </a:r>
            <a:endParaRPr lang="zh-CN" altLang="en-US" sz="1800" dirty="0"/>
          </a:p>
          <a:p>
            <a:pPr lvl="1"/>
            <a:r>
              <a:rPr lang="zh-CN" altLang="en-US" sz="1800" dirty="0"/>
              <a:t>该关系不是</a:t>
            </a:r>
            <a:r>
              <a:rPr lang="en-US" altLang="zh-CN" sz="1800" dirty="0"/>
              <a:t>3NF</a:t>
            </a:r>
            <a:r>
              <a:rPr lang="zh-CN" altLang="en-US" sz="1800" dirty="0"/>
              <a:t>，因为存在非主属性对键的传递依赖</a:t>
            </a:r>
            <a:r>
              <a:rPr lang="en-US" altLang="zh-CN" sz="1800" dirty="0"/>
              <a:t>C</a:t>
            </a:r>
            <a:r>
              <a:rPr lang="en-US" altLang="zh-CN" sz="1800" dirty="0">
                <a:sym typeface="Symbol" panose="05050102010706020507" pitchFamily="18" charset="2"/>
              </a:rPr>
              <a:t>D</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 calcmode="lin" valueType="num">
                                      <p:cBhvr additive="base">
                                        <p:cTn id="7"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anim calcmode="lin" valueType="num">
                                      <p:cBhvr additive="base">
                                        <p:cTn id="11"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anim calcmode="lin" valueType="num">
                                      <p:cBhvr additive="base">
                                        <p:cTn id="15"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 calcmode="lin" valueType="num">
                                      <p:cBhvr additive="base">
                                        <p:cTn id="19"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anim calcmode="lin" valueType="num">
                                      <p:cBhvr additive="base">
                                        <p:cTn id="2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anim calcmode="lin" valueType="num">
                                      <p:cBhvr additive="base">
                                        <p:cTn id="27"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
                                            <p:txEl>
                                              <p:pRg st="8" end="8"/>
                                            </p:txEl>
                                          </p:spTgt>
                                        </p:tgtEl>
                                        <p:attrNameLst>
                                          <p:attrName>style.visibility</p:attrName>
                                        </p:attrNameLst>
                                      </p:cBhvr>
                                      <p:to>
                                        <p:strVal val="visible"/>
                                      </p:to>
                                    </p:set>
                                    <p:anim calcmode="lin" valueType="num">
                                      <p:cBhvr additive="base">
                                        <p:cTn id="31"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anim calcmode="lin" valueType="num">
                                      <p:cBhvr additive="base">
                                        <p:cTn id="3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anim calcmode="lin" valueType="num">
                                      <p:cBhvr additive="base">
                                        <p:cTn id="39"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判断范式级别：举例</a:t>
            </a:r>
            <a:endParaRPr lang="en-US" altLang="zh-CN" dirty="0"/>
          </a:p>
          <a:p>
            <a:pPr lvl="1"/>
            <a:r>
              <a:rPr lang="zh-CN" altLang="en-US" i="1" dirty="0"/>
              <a:t>例</a:t>
            </a:r>
            <a:r>
              <a:rPr lang="en-US" altLang="zh-CN" i="1" dirty="0"/>
              <a:t>2:</a:t>
            </a:r>
            <a:r>
              <a:rPr lang="zh-CN" altLang="en-US" i="1" dirty="0"/>
              <a:t>已知关系</a:t>
            </a:r>
            <a:r>
              <a:rPr lang="en-US" altLang="zh-CN" i="1" dirty="0"/>
              <a:t>R</a:t>
            </a:r>
            <a:r>
              <a:rPr lang="zh-CN" altLang="en-US" i="1" dirty="0"/>
              <a:t>（</a:t>
            </a:r>
            <a:r>
              <a:rPr lang="en-US" altLang="zh-CN" i="1" dirty="0"/>
              <a:t>A,B,C,D,E,G</a:t>
            </a:r>
            <a:r>
              <a:rPr lang="zh-CN" altLang="en-US" i="1" dirty="0"/>
              <a:t>）和</a:t>
            </a:r>
            <a:r>
              <a:rPr lang="en-US" altLang="zh-CN" i="1" dirty="0"/>
              <a:t>F={A</a:t>
            </a:r>
            <a:r>
              <a:rPr lang="en-US" altLang="zh-CN" i="1" dirty="0">
                <a:sym typeface="Symbol" panose="05050102010706020507" pitchFamily="18" charset="2"/>
              </a:rPr>
              <a:t>B,C DG,ACE,DG},</a:t>
            </a:r>
            <a:r>
              <a:rPr lang="zh-CN" altLang="en-US" i="1" dirty="0">
                <a:sym typeface="Symbol" panose="05050102010706020507" pitchFamily="18" charset="2"/>
              </a:rPr>
              <a:t>该关系最高为第几范式？</a:t>
            </a:r>
            <a:endParaRPr lang="zh-CN" altLang="en-US" i="1" dirty="0">
              <a:sym typeface="Symbol" panose="05050102010706020507" pitchFamily="18" charset="2"/>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7" name="Text Box 3"/>
          <p:cNvSpPr txBox="1">
            <a:spLocks noChangeArrowheads="1"/>
          </p:cNvSpPr>
          <p:nvPr/>
        </p:nvSpPr>
        <p:spPr bwMode="auto">
          <a:xfrm>
            <a:off x="1236405" y="2809657"/>
            <a:ext cx="8837613" cy="3157146"/>
          </a:xfrm>
          <a:prstGeom prst="rect">
            <a:avLst/>
          </a:prstGeom>
          <a:solidFill>
            <a:srgbClr val="FFFF00"/>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73050" indent="-273050">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lnSpc>
                <a:spcPct val="120000"/>
              </a:lnSpc>
              <a:spcBef>
                <a:spcPct val="0"/>
              </a:spcBef>
              <a:buFontTx/>
              <a:buNone/>
            </a:pPr>
            <a:r>
              <a:rPr kumimoji="1" lang="zh-CN" altLang="en-US" sz="2400" b="0" dirty="0">
                <a:solidFill>
                  <a:srgbClr val="000000"/>
                </a:solidFill>
                <a:latin typeface="微软雅黑" panose="020B0503020204020204" pitchFamily="34" charset="-122"/>
                <a:ea typeface="微软雅黑" panose="020B0503020204020204" pitchFamily="34" charset="-122"/>
              </a:rPr>
              <a:t>解：</a:t>
            </a:r>
            <a:endParaRPr kumimoji="1" lang="zh-CN" altLang="en-US" sz="2400" b="0" dirty="0">
              <a:solidFill>
                <a:srgbClr val="000000"/>
              </a:solidFill>
              <a:latin typeface="微软雅黑" panose="020B0503020204020204" pitchFamily="34" charset="-122"/>
              <a:ea typeface="微软雅黑" panose="020B0503020204020204" pitchFamily="34" charset="-122"/>
            </a:endParaRPr>
          </a:p>
          <a:p>
            <a:pPr eaLnBrk="1" hangingPunct="1">
              <a:lnSpc>
                <a:spcPct val="120000"/>
              </a:lnSpc>
              <a:spcBef>
                <a:spcPct val="0"/>
              </a:spcBef>
            </a:pPr>
            <a:r>
              <a:rPr kumimoji="1" lang="zh-CN" altLang="en-US" sz="2400" b="0" dirty="0">
                <a:solidFill>
                  <a:srgbClr val="000000"/>
                </a:solidFill>
                <a:latin typeface="微软雅黑" panose="020B0503020204020204" pitchFamily="34" charset="-122"/>
                <a:ea typeface="微软雅黑" panose="020B0503020204020204" pitchFamily="34" charset="-122"/>
              </a:rPr>
              <a:t>该关系的键为</a:t>
            </a:r>
            <a:r>
              <a:rPr kumimoji="1" lang="en-US" altLang="zh-CN" sz="2400" b="0" dirty="0">
                <a:solidFill>
                  <a:srgbClr val="000000"/>
                </a:solidFill>
                <a:latin typeface="微软雅黑" panose="020B0503020204020204" pitchFamily="34" charset="-122"/>
                <a:ea typeface="微软雅黑" panose="020B0503020204020204" pitchFamily="34" charset="-122"/>
              </a:rPr>
              <a:t>AC</a:t>
            </a:r>
            <a:r>
              <a:rPr kumimoji="1" lang="zh-CN" altLang="en-US" sz="2400" b="0" dirty="0">
                <a:solidFill>
                  <a:srgbClr val="000000"/>
                </a:solidFill>
                <a:latin typeface="微软雅黑" panose="020B0503020204020204" pitchFamily="34" charset="-122"/>
                <a:ea typeface="微软雅黑" panose="020B0503020204020204" pitchFamily="34" charset="-122"/>
              </a:rPr>
              <a:t>，因为</a:t>
            </a:r>
            <a:r>
              <a:rPr kumimoji="1" lang="en-US" altLang="zh-CN" sz="2400" b="0" dirty="0">
                <a:solidFill>
                  <a:srgbClr val="000000"/>
                </a:solidFill>
                <a:latin typeface="微软雅黑" panose="020B0503020204020204" pitchFamily="34" charset="-122"/>
                <a:ea typeface="微软雅黑" panose="020B0503020204020204" pitchFamily="34" charset="-122"/>
              </a:rPr>
              <a:t>(AC)</a:t>
            </a:r>
            <a:r>
              <a:rPr kumimoji="1" lang="en-US" altLang="zh-CN" sz="2400" b="0" baseline="30000" dirty="0">
                <a:solidFill>
                  <a:srgbClr val="000000"/>
                </a:solidFill>
                <a:latin typeface="微软雅黑" panose="020B0503020204020204" pitchFamily="34" charset="-122"/>
                <a:ea typeface="微软雅黑" panose="020B0503020204020204" pitchFamily="34" charset="-122"/>
              </a:rPr>
              <a:t>+</a:t>
            </a:r>
            <a:r>
              <a:rPr kumimoji="1" lang="en-US" altLang="zh-CN" sz="2400" b="0" dirty="0">
                <a:solidFill>
                  <a:srgbClr val="000000"/>
                </a:solidFill>
                <a:latin typeface="微软雅黑" panose="020B0503020204020204" pitchFamily="34" charset="-122"/>
                <a:ea typeface="微软雅黑" panose="020B0503020204020204" pitchFamily="34" charset="-122"/>
              </a:rPr>
              <a:t>={ACBDGE}</a:t>
            </a:r>
            <a:endParaRPr kumimoji="1" lang="en-US" altLang="zh-CN" sz="2400" b="0" dirty="0">
              <a:solidFill>
                <a:srgbClr val="000000"/>
              </a:solidFill>
              <a:latin typeface="微软雅黑" panose="020B0503020204020204" pitchFamily="34" charset="-122"/>
              <a:ea typeface="微软雅黑" panose="020B0503020204020204" pitchFamily="34" charset="-122"/>
            </a:endParaRPr>
          </a:p>
          <a:p>
            <a:pPr eaLnBrk="1" hangingPunct="1">
              <a:lnSpc>
                <a:spcPct val="120000"/>
              </a:lnSpc>
              <a:spcBef>
                <a:spcPct val="0"/>
              </a:spcBef>
            </a:pPr>
            <a:r>
              <a:rPr kumimoji="1" lang="zh-CN" altLang="en-US" sz="2400" b="0" dirty="0">
                <a:solidFill>
                  <a:srgbClr val="000000"/>
                </a:solidFill>
                <a:latin typeface="微软雅黑" panose="020B0503020204020204" pitchFamily="34" charset="-122"/>
                <a:ea typeface="微软雅黑" panose="020B0503020204020204" pitchFamily="34" charset="-122"/>
              </a:rPr>
              <a:t>主属性为：</a:t>
            </a:r>
            <a:r>
              <a:rPr kumimoji="1" lang="en-US" altLang="zh-CN" sz="2400" b="0" dirty="0">
                <a:solidFill>
                  <a:srgbClr val="000000"/>
                </a:solidFill>
                <a:latin typeface="微软雅黑" panose="020B0503020204020204" pitchFamily="34" charset="-122"/>
                <a:ea typeface="微软雅黑" panose="020B0503020204020204" pitchFamily="34" charset="-122"/>
              </a:rPr>
              <a:t>A</a:t>
            </a:r>
            <a:r>
              <a:rPr kumimoji="1" lang="zh-CN" altLang="en-US" sz="2400" b="0" dirty="0">
                <a:solidFill>
                  <a:srgbClr val="000000"/>
                </a:solidFill>
                <a:latin typeface="微软雅黑" panose="020B0503020204020204" pitchFamily="34" charset="-122"/>
                <a:ea typeface="微软雅黑" panose="020B0503020204020204" pitchFamily="34" charset="-122"/>
              </a:rPr>
              <a:t>、</a:t>
            </a:r>
            <a:r>
              <a:rPr kumimoji="1" lang="en-US" altLang="zh-CN" sz="2400" b="0" dirty="0">
                <a:solidFill>
                  <a:srgbClr val="000000"/>
                </a:solidFill>
                <a:latin typeface="微软雅黑" panose="020B0503020204020204" pitchFamily="34" charset="-122"/>
                <a:ea typeface="微软雅黑" panose="020B0503020204020204" pitchFamily="34" charset="-122"/>
              </a:rPr>
              <a:t>C</a:t>
            </a:r>
            <a:endParaRPr kumimoji="1" lang="en-US" altLang="zh-CN" sz="2400" b="0" dirty="0">
              <a:solidFill>
                <a:srgbClr val="000000"/>
              </a:solidFill>
              <a:latin typeface="微软雅黑" panose="020B0503020204020204" pitchFamily="34" charset="-122"/>
              <a:ea typeface="微软雅黑" panose="020B0503020204020204" pitchFamily="34" charset="-122"/>
            </a:endParaRPr>
          </a:p>
          <a:p>
            <a:pPr eaLnBrk="1" hangingPunct="1">
              <a:lnSpc>
                <a:spcPct val="120000"/>
              </a:lnSpc>
              <a:spcBef>
                <a:spcPct val="0"/>
              </a:spcBef>
            </a:pPr>
            <a:r>
              <a:rPr kumimoji="1" lang="zh-CN" altLang="en-US" sz="2400" b="0" dirty="0">
                <a:solidFill>
                  <a:srgbClr val="000000"/>
                </a:solidFill>
                <a:latin typeface="微软雅黑" panose="020B0503020204020204" pitchFamily="34" charset="-122"/>
                <a:ea typeface="微软雅黑" panose="020B0503020204020204" pitchFamily="34" charset="-122"/>
              </a:rPr>
              <a:t>非主属性为：</a:t>
            </a:r>
            <a:r>
              <a:rPr kumimoji="1" lang="en-US" altLang="zh-CN" sz="2400" b="0" dirty="0">
                <a:solidFill>
                  <a:srgbClr val="000000"/>
                </a:solidFill>
                <a:latin typeface="微软雅黑" panose="020B0503020204020204" pitchFamily="34" charset="-122"/>
                <a:ea typeface="微软雅黑" panose="020B0503020204020204" pitchFamily="34" charset="-122"/>
              </a:rPr>
              <a:t>B,D,E,G</a:t>
            </a:r>
            <a:endParaRPr kumimoji="1" lang="en-US" altLang="zh-CN" sz="2400" b="0" dirty="0">
              <a:solidFill>
                <a:srgbClr val="000000"/>
              </a:solidFill>
              <a:latin typeface="微软雅黑" panose="020B0503020204020204" pitchFamily="34" charset="-122"/>
              <a:ea typeface="微软雅黑" panose="020B0503020204020204" pitchFamily="34" charset="-122"/>
            </a:endParaRPr>
          </a:p>
          <a:p>
            <a:pPr eaLnBrk="1" hangingPunct="1">
              <a:lnSpc>
                <a:spcPct val="120000"/>
              </a:lnSpc>
              <a:spcBef>
                <a:spcPct val="0"/>
              </a:spcBef>
            </a:pPr>
            <a:r>
              <a:rPr kumimoji="1" lang="zh-CN" altLang="en-US" sz="2400" b="0" dirty="0">
                <a:solidFill>
                  <a:srgbClr val="000000"/>
                </a:solidFill>
                <a:latin typeface="微软雅黑" panose="020B0503020204020204" pitchFamily="34" charset="-122"/>
                <a:ea typeface="微软雅黑" panose="020B0503020204020204" pitchFamily="34" charset="-122"/>
              </a:rPr>
              <a:t>该关系明显满足</a:t>
            </a:r>
            <a:r>
              <a:rPr kumimoji="1" lang="en-US" altLang="zh-CN" sz="2400" b="0" dirty="0">
                <a:solidFill>
                  <a:srgbClr val="000000"/>
                </a:solidFill>
                <a:latin typeface="微软雅黑" panose="020B0503020204020204" pitchFamily="34" charset="-122"/>
                <a:ea typeface="微软雅黑" panose="020B0503020204020204" pitchFamily="34" charset="-122"/>
              </a:rPr>
              <a:t>1NF</a:t>
            </a:r>
            <a:r>
              <a:rPr kumimoji="1" lang="zh-CN" altLang="en-US" sz="2400" b="0" dirty="0">
                <a:solidFill>
                  <a:srgbClr val="000000"/>
                </a:solidFill>
                <a:latin typeface="微软雅黑" panose="020B0503020204020204" pitchFamily="34" charset="-122"/>
                <a:ea typeface="微软雅黑" panose="020B0503020204020204" pitchFamily="34" charset="-122"/>
              </a:rPr>
              <a:t>，但是由于</a:t>
            </a:r>
            <a:r>
              <a:rPr kumimoji="1" lang="en-US" altLang="zh-CN" sz="2400" b="0" dirty="0">
                <a:solidFill>
                  <a:srgbClr val="000000"/>
                </a:solidFill>
                <a:latin typeface="微软雅黑" panose="020B0503020204020204" pitchFamily="34" charset="-122"/>
                <a:ea typeface="微软雅黑" panose="020B0503020204020204" pitchFamily="34" charset="-122"/>
              </a:rPr>
              <a:t>A</a:t>
            </a:r>
            <a:r>
              <a:rPr kumimoji="1" lang="en-US" altLang="zh-CN" sz="2400" b="0" dirty="0">
                <a:solidFill>
                  <a:srgbClr val="000000"/>
                </a:solidFill>
                <a:latin typeface="微软雅黑" panose="020B0503020204020204" pitchFamily="34" charset="-122"/>
                <a:ea typeface="微软雅黑" panose="020B0503020204020204" pitchFamily="34" charset="-122"/>
                <a:sym typeface="Symbol" panose="05050102010706020507" pitchFamily="18" charset="2"/>
              </a:rPr>
              <a:t>B,C DG</a:t>
            </a:r>
            <a:r>
              <a:rPr kumimoji="1" lang="zh-CN" altLang="en-US" sz="2400" b="0" dirty="0">
                <a:solidFill>
                  <a:srgbClr val="000000"/>
                </a:solidFill>
                <a:latin typeface="微软雅黑" panose="020B0503020204020204" pitchFamily="34" charset="-122"/>
                <a:ea typeface="微软雅黑" panose="020B0503020204020204" pitchFamily="34" charset="-122"/>
                <a:sym typeface="Symbol" panose="05050102010706020507" pitchFamily="18" charset="2"/>
              </a:rPr>
              <a:t>存在非主属性对键的部分函数依赖，所以该关系不是</a:t>
            </a:r>
            <a:r>
              <a:rPr kumimoji="1" lang="en-US" altLang="zh-CN" sz="2400" b="0" dirty="0">
                <a:solidFill>
                  <a:srgbClr val="000000"/>
                </a:solidFill>
                <a:latin typeface="微软雅黑" panose="020B0503020204020204" pitchFamily="34" charset="-122"/>
                <a:ea typeface="微软雅黑" panose="020B0503020204020204" pitchFamily="34" charset="-122"/>
                <a:sym typeface="Symbol" panose="05050102010706020507" pitchFamily="18" charset="2"/>
              </a:rPr>
              <a:t>2NF</a:t>
            </a:r>
            <a:endParaRPr kumimoji="1" lang="en-US" altLang="zh-CN" sz="2400" b="0" dirty="0">
              <a:solidFill>
                <a:srgbClr val="000000"/>
              </a:solidFill>
              <a:latin typeface="微软雅黑" panose="020B0503020204020204" pitchFamily="34" charset="-122"/>
              <a:ea typeface="微软雅黑" panose="020B0503020204020204" pitchFamily="34" charset="-122"/>
              <a:sym typeface="Symbol" panose="05050102010706020507" pitchFamily="18" charset="2"/>
            </a:endParaRPr>
          </a:p>
          <a:p>
            <a:pPr eaLnBrk="1" hangingPunct="1">
              <a:lnSpc>
                <a:spcPct val="120000"/>
              </a:lnSpc>
              <a:spcBef>
                <a:spcPct val="0"/>
              </a:spcBef>
            </a:pPr>
            <a:r>
              <a:rPr kumimoji="1" lang="zh-CN" altLang="en-US" sz="2400" b="0" dirty="0">
                <a:solidFill>
                  <a:srgbClr val="000000"/>
                </a:solidFill>
                <a:latin typeface="微软雅黑" panose="020B0503020204020204" pitchFamily="34" charset="-122"/>
                <a:ea typeface="微软雅黑" panose="020B0503020204020204" pitchFamily="34" charset="-122"/>
                <a:sym typeface="Symbol" panose="05050102010706020507" pitchFamily="18" charset="2"/>
              </a:rPr>
              <a:t>所以</a:t>
            </a:r>
            <a:r>
              <a:rPr kumimoji="1" lang="en-US" altLang="zh-CN" sz="2400" b="0" dirty="0">
                <a:solidFill>
                  <a:srgbClr val="000000"/>
                </a:solidFill>
                <a:latin typeface="微软雅黑" panose="020B0503020204020204" pitchFamily="34" charset="-122"/>
                <a:ea typeface="微软雅黑" panose="020B0503020204020204" pitchFamily="34" charset="-122"/>
                <a:sym typeface="Symbol" panose="05050102010706020507" pitchFamily="18" charset="2"/>
              </a:rPr>
              <a:t>R</a:t>
            </a:r>
            <a:r>
              <a:rPr kumimoji="1" lang="zh-CN" altLang="en-US" sz="2400" b="0" dirty="0">
                <a:solidFill>
                  <a:srgbClr val="000000"/>
                </a:solidFill>
                <a:latin typeface="微软雅黑" panose="020B0503020204020204" pitchFamily="34" charset="-122"/>
                <a:ea typeface="微软雅黑" panose="020B0503020204020204" pitchFamily="34" charset="-122"/>
                <a:sym typeface="Symbol" panose="05050102010706020507" pitchFamily="18" charset="2"/>
              </a:rPr>
              <a:t>满足的最高范式是</a:t>
            </a:r>
            <a:r>
              <a:rPr kumimoji="1" lang="en-US" altLang="zh-CN" sz="2400" b="0" dirty="0">
                <a:solidFill>
                  <a:srgbClr val="000000"/>
                </a:solidFill>
                <a:latin typeface="微软雅黑" panose="020B0503020204020204" pitchFamily="34" charset="-122"/>
                <a:ea typeface="微软雅黑" panose="020B0503020204020204" pitchFamily="34" charset="-122"/>
                <a:sym typeface="Symbol" panose="05050102010706020507" pitchFamily="18" charset="2"/>
              </a:rPr>
              <a:t>1NF</a:t>
            </a:r>
            <a:r>
              <a:rPr kumimoji="1" lang="zh-CN" altLang="en-US" sz="2400" b="0" dirty="0">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endParaRPr kumimoji="1" lang="zh-CN" altLang="en-US" sz="2400" b="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判断范式级别：举例</a:t>
            </a:r>
            <a:endParaRPr lang="en-US" altLang="zh-CN" dirty="0"/>
          </a:p>
          <a:p>
            <a:pPr lvl="1"/>
            <a:r>
              <a:rPr kumimoji="1" lang="zh-CN" altLang="en-US" i="1" dirty="0">
                <a:latin typeface="楷体_GB2312" pitchFamily="49" charset="-122"/>
                <a:ea typeface="楷体_GB2312" pitchFamily="49" charset="-122"/>
              </a:rPr>
              <a:t>例</a:t>
            </a:r>
            <a:r>
              <a:rPr kumimoji="1" lang="en-US" altLang="zh-CN" i="1" dirty="0">
                <a:latin typeface="楷体_GB2312" pitchFamily="49" charset="-122"/>
                <a:ea typeface="楷体_GB2312" pitchFamily="49" charset="-122"/>
              </a:rPr>
              <a:t>3</a:t>
            </a:r>
            <a:r>
              <a:rPr kumimoji="1" lang="zh-CN" altLang="en-US" i="1" dirty="0">
                <a:latin typeface="楷体_GB2312" pitchFamily="49" charset="-122"/>
                <a:ea typeface="楷体_GB2312" pitchFamily="49" charset="-122"/>
              </a:rPr>
              <a:t>：已知关系</a:t>
            </a:r>
            <a:r>
              <a:rPr kumimoji="1" lang="en-US" altLang="zh-CN" i="1" dirty="0">
                <a:latin typeface="楷体_GB2312" pitchFamily="49" charset="-122"/>
                <a:ea typeface="楷体_GB2312" pitchFamily="49" charset="-122"/>
              </a:rPr>
              <a:t>R</a:t>
            </a:r>
            <a:r>
              <a:rPr kumimoji="1" lang="zh-CN" altLang="en-US" i="1" dirty="0">
                <a:latin typeface="楷体_GB2312" pitchFamily="49" charset="-122"/>
                <a:ea typeface="楷体_GB2312" pitchFamily="49" charset="-122"/>
              </a:rPr>
              <a:t>（</a:t>
            </a:r>
            <a:r>
              <a:rPr kumimoji="1" lang="en-US" altLang="zh-CN" i="1" dirty="0">
                <a:latin typeface="楷体_GB2312" pitchFamily="49" charset="-122"/>
                <a:ea typeface="楷体_GB2312" pitchFamily="49" charset="-122"/>
              </a:rPr>
              <a:t>A,B,C,D</a:t>
            </a:r>
            <a:r>
              <a:rPr kumimoji="1" lang="zh-CN" altLang="en-US" i="1" dirty="0">
                <a:latin typeface="楷体_GB2312" pitchFamily="49" charset="-122"/>
                <a:ea typeface="楷体_GB2312" pitchFamily="49" charset="-122"/>
              </a:rPr>
              <a:t>）和</a:t>
            </a:r>
            <a:r>
              <a:rPr kumimoji="1" lang="en-US" altLang="zh-CN" i="1" dirty="0">
                <a:latin typeface="楷体_GB2312" pitchFamily="49" charset="-122"/>
                <a:ea typeface="楷体_GB2312" pitchFamily="49" charset="-122"/>
              </a:rPr>
              <a:t>F={AB</a:t>
            </a:r>
            <a:r>
              <a:rPr kumimoji="1" lang="en-US" altLang="zh-CN" i="1" dirty="0">
                <a:latin typeface="楷体_GB2312" pitchFamily="49" charset="-122"/>
                <a:ea typeface="楷体_GB2312" pitchFamily="49" charset="-122"/>
                <a:sym typeface="Symbol" panose="05050102010706020507" pitchFamily="18" charset="2"/>
              </a:rPr>
              <a:t>D,AC BD,BC},</a:t>
            </a:r>
            <a:r>
              <a:rPr kumimoji="1" lang="zh-CN" altLang="en-US" i="1" dirty="0">
                <a:latin typeface="楷体_GB2312" pitchFamily="49" charset="-122"/>
                <a:ea typeface="楷体_GB2312" pitchFamily="49" charset="-122"/>
                <a:sym typeface="Symbol" panose="05050102010706020507" pitchFamily="18" charset="2"/>
              </a:rPr>
              <a:t>试求出其最高范式？</a:t>
            </a:r>
            <a:endParaRPr kumimoji="1" lang="zh-CN" altLang="en-US" i="1" dirty="0">
              <a:latin typeface="楷体_GB2312" pitchFamily="49" charset="-122"/>
              <a:ea typeface="楷体_GB2312" pitchFamily="49" charset="-122"/>
              <a:sym typeface="Symbol" panose="05050102010706020507" pitchFamily="18" charset="2"/>
            </a:endParaRPr>
          </a:p>
          <a:p>
            <a:pPr lvl="1">
              <a:buNone/>
            </a:pPr>
            <a:r>
              <a:rPr lang="zh-CN" altLang="en-US" dirty="0"/>
              <a:t>解：该关系的键是：</a:t>
            </a:r>
            <a:r>
              <a:rPr lang="en-US" altLang="zh-CN" dirty="0"/>
              <a:t>AB</a:t>
            </a:r>
            <a:r>
              <a:rPr lang="zh-CN" altLang="en-US" dirty="0"/>
              <a:t>和</a:t>
            </a:r>
            <a:r>
              <a:rPr lang="en-US" altLang="zh-CN" dirty="0"/>
              <a:t>AC</a:t>
            </a:r>
            <a:r>
              <a:rPr lang="zh-CN" altLang="en-US" dirty="0"/>
              <a:t>。</a:t>
            </a:r>
            <a:endParaRPr lang="zh-CN" altLang="en-US" dirty="0"/>
          </a:p>
          <a:p>
            <a:pPr lvl="2"/>
            <a:r>
              <a:rPr lang="zh-CN" altLang="en-US" sz="2400" dirty="0"/>
              <a:t>主属性是</a:t>
            </a:r>
            <a:r>
              <a:rPr lang="en-US" altLang="zh-CN" sz="2400" dirty="0"/>
              <a:t>{ABC},</a:t>
            </a:r>
            <a:r>
              <a:rPr lang="zh-CN" altLang="en-US" sz="2400" dirty="0"/>
              <a:t>非主属性是</a:t>
            </a:r>
            <a:r>
              <a:rPr lang="en-US" altLang="zh-CN" sz="2400" dirty="0"/>
              <a:t>{D}</a:t>
            </a:r>
            <a:r>
              <a:rPr lang="zh-CN" altLang="en-US" sz="2400" dirty="0"/>
              <a:t>。</a:t>
            </a:r>
            <a:endParaRPr lang="zh-CN" altLang="en-US" sz="2400" dirty="0"/>
          </a:p>
          <a:p>
            <a:pPr lvl="2"/>
            <a:r>
              <a:rPr lang="en-US" altLang="zh-CN" sz="2400" dirty="0"/>
              <a:t>D</a:t>
            </a:r>
            <a:r>
              <a:rPr lang="zh-CN" altLang="en-US" sz="2400" dirty="0"/>
              <a:t>不部分依赖于任何键，所以该关系在</a:t>
            </a:r>
            <a:r>
              <a:rPr lang="en-US" altLang="zh-CN" sz="2400" dirty="0"/>
              <a:t>2NF</a:t>
            </a:r>
            <a:r>
              <a:rPr lang="zh-CN" altLang="en-US" sz="2400" dirty="0"/>
              <a:t>中。</a:t>
            </a:r>
            <a:endParaRPr lang="zh-CN" altLang="en-US" sz="2400" dirty="0"/>
          </a:p>
          <a:p>
            <a:pPr lvl="2"/>
            <a:r>
              <a:rPr lang="zh-CN" altLang="en-US" sz="2400" dirty="0"/>
              <a:t>该关系也在</a:t>
            </a:r>
            <a:r>
              <a:rPr lang="en-US" altLang="zh-CN" sz="2400" dirty="0"/>
              <a:t>3NF</a:t>
            </a:r>
            <a:r>
              <a:rPr lang="zh-CN" altLang="en-US" sz="2400" dirty="0"/>
              <a:t>中，因为只有一个非主属性，从而不可能存在两个不同非主属性间的传递依赖</a:t>
            </a:r>
            <a:endParaRPr lang="en-US" altLang="zh-CN" sz="2400" dirty="0">
              <a:solidFill>
                <a:srgbClr val="FF9933"/>
              </a:solidFill>
            </a:endParaRPr>
          </a:p>
          <a:p>
            <a:pPr lvl="2"/>
            <a:r>
              <a:rPr lang="zh-CN" altLang="en-US" sz="2400" dirty="0"/>
              <a:t>该关系不在</a:t>
            </a:r>
            <a:r>
              <a:rPr lang="en-US" altLang="zh-CN" sz="2400" dirty="0"/>
              <a:t>BCNF</a:t>
            </a:r>
            <a:r>
              <a:rPr lang="zh-CN" altLang="en-US" sz="2400" dirty="0"/>
              <a:t>中，因为有</a:t>
            </a:r>
            <a:r>
              <a:rPr lang="en-US" altLang="zh-CN" sz="2400" dirty="0">
                <a:solidFill>
                  <a:srgbClr val="C00000"/>
                </a:solidFill>
                <a:sym typeface="Symbol" panose="05050102010706020507" pitchFamily="18" charset="2"/>
              </a:rPr>
              <a:t>BC</a:t>
            </a:r>
            <a:r>
              <a:rPr lang="zh-CN" altLang="en-US" sz="2400" dirty="0">
                <a:solidFill>
                  <a:schemeClr val="folHlink"/>
                </a:solidFill>
                <a:sym typeface="Symbol" panose="05050102010706020507" pitchFamily="18" charset="2"/>
              </a:rPr>
              <a:t>，</a:t>
            </a:r>
            <a:r>
              <a:rPr lang="zh-CN" altLang="en-US" sz="2400" dirty="0">
                <a:sym typeface="Symbol" panose="05050102010706020507" pitchFamily="18" charset="2"/>
              </a:rPr>
              <a:t>而</a:t>
            </a:r>
            <a:r>
              <a:rPr lang="en-US" altLang="zh-CN" sz="2400" dirty="0">
                <a:sym typeface="Symbol" panose="05050102010706020507" pitchFamily="18" charset="2"/>
              </a:rPr>
              <a:t>B</a:t>
            </a:r>
            <a:r>
              <a:rPr lang="zh-CN" altLang="en-US" sz="2400" dirty="0">
                <a:sym typeface="Symbol" panose="05050102010706020507" pitchFamily="18" charset="2"/>
              </a:rPr>
              <a:t>不是</a:t>
            </a:r>
            <a:r>
              <a:rPr lang="en-US" altLang="zh-CN" sz="2400" dirty="0">
                <a:sym typeface="Symbol" panose="05050102010706020507" pitchFamily="18" charset="2"/>
              </a:rPr>
              <a:t>R</a:t>
            </a:r>
            <a:r>
              <a:rPr lang="zh-CN" altLang="en-US" sz="2400" dirty="0">
                <a:sym typeface="Symbol" panose="05050102010706020507" pitchFamily="18" charset="2"/>
              </a:rPr>
              <a:t>的键</a:t>
            </a:r>
            <a:endParaRPr lang="zh-CN" altLang="en-US" sz="2400" dirty="0">
              <a:sym typeface="Symbol" panose="05050102010706020507" pitchFamily="18" charset="2"/>
            </a:endParaRPr>
          </a:p>
          <a:p>
            <a:pPr lvl="1"/>
            <a:endParaRPr lang="zh-CN" altLang="en-US" i="1" dirty="0">
              <a:sym typeface="Symbol" panose="05050102010706020507" pitchFamily="18" charset="2"/>
            </a:endParaRPr>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分解成</a:t>
            </a:r>
            <a:r>
              <a:rPr lang="en-US" altLang="zh-CN" dirty="0"/>
              <a:t>3</a:t>
            </a:r>
            <a:r>
              <a:rPr lang="en-GB" altLang="zh-CN" dirty="0"/>
              <a:t>NF</a:t>
            </a:r>
            <a:r>
              <a:rPr lang="zh-CN" altLang="en-US" dirty="0"/>
              <a:t>模式集的算法</a:t>
            </a:r>
            <a:endParaRPr lang="en-US" altLang="zh-CN" dirty="0"/>
          </a:p>
          <a:p>
            <a:pPr lvl="1">
              <a:lnSpc>
                <a:spcPct val="150000"/>
              </a:lnSpc>
            </a:pPr>
            <a:r>
              <a:rPr lang="zh-CN" altLang="zh-CN" dirty="0"/>
              <a:t>算法4</a:t>
            </a:r>
            <a:r>
              <a:rPr lang="zh-CN" altLang="en-US" dirty="0"/>
              <a:t>.</a:t>
            </a:r>
            <a:r>
              <a:rPr lang="zh-CN" altLang="zh-CN" dirty="0"/>
              <a:t>4：既无损连接又保持函数依赖的3NF分解算法</a:t>
            </a:r>
            <a:endParaRPr lang="en-US" altLang="zh-CN" dirty="0"/>
          </a:p>
          <a:p>
            <a:pPr lvl="1">
              <a:lnSpc>
                <a:spcPct val="150000"/>
              </a:lnSpc>
            </a:pPr>
            <a:r>
              <a:rPr lang="zh-CN" altLang="zh-CN" dirty="0"/>
              <a:t>输入：关系模式R</a:t>
            </a:r>
            <a:r>
              <a:rPr lang="zh-CN" altLang="zh-CN" baseline="-25000" dirty="0"/>
              <a:t>R</a:t>
            </a:r>
            <a:r>
              <a:rPr lang="zh-CN" altLang="zh-CN" dirty="0"/>
              <a:t>(U</a:t>
            </a:r>
            <a:r>
              <a:rPr lang="zh-CN" altLang="zh-CN" baseline="-25000" dirty="0"/>
              <a:t>R</a:t>
            </a:r>
            <a:r>
              <a:rPr lang="zh-CN" altLang="zh-CN" dirty="0"/>
              <a:t>，F</a:t>
            </a:r>
            <a:r>
              <a:rPr lang="zh-CN" altLang="zh-CN" baseline="-25000" dirty="0"/>
              <a:t>R</a:t>
            </a:r>
            <a:r>
              <a:rPr lang="zh-CN" altLang="zh-CN" dirty="0"/>
              <a:t>) </a:t>
            </a:r>
            <a:endParaRPr lang="en-US" altLang="zh-CN" dirty="0"/>
          </a:p>
          <a:p>
            <a:pPr lvl="1">
              <a:lnSpc>
                <a:spcPct val="150000"/>
              </a:lnSpc>
            </a:pPr>
            <a:r>
              <a:rPr lang="zh-CN" altLang="zh-CN" dirty="0"/>
              <a:t>输出：</a:t>
            </a:r>
            <a:r>
              <a:rPr lang="zh-CN" altLang="en-US" dirty="0"/>
              <a:t>ρ</a:t>
            </a:r>
            <a:r>
              <a:rPr lang="zh-CN" altLang="zh-CN" dirty="0"/>
              <a:t>＝{ R</a:t>
            </a:r>
            <a:r>
              <a:rPr lang="zh-CN" altLang="zh-CN" baseline="-25000" dirty="0"/>
              <a:t>0</a:t>
            </a:r>
            <a:r>
              <a:rPr lang="zh-CN" altLang="zh-CN" dirty="0"/>
              <a:t>，R</a:t>
            </a:r>
            <a:r>
              <a:rPr lang="zh-CN" altLang="zh-CN" baseline="-25000" dirty="0"/>
              <a:t>1</a:t>
            </a:r>
            <a:r>
              <a:rPr lang="zh-CN" altLang="zh-CN" dirty="0"/>
              <a:t>，…，R</a:t>
            </a:r>
            <a:r>
              <a:rPr lang="zh-CN" altLang="zh-CN" baseline="-25000" dirty="0"/>
              <a:t>k</a:t>
            </a:r>
            <a:r>
              <a:rPr lang="zh-CN" altLang="zh-CN" dirty="0"/>
              <a:t>，R</a:t>
            </a:r>
            <a:r>
              <a:rPr lang="zh-CN" altLang="zh-CN" baseline="-25000" dirty="0"/>
              <a:t>ck</a:t>
            </a:r>
            <a:r>
              <a:rPr lang="zh-CN" altLang="zh-CN" dirty="0"/>
              <a:t>}</a:t>
            </a:r>
            <a:endParaRPr lang="zh-CN" altLang="zh-CN"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分解成</a:t>
            </a:r>
            <a:r>
              <a:rPr lang="en-US" altLang="zh-CN" dirty="0"/>
              <a:t>3</a:t>
            </a:r>
            <a:r>
              <a:rPr lang="en-GB" altLang="zh-CN" dirty="0"/>
              <a:t>NF</a:t>
            </a:r>
            <a:r>
              <a:rPr lang="zh-CN" altLang="en-US" dirty="0"/>
              <a:t>模式集的算法</a:t>
            </a:r>
            <a:endParaRPr lang="en-US" altLang="zh-CN" dirty="0"/>
          </a:p>
          <a:p>
            <a:pPr lvl="1">
              <a:lnSpc>
                <a:spcPct val="150000"/>
              </a:lnSpc>
            </a:pPr>
            <a:r>
              <a:rPr lang="zh-CN" altLang="zh-CN" sz="2600" dirty="0"/>
              <a:t>步骤：</a:t>
            </a:r>
            <a:endParaRPr lang="zh-CN" altLang="zh-CN" sz="2600" dirty="0"/>
          </a:p>
          <a:p>
            <a:pPr lvl="1">
              <a:lnSpc>
                <a:spcPct val="150000"/>
              </a:lnSpc>
              <a:buNone/>
            </a:pPr>
            <a:r>
              <a:rPr lang="zh-CN" altLang="zh-CN" dirty="0"/>
              <a:t>(1)</a:t>
            </a:r>
            <a:r>
              <a:rPr lang="zh-CN" altLang="zh-CN" dirty="0">
                <a:solidFill>
                  <a:srgbClr val="C00000"/>
                </a:solidFill>
              </a:rPr>
              <a:t>首先将F</a:t>
            </a:r>
            <a:r>
              <a:rPr lang="zh-CN" altLang="zh-CN" baseline="-25000" dirty="0">
                <a:solidFill>
                  <a:srgbClr val="C00000"/>
                </a:solidFill>
              </a:rPr>
              <a:t>R</a:t>
            </a:r>
            <a:r>
              <a:rPr lang="zh-CN" altLang="zh-CN" dirty="0">
                <a:solidFill>
                  <a:srgbClr val="C00000"/>
                </a:solidFill>
              </a:rPr>
              <a:t>转换为等价的最小覆盖，记为F；</a:t>
            </a:r>
            <a:endParaRPr lang="zh-CN" altLang="en-US" dirty="0">
              <a:solidFill>
                <a:srgbClr val="C00000"/>
              </a:solidFill>
            </a:endParaRPr>
          </a:p>
          <a:p>
            <a:pPr lvl="1">
              <a:lnSpc>
                <a:spcPct val="150000"/>
              </a:lnSpc>
              <a:buNone/>
            </a:pPr>
            <a:r>
              <a:rPr lang="zh-CN" altLang="zh-CN" dirty="0"/>
              <a:t>(2)将不在F中出现的属性单独构成关系模式R</a:t>
            </a:r>
            <a:r>
              <a:rPr lang="zh-CN" altLang="zh-CN" baseline="-25000" dirty="0"/>
              <a:t>0</a:t>
            </a:r>
            <a:r>
              <a:rPr lang="zh-CN" altLang="zh-CN" dirty="0"/>
              <a:t>(U</a:t>
            </a:r>
            <a:r>
              <a:rPr lang="zh-CN" altLang="zh-CN" baseline="-25000" dirty="0"/>
              <a:t>0</a:t>
            </a:r>
            <a:r>
              <a:rPr lang="zh-CN" altLang="zh-CN" dirty="0"/>
              <a:t>)，其余属性记为U＝U</a:t>
            </a:r>
            <a:r>
              <a:rPr lang="zh-CN" altLang="zh-CN" baseline="-25000" dirty="0"/>
              <a:t>R</a:t>
            </a:r>
            <a:r>
              <a:rPr lang="zh-CN" altLang="zh-CN" dirty="0"/>
              <a:t>－U</a:t>
            </a:r>
            <a:r>
              <a:rPr lang="zh-CN" altLang="zh-CN" baseline="-25000" dirty="0"/>
              <a:t>0</a:t>
            </a:r>
            <a:r>
              <a:rPr lang="zh-CN" altLang="zh-CN" dirty="0"/>
              <a:t>，</a:t>
            </a:r>
            <a:r>
              <a:rPr lang="zh-CN" altLang="en-US" dirty="0"/>
              <a:t>     </a:t>
            </a:r>
            <a:r>
              <a:rPr lang="zh-CN" altLang="zh-CN" dirty="0"/>
              <a:t>于是得到第一个分解 ＝{R</a:t>
            </a:r>
            <a:r>
              <a:rPr lang="zh-CN" altLang="zh-CN" baseline="-25000" dirty="0"/>
              <a:t>0</a:t>
            </a:r>
            <a:r>
              <a:rPr lang="zh-CN" altLang="zh-CN" dirty="0"/>
              <a:t>，R}，其中R(U，F)；</a:t>
            </a:r>
            <a:endParaRPr lang="zh-CN" altLang="zh-CN" dirty="0"/>
          </a:p>
          <a:p>
            <a:pPr lvl="1">
              <a:lnSpc>
                <a:spcPct val="150000"/>
              </a:lnSpc>
              <a:buNone/>
            </a:pPr>
            <a:r>
              <a:rPr lang="zh-CN" altLang="zh-CN" dirty="0"/>
              <a:t>(3)如果R中有某一个函数依赖包含U中的全部属性，则算法终止，输出即为</a:t>
            </a:r>
            <a:r>
              <a:rPr lang="zh-CN" altLang="en-US" dirty="0"/>
              <a:t>ρ</a:t>
            </a:r>
            <a:r>
              <a:rPr lang="zh-CN" altLang="zh-CN" dirty="0"/>
              <a:t>；</a:t>
            </a:r>
            <a:endParaRPr lang="zh-CN" altLang="zh-CN"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分解成</a:t>
            </a:r>
            <a:r>
              <a:rPr lang="en-US" altLang="zh-CN" dirty="0"/>
              <a:t>3</a:t>
            </a:r>
            <a:r>
              <a:rPr lang="en-GB" altLang="zh-CN" dirty="0"/>
              <a:t>NF</a:t>
            </a:r>
            <a:r>
              <a:rPr lang="zh-CN" altLang="en-US" dirty="0"/>
              <a:t>模式集的算法</a:t>
            </a:r>
            <a:endParaRPr lang="en-US" altLang="zh-CN" dirty="0"/>
          </a:p>
          <a:p>
            <a:pPr lvl="1">
              <a:lnSpc>
                <a:spcPct val="150000"/>
              </a:lnSpc>
            </a:pPr>
            <a:r>
              <a:rPr lang="zh-CN" altLang="zh-CN" sz="2600" dirty="0"/>
              <a:t>步骤：</a:t>
            </a:r>
            <a:endParaRPr lang="en-US" altLang="zh-CN" dirty="0"/>
          </a:p>
          <a:p>
            <a:pPr lvl="1">
              <a:lnSpc>
                <a:spcPct val="150000"/>
              </a:lnSpc>
              <a:buNone/>
            </a:pPr>
            <a:r>
              <a:rPr lang="zh-CN" altLang="zh-CN" dirty="0"/>
              <a:t>(4)否则，将F中的函数依赖按照</a:t>
            </a:r>
            <a:r>
              <a:rPr lang="zh-CN" altLang="en-US" dirty="0"/>
              <a:t>左部</a:t>
            </a:r>
            <a:r>
              <a:rPr lang="zh-CN" altLang="zh-CN" dirty="0"/>
              <a:t>相同原则进行分组，假设共分为k组，得到k个关系模式R</a:t>
            </a:r>
            <a:r>
              <a:rPr lang="zh-CN" altLang="zh-CN" baseline="-25000" dirty="0"/>
              <a:t>i</a:t>
            </a:r>
            <a:r>
              <a:rPr lang="zh-CN" altLang="zh-CN" dirty="0"/>
              <a:t>(U</a:t>
            </a:r>
            <a:r>
              <a:rPr lang="zh-CN" altLang="zh-CN" baseline="-25000" dirty="0"/>
              <a:t>i</a:t>
            </a:r>
            <a:r>
              <a:rPr lang="zh-CN" altLang="zh-CN" dirty="0"/>
              <a:t>，F</a:t>
            </a:r>
            <a:r>
              <a:rPr lang="zh-CN" altLang="zh-CN" baseline="-25000" dirty="0"/>
              <a:t>i</a:t>
            </a:r>
            <a:r>
              <a:rPr lang="zh-CN" altLang="zh-CN" dirty="0"/>
              <a:t>)，U</a:t>
            </a:r>
            <a:r>
              <a:rPr lang="zh-CN" altLang="zh-CN" baseline="-25000" dirty="0"/>
              <a:t>i</a:t>
            </a:r>
            <a:r>
              <a:rPr lang="zh-CN" altLang="zh-CN" dirty="0"/>
              <a:t>表示每组函数依赖所涉及的全部属性，F</a:t>
            </a:r>
            <a:r>
              <a:rPr lang="zh-CN" altLang="zh-CN" baseline="-25000" dirty="0"/>
              <a:t>i</a:t>
            </a:r>
            <a:r>
              <a:rPr lang="zh-CN" altLang="zh-CN" dirty="0"/>
              <a:t>是相应的函数依赖集，将这k个关系模式加入</a:t>
            </a:r>
            <a:r>
              <a:rPr lang="zh-CN" altLang="en-US" dirty="0"/>
              <a:t>ρ</a:t>
            </a:r>
            <a:r>
              <a:rPr lang="zh-CN" altLang="zh-CN" dirty="0"/>
              <a:t>中得到：</a:t>
            </a:r>
            <a:r>
              <a:rPr lang="zh-CN" altLang="en-US" dirty="0"/>
              <a:t>ρ</a:t>
            </a:r>
            <a:r>
              <a:rPr lang="zh-CN" altLang="zh-CN" dirty="0"/>
              <a:t>＝{ R</a:t>
            </a:r>
            <a:r>
              <a:rPr lang="zh-CN" altLang="zh-CN" baseline="-25000" dirty="0"/>
              <a:t>0</a:t>
            </a:r>
            <a:r>
              <a:rPr lang="zh-CN" altLang="zh-CN" dirty="0"/>
              <a:t>，R</a:t>
            </a:r>
            <a:r>
              <a:rPr lang="zh-CN" altLang="zh-CN" baseline="-25000" dirty="0"/>
              <a:t>1</a:t>
            </a:r>
            <a:r>
              <a:rPr lang="zh-CN" altLang="zh-CN" dirty="0"/>
              <a:t>，…，R</a:t>
            </a:r>
            <a:r>
              <a:rPr lang="zh-CN" altLang="zh-CN" baseline="-25000" dirty="0"/>
              <a:t>k</a:t>
            </a:r>
            <a:r>
              <a:rPr lang="zh-CN" altLang="zh-CN" dirty="0"/>
              <a:t>}；</a:t>
            </a:r>
            <a:endParaRPr lang="zh-CN" altLang="zh-CN" dirty="0"/>
          </a:p>
          <a:p>
            <a:pPr lvl="1">
              <a:lnSpc>
                <a:spcPct val="150000"/>
              </a:lnSpc>
              <a:buNone/>
            </a:pPr>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分解成</a:t>
            </a:r>
            <a:r>
              <a:rPr lang="en-US" altLang="zh-CN" dirty="0"/>
              <a:t>3</a:t>
            </a:r>
            <a:r>
              <a:rPr lang="en-GB" altLang="zh-CN" dirty="0"/>
              <a:t>NF</a:t>
            </a:r>
            <a:r>
              <a:rPr lang="zh-CN" altLang="en-US" dirty="0"/>
              <a:t>模式集的算法</a:t>
            </a:r>
            <a:endParaRPr lang="en-US" altLang="zh-CN" dirty="0"/>
          </a:p>
          <a:p>
            <a:pPr lvl="1">
              <a:lnSpc>
                <a:spcPct val="150000"/>
              </a:lnSpc>
            </a:pPr>
            <a:r>
              <a:rPr lang="zh-CN" altLang="zh-CN" sz="2600" dirty="0"/>
              <a:t>步骤：</a:t>
            </a:r>
            <a:endParaRPr lang="en-US" altLang="zh-CN" dirty="0"/>
          </a:p>
          <a:p>
            <a:pPr>
              <a:buNone/>
            </a:pPr>
            <a:r>
              <a:rPr lang="zh-CN" altLang="en-US" sz="2400" b="0" dirty="0"/>
              <a:t>     </a:t>
            </a:r>
            <a:r>
              <a:rPr lang="zh-CN" altLang="zh-CN" sz="2400" b="0" dirty="0"/>
              <a:t>(5)经过上述步骤得到的每个R</a:t>
            </a:r>
            <a:r>
              <a:rPr lang="zh-CN" altLang="zh-CN" sz="2400" b="0" baseline="-25000" dirty="0"/>
              <a:t>i</a:t>
            </a:r>
            <a:r>
              <a:rPr lang="zh-CN" altLang="zh-CN" sz="2400" b="0" dirty="0"/>
              <a:t>均是</a:t>
            </a:r>
            <a:r>
              <a:rPr lang="zh-CN" altLang="zh-CN" sz="2400" b="0" dirty="0">
                <a:solidFill>
                  <a:srgbClr val="FF0000"/>
                </a:solidFill>
              </a:rPr>
              <a:t>3NF</a:t>
            </a:r>
            <a:r>
              <a:rPr lang="zh-CN" altLang="zh-CN" sz="2400" b="0" dirty="0"/>
              <a:t>，且因为分组是按照函数依赖进行的，不</a:t>
            </a:r>
            <a:r>
              <a:rPr lang="zh-CN" altLang="en-US" sz="2400" b="0" dirty="0"/>
              <a:t>           </a:t>
            </a:r>
            <a:r>
              <a:rPr lang="zh-CN" altLang="zh-CN" sz="2400" b="0" dirty="0"/>
              <a:t>会丢失任何一个函数依赖，所以该过程是保持函数依赖的。为了保证该分解同时是无损连接的，需要再加入一个由任一候选键构成的关系模式R</a:t>
            </a:r>
            <a:r>
              <a:rPr lang="zh-CN" altLang="zh-CN" sz="2400" b="0" baseline="-25000" dirty="0"/>
              <a:t>ck</a:t>
            </a:r>
            <a:r>
              <a:rPr lang="zh-CN" altLang="zh-CN" sz="2400" b="0" dirty="0"/>
              <a:t>，如果该关系模式已在前面的某个R</a:t>
            </a:r>
            <a:r>
              <a:rPr lang="zh-CN" altLang="zh-CN" sz="2400" b="0" baseline="-25000" dirty="0"/>
              <a:t>i</a:t>
            </a:r>
            <a:r>
              <a:rPr lang="zh-CN" altLang="zh-CN" sz="2400" b="0" dirty="0"/>
              <a:t>中出现，则可以省略；</a:t>
            </a:r>
            <a:endParaRPr lang="zh-CN" altLang="zh-CN" sz="2400" b="0" dirty="0"/>
          </a:p>
          <a:p>
            <a:pPr>
              <a:buNone/>
            </a:pPr>
            <a:r>
              <a:rPr lang="zh-CN" altLang="en-US" sz="2400" b="0" dirty="0"/>
              <a:t>     </a:t>
            </a:r>
            <a:r>
              <a:rPr lang="zh-CN" altLang="zh-CN" sz="2400" b="0" dirty="0"/>
              <a:t>(6)输出 </a:t>
            </a:r>
            <a:r>
              <a:rPr lang="zh-CN" altLang="en-US" sz="2400" b="0" dirty="0"/>
              <a:t>ρ</a:t>
            </a:r>
            <a:r>
              <a:rPr lang="zh-CN" altLang="zh-CN" sz="2400" b="0" dirty="0"/>
              <a:t>＝{ R</a:t>
            </a:r>
            <a:r>
              <a:rPr lang="zh-CN" altLang="zh-CN" sz="2400" b="0" baseline="-25000" dirty="0"/>
              <a:t>0</a:t>
            </a:r>
            <a:r>
              <a:rPr lang="zh-CN" altLang="zh-CN" sz="2400" b="0" dirty="0"/>
              <a:t>，R</a:t>
            </a:r>
            <a:r>
              <a:rPr lang="zh-CN" altLang="zh-CN" sz="2400" b="0" baseline="-25000" dirty="0"/>
              <a:t>1</a:t>
            </a:r>
            <a:r>
              <a:rPr lang="zh-CN" altLang="zh-CN" sz="2400" b="0" dirty="0"/>
              <a:t>，…，R</a:t>
            </a:r>
            <a:r>
              <a:rPr lang="zh-CN" altLang="zh-CN" sz="2400" b="0" baseline="-25000" dirty="0"/>
              <a:t>k</a:t>
            </a:r>
            <a:r>
              <a:rPr lang="zh-CN" altLang="zh-CN" sz="2400" b="0" dirty="0"/>
              <a:t>，R</a:t>
            </a:r>
            <a:r>
              <a:rPr lang="zh-CN" altLang="zh-CN" sz="2400" b="0" baseline="-25000" dirty="0"/>
              <a:t>ck</a:t>
            </a:r>
            <a:r>
              <a:rPr lang="zh-CN" altLang="zh-CN" sz="2400" b="0" dirty="0"/>
              <a:t>}，算法结束。</a:t>
            </a:r>
            <a:endParaRPr lang="zh-CN" altLang="zh-CN" sz="2400" b="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分解成</a:t>
            </a:r>
            <a:r>
              <a:rPr lang="en-US" altLang="zh-CN" dirty="0"/>
              <a:t>3</a:t>
            </a:r>
            <a:r>
              <a:rPr lang="en-GB" altLang="zh-CN" dirty="0"/>
              <a:t>NF</a:t>
            </a:r>
            <a:r>
              <a:rPr lang="zh-CN" altLang="en-US" dirty="0"/>
              <a:t>模式集的算法</a:t>
            </a:r>
            <a:endParaRPr lang="en-US" altLang="zh-CN" dirty="0"/>
          </a:p>
          <a:p>
            <a:pPr lvl="1">
              <a:lnSpc>
                <a:spcPct val="150000"/>
              </a:lnSpc>
            </a:pPr>
            <a:r>
              <a:rPr lang="zh-CN" altLang="zh-CN" b="0" i="1" dirty="0"/>
              <a:t>例4</a:t>
            </a:r>
            <a:r>
              <a:rPr lang="zh-CN" altLang="en-US" b="0" i="1" dirty="0"/>
              <a:t>.</a:t>
            </a:r>
            <a:r>
              <a:rPr lang="zh-CN" altLang="zh-CN" b="0" i="1" dirty="0"/>
              <a:t>6</a:t>
            </a:r>
            <a:r>
              <a:rPr lang="zh-CN" altLang="en-US" b="0" i="1" dirty="0"/>
              <a:t>：</a:t>
            </a:r>
            <a:r>
              <a:rPr lang="zh-CN" altLang="zh-CN" b="0" i="1" dirty="0"/>
              <a:t>与学生有关的关系模式R(S#，Sname，Province，City，Street，Zipcode)，各属性分别表示学号、姓名、来自省份、城市、街道及邮政编码</a:t>
            </a:r>
            <a:endParaRPr lang="en-US" altLang="zh-CN" i="1" dirty="0"/>
          </a:p>
          <a:p>
            <a:pPr lvl="1">
              <a:lnSpc>
                <a:spcPct val="150000"/>
              </a:lnSpc>
            </a:pPr>
            <a:r>
              <a:rPr lang="zh-CN" altLang="zh-CN" b="0" dirty="0"/>
              <a:t>R上有函数依赖集F＝{S#→Sname，S#→Province，S#→City，S#→Street，S#→Zipcode, (Province，City，Street)→Zipcode, Zipcode→Province，Zipcode→City}，试将其分解为3NF形式且保持无损连接及函数依赖</a:t>
            </a:r>
            <a:endParaRPr lang="zh-CN" altLang="zh-CN" b="0"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分解成</a:t>
            </a:r>
            <a:r>
              <a:rPr lang="en-US" altLang="zh-CN" dirty="0"/>
              <a:t>3</a:t>
            </a:r>
            <a:r>
              <a:rPr lang="en-GB" altLang="zh-CN" dirty="0"/>
              <a:t>NF</a:t>
            </a:r>
            <a:r>
              <a:rPr lang="zh-CN" altLang="en-US" dirty="0"/>
              <a:t>模式集的算法</a:t>
            </a:r>
            <a:endParaRPr lang="en-US" altLang="zh-CN" dirty="0"/>
          </a:p>
          <a:p>
            <a:pPr lvl="1"/>
            <a:r>
              <a:rPr lang="zh-CN" altLang="zh-CN" dirty="0"/>
              <a:t>解：</a:t>
            </a:r>
            <a:endParaRPr lang="en-US" altLang="zh-CN" dirty="0"/>
          </a:p>
          <a:p>
            <a:pPr marL="457200" lvl="1" indent="0">
              <a:buNone/>
            </a:pPr>
            <a:r>
              <a:rPr lang="zh-CN" altLang="zh-CN" dirty="0"/>
              <a:t>(1)首先计算F的最小覆盖F</a:t>
            </a:r>
            <a:r>
              <a:rPr lang="zh-CN" altLang="zh-CN" baseline="-25000" dirty="0"/>
              <a:t>min </a:t>
            </a:r>
            <a:r>
              <a:rPr lang="zh-CN" altLang="zh-CN" dirty="0"/>
              <a:t>，因S#→Zipcode冗余，所以</a:t>
            </a:r>
            <a:r>
              <a:rPr lang="zh-CN" altLang="en-US" dirty="0"/>
              <a:t>:</a:t>
            </a:r>
            <a:endParaRPr lang="en-US" altLang="zh-CN" dirty="0"/>
          </a:p>
          <a:p>
            <a:pPr>
              <a:lnSpc>
                <a:spcPct val="160000"/>
              </a:lnSpc>
              <a:buNone/>
            </a:pPr>
            <a:r>
              <a:rPr lang="zh-CN" altLang="en-US" sz="2400" dirty="0"/>
              <a:t>   </a:t>
            </a:r>
            <a:r>
              <a:rPr lang="zh-CN" altLang="zh-CN" sz="2400" dirty="0"/>
              <a:t>F</a:t>
            </a:r>
            <a:r>
              <a:rPr lang="zh-CN" altLang="zh-CN" sz="2400" baseline="-25000" dirty="0"/>
              <a:t>min</a:t>
            </a:r>
            <a:r>
              <a:rPr lang="zh-CN" altLang="zh-CN" sz="2400" dirty="0"/>
              <a:t>＝{</a:t>
            </a:r>
            <a:r>
              <a:rPr lang="zh-CN" altLang="zh-CN" sz="2400" dirty="0">
                <a:solidFill>
                  <a:srgbClr val="FF9933"/>
                </a:solidFill>
              </a:rPr>
              <a:t>S#</a:t>
            </a:r>
            <a:r>
              <a:rPr lang="zh-CN" altLang="zh-CN" sz="2400" dirty="0"/>
              <a:t>→Sname，</a:t>
            </a:r>
            <a:r>
              <a:rPr lang="zh-CN" altLang="zh-CN" sz="2400" dirty="0">
                <a:solidFill>
                  <a:srgbClr val="FF9933"/>
                </a:solidFill>
              </a:rPr>
              <a:t>S#</a:t>
            </a:r>
            <a:r>
              <a:rPr lang="zh-CN" altLang="zh-CN" sz="2400" dirty="0"/>
              <a:t>→Province，</a:t>
            </a:r>
            <a:r>
              <a:rPr lang="zh-CN" altLang="zh-CN" sz="2400" dirty="0">
                <a:solidFill>
                  <a:srgbClr val="FF9933"/>
                </a:solidFill>
              </a:rPr>
              <a:t>S#</a:t>
            </a:r>
            <a:r>
              <a:rPr lang="zh-CN" altLang="zh-CN" sz="2400" dirty="0"/>
              <a:t>→City，</a:t>
            </a:r>
            <a:r>
              <a:rPr lang="zh-CN" altLang="zh-CN" sz="2400" dirty="0">
                <a:solidFill>
                  <a:srgbClr val="FF9933"/>
                </a:solidFill>
              </a:rPr>
              <a:t>S#</a:t>
            </a:r>
            <a:r>
              <a:rPr lang="zh-CN" altLang="zh-CN" sz="2400" dirty="0"/>
              <a:t>→Street，(</a:t>
            </a:r>
            <a:r>
              <a:rPr lang="zh-CN" altLang="zh-CN" sz="2400" dirty="0">
                <a:solidFill>
                  <a:srgbClr val="3366FF"/>
                </a:solidFill>
              </a:rPr>
              <a:t>Province</a:t>
            </a:r>
            <a:r>
              <a:rPr lang="zh-CN" altLang="zh-CN" sz="2400" dirty="0"/>
              <a:t>，</a:t>
            </a:r>
            <a:r>
              <a:rPr lang="zh-CN" altLang="zh-CN" sz="2400" dirty="0">
                <a:solidFill>
                  <a:srgbClr val="3366FF"/>
                </a:solidFill>
              </a:rPr>
              <a:t>City</a:t>
            </a:r>
            <a:r>
              <a:rPr lang="zh-CN" altLang="zh-CN" sz="2400" dirty="0"/>
              <a:t>，</a:t>
            </a:r>
            <a:r>
              <a:rPr lang="zh-CN" altLang="zh-CN" sz="2400" dirty="0">
                <a:solidFill>
                  <a:srgbClr val="3366FF"/>
                </a:solidFill>
              </a:rPr>
              <a:t>Street</a:t>
            </a:r>
            <a:r>
              <a:rPr lang="zh-CN" altLang="zh-CN" sz="2400" dirty="0"/>
              <a:t>)→Zipcode, </a:t>
            </a:r>
            <a:r>
              <a:rPr lang="zh-CN" altLang="zh-CN" sz="2400" dirty="0">
                <a:solidFill>
                  <a:srgbClr val="339966"/>
                </a:solidFill>
              </a:rPr>
              <a:t>Zipcode</a:t>
            </a:r>
            <a:r>
              <a:rPr lang="zh-CN" altLang="zh-CN" sz="2400" dirty="0"/>
              <a:t>→Province，</a:t>
            </a:r>
            <a:r>
              <a:rPr lang="zh-CN" altLang="zh-CN" sz="2400" dirty="0">
                <a:solidFill>
                  <a:srgbClr val="339966"/>
                </a:solidFill>
              </a:rPr>
              <a:t>Zipcode</a:t>
            </a:r>
            <a:r>
              <a:rPr lang="zh-CN" altLang="zh-CN" sz="2400" dirty="0"/>
              <a:t>→City}；</a:t>
            </a:r>
            <a:endParaRPr lang="zh-CN" altLang="zh-CN" sz="2400" dirty="0"/>
          </a:p>
          <a:p>
            <a:pPr lvl="1"/>
            <a:endParaRPr lang="zh-CN" altLang="en-US"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分解成</a:t>
                </a:r>
                <a:r>
                  <a:rPr lang="en-US" altLang="zh-CN" dirty="0"/>
                  <a:t>3</a:t>
                </a:r>
                <a:r>
                  <a:rPr lang="en-GB" altLang="zh-CN" dirty="0"/>
                  <a:t>NF</a:t>
                </a:r>
                <a:r>
                  <a:rPr lang="zh-CN" altLang="en-US" dirty="0"/>
                  <a:t>模式集的算法</a:t>
                </a:r>
                <a:endParaRPr lang="en-US" altLang="zh-CN" dirty="0"/>
              </a:p>
              <a:p>
                <a:pPr lvl="1"/>
                <a:r>
                  <a:rPr lang="zh-CN" altLang="zh-CN" dirty="0"/>
                  <a:t>解：</a:t>
                </a:r>
                <a:endParaRPr lang="en-US" altLang="zh-CN" dirty="0"/>
              </a:p>
              <a:p>
                <a:pPr marL="457200" lvl="1" indent="0">
                  <a:buNone/>
                </a:pPr>
                <a:r>
                  <a:rPr lang="zh-CN" altLang="zh-CN" dirty="0"/>
                  <a:t>(2)由于R的所有属性均在F</a:t>
                </a:r>
                <a:r>
                  <a:rPr lang="zh-CN" altLang="zh-CN" baseline="-25000" dirty="0"/>
                  <a:t>min</a:t>
                </a:r>
                <a:r>
                  <a:rPr lang="zh-CN" altLang="zh-CN" dirty="0"/>
                  <a:t>中出现，所以直接将函数依赖分组构成新的关系模式，</a:t>
                </a:r>
                <a:r>
                  <a:rPr lang="zh-CN" altLang="en-US" dirty="0"/>
                  <a:t>ρ</a:t>
                </a:r>
                <a:r>
                  <a:rPr lang="zh-CN" altLang="zh-CN" dirty="0"/>
                  <a:t>＝{</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1</m:t>
                        </m:r>
                      </m:sub>
                    </m:sSub>
                  </m:oMath>
                </a14:m>
                <a:r>
                  <a:rPr lang="zh-CN" altLang="zh-CN" dirty="0"/>
                  <a:t>(</a:t>
                </a:r>
                <a:r>
                  <a:rPr lang="zh-CN" altLang="zh-CN" dirty="0">
                    <a:solidFill>
                      <a:srgbClr val="FF9933"/>
                    </a:solidFill>
                  </a:rPr>
                  <a:t>S#</a:t>
                </a:r>
                <a:r>
                  <a:rPr lang="zh-CN" altLang="zh-CN" dirty="0"/>
                  <a:t>，Sname，Province，City，Street)，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2</m:t>
                        </m:r>
                      </m:sub>
                    </m:sSub>
                  </m:oMath>
                </a14:m>
                <a:r>
                  <a:rPr lang="zh-CN" altLang="zh-CN" dirty="0"/>
                  <a:t>(</a:t>
                </a:r>
                <a:r>
                  <a:rPr lang="zh-CN" altLang="zh-CN" dirty="0">
                    <a:solidFill>
                      <a:srgbClr val="3366FF"/>
                    </a:solidFill>
                  </a:rPr>
                  <a:t>Province，City，Street</a:t>
                </a:r>
                <a:r>
                  <a:rPr lang="zh-CN" altLang="zh-CN" dirty="0"/>
                  <a:t>，Zipcode)，</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3</m:t>
                        </m:r>
                      </m:sub>
                    </m:sSub>
                  </m:oMath>
                </a14:m>
                <a:r>
                  <a:rPr lang="zh-CN" altLang="zh-CN" dirty="0"/>
                  <a:t>(</a:t>
                </a:r>
                <a:r>
                  <a:rPr lang="zh-CN" altLang="zh-CN" dirty="0">
                    <a:solidFill>
                      <a:srgbClr val="339966"/>
                    </a:solidFill>
                  </a:rPr>
                  <a:t>Zipcode</a:t>
                </a:r>
                <a:r>
                  <a:rPr lang="zh-CN" altLang="zh-CN" dirty="0"/>
                  <a:t>，Province，City)}，因</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3</m:t>
                        </m:r>
                      </m:sub>
                    </m:sSub>
                  </m:oMath>
                </a14:m>
                <a:r>
                  <a:rPr lang="zh-CN" altLang="zh-CN" dirty="0"/>
                  <a:t>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2</m:t>
                        </m:r>
                      </m:sub>
                    </m:sSub>
                  </m:oMath>
                </a14:m>
                <a:r>
                  <a:rPr lang="zh-CN" altLang="zh-CN" dirty="0"/>
                  <a:t>的子集，故将其略去，得到 </a:t>
                </a:r>
                <a:r>
                  <a:rPr lang="zh-CN" altLang="en-US" dirty="0"/>
                  <a:t>ρ</a:t>
                </a:r>
                <a:r>
                  <a:rPr lang="zh-CN" altLang="zh-CN" dirty="0"/>
                  <a:t>＝{</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zh-CN" altLang="zh-CN" dirty="0"/>
                  <a:t>(S#，Sname，Province，City，Street)，</a:t>
                </a:r>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2</m:t>
                        </m:r>
                      </m:sub>
                    </m:sSub>
                  </m:oMath>
                </a14:m>
                <a:r>
                  <a:rPr lang="zh-CN" altLang="zh-CN" dirty="0"/>
                  <a:t>(Province，City，Street，Zipcode)}；</a:t>
                </a:r>
                <a:endParaRPr lang="zh-CN" altLang="zh-CN" dirty="0"/>
              </a:p>
              <a:p>
                <a:pPr marL="457200" lvl="1" indent="0">
                  <a:buNone/>
                </a:pP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分解成</a:t>
                </a:r>
                <a:r>
                  <a:rPr lang="en-US" altLang="zh-CN" dirty="0"/>
                  <a:t>3</a:t>
                </a:r>
                <a:r>
                  <a:rPr lang="en-GB" altLang="zh-CN" dirty="0"/>
                  <a:t>NF</a:t>
                </a:r>
                <a:r>
                  <a:rPr lang="zh-CN" altLang="en-US" dirty="0"/>
                  <a:t>模式集的算法</a:t>
                </a:r>
                <a:endParaRPr lang="en-US" altLang="zh-CN" dirty="0"/>
              </a:p>
              <a:p>
                <a:pPr lvl="1"/>
                <a:r>
                  <a:rPr lang="zh-CN" altLang="zh-CN" dirty="0"/>
                  <a:t>解：</a:t>
                </a:r>
                <a:endParaRPr lang="en-US" altLang="zh-CN" dirty="0"/>
              </a:p>
              <a:p>
                <a:pPr marL="457200" lvl="1" indent="0">
                  <a:buNone/>
                </a:pPr>
                <a:r>
                  <a:rPr lang="zh-CN" altLang="zh-CN" dirty="0"/>
                  <a:t>(3)关系R上的候选键只有一个S#，因其也是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oMath>
                </a14:m>
                <a:r>
                  <a:rPr lang="zh-CN" altLang="zh-CN" dirty="0"/>
                  <a:t>的子集，所以不再加入</a:t>
                </a:r>
                <a:r>
                  <a:rPr lang="zh-CN" altLang="en-US" dirty="0"/>
                  <a:t>ρ</a:t>
                </a:r>
                <a:r>
                  <a:rPr lang="zh-CN" altLang="zh-CN" dirty="0"/>
                  <a:t>中，于是满足要求的最终关系模式集合仍为</a:t>
                </a:r>
                <a:r>
                  <a:rPr lang="zh-CN" altLang="en-US" dirty="0"/>
                  <a:t>:</a:t>
                </a:r>
                <a:endParaRPr lang="en-US" altLang="zh-CN" dirty="0"/>
              </a:p>
              <a:p>
                <a:pPr>
                  <a:buNone/>
                </a:pPr>
                <a:r>
                  <a:rPr lang="zh-CN" altLang="en-US" sz="2400" b="0" dirty="0"/>
                  <a:t>  </a:t>
                </a:r>
                <a:r>
                  <a:rPr lang="en-US" altLang="zh-CN" sz="2400" b="0" dirty="0"/>
                  <a:t>           </a:t>
                </a:r>
                <a:r>
                  <a:rPr lang="zh-CN" altLang="en-US" sz="2400" b="0" dirty="0"/>
                  <a:t>ρ</a:t>
                </a:r>
                <a:r>
                  <a:rPr lang="zh-CN" altLang="zh-CN" sz="2400" b="0" dirty="0"/>
                  <a:t>＝{</a:t>
                </a:r>
                <a14:m>
                  <m:oMath xmlns:m="http://schemas.openxmlformats.org/officeDocument/2006/math">
                    <m:sSub>
                      <m:sSubPr>
                        <m:ctrlPr>
                          <a:rPr lang="en-US"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a:latin typeface="Cambria Math" panose="02040503050406030204" pitchFamily="18" charset="0"/>
                          </a:rPr>
                          <m:t>1</m:t>
                        </m:r>
                      </m:sub>
                    </m:sSub>
                  </m:oMath>
                </a14:m>
                <a:r>
                  <a:rPr lang="zh-CN" altLang="zh-CN" sz="2400" b="0" dirty="0"/>
                  <a:t>(S#，Sname，Province，City，Street)，</a:t>
                </a:r>
                <a:endParaRPr lang="zh-CN" altLang="en-US" sz="2400" b="0" dirty="0"/>
              </a:p>
              <a:p>
                <a:pPr>
                  <a:buNone/>
                </a:pPr>
                <a:r>
                  <a:rPr lang="zh-CN" altLang="en-US" sz="2400" b="0" dirty="0"/>
                  <a:t> </a:t>
                </a:r>
                <a:r>
                  <a:rPr lang="en-US" altLang="zh-CN" sz="2400" b="0" dirty="0"/>
                  <a:t>                  </a:t>
                </a:r>
                <a14:m>
                  <m:oMath xmlns:m="http://schemas.openxmlformats.org/officeDocument/2006/math">
                    <m:sSub>
                      <m:sSubPr>
                        <m:ctrlPr>
                          <a:rPr lang="en-US" altLang="zh-CN" sz="2400" i="1">
                            <a:latin typeface="Cambria Math" panose="02040503050406030204" pitchFamily="18" charset="0"/>
                          </a:rPr>
                        </m:ctrlPr>
                      </m:sSubPr>
                      <m:e>
                        <m:r>
                          <a:rPr lang="en-US" altLang="zh-CN" sz="2400" b="0" i="1">
                            <a:latin typeface="Cambria Math" panose="02040503050406030204" pitchFamily="18" charset="0"/>
                          </a:rPr>
                          <m:t>𝑅</m:t>
                        </m:r>
                      </m:e>
                      <m:sub>
                        <m:r>
                          <a:rPr lang="en-US" altLang="zh-CN" sz="2400" b="0" i="1" smtClean="0">
                            <a:latin typeface="Cambria Math" panose="02040503050406030204" pitchFamily="18" charset="0"/>
                          </a:rPr>
                          <m:t>2</m:t>
                        </m:r>
                      </m:sub>
                    </m:sSub>
                  </m:oMath>
                </a14:m>
                <a:r>
                  <a:rPr lang="zh-CN" altLang="zh-CN" sz="2400" b="0" dirty="0"/>
                  <a:t>(Province，City，Street，Zipcode)}</a:t>
                </a:r>
                <a:endParaRPr lang="zh-CN" altLang="zh-CN" sz="2400" b="0" dirty="0"/>
              </a:p>
              <a:p>
                <a:pPr marL="457200" lvl="1" indent="0">
                  <a:buNone/>
                </a:pP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分解成</a:t>
                </a:r>
                <a:r>
                  <a:rPr lang="en-US" altLang="zh-CN" dirty="0"/>
                  <a:t>BC</a:t>
                </a:r>
                <a:r>
                  <a:rPr lang="en-GB" altLang="zh-CN" dirty="0"/>
                  <a:t>NF</a:t>
                </a:r>
                <a:r>
                  <a:rPr lang="zh-CN" altLang="en-US" dirty="0"/>
                  <a:t>模式集的算法</a:t>
                </a:r>
                <a:endParaRPr lang="en-US" altLang="zh-CN" dirty="0"/>
              </a:p>
              <a:p>
                <a:pPr lvl="1">
                  <a:lnSpc>
                    <a:spcPct val="150000"/>
                  </a:lnSpc>
                </a:pPr>
                <a:r>
                  <a:rPr lang="zh-CN" altLang="en-US" dirty="0"/>
                  <a:t>算法</a:t>
                </a:r>
                <a:r>
                  <a:rPr lang="en-US" altLang="zh-CN" dirty="0"/>
                  <a:t>4.5</a:t>
                </a:r>
                <a:r>
                  <a:rPr lang="zh-CN" altLang="en-US" dirty="0"/>
                  <a:t>：保证无损连接的</a:t>
                </a:r>
                <a:r>
                  <a:rPr lang="en-US" altLang="zh-CN" dirty="0"/>
                  <a:t>BCNF</a:t>
                </a:r>
                <a:r>
                  <a:rPr lang="zh-CN" altLang="en-US" dirty="0"/>
                  <a:t>分解算法</a:t>
                </a:r>
                <a:endParaRPr lang="en-US" altLang="zh-CN" dirty="0"/>
              </a:p>
              <a:p>
                <a:pPr lvl="1">
                  <a:lnSpc>
                    <a:spcPct val="150000"/>
                  </a:lnSpc>
                </a:pPr>
                <a:r>
                  <a:rPr lang="zh-CN" altLang="en-US" dirty="0"/>
                  <a:t>输入：关系模式</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𝑅</m:t>
                    </m:r>
                    <m:r>
                      <a:rPr lang="en-US" altLang="zh-CN" i="1"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ea typeface="Cambria Math" panose="02040503050406030204" pitchFamily="18" charset="0"/>
                      </a:rPr>
                      <m:t>𝑈</m:t>
                    </m:r>
                    <m:r>
                      <a:rPr lang="zh-CN" altLang="en-US" i="1" dirty="0">
                        <a:latin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𝐹</m:t>
                    </m:r>
                    <m:r>
                      <a:rPr lang="en-US" altLang="zh-CN" i="1" dirty="0">
                        <a:latin typeface="Cambria Math" panose="02040503050406030204" pitchFamily="18" charset="0"/>
                        <a:ea typeface="Cambria Math" panose="02040503050406030204" pitchFamily="18" charset="0"/>
                      </a:rPr>
                      <m:t>) </m:t>
                    </m:r>
                  </m:oMath>
                </a14:m>
                <a:endParaRPr lang="en-US" altLang="zh-CN" dirty="0"/>
              </a:p>
              <a:p>
                <a:pPr lvl="1">
                  <a:lnSpc>
                    <a:spcPct val="150000"/>
                  </a:lnSpc>
                </a:pPr>
                <a:r>
                  <a:rPr lang="zh-CN" altLang="en-US" dirty="0"/>
                  <a:t>输出： </a:t>
                </a:r>
                <a14:m>
                  <m:oMath xmlns:m="http://schemas.openxmlformats.org/officeDocument/2006/math">
                    <m:r>
                      <a:rPr lang="zh-CN" altLang="en-US" i="1" smtClean="0">
                        <a:latin typeface="Cambria Math" panose="02040503050406030204" pitchFamily="18" charset="0"/>
                      </a:rPr>
                      <m:t>𝜌</m:t>
                    </m:r>
                  </m:oMath>
                </a14:m>
                <a:r>
                  <a:rPr lang="zh-CN" altLang="en-US" dirty="0"/>
                  <a:t>＝</a:t>
                </a:r>
                <a:r>
                  <a:rPr lang="en-US" altLang="zh-CN" dirty="0"/>
                  <a:t>{</a:t>
                </a:r>
                <a14:m>
                  <m:oMath xmlns:m="http://schemas.openxmlformats.org/officeDocument/2006/math">
                    <m:sSub>
                      <m:sSubPr>
                        <m:ctrlPr>
                          <a:rPr lang="en-US" altLang="zh-CN"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𝑅</m:t>
                        </m:r>
                      </m:e>
                      <m:sub>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oMath>
                </a14:m>
                <a:r>
                  <a:rPr lang="en-US" altLang="zh-CN" dirty="0"/>
                  <a:t> </a:t>
                </a: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𝑅</m:t>
                        </m:r>
                      </m:e>
                      <m:sub>
                        <m:r>
                          <a:rPr lang="en-US" altLang="zh-CN" b="0" i="1" smtClean="0">
                            <a:latin typeface="Cambria Math" panose="02040503050406030204" pitchFamily="18" charset="0"/>
                            <a:ea typeface="Cambria Math" panose="02040503050406030204" pitchFamily="18" charset="0"/>
                          </a:rPr>
                          <m:t>𝑘</m:t>
                        </m:r>
                      </m:sub>
                    </m:sSub>
                  </m:oMath>
                </a14:m>
                <a:r>
                  <a:rPr lang="en-US" altLang="zh-CN" dirty="0"/>
                  <a:t>}</a:t>
                </a:r>
                <a:endParaRPr lang="en-US" altLang="zh-CN" dirty="0"/>
              </a:p>
              <a:p>
                <a:pPr lvl="1">
                  <a:lnSpc>
                    <a:spcPct val="150000"/>
                  </a:lnSpc>
                </a:pPr>
                <a:r>
                  <a:rPr lang="zh-CN" altLang="en-US" dirty="0"/>
                  <a:t>步骤：</a:t>
                </a:r>
                <a:endParaRPr lang="zh-CN" altLang="en-US" dirty="0"/>
              </a:p>
              <a:p>
                <a:pPr lvl="2">
                  <a:lnSpc>
                    <a:spcPct val="150000"/>
                  </a:lnSpc>
                  <a:buNone/>
                </a:pPr>
                <a:r>
                  <a:rPr lang="en-US" altLang="zh-CN" sz="2400" dirty="0"/>
                  <a:t>(1)</a:t>
                </a:r>
                <a:r>
                  <a:rPr lang="zh-CN" altLang="en-US" sz="2400" dirty="0"/>
                  <a:t>令</a:t>
                </a:r>
                <a14:m>
                  <m:oMath xmlns:m="http://schemas.openxmlformats.org/officeDocument/2006/math">
                    <m:r>
                      <a:rPr lang="zh-CN" altLang="en-US" sz="2400" i="1">
                        <a:latin typeface="Cambria Math" panose="02040503050406030204" pitchFamily="18" charset="0"/>
                      </a:rPr>
                      <m:t>𝜌</m:t>
                    </m:r>
                  </m:oMath>
                </a14:m>
                <a:r>
                  <a:rPr lang="zh-CN" altLang="en-US" sz="2400" dirty="0"/>
                  <a:t>＝</a:t>
                </a:r>
                <a14:m>
                  <m:oMath xmlns:m="http://schemas.openxmlformats.org/officeDocument/2006/math">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𝑅</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𝑈</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𝐹</m:t>
                    </m:r>
                    <m:r>
                      <a:rPr lang="en-US" altLang="zh-CN" sz="2400" b="0" i="1" dirty="0" smtClean="0">
                        <a:latin typeface="Cambria Math" panose="02040503050406030204" pitchFamily="18" charset="0"/>
                        <a:ea typeface="Cambria Math" panose="02040503050406030204" pitchFamily="18" charset="0"/>
                      </a:rPr>
                      <m:t>)}</m:t>
                    </m:r>
                  </m:oMath>
                </a14:m>
                <a:r>
                  <a:rPr lang="zh-CN" altLang="en-US" sz="2400" dirty="0"/>
                  <a:t> ；</a:t>
                </a:r>
                <a:endParaRPr lang="zh-CN" altLang="en-US" sz="2400" dirty="0"/>
              </a:p>
              <a:p>
                <a:pPr lvl="2">
                  <a:lnSpc>
                    <a:spcPct val="150000"/>
                  </a:lnSpc>
                  <a:buNone/>
                </a:pPr>
                <a:r>
                  <a:rPr lang="en-US" altLang="zh-CN" sz="2400" dirty="0"/>
                  <a:t>(2)</a:t>
                </a:r>
                <a:r>
                  <a:rPr lang="zh-CN" altLang="en-US" sz="2400" dirty="0"/>
                  <a:t>如果</a:t>
                </a:r>
                <a14:m>
                  <m:oMath xmlns:m="http://schemas.openxmlformats.org/officeDocument/2006/math">
                    <m:r>
                      <a:rPr lang="zh-CN" altLang="en-US" sz="2400" i="1">
                        <a:latin typeface="Cambria Math" panose="02040503050406030204" pitchFamily="18" charset="0"/>
                      </a:rPr>
                      <m:t>𝜌</m:t>
                    </m:r>
                  </m:oMath>
                </a14:m>
                <a:r>
                  <a:rPr lang="zh-CN" altLang="en-US" sz="2400" dirty="0"/>
                  <a:t>中的每个子关系模式均是</a:t>
                </a:r>
                <a:r>
                  <a:rPr lang="en-US" altLang="zh-CN" sz="2400" dirty="0"/>
                  <a:t>BCNF</a:t>
                </a:r>
                <a:r>
                  <a:rPr lang="zh-CN" altLang="en-US" sz="2400" dirty="0"/>
                  <a:t>，则算法终止，输出即为</a:t>
                </a:r>
                <a14:m>
                  <m:oMath xmlns:m="http://schemas.openxmlformats.org/officeDocument/2006/math">
                    <m:r>
                      <a:rPr lang="zh-CN" altLang="en-US" sz="2400" i="1">
                        <a:latin typeface="Cambria Math" panose="02040503050406030204" pitchFamily="18" charset="0"/>
                      </a:rPr>
                      <m:t>𝜌</m:t>
                    </m:r>
                  </m:oMath>
                </a14:m>
                <a:r>
                  <a:rPr lang="zh-CN" altLang="en-US" sz="2400" dirty="0"/>
                  <a:t>；</a:t>
                </a:r>
                <a:endParaRPr lang="zh-CN" altLang="en-US" sz="2400" dirty="0"/>
              </a:p>
              <a:p>
                <a:pPr lvl="1"/>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a:xfrm>
                <a:off x="397163" y="1219203"/>
                <a:ext cx="11335292" cy="4957760"/>
              </a:xfrm>
            </p:spPr>
            <p:txBody>
              <a:bodyPr>
                <a:normAutofit/>
              </a:bodyPr>
              <a:lstStyle/>
              <a:p>
                <a:r>
                  <a:rPr lang="zh-CN" altLang="en-US" dirty="0"/>
                  <a:t>分解成</a:t>
                </a:r>
                <a:r>
                  <a:rPr lang="en-US" altLang="zh-CN" dirty="0"/>
                  <a:t>BC</a:t>
                </a:r>
                <a:r>
                  <a:rPr lang="en-GB" altLang="zh-CN" dirty="0"/>
                  <a:t>NF</a:t>
                </a:r>
                <a:r>
                  <a:rPr lang="zh-CN" altLang="en-US" dirty="0"/>
                  <a:t>模式集的算法</a:t>
                </a:r>
                <a:endParaRPr lang="en-US" altLang="zh-CN" dirty="0"/>
              </a:p>
              <a:p>
                <a:pPr marL="457200" lvl="1" indent="0">
                  <a:lnSpc>
                    <a:spcPct val="150000"/>
                  </a:lnSpc>
                  <a:buNone/>
                </a:pPr>
                <a:r>
                  <a:rPr lang="en-US" altLang="zh-CN" dirty="0"/>
                  <a:t>(3)</a:t>
                </a:r>
                <a:r>
                  <a:rPr lang="zh-CN" altLang="en-US" dirty="0"/>
                  <a:t>否则，</a:t>
                </a:r>
                <a14:m>
                  <m:oMath xmlns:m="http://schemas.openxmlformats.org/officeDocument/2006/math">
                    <m:r>
                      <a:rPr lang="zh-CN" altLang="en-US" i="1">
                        <a:latin typeface="Cambria Math" panose="02040503050406030204" pitchFamily="18" charset="0"/>
                      </a:rPr>
                      <m:t>𝜌</m:t>
                    </m:r>
                  </m:oMath>
                </a14:m>
                <a:r>
                  <a:rPr lang="zh-CN" altLang="en-US" dirty="0"/>
                  <a:t>中必有某个子关系模式</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𝑈</m:t>
                        </m:r>
                      </m:e>
                      <m:sub>
                        <m:r>
                          <a:rPr lang="en-US" altLang="zh-CN" i="1">
                            <a:latin typeface="Cambria Math" panose="02040503050406030204" pitchFamily="18" charset="0"/>
                          </a:rPr>
                          <m:t>𝑖</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i="1">
                            <a:latin typeface="Cambria Math" panose="02040503050406030204" pitchFamily="18" charset="0"/>
                          </a:rPr>
                          <m:t>𝑖</m:t>
                        </m:r>
                      </m:sub>
                    </m:sSub>
                    <m:r>
                      <a:rPr lang="en-US" altLang="zh-CN" b="0" i="1" smtClean="0">
                        <a:latin typeface="Cambria Math" panose="02040503050406030204" pitchFamily="18" charset="0"/>
                      </a:rPr>
                      <m:t>)</m:t>
                    </m:r>
                  </m:oMath>
                </a14:m>
                <a:r>
                  <a:rPr lang="en-US" altLang="zh-CN" dirty="0"/>
                  <a:t> </a:t>
                </a:r>
                <a:r>
                  <a:rPr lang="zh-CN" altLang="en-US" dirty="0"/>
                  <a:t>不满足</a:t>
                </a:r>
                <a:r>
                  <a:rPr lang="en-US" altLang="zh-CN" dirty="0"/>
                  <a:t>BCNF</a:t>
                </a:r>
                <a:r>
                  <a:rPr lang="zh-CN" altLang="en-US" dirty="0"/>
                  <a:t>，根据</a:t>
                </a:r>
                <a:r>
                  <a:rPr lang="en-US" altLang="zh-CN" dirty="0"/>
                  <a:t>BCNF</a:t>
                </a:r>
                <a:r>
                  <a:rPr lang="zh-CN" altLang="en-US" dirty="0"/>
                  <a:t>的定义，至少有一个</a:t>
                </a:r>
                <a14:m>
                  <m:oMath xmlns:m="http://schemas.openxmlformats.org/officeDocument/2006/math">
                    <m:r>
                      <a:rPr lang="en-US" altLang="zh-CN" i="1" dirty="0" smtClean="0">
                        <a:latin typeface="Cambria Math" panose="02040503050406030204" pitchFamily="18" charset="0"/>
                      </a:rPr>
                      <m:t>𝑋</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𝐴</m:t>
                    </m:r>
                    <m:r>
                      <a:rPr lang="en-US" altLang="zh-CN" i="1"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𝐹</m:t>
                        </m:r>
                        <m:r>
                          <a:rPr lang="zh-CN" altLang="en-US" i="1" baseline="30000" dirty="0">
                            <a:latin typeface="Cambria Math" panose="02040503050406030204" pitchFamily="18" charset="0"/>
                          </a:rPr>
                          <m:t>＋</m:t>
                        </m:r>
                      </m:e>
                      <m:sub>
                        <m:r>
                          <a:rPr lang="en-US" altLang="zh-CN" b="0" i="1" dirty="0" smtClean="0">
                            <a:latin typeface="Cambria Math" panose="02040503050406030204" pitchFamily="18" charset="0"/>
                          </a:rPr>
                          <m:t>𝑖</m:t>
                        </m:r>
                      </m:sub>
                    </m:sSub>
                  </m:oMath>
                </a14:m>
                <a:r>
                  <a:rPr lang="zh-CN" altLang="en-US" dirty="0"/>
                  <a:t>，且</a:t>
                </a:r>
                <a14:m>
                  <m:oMath xmlns:m="http://schemas.openxmlformats.org/officeDocument/2006/math">
                    <m:r>
                      <a:rPr lang="en-US" altLang="zh-CN" i="1" dirty="0">
                        <a:latin typeface="Cambria Math" panose="02040503050406030204" pitchFamily="18" charset="0"/>
                      </a:rPr>
                      <m:t>𝑋</m:t>
                    </m:r>
                  </m:oMath>
                </a14:m>
                <a:r>
                  <a:rPr lang="zh-CN" altLang="en-US" dirty="0"/>
                  <a:t>不包含</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𝑖</m:t>
                        </m:r>
                      </m:sub>
                    </m:sSub>
                  </m:oMath>
                </a14:m>
                <a:r>
                  <a:rPr lang="zh-CN" altLang="en-US" dirty="0"/>
                  <a:t>的任一候选键，将</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𝑖</m:t>
                        </m:r>
                      </m:sub>
                    </m:sSub>
                  </m:oMath>
                </a14:m>
                <a:r>
                  <a:rPr lang="zh-CN" altLang="en-US" dirty="0"/>
                  <a:t>分解为两个关系模式</a:t>
                </a:r>
                <a14:m>
                  <m:oMath xmlns:m="http://schemas.openxmlformats.org/officeDocument/2006/math">
                    <m:r>
                      <a:rPr lang="en-US" altLang="zh-CN" i="1" dirty="0" smtClean="0">
                        <a:latin typeface="Cambria Math" panose="02040503050406030204" pitchFamily="18" charset="0"/>
                      </a:rPr>
                      <m:t>𝑅</m:t>
                    </m:r>
                    <m:r>
                      <a:rPr lang="en-US" altLang="zh-CN" i="1" baseline="-25000" dirty="0">
                        <a:latin typeface="Cambria Math" panose="02040503050406030204" pitchFamily="18" charset="0"/>
                      </a:rPr>
                      <m:t>𝑖</m:t>
                    </m:r>
                    <m:r>
                      <a:rPr lang="en-US" altLang="zh-CN" i="1" baseline="-25000" dirty="0">
                        <a:latin typeface="Cambria Math" panose="02040503050406030204" pitchFamily="18" charset="0"/>
                      </a:rPr>
                      <m:t>1</m:t>
                    </m:r>
                    <m:r>
                      <a:rPr lang="zh-CN" altLang="en-US" i="1" dirty="0">
                        <a:latin typeface="Cambria Math" panose="02040503050406030204" pitchFamily="18" charset="0"/>
                      </a:rPr>
                      <m:t>、</m:t>
                    </m:r>
                    <m:r>
                      <a:rPr lang="en-US" altLang="zh-CN" i="1" dirty="0">
                        <a:latin typeface="Cambria Math" panose="02040503050406030204" pitchFamily="18" charset="0"/>
                      </a:rPr>
                      <m:t>𝑅</m:t>
                    </m:r>
                    <m:r>
                      <a:rPr lang="en-US" altLang="zh-CN" i="1" baseline="-25000" dirty="0">
                        <a:latin typeface="Cambria Math" panose="02040503050406030204" pitchFamily="18" charset="0"/>
                      </a:rPr>
                      <m:t>𝑖</m:t>
                    </m:r>
                    <m:r>
                      <a:rPr lang="en-US" altLang="zh-CN" i="1" baseline="-25000" dirty="0">
                        <a:latin typeface="Cambria Math" panose="02040503050406030204" pitchFamily="18" charset="0"/>
                      </a:rPr>
                      <m:t>2</m:t>
                    </m:r>
                  </m:oMath>
                </a14:m>
                <a:r>
                  <a:rPr lang="zh-CN" altLang="en-US" dirty="0"/>
                  <a:t>，且</a:t>
                </a:r>
                <a14:m>
                  <m:oMath xmlns:m="http://schemas.openxmlformats.org/officeDocument/2006/math">
                    <m:r>
                      <a:rPr lang="en-US" altLang="zh-CN" i="1" dirty="0" smtClean="0">
                        <a:latin typeface="Cambria Math" panose="02040503050406030204" pitchFamily="18" charset="0"/>
                      </a:rPr>
                      <m:t>𝑅</m:t>
                    </m:r>
                    <m:r>
                      <a:rPr lang="en-US" altLang="zh-CN" i="1" baseline="-25000" dirty="0">
                        <a:latin typeface="Cambria Math" panose="02040503050406030204" pitchFamily="18" charset="0"/>
                      </a:rPr>
                      <m:t>𝑖</m:t>
                    </m:r>
                    <m:r>
                      <a:rPr lang="en-US" altLang="zh-CN" i="1" baseline="-25000" dirty="0">
                        <a:latin typeface="Cambria Math" panose="02040503050406030204" pitchFamily="18" charset="0"/>
                      </a:rPr>
                      <m:t>1</m:t>
                    </m:r>
                    <m:r>
                      <a:rPr lang="zh-CN" altLang="en-US" i="1" dirty="0">
                        <a:latin typeface="Cambria Math" panose="02040503050406030204" pitchFamily="18" charset="0"/>
                      </a:rPr>
                      <m:t>＝</m:t>
                    </m:r>
                    <m:r>
                      <a:rPr lang="en-US" altLang="zh-CN" i="1" dirty="0">
                        <a:latin typeface="Cambria Math" panose="02040503050406030204" pitchFamily="18" charset="0"/>
                      </a:rPr>
                      <m:t>{</m:t>
                    </m:r>
                    <m:r>
                      <a:rPr lang="en-US" altLang="zh-CN" i="1" dirty="0">
                        <a:latin typeface="Cambria Math" panose="02040503050406030204" pitchFamily="18" charset="0"/>
                      </a:rPr>
                      <m:t>𝑋𝐴</m:t>
                    </m:r>
                    <m:r>
                      <a:rPr lang="zh-CN" altLang="en-US" i="1" dirty="0">
                        <a:latin typeface="Cambria Math" panose="02040503050406030204" pitchFamily="18" charset="0"/>
                      </a:rPr>
                      <m:t>，</m:t>
                    </m:r>
                    <m:r>
                      <a:rPr lang="en-US" altLang="zh-CN" i="1" dirty="0">
                        <a:latin typeface="Cambria Math" panose="02040503050406030204" pitchFamily="18" charset="0"/>
                      </a:rPr>
                      <m:t>𝐹</m:t>
                    </m:r>
                    <m:r>
                      <a:rPr lang="en-US" altLang="zh-CN" i="1" baseline="-25000" dirty="0">
                        <a:latin typeface="Cambria Math" panose="02040503050406030204" pitchFamily="18" charset="0"/>
                      </a:rPr>
                      <m:t>𝑖</m:t>
                    </m:r>
                    <m:r>
                      <a:rPr lang="en-US" altLang="zh-CN" i="1" baseline="-25000" dirty="0">
                        <a:latin typeface="Cambria Math" panose="02040503050406030204" pitchFamily="18" charset="0"/>
                      </a:rPr>
                      <m:t>1</m:t>
                    </m:r>
                    <m:r>
                      <a:rPr lang="en-US" altLang="zh-CN" i="1" baseline="-25000" dirty="0">
                        <a:latin typeface="Cambria Math" panose="02040503050406030204" pitchFamily="18" charset="0"/>
                      </a:rPr>
                      <m:t>}</m:t>
                    </m:r>
                    <m:r>
                      <a:rPr lang="zh-CN" altLang="en-US" i="1" dirty="0">
                        <a:latin typeface="Cambria Math" panose="02040503050406030204" pitchFamily="18" charset="0"/>
                      </a:rPr>
                      <m:t>，</m:t>
                    </m:r>
                    <m:r>
                      <a:rPr lang="en-US" altLang="zh-CN" i="1" dirty="0">
                        <a:latin typeface="Cambria Math" panose="02040503050406030204" pitchFamily="18" charset="0"/>
                      </a:rPr>
                      <m:t>𝑅</m:t>
                    </m:r>
                    <m:r>
                      <a:rPr lang="en-US" altLang="zh-CN" i="1" baseline="-25000" dirty="0">
                        <a:latin typeface="Cambria Math" panose="02040503050406030204" pitchFamily="18" charset="0"/>
                      </a:rPr>
                      <m:t>𝑖</m:t>
                    </m:r>
                    <m:r>
                      <a:rPr lang="en-US" altLang="zh-CN" i="1" baseline="-25000" dirty="0">
                        <a:latin typeface="Cambria Math" panose="02040503050406030204" pitchFamily="18" charset="0"/>
                      </a:rPr>
                      <m:t>2</m:t>
                    </m:r>
                    <m:r>
                      <a:rPr lang="zh-CN" altLang="en-US" i="1" dirty="0">
                        <a:latin typeface="Cambria Math" panose="02040503050406030204" pitchFamily="18" charset="0"/>
                      </a:rPr>
                      <m:t>＝</m:t>
                    </m:r>
                    <m:r>
                      <a:rPr lang="en-US" altLang="zh-CN" i="1" dirty="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𝑈</m:t>
                        </m:r>
                      </m:e>
                      <m:sub>
                        <m:r>
                          <a:rPr lang="en-US" altLang="zh-CN" b="0" i="1" dirty="0" smtClean="0">
                            <a:latin typeface="Cambria Math" panose="02040503050406030204" pitchFamily="18" charset="0"/>
                          </a:rPr>
                          <m:t>𝑖</m:t>
                        </m:r>
                      </m:sub>
                    </m:sSub>
                    <m:r>
                      <a:rPr lang="zh-CN" altLang="en-US" i="1" dirty="0">
                        <a:latin typeface="Cambria Math" panose="02040503050406030204" pitchFamily="18" charset="0"/>
                      </a:rPr>
                      <m:t>－</m:t>
                    </m:r>
                    <m:r>
                      <a:rPr lang="en-US" altLang="zh-CN" i="1" dirty="0">
                        <a:latin typeface="Cambria Math" panose="02040503050406030204" pitchFamily="18" charset="0"/>
                      </a:rPr>
                      <m:t>𝐴</m:t>
                    </m:r>
                    <m:r>
                      <a:rPr lang="zh-CN" altLang="en-US" i="1" dirty="0">
                        <a:latin typeface="Cambria Math" panose="02040503050406030204" pitchFamily="18" charset="0"/>
                      </a:rPr>
                      <m:t>，</m:t>
                    </m:r>
                    <m:r>
                      <a:rPr lang="en-US" altLang="zh-CN" i="1" dirty="0">
                        <a:latin typeface="Cambria Math" panose="02040503050406030204" pitchFamily="18" charset="0"/>
                      </a:rPr>
                      <m:t>𝐹</m:t>
                    </m:r>
                    <m:r>
                      <a:rPr lang="en-US" altLang="zh-CN" i="1" baseline="-25000" dirty="0">
                        <a:latin typeface="Cambria Math" panose="02040503050406030204" pitchFamily="18" charset="0"/>
                      </a:rPr>
                      <m:t>𝑖</m:t>
                    </m:r>
                    <m:r>
                      <a:rPr lang="en-US" altLang="zh-CN" i="1" baseline="-25000" dirty="0">
                        <a:latin typeface="Cambria Math" panose="02040503050406030204" pitchFamily="18" charset="0"/>
                      </a:rPr>
                      <m:t>2</m:t>
                    </m:r>
                    <m:r>
                      <a:rPr lang="en-US" altLang="zh-CN" i="1" baseline="-25000" dirty="0">
                        <a:latin typeface="Cambria Math" panose="02040503050406030204" pitchFamily="18" charset="0"/>
                      </a:rPr>
                      <m:t>}</m:t>
                    </m:r>
                  </m:oMath>
                </a14:m>
                <a:r>
                  <a:rPr lang="zh-CN" altLang="en-US" dirty="0"/>
                  <a:t>，用</a:t>
                </a:r>
                <a14:m>
                  <m:oMath xmlns:m="http://schemas.openxmlformats.org/officeDocument/2006/math">
                    <m:r>
                      <a:rPr lang="en-US" altLang="zh-CN" i="1" dirty="0" smtClean="0">
                        <a:latin typeface="Cambria Math" panose="02040503050406030204" pitchFamily="18" charset="0"/>
                      </a:rPr>
                      <m:t>𝑅</m:t>
                    </m:r>
                    <m:r>
                      <a:rPr lang="en-US" altLang="zh-CN" i="1" baseline="-25000" dirty="0">
                        <a:latin typeface="Cambria Math" panose="02040503050406030204" pitchFamily="18" charset="0"/>
                      </a:rPr>
                      <m:t>𝑖</m:t>
                    </m:r>
                    <m:r>
                      <a:rPr lang="en-US" altLang="zh-CN" i="1" baseline="-25000" dirty="0">
                        <a:latin typeface="Cambria Math" panose="02040503050406030204" pitchFamily="18" charset="0"/>
                      </a:rPr>
                      <m:t>1</m:t>
                    </m:r>
                    <m:r>
                      <a:rPr lang="zh-CN" altLang="en-US" i="1" dirty="0">
                        <a:latin typeface="Cambria Math" panose="02040503050406030204" pitchFamily="18" charset="0"/>
                      </a:rPr>
                      <m:t>、</m:t>
                    </m:r>
                    <m:r>
                      <a:rPr lang="en-US" altLang="zh-CN" i="1" dirty="0">
                        <a:latin typeface="Cambria Math" panose="02040503050406030204" pitchFamily="18" charset="0"/>
                      </a:rPr>
                      <m:t>𝑅</m:t>
                    </m:r>
                    <m:r>
                      <a:rPr lang="en-US" altLang="zh-CN" i="1" baseline="-25000" dirty="0">
                        <a:latin typeface="Cambria Math" panose="02040503050406030204" pitchFamily="18" charset="0"/>
                      </a:rPr>
                      <m:t>𝑖</m:t>
                    </m:r>
                    <m:r>
                      <a:rPr lang="en-US" altLang="zh-CN" i="1" baseline="-25000" dirty="0">
                        <a:latin typeface="Cambria Math" panose="02040503050406030204" pitchFamily="18" charset="0"/>
                      </a:rPr>
                      <m:t>2</m:t>
                    </m:r>
                  </m:oMath>
                </a14:m>
                <a:r>
                  <a:rPr lang="zh-CN" altLang="en-US" dirty="0"/>
                  <a:t>取代</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𝑖</m:t>
                        </m:r>
                      </m:sub>
                    </m:sSub>
                    <m:r>
                      <a:rPr lang="en-US" altLang="zh-CN" i="1">
                        <a:latin typeface="Cambria Math" panose="02040503050406030204" pitchFamily="18" charset="0"/>
                      </a:rPr>
                      <m:t> </m:t>
                    </m:r>
                  </m:oMath>
                </a14:m>
                <a:r>
                  <a:rPr lang="zh-CN" altLang="en-US" dirty="0"/>
                  <a:t>，返回</a:t>
                </a:r>
                <a:r>
                  <a:rPr lang="en-US" altLang="zh-CN" dirty="0"/>
                  <a:t>(2)</a:t>
                </a:r>
                <a:r>
                  <a:rPr lang="zh-CN" altLang="en-US" dirty="0"/>
                  <a:t>继续执行</a:t>
                </a:r>
                <a:endParaRPr lang="zh-CN" altLang="en-US" dirty="0"/>
              </a:p>
              <a:p>
                <a:pPr lvl="1"/>
                <a:endParaRPr lang="en-US" altLang="zh-CN" dirty="0"/>
              </a:p>
            </p:txBody>
          </p:sp>
        </mc:Choice>
        <mc:Fallback>
          <p:sp>
            <p:nvSpPr>
              <p:cNvPr id="2" name="内容占位符 1"/>
              <p:cNvSpPr>
                <a:spLocks noRot="1" noChangeAspect="1" noMove="1" noResize="1" noEditPoints="1" noAdjustHandles="1" noChangeArrowheads="1" noChangeShapeType="1" noTextEdit="1"/>
              </p:cNvSpPr>
              <p:nvPr>
                <p:ph idx="1"/>
              </p:nvPr>
            </p:nvSpPr>
            <p:spPr>
              <a:xfrm>
                <a:off x="397163" y="1219203"/>
                <a:ext cx="11335292" cy="4957760"/>
              </a:xfrm>
              <a:blipFill rotWithShape="1">
                <a:blip r:embed="rId1"/>
                <a:stretch>
                  <a:fillRect l="-3" r="2" b="6"/>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分解成</a:t>
            </a:r>
            <a:r>
              <a:rPr lang="en-US" altLang="zh-CN" dirty="0"/>
              <a:t>BC</a:t>
            </a:r>
            <a:r>
              <a:rPr lang="en-GB" altLang="zh-CN" dirty="0"/>
              <a:t>NF</a:t>
            </a:r>
            <a:r>
              <a:rPr lang="zh-CN" altLang="en-US" dirty="0"/>
              <a:t>模式集的算法：举例</a:t>
            </a:r>
            <a:endParaRPr lang="en-US" altLang="zh-CN" dirty="0"/>
          </a:p>
          <a:p>
            <a:pPr lvl="1"/>
            <a:r>
              <a:rPr lang="zh-CN" altLang="en-US" dirty="0"/>
              <a:t>已知关系模式</a:t>
            </a:r>
            <a:r>
              <a:rPr lang="en-US" altLang="zh-CN" dirty="0"/>
              <a:t>R(CTHRSG),</a:t>
            </a:r>
            <a:r>
              <a:rPr lang="zh-CN" altLang="en-US" dirty="0"/>
              <a:t>其中</a:t>
            </a:r>
            <a:endParaRPr lang="zh-CN" altLang="en-US" dirty="0"/>
          </a:p>
          <a:p>
            <a:pPr lvl="1"/>
            <a:r>
              <a:rPr lang="en-US" altLang="zh-CN" dirty="0"/>
              <a:t>C:</a:t>
            </a:r>
            <a:r>
              <a:rPr lang="zh-CN" altLang="en-US" dirty="0"/>
              <a:t>表示课程     </a:t>
            </a:r>
            <a:r>
              <a:rPr lang="en-US" altLang="zh-CN" dirty="0"/>
              <a:t>T:</a:t>
            </a:r>
            <a:r>
              <a:rPr lang="zh-CN" altLang="en-US" dirty="0"/>
              <a:t>表示教师   </a:t>
            </a:r>
            <a:r>
              <a:rPr lang="en-US" altLang="zh-CN" dirty="0"/>
              <a:t>H:</a:t>
            </a:r>
            <a:r>
              <a:rPr lang="zh-CN" altLang="en-US" dirty="0"/>
              <a:t>表示时间</a:t>
            </a:r>
            <a:endParaRPr lang="zh-CN" altLang="en-US" dirty="0"/>
          </a:p>
          <a:p>
            <a:pPr lvl="1"/>
            <a:r>
              <a:rPr lang="en-US" altLang="zh-CN" dirty="0"/>
              <a:t>R:</a:t>
            </a:r>
            <a:r>
              <a:rPr lang="zh-CN" altLang="en-US" dirty="0"/>
              <a:t>表示教室     </a:t>
            </a:r>
            <a:r>
              <a:rPr lang="en-US" altLang="zh-CN" dirty="0"/>
              <a:t>S:</a:t>
            </a:r>
            <a:r>
              <a:rPr lang="zh-CN" altLang="en-US" dirty="0"/>
              <a:t>表示学生   </a:t>
            </a:r>
            <a:r>
              <a:rPr lang="en-US" altLang="zh-CN" dirty="0"/>
              <a:t>G:</a:t>
            </a:r>
            <a:r>
              <a:rPr lang="zh-CN" altLang="en-US" dirty="0"/>
              <a:t>表示成绩</a:t>
            </a:r>
            <a:endParaRPr lang="zh-CN" altLang="en-US" dirty="0"/>
          </a:p>
          <a:p>
            <a:pPr lvl="1"/>
            <a:r>
              <a:rPr lang="en-US" altLang="zh-CN" dirty="0"/>
              <a:t>C </a:t>
            </a:r>
            <a:r>
              <a:rPr lang="en-US" altLang="zh-CN" dirty="0">
                <a:sym typeface="Symbol" panose="05050102010706020507" pitchFamily="18" charset="2"/>
              </a:rPr>
              <a:t>T:</a:t>
            </a:r>
            <a:r>
              <a:rPr lang="zh-CN" altLang="en-US" dirty="0">
                <a:sym typeface="Symbol" panose="05050102010706020507" pitchFamily="18" charset="2"/>
              </a:rPr>
              <a:t>每门课程仅有一名教师讲授</a:t>
            </a:r>
            <a:endParaRPr lang="zh-CN" altLang="en-US" dirty="0">
              <a:sym typeface="Symbol" panose="05050102010706020507" pitchFamily="18" charset="2"/>
            </a:endParaRPr>
          </a:p>
          <a:p>
            <a:pPr lvl="1"/>
            <a:r>
              <a:rPr lang="en-US" altLang="zh-CN" dirty="0">
                <a:sym typeface="Symbol" panose="05050102010706020507" pitchFamily="18" charset="2"/>
              </a:rPr>
              <a:t>HR C:</a:t>
            </a:r>
            <a:r>
              <a:rPr lang="zh-CN" altLang="en-US" dirty="0">
                <a:sym typeface="Symbol" panose="05050102010706020507" pitchFamily="18" charset="2"/>
              </a:rPr>
              <a:t>在任一时间，每个教室只能上一门课程</a:t>
            </a:r>
            <a:endParaRPr lang="zh-CN" altLang="en-US" dirty="0">
              <a:sym typeface="Symbol" panose="05050102010706020507" pitchFamily="18" charset="2"/>
            </a:endParaRPr>
          </a:p>
          <a:p>
            <a:pPr lvl="1"/>
            <a:r>
              <a:rPr lang="en-US" altLang="zh-CN" dirty="0">
                <a:sym typeface="Symbol" panose="05050102010706020507" pitchFamily="18" charset="2"/>
              </a:rPr>
              <a:t>HT R:</a:t>
            </a:r>
            <a:r>
              <a:rPr lang="zh-CN" altLang="en-US" dirty="0">
                <a:sym typeface="Symbol" panose="05050102010706020507" pitchFamily="18" charset="2"/>
              </a:rPr>
              <a:t>在一个时间，一个教师只能在一个教室上课</a:t>
            </a:r>
            <a:endParaRPr lang="zh-CN" altLang="en-US" dirty="0">
              <a:sym typeface="Symbol" panose="05050102010706020507" pitchFamily="18" charset="2"/>
            </a:endParaRPr>
          </a:p>
          <a:p>
            <a:pPr lvl="1"/>
            <a:r>
              <a:rPr lang="en-US" altLang="zh-CN" dirty="0"/>
              <a:t>CS </a:t>
            </a:r>
            <a:r>
              <a:rPr lang="en-US" altLang="zh-CN" dirty="0">
                <a:sym typeface="Symbol" panose="05050102010706020507" pitchFamily="18" charset="2"/>
              </a:rPr>
              <a:t>G:</a:t>
            </a:r>
            <a:r>
              <a:rPr lang="zh-CN" altLang="en-US" dirty="0">
                <a:sym typeface="Symbol" panose="05050102010706020507" pitchFamily="18" charset="2"/>
              </a:rPr>
              <a:t>每个学生的每门课程只有一个成绩</a:t>
            </a:r>
            <a:endParaRPr lang="zh-CN" altLang="en-US" dirty="0">
              <a:sym typeface="Symbol" panose="05050102010706020507" pitchFamily="18" charset="2"/>
            </a:endParaRPr>
          </a:p>
          <a:p>
            <a:pPr lvl="1"/>
            <a:r>
              <a:rPr lang="en-US" altLang="zh-CN" dirty="0"/>
              <a:t>HS </a:t>
            </a:r>
            <a:r>
              <a:rPr lang="en-US" altLang="zh-CN" dirty="0">
                <a:sym typeface="Symbol" panose="05050102010706020507" pitchFamily="18" charset="2"/>
              </a:rPr>
              <a:t>R:</a:t>
            </a:r>
            <a:r>
              <a:rPr lang="zh-CN" altLang="en-US" dirty="0">
                <a:sym typeface="Symbol" panose="05050102010706020507" pitchFamily="18" charset="2"/>
              </a:rPr>
              <a:t>在一个时间，每个学生只能在一个教室内听课</a:t>
            </a:r>
            <a:endParaRPr lang="zh-CN" altLang="en-US" dirty="0"/>
          </a:p>
          <a:p>
            <a:pPr marL="0" indent="0">
              <a:buNone/>
            </a:pP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7" name="Text Box 4"/>
          <p:cNvSpPr txBox="1">
            <a:spLocks noChangeArrowheads="1"/>
          </p:cNvSpPr>
          <p:nvPr/>
        </p:nvSpPr>
        <p:spPr bwMode="auto">
          <a:xfrm>
            <a:off x="7154863" y="2576751"/>
            <a:ext cx="1233487" cy="466725"/>
          </a:xfrm>
          <a:prstGeom prst="rect">
            <a:avLst/>
          </a:prstGeom>
          <a:solidFill>
            <a:srgbClr val="FFFF00"/>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400" dirty="0">
                <a:latin typeface="微软雅黑" panose="020B0503020204020204" pitchFamily="34" charset="-122"/>
                <a:ea typeface="微软雅黑" panose="020B0503020204020204" pitchFamily="34" charset="-122"/>
              </a:rPr>
              <a:t>键为</a:t>
            </a:r>
            <a:r>
              <a:rPr kumimoji="1" lang="en-US" altLang="zh-CN" sz="2400" dirty="0">
                <a:latin typeface="微软雅黑" panose="020B0503020204020204" pitchFamily="34" charset="-122"/>
                <a:ea typeface="微软雅黑" panose="020B0503020204020204" pitchFamily="34" charset="-122"/>
              </a:rPr>
              <a:t>HS</a:t>
            </a:r>
            <a:endParaRPr kumimoji="1"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lnSpcReduction="10000"/>
          </a:bodyPr>
          <a:lstStyle/>
          <a:p>
            <a:r>
              <a:rPr lang="zh-CN" altLang="en-US" dirty="0"/>
              <a:t>分解成</a:t>
            </a:r>
            <a:r>
              <a:rPr lang="en-US" altLang="zh-CN" dirty="0"/>
              <a:t>BC</a:t>
            </a:r>
            <a:r>
              <a:rPr lang="en-GB" altLang="zh-CN" dirty="0"/>
              <a:t>NF</a:t>
            </a:r>
            <a:r>
              <a:rPr lang="zh-CN" altLang="en-US" dirty="0"/>
              <a:t>模式集的算法：举例</a:t>
            </a:r>
            <a:endParaRPr lang="en-US" altLang="zh-CN" dirty="0"/>
          </a:p>
          <a:p>
            <a:pPr lvl="1"/>
            <a:r>
              <a:rPr lang="en-US" altLang="zh-CN" sz="2200" dirty="0"/>
              <a:t>CTHRSG</a:t>
            </a:r>
            <a:r>
              <a:rPr lang="zh-CN" altLang="en-US" sz="2200" dirty="0"/>
              <a:t>经过三次分解，分解为</a:t>
            </a:r>
            <a:r>
              <a:rPr lang="en-US" altLang="zh-CN" sz="2200" dirty="0"/>
              <a:t>CSG,CT,CHR,CHS</a:t>
            </a:r>
            <a:r>
              <a:rPr lang="zh-CN" altLang="en-US" sz="2200" dirty="0"/>
              <a:t>模式。这四个关系模式分别描述了：</a:t>
            </a:r>
            <a:endParaRPr lang="zh-CN" altLang="en-US" sz="2200" dirty="0"/>
          </a:p>
          <a:p>
            <a:pPr lvl="2"/>
            <a:r>
              <a:rPr lang="en-US" altLang="zh-CN" sz="2200" dirty="0"/>
              <a:t>CSG:</a:t>
            </a:r>
            <a:r>
              <a:rPr lang="zh-CN" altLang="en-US" sz="2200" dirty="0"/>
              <a:t>学生的各门课程成绩</a:t>
            </a:r>
            <a:endParaRPr lang="zh-CN" altLang="en-US" sz="2200" dirty="0"/>
          </a:p>
          <a:p>
            <a:pPr lvl="2"/>
            <a:r>
              <a:rPr lang="en-US" altLang="zh-CN" sz="2200" dirty="0"/>
              <a:t>CT:</a:t>
            </a:r>
            <a:r>
              <a:rPr lang="zh-CN" altLang="en-US" sz="2200" dirty="0"/>
              <a:t>各门课的任课教师</a:t>
            </a:r>
            <a:endParaRPr lang="zh-CN" altLang="en-US" sz="2200" dirty="0"/>
          </a:p>
          <a:p>
            <a:pPr lvl="2"/>
            <a:r>
              <a:rPr lang="en-US" altLang="zh-CN" sz="2200" dirty="0"/>
              <a:t>CHR:</a:t>
            </a:r>
            <a:r>
              <a:rPr lang="zh-CN" altLang="en-US" sz="2200" dirty="0"/>
              <a:t>每门课程的上课时间和每个时间的上课教室</a:t>
            </a:r>
            <a:endParaRPr lang="zh-CN" altLang="en-US" sz="2200" dirty="0"/>
          </a:p>
          <a:p>
            <a:pPr lvl="2"/>
            <a:r>
              <a:rPr lang="en-US" altLang="zh-CN" sz="2200" dirty="0"/>
              <a:t>CHS:</a:t>
            </a:r>
            <a:r>
              <a:rPr lang="zh-CN" altLang="en-US" sz="2200" dirty="0"/>
              <a:t>每个学生的上课时间表</a:t>
            </a:r>
            <a:endParaRPr lang="zh-CN" altLang="en-US" sz="2200" dirty="0"/>
          </a:p>
          <a:p>
            <a:pPr lvl="1"/>
            <a:r>
              <a:rPr lang="zh-CN" altLang="en-US" sz="2200" dirty="0"/>
              <a:t>这些模式都是</a:t>
            </a:r>
            <a:r>
              <a:rPr lang="en-US" altLang="zh-CN" sz="2200" dirty="0"/>
              <a:t>BCNF</a:t>
            </a:r>
            <a:r>
              <a:rPr lang="zh-CN" altLang="en-US" sz="2200" dirty="0"/>
              <a:t>，而且这些分解是无损分解。</a:t>
            </a:r>
            <a:endParaRPr lang="zh-CN" altLang="en-US" sz="2200" dirty="0"/>
          </a:p>
          <a:p>
            <a:pPr lvl="1"/>
            <a:r>
              <a:rPr lang="zh-CN" altLang="en-US" sz="2200" dirty="0"/>
              <a:t>但是保持函数依赖吗？</a:t>
            </a:r>
            <a:endParaRPr lang="en-US" altLang="zh-CN" sz="2200" dirty="0"/>
          </a:p>
          <a:p>
            <a:pPr lvl="1"/>
            <a:endParaRPr lang="en-US" altLang="zh-CN" sz="2200" dirty="0"/>
          </a:p>
          <a:p>
            <a:pPr lvl="1"/>
            <a:r>
              <a:rPr lang="zh-CN" altLang="en-US" sz="2200" dirty="0">
                <a:solidFill>
                  <a:srgbClr val="C00000"/>
                </a:solidFill>
              </a:rPr>
              <a:t>分解成</a:t>
            </a:r>
            <a:r>
              <a:rPr lang="en-US" altLang="zh-CN" sz="2200" dirty="0">
                <a:solidFill>
                  <a:srgbClr val="C00000"/>
                </a:solidFill>
              </a:rPr>
              <a:t>BCNF</a:t>
            </a:r>
            <a:r>
              <a:rPr lang="zh-CN" altLang="en-US" sz="2200" dirty="0">
                <a:solidFill>
                  <a:srgbClr val="C00000"/>
                </a:solidFill>
              </a:rPr>
              <a:t>模式集的算法的缺点是涉及</a:t>
            </a:r>
            <a:r>
              <a:rPr lang="en-US" altLang="zh-CN" sz="2200" dirty="0">
                <a:solidFill>
                  <a:srgbClr val="C00000"/>
                </a:solidFill>
              </a:rPr>
              <a:t>F+</a:t>
            </a:r>
            <a:r>
              <a:rPr lang="zh-CN" altLang="en-US" sz="2200" dirty="0">
                <a:solidFill>
                  <a:srgbClr val="C00000"/>
                </a:solidFill>
              </a:rPr>
              <a:t>的计算，这一计算的复杂性是指数型的</a:t>
            </a:r>
            <a:r>
              <a:rPr lang="en-US" altLang="zh-CN" sz="2200" dirty="0">
                <a:solidFill>
                  <a:srgbClr val="C00000"/>
                </a:solidFill>
              </a:rPr>
              <a:t>,</a:t>
            </a:r>
            <a:r>
              <a:rPr lang="zh-CN" altLang="en-US" sz="2200" dirty="0">
                <a:solidFill>
                  <a:srgbClr val="C00000"/>
                </a:solidFill>
              </a:rPr>
              <a:t>有人证明判断一个关系模式是否属性</a:t>
            </a:r>
            <a:r>
              <a:rPr lang="en-US" altLang="zh-CN" sz="2200" dirty="0">
                <a:solidFill>
                  <a:srgbClr val="C00000"/>
                </a:solidFill>
              </a:rPr>
              <a:t>BCNF</a:t>
            </a:r>
            <a:r>
              <a:rPr lang="zh-CN" altLang="en-US" sz="2200" dirty="0">
                <a:solidFill>
                  <a:srgbClr val="C00000"/>
                </a:solidFill>
              </a:rPr>
              <a:t>是一个</a:t>
            </a:r>
            <a:r>
              <a:rPr lang="en-US" altLang="zh-CN" sz="2200" dirty="0">
                <a:solidFill>
                  <a:srgbClr val="C00000"/>
                </a:solidFill>
              </a:rPr>
              <a:t>NP</a:t>
            </a:r>
            <a:r>
              <a:rPr lang="zh-CN" altLang="en-US" sz="2200" dirty="0">
                <a:solidFill>
                  <a:srgbClr val="C00000"/>
                </a:solidFill>
              </a:rPr>
              <a:t>完全问题</a:t>
            </a:r>
            <a:endParaRPr lang="zh-CN" altLang="en-US" sz="2200" dirty="0">
              <a:solidFill>
                <a:srgbClr val="C00000"/>
              </a:solidFill>
            </a:endParaRPr>
          </a:p>
          <a:p>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7" name="Text Box 4"/>
          <p:cNvSpPr txBox="1">
            <a:spLocks noChangeArrowheads="1"/>
          </p:cNvSpPr>
          <p:nvPr/>
        </p:nvSpPr>
        <p:spPr bwMode="auto">
          <a:xfrm>
            <a:off x="7225201" y="2225059"/>
            <a:ext cx="1233487" cy="466725"/>
          </a:xfrm>
          <a:prstGeom prst="rect">
            <a:avLst/>
          </a:prstGeom>
          <a:solidFill>
            <a:srgbClr val="FFFF00"/>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400" dirty="0">
                <a:latin typeface="微软雅黑" panose="020B0503020204020204" pitchFamily="34" charset="-122"/>
                <a:ea typeface="微软雅黑" panose="020B0503020204020204" pitchFamily="34" charset="-122"/>
              </a:rPr>
              <a:t>键为</a:t>
            </a:r>
            <a:r>
              <a:rPr kumimoji="1" lang="en-US" altLang="zh-CN" sz="2400" dirty="0">
                <a:latin typeface="微软雅黑" panose="020B0503020204020204" pitchFamily="34" charset="-122"/>
                <a:ea typeface="微软雅黑" panose="020B0503020204020204" pitchFamily="34" charset="-122"/>
              </a:rPr>
              <a:t>HS</a:t>
            </a:r>
            <a:endParaRPr kumimoji="1"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分解树</a:t>
            </a: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8" name="Oval 2"/>
          <p:cNvSpPr>
            <a:spLocks noChangeArrowheads="1"/>
          </p:cNvSpPr>
          <p:nvPr/>
        </p:nvSpPr>
        <p:spPr bwMode="auto">
          <a:xfrm>
            <a:off x="2377440" y="1039815"/>
            <a:ext cx="2438400" cy="1447800"/>
          </a:xfrm>
          <a:prstGeom prst="ellipse">
            <a:avLst/>
          </a:prstGeom>
          <a:solidFill>
            <a:schemeClr val="bg1"/>
          </a:solidFill>
          <a:ln w="9525">
            <a:solidFill>
              <a:schemeClr val="tx1"/>
            </a:solidFill>
            <a:miter lim="800000"/>
          </a:ln>
          <a:effec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1800" dirty="0">
                <a:solidFill>
                  <a:schemeClr val="folHlink"/>
                </a:solidFill>
                <a:latin typeface="微软雅黑" panose="020B0503020204020204" pitchFamily="34" charset="-122"/>
                <a:ea typeface="微软雅黑" panose="020B0503020204020204" pitchFamily="34" charset="-122"/>
              </a:rPr>
              <a:t>CTHRSG</a:t>
            </a:r>
            <a:endParaRPr kumimoji="1" lang="en-US" altLang="zh-CN" sz="1800" dirty="0">
              <a:solidFill>
                <a:schemeClr val="folHlink"/>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en-US" altLang="zh-CN" sz="1800" dirty="0">
                <a:solidFill>
                  <a:schemeClr val="folHlink"/>
                </a:solidFill>
                <a:latin typeface="微软雅黑" panose="020B0503020204020204" pitchFamily="34" charset="-122"/>
                <a:ea typeface="微软雅黑" panose="020B0503020204020204" pitchFamily="34" charset="-122"/>
              </a:rPr>
              <a:t>Key</a:t>
            </a:r>
            <a:r>
              <a:rPr kumimoji="1" lang="zh-CN" altLang="en-US" sz="1800" dirty="0">
                <a:solidFill>
                  <a:schemeClr val="folHlink"/>
                </a:solidFill>
                <a:latin typeface="微软雅黑" panose="020B0503020204020204" pitchFamily="34" charset="-122"/>
                <a:ea typeface="微软雅黑" panose="020B0503020204020204" pitchFamily="34" charset="-122"/>
              </a:rPr>
              <a:t>＝</a:t>
            </a:r>
            <a:r>
              <a:rPr kumimoji="1" lang="en-US" altLang="zh-CN" sz="1800" dirty="0">
                <a:solidFill>
                  <a:schemeClr val="folHlink"/>
                </a:solidFill>
                <a:latin typeface="微软雅黑" panose="020B0503020204020204" pitchFamily="34" charset="-122"/>
                <a:ea typeface="微软雅黑" panose="020B0503020204020204" pitchFamily="34" charset="-122"/>
              </a:rPr>
              <a:t>HS</a:t>
            </a:r>
            <a:endParaRPr kumimoji="1" lang="en-US" altLang="zh-CN" sz="1800" dirty="0">
              <a:solidFill>
                <a:schemeClr val="folHlink"/>
              </a:solidFill>
              <a:latin typeface="微软雅黑" panose="020B0503020204020204" pitchFamily="34" charset="-122"/>
              <a:ea typeface="微软雅黑" panose="020B0503020204020204" pitchFamily="34" charset="-122"/>
            </a:endParaRPr>
          </a:p>
          <a:p>
            <a:pPr algn="ctr" eaLnBrk="1" hangingPunct="1">
              <a:spcBef>
                <a:spcPct val="0"/>
              </a:spcBef>
              <a:buFontTx/>
              <a:buNone/>
            </a:pPr>
            <a:r>
              <a:rPr kumimoji="1" lang="en-US" altLang="zh-CN" sz="1800" dirty="0">
                <a:solidFill>
                  <a:schemeClr val="folHlink"/>
                </a:solidFill>
                <a:latin typeface="微软雅黑" panose="020B0503020204020204" pitchFamily="34" charset="-122"/>
                <a:ea typeface="微软雅黑" panose="020B0503020204020204" pitchFamily="34" charset="-122"/>
              </a:rPr>
              <a:t>C </a:t>
            </a:r>
            <a:r>
              <a:rPr kumimoji="1" lang="en-US" altLang="zh-CN" sz="1800" dirty="0">
                <a:solidFill>
                  <a:schemeClr val="folHlink"/>
                </a:solidFill>
                <a:latin typeface="微软雅黑" panose="020B0503020204020204" pitchFamily="34" charset="-122"/>
                <a:ea typeface="微软雅黑" panose="020B0503020204020204" pitchFamily="34" charset="-122"/>
                <a:sym typeface="Symbol" panose="05050102010706020507" pitchFamily="18" charset="2"/>
              </a:rPr>
              <a:t>T, </a:t>
            </a:r>
            <a:r>
              <a:rPr kumimoji="1" lang="en-US" altLang="zh-CN" sz="1800" dirty="0">
                <a:solidFill>
                  <a:schemeClr val="hlink"/>
                </a:solidFill>
                <a:latin typeface="微软雅黑" panose="020B0503020204020204" pitchFamily="34" charset="-122"/>
                <a:ea typeface="微软雅黑" panose="020B0503020204020204" pitchFamily="34" charset="-122"/>
              </a:rPr>
              <a:t>CS</a:t>
            </a:r>
            <a:r>
              <a:rPr kumimoji="1" lang="en-US" altLang="zh-CN" sz="1800" dirty="0">
                <a:solidFill>
                  <a:schemeClr val="hlink"/>
                </a:solidFill>
                <a:latin typeface="微软雅黑" panose="020B0503020204020204" pitchFamily="34" charset="-122"/>
                <a:ea typeface="微软雅黑" panose="020B0503020204020204" pitchFamily="34" charset="-122"/>
                <a:sym typeface="Symbol" panose="05050102010706020507" pitchFamily="18" charset="2"/>
              </a:rPr>
              <a:t>G</a:t>
            </a:r>
            <a:r>
              <a:rPr kumimoji="1" lang="en-US" altLang="zh-CN" sz="1800" dirty="0">
                <a:solidFill>
                  <a:schemeClr val="folHlink"/>
                </a:solidFill>
                <a:latin typeface="微软雅黑" panose="020B0503020204020204" pitchFamily="34" charset="-122"/>
                <a:ea typeface="微软雅黑" panose="020B0503020204020204" pitchFamily="34" charset="-122"/>
                <a:sym typeface="Symbol" panose="05050102010706020507" pitchFamily="18" charset="2"/>
              </a:rPr>
              <a:t>,</a:t>
            </a:r>
            <a:endParaRPr kumimoji="1" lang="en-US" altLang="zh-CN" sz="1800" dirty="0">
              <a:solidFill>
                <a:schemeClr val="folHlink"/>
              </a:solidFill>
              <a:latin typeface="微软雅黑" panose="020B0503020204020204" pitchFamily="34" charset="-122"/>
              <a:ea typeface="微软雅黑" panose="020B0503020204020204" pitchFamily="34" charset="-122"/>
              <a:sym typeface="Symbol" panose="05050102010706020507" pitchFamily="18" charset="2"/>
            </a:endParaRPr>
          </a:p>
          <a:p>
            <a:pPr algn="ctr" eaLnBrk="1" hangingPunct="1">
              <a:spcBef>
                <a:spcPct val="0"/>
              </a:spcBef>
              <a:buFontTx/>
              <a:buNone/>
            </a:pPr>
            <a:r>
              <a:rPr kumimoji="1" lang="en-US" altLang="zh-CN" sz="1800" dirty="0">
                <a:solidFill>
                  <a:schemeClr val="folHlink"/>
                </a:solidFill>
                <a:latin typeface="微软雅黑" panose="020B0503020204020204" pitchFamily="34" charset="-122"/>
                <a:ea typeface="微软雅黑" panose="020B0503020204020204" pitchFamily="34" charset="-122"/>
              </a:rPr>
              <a:t> HR </a:t>
            </a:r>
            <a:r>
              <a:rPr kumimoji="1" lang="en-US" altLang="zh-CN" sz="1800" dirty="0">
                <a:solidFill>
                  <a:schemeClr val="folHlink"/>
                </a:solidFill>
                <a:latin typeface="微软雅黑" panose="020B0503020204020204" pitchFamily="34" charset="-122"/>
                <a:ea typeface="微软雅黑" panose="020B0503020204020204" pitchFamily="34" charset="-122"/>
                <a:sym typeface="Symbol" panose="05050102010706020507" pitchFamily="18" charset="2"/>
              </a:rPr>
              <a:t>C,</a:t>
            </a:r>
            <a:r>
              <a:rPr kumimoji="1" lang="en-US" altLang="zh-CN" sz="1800" dirty="0">
                <a:solidFill>
                  <a:schemeClr val="folHlink"/>
                </a:solidFill>
                <a:latin typeface="微软雅黑" panose="020B0503020204020204" pitchFamily="34" charset="-122"/>
                <a:ea typeface="微软雅黑" panose="020B0503020204020204" pitchFamily="34" charset="-122"/>
              </a:rPr>
              <a:t>HS</a:t>
            </a:r>
            <a:r>
              <a:rPr kumimoji="1" lang="en-US" altLang="zh-CN" sz="1800" dirty="0">
                <a:solidFill>
                  <a:schemeClr val="folHlink"/>
                </a:solidFill>
                <a:latin typeface="微软雅黑" panose="020B0503020204020204" pitchFamily="34" charset="-122"/>
                <a:ea typeface="微软雅黑" panose="020B0503020204020204" pitchFamily="34" charset="-122"/>
                <a:sym typeface="Symbol" panose="05050102010706020507" pitchFamily="18" charset="2"/>
              </a:rPr>
              <a:t>R,</a:t>
            </a:r>
            <a:endParaRPr kumimoji="1" lang="en-US" altLang="zh-CN" sz="1800" dirty="0">
              <a:solidFill>
                <a:schemeClr val="folHlink"/>
              </a:solidFill>
              <a:latin typeface="微软雅黑" panose="020B0503020204020204" pitchFamily="34" charset="-122"/>
              <a:ea typeface="微软雅黑" panose="020B0503020204020204" pitchFamily="34" charset="-122"/>
              <a:sym typeface="Symbol" panose="05050102010706020507" pitchFamily="18" charset="2"/>
            </a:endParaRPr>
          </a:p>
          <a:p>
            <a:pPr algn="ctr" eaLnBrk="1" hangingPunct="1">
              <a:spcBef>
                <a:spcPct val="0"/>
              </a:spcBef>
              <a:buFontTx/>
              <a:buNone/>
            </a:pPr>
            <a:r>
              <a:rPr kumimoji="1" lang="en-US" altLang="zh-CN" sz="1800" dirty="0">
                <a:solidFill>
                  <a:schemeClr val="folHlink"/>
                </a:solidFill>
                <a:latin typeface="微软雅黑" panose="020B0503020204020204" pitchFamily="34" charset="-122"/>
                <a:ea typeface="微软雅黑" panose="020B0503020204020204" pitchFamily="34" charset="-122"/>
                <a:sym typeface="Symbol" panose="05050102010706020507" pitchFamily="18" charset="2"/>
              </a:rPr>
              <a:t> </a:t>
            </a:r>
            <a:r>
              <a:rPr kumimoji="1" lang="en-US" altLang="zh-CN" sz="1800" dirty="0">
                <a:solidFill>
                  <a:schemeClr val="folHlink"/>
                </a:solidFill>
                <a:latin typeface="微软雅黑" panose="020B0503020204020204" pitchFamily="34" charset="-122"/>
                <a:ea typeface="微软雅黑" panose="020B0503020204020204" pitchFamily="34" charset="-122"/>
              </a:rPr>
              <a:t>HT</a:t>
            </a:r>
            <a:r>
              <a:rPr kumimoji="1" lang="en-US" altLang="zh-CN" sz="1800" dirty="0">
                <a:solidFill>
                  <a:schemeClr val="folHlink"/>
                </a:solidFill>
                <a:latin typeface="微软雅黑" panose="020B0503020204020204" pitchFamily="34" charset="-122"/>
                <a:ea typeface="微软雅黑" panose="020B0503020204020204" pitchFamily="34" charset="-122"/>
                <a:sym typeface="Symbol" panose="05050102010706020507" pitchFamily="18" charset="2"/>
              </a:rPr>
              <a:t>R</a:t>
            </a:r>
            <a:endParaRPr kumimoji="1" lang="en-US" altLang="zh-CN" sz="1800" dirty="0">
              <a:solidFill>
                <a:schemeClr val="folHlink"/>
              </a:solidFill>
              <a:latin typeface="微软雅黑" panose="020B0503020204020204" pitchFamily="34" charset="-122"/>
              <a:ea typeface="微软雅黑" panose="020B0503020204020204" pitchFamily="34" charset="-122"/>
              <a:sym typeface="Symbol" panose="05050102010706020507" pitchFamily="18" charset="2"/>
            </a:endParaRPr>
          </a:p>
        </p:txBody>
      </p:sp>
      <p:grpSp>
        <p:nvGrpSpPr>
          <p:cNvPr id="9" name="Group 3"/>
          <p:cNvGrpSpPr/>
          <p:nvPr/>
        </p:nvGrpSpPr>
        <p:grpSpPr bwMode="auto">
          <a:xfrm>
            <a:off x="2377440" y="1668195"/>
            <a:ext cx="5715001" cy="2819400"/>
            <a:chOff x="0" y="528"/>
            <a:chExt cx="3600" cy="1776"/>
          </a:xfrm>
          <a:solidFill>
            <a:schemeClr val="bg1"/>
          </a:solidFill>
        </p:grpSpPr>
        <p:grpSp>
          <p:nvGrpSpPr>
            <p:cNvPr id="10" name="Group 4"/>
            <p:cNvGrpSpPr/>
            <p:nvPr/>
          </p:nvGrpSpPr>
          <p:grpSpPr bwMode="auto">
            <a:xfrm>
              <a:off x="0" y="528"/>
              <a:ext cx="3600" cy="1776"/>
              <a:chOff x="0" y="528"/>
              <a:chExt cx="3600" cy="1776"/>
            </a:xfrm>
            <a:grpFill/>
          </p:grpSpPr>
          <p:sp>
            <p:nvSpPr>
              <p:cNvPr id="13" name="Oval 5"/>
              <p:cNvSpPr>
                <a:spLocks noChangeArrowheads="1"/>
              </p:cNvSpPr>
              <p:nvPr/>
            </p:nvSpPr>
            <p:spPr bwMode="auto">
              <a:xfrm>
                <a:off x="2064" y="528"/>
                <a:ext cx="1536" cy="912"/>
              </a:xfrm>
              <a:prstGeom prst="ellipse">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1800" dirty="0">
                    <a:solidFill>
                      <a:schemeClr val="folHlink"/>
                    </a:solidFill>
                    <a:latin typeface="Tahoma" panose="020B0604030504040204" pitchFamily="34" charset="0"/>
                  </a:rPr>
                  <a:t>CTHRS</a:t>
                </a:r>
                <a:endParaRPr kumimoji="1" lang="en-US" altLang="zh-CN" sz="1800" dirty="0">
                  <a:solidFill>
                    <a:schemeClr val="folHlink"/>
                  </a:solidFill>
                  <a:latin typeface="Tahoma" panose="020B0604030504040204" pitchFamily="34" charset="0"/>
                </a:endParaRPr>
              </a:p>
              <a:p>
                <a:pPr algn="ctr" eaLnBrk="1" hangingPunct="1">
                  <a:spcBef>
                    <a:spcPct val="0"/>
                  </a:spcBef>
                  <a:buFontTx/>
                  <a:buNone/>
                </a:pPr>
                <a:r>
                  <a:rPr kumimoji="1" lang="en-US" altLang="zh-CN" sz="1800" dirty="0">
                    <a:solidFill>
                      <a:schemeClr val="folHlink"/>
                    </a:solidFill>
                    <a:latin typeface="Tahoma" panose="020B0604030504040204" pitchFamily="34" charset="0"/>
                  </a:rPr>
                  <a:t>Key</a:t>
                </a:r>
                <a:r>
                  <a:rPr kumimoji="1" lang="zh-CN" altLang="en-US" sz="1800" dirty="0">
                    <a:solidFill>
                      <a:schemeClr val="folHlink"/>
                    </a:solidFill>
                    <a:latin typeface="Tahoma" panose="020B0604030504040204" pitchFamily="34" charset="0"/>
                  </a:rPr>
                  <a:t>＝</a:t>
                </a:r>
                <a:r>
                  <a:rPr kumimoji="1" lang="en-US" altLang="zh-CN" sz="1800" dirty="0">
                    <a:solidFill>
                      <a:schemeClr val="folHlink"/>
                    </a:solidFill>
                    <a:latin typeface="Tahoma" panose="020B0604030504040204" pitchFamily="34" charset="0"/>
                  </a:rPr>
                  <a:t>HS</a:t>
                </a:r>
                <a:endParaRPr kumimoji="1" lang="en-US" altLang="zh-CN" sz="1800" dirty="0">
                  <a:solidFill>
                    <a:schemeClr val="folHlink"/>
                  </a:solidFill>
                  <a:latin typeface="Tahoma" panose="020B0604030504040204" pitchFamily="34" charset="0"/>
                </a:endParaRPr>
              </a:p>
              <a:p>
                <a:pPr algn="ctr" eaLnBrk="1" hangingPunct="1">
                  <a:spcBef>
                    <a:spcPct val="0"/>
                  </a:spcBef>
                  <a:buFontTx/>
                  <a:buNone/>
                </a:pPr>
                <a:r>
                  <a:rPr kumimoji="1" lang="en-US" altLang="zh-CN" sz="1800" dirty="0">
                    <a:solidFill>
                      <a:schemeClr val="hlink"/>
                    </a:solidFill>
                    <a:latin typeface="Tahoma" panose="020B0604030504040204" pitchFamily="34" charset="0"/>
                  </a:rPr>
                  <a:t>C </a:t>
                </a:r>
                <a:r>
                  <a:rPr kumimoji="1" lang="en-US" altLang="zh-CN" sz="1800" dirty="0">
                    <a:solidFill>
                      <a:schemeClr val="hlink"/>
                    </a:solidFill>
                    <a:latin typeface="Tahoma" panose="020B0604030504040204" pitchFamily="34" charset="0"/>
                    <a:sym typeface="Symbol" panose="05050102010706020507" pitchFamily="18" charset="2"/>
                  </a:rPr>
                  <a:t>T</a:t>
                </a:r>
                <a:r>
                  <a:rPr kumimoji="1" lang="en-US" altLang="zh-CN" sz="1800" dirty="0">
                    <a:solidFill>
                      <a:schemeClr val="folHlink"/>
                    </a:solidFill>
                    <a:latin typeface="Tahoma" panose="020B0604030504040204" pitchFamily="34" charset="0"/>
                  </a:rPr>
                  <a:t>,HR </a:t>
                </a:r>
                <a:r>
                  <a:rPr kumimoji="1" lang="en-US" altLang="zh-CN" sz="1800" dirty="0">
                    <a:solidFill>
                      <a:schemeClr val="folHlink"/>
                    </a:solidFill>
                    <a:latin typeface="Tahoma" panose="020B0604030504040204" pitchFamily="34" charset="0"/>
                    <a:sym typeface="Symbol" panose="05050102010706020507" pitchFamily="18" charset="2"/>
                  </a:rPr>
                  <a:t>C,</a:t>
                </a:r>
                <a:endParaRPr kumimoji="1" lang="en-US" altLang="zh-CN" sz="1800" dirty="0">
                  <a:solidFill>
                    <a:schemeClr val="folHlink"/>
                  </a:solidFill>
                  <a:latin typeface="Tahoma" panose="020B0604030504040204" pitchFamily="34" charset="0"/>
                  <a:sym typeface="Symbol" panose="05050102010706020507" pitchFamily="18" charset="2"/>
                </a:endParaRPr>
              </a:p>
              <a:p>
                <a:pPr algn="ctr" eaLnBrk="1" hangingPunct="1">
                  <a:spcBef>
                    <a:spcPct val="0"/>
                  </a:spcBef>
                  <a:buFontTx/>
                  <a:buNone/>
                </a:pPr>
                <a:r>
                  <a:rPr kumimoji="1" lang="en-US" altLang="zh-CN" sz="1800" dirty="0">
                    <a:solidFill>
                      <a:schemeClr val="folHlink"/>
                    </a:solidFill>
                    <a:latin typeface="Tahoma" panose="020B0604030504040204" pitchFamily="34" charset="0"/>
                  </a:rPr>
                  <a:t>HS</a:t>
                </a:r>
                <a:r>
                  <a:rPr kumimoji="1" lang="en-US" altLang="zh-CN" sz="1800" dirty="0">
                    <a:solidFill>
                      <a:schemeClr val="folHlink"/>
                    </a:solidFill>
                    <a:latin typeface="Tahoma" panose="020B0604030504040204" pitchFamily="34" charset="0"/>
                    <a:sym typeface="Symbol" panose="05050102010706020507" pitchFamily="18" charset="2"/>
                  </a:rPr>
                  <a:t>R, </a:t>
                </a:r>
                <a:r>
                  <a:rPr kumimoji="1" lang="en-US" altLang="zh-CN" sz="1800" dirty="0">
                    <a:solidFill>
                      <a:schemeClr val="folHlink"/>
                    </a:solidFill>
                    <a:latin typeface="Tahoma" panose="020B0604030504040204" pitchFamily="34" charset="0"/>
                  </a:rPr>
                  <a:t>HT</a:t>
                </a:r>
                <a:r>
                  <a:rPr kumimoji="1" lang="en-US" altLang="zh-CN" sz="1800" dirty="0">
                    <a:solidFill>
                      <a:schemeClr val="folHlink"/>
                    </a:solidFill>
                    <a:latin typeface="Tahoma" panose="020B0604030504040204" pitchFamily="34" charset="0"/>
                    <a:sym typeface="Symbol" panose="05050102010706020507" pitchFamily="18" charset="2"/>
                  </a:rPr>
                  <a:t>R</a:t>
                </a:r>
                <a:endParaRPr kumimoji="1" lang="en-US" altLang="zh-CN" sz="1800" dirty="0">
                  <a:solidFill>
                    <a:schemeClr val="folHlink"/>
                  </a:solidFill>
                  <a:latin typeface="Tahoma" panose="020B0604030504040204" pitchFamily="34" charset="0"/>
                  <a:sym typeface="Symbol" panose="05050102010706020507" pitchFamily="18" charset="2"/>
                </a:endParaRPr>
              </a:p>
            </p:txBody>
          </p:sp>
          <p:sp>
            <p:nvSpPr>
              <p:cNvPr id="14" name="Oval 6"/>
              <p:cNvSpPr>
                <a:spLocks noChangeArrowheads="1"/>
              </p:cNvSpPr>
              <p:nvPr/>
            </p:nvSpPr>
            <p:spPr bwMode="auto">
              <a:xfrm>
                <a:off x="0" y="1392"/>
                <a:ext cx="1536" cy="912"/>
              </a:xfrm>
              <a:prstGeom prst="ellipse">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1800" dirty="0">
                    <a:solidFill>
                      <a:schemeClr val="folHlink"/>
                    </a:solidFill>
                    <a:latin typeface="Tahoma" panose="020B0604030504040204" pitchFamily="34" charset="0"/>
                  </a:rPr>
                  <a:t>CSG</a:t>
                </a:r>
                <a:endParaRPr kumimoji="1" lang="en-US" altLang="zh-CN" sz="1800" dirty="0">
                  <a:solidFill>
                    <a:schemeClr val="folHlink"/>
                  </a:solidFill>
                  <a:latin typeface="Tahoma" panose="020B0604030504040204" pitchFamily="34" charset="0"/>
                </a:endParaRPr>
              </a:p>
              <a:p>
                <a:pPr algn="ctr" eaLnBrk="1" hangingPunct="1">
                  <a:spcBef>
                    <a:spcPct val="0"/>
                  </a:spcBef>
                  <a:buFontTx/>
                  <a:buNone/>
                </a:pPr>
                <a:r>
                  <a:rPr kumimoji="1" lang="en-US" altLang="zh-CN" sz="1800" dirty="0">
                    <a:solidFill>
                      <a:schemeClr val="folHlink"/>
                    </a:solidFill>
                    <a:latin typeface="Tahoma" panose="020B0604030504040204" pitchFamily="34" charset="0"/>
                  </a:rPr>
                  <a:t>Key</a:t>
                </a:r>
                <a:r>
                  <a:rPr kumimoji="1" lang="zh-CN" altLang="en-US" sz="1800" dirty="0">
                    <a:solidFill>
                      <a:schemeClr val="folHlink"/>
                    </a:solidFill>
                    <a:latin typeface="Tahoma" panose="020B0604030504040204" pitchFamily="34" charset="0"/>
                  </a:rPr>
                  <a:t>＝</a:t>
                </a:r>
                <a:r>
                  <a:rPr kumimoji="1" lang="en-US" altLang="zh-CN" sz="1800" dirty="0">
                    <a:solidFill>
                      <a:schemeClr val="folHlink"/>
                    </a:solidFill>
                    <a:latin typeface="Tahoma" panose="020B0604030504040204" pitchFamily="34" charset="0"/>
                  </a:rPr>
                  <a:t>CS</a:t>
                </a:r>
                <a:endParaRPr kumimoji="1" lang="en-US" altLang="zh-CN" sz="1800" dirty="0">
                  <a:solidFill>
                    <a:schemeClr val="folHlink"/>
                  </a:solidFill>
                  <a:latin typeface="Tahoma" panose="020B0604030504040204" pitchFamily="34" charset="0"/>
                </a:endParaRPr>
              </a:p>
              <a:p>
                <a:pPr algn="ctr" eaLnBrk="1" hangingPunct="1">
                  <a:spcBef>
                    <a:spcPct val="0"/>
                  </a:spcBef>
                  <a:buFontTx/>
                  <a:buNone/>
                </a:pPr>
                <a:r>
                  <a:rPr kumimoji="1" lang="en-US" altLang="zh-CN" sz="1800" dirty="0">
                    <a:solidFill>
                      <a:schemeClr val="folHlink"/>
                    </a:solidFill>
                    <a:latin typeface="Tahoma" panose="020B0604030504040204" pitchFamily="34" charset="0"/>
                  </a:rPr>
                  <a:t>CS</a:t>
                </a:r>
                <a:r>
                  <a:rPr kumimoji="1" lang="en-US" altLang="zh-CN" sz="1800" dirty="0">
                    <a:solidFill>
                      <a:schemeClr val="folHlink"/>
                    </a:solidFill>
                    <a:latin typeface="Tahoma" panose="020B0604030504040204" pitchFamily="34" charset="0"/>
                    <a:sym typeface="Symbol" panose="05050102010706020507" pitchFamily="18" charset="2"/>
                  </a:rPr>
                  <a:t>G,</a:t>
                </a:r>
                <a:endParaRPr kumimoji="1" lang="en-US" altLang="zh-CN" sz="1800" dirty="0">
                  <a:solidFill>
                    <a:schemeClr val="folHlink"/>
                  </a:solidFill>
                  <a:latin typeface="Tahoma" panose="020B0604030504040204" pitchFamily="34" charset="0"/>
                  <a:sym typeface="Symbol" panose="05050102010706020507" pitchFamily="18" charset="2"/>
                </a:endParaRPr>
              </a:p>
              <a:p>
                <a:pPr algn="ctr" eaLnBrk="1" hangingPunct="1">
                  <a:spcBef>
                    <a:spcPct val="0"/>
                  </a:spcBef>
                  <a:buFontTx/>
                  <a:buNone/>
                </a:pPr>
                <a:endParaRPr kumimoji="1" lang="zh-CN" altLang="en-US" sz="2000" dirty="0">
                  <a:solidFill>
                    <a:schemeClr val="folHlink"/>
                  </a:solidFill>
                  <a:latin typeface="Tahoma" panose="020B0604030504040204" pitchFamily="34" charset="0"/>
                  <a:sym typeface="Symbol" panose="05050102010706020507" pitchFamily="18" charset="2"/>
                </a:endParaRPr>
              </a:p>
            </p:txBody>
          </p:sp>
        </p:grpSp>
        <p:sp>
          <p:nvSpPr>
            <p:cNvPr id="11" name="Line 7"/>
            <p:cNvSpPr>
              <a:spLocks noChangeShapeType="1"/>
            </p:cNvSpPr>
            <p:nvPr/>
          </p:nvSpPr>
          <p:spPr bwMode="auto">
            <a:xfrm flipH="1">
              <a:off x="672" y="1044"/>
              <a:ext cx="118" cy="348"/>
            </a:xfrm>
            <a:prstGeom prst="line">
              <a:avLst/>
            </a:prstGeom>
            <a:grpFill/>
            <a:ln w="9525">
              <a:solidFill>
                <a:schemeClr val="tx1"/>
              </a:solidFill>
              <a:miter lim="800000"/>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8"/>
            <p:cNvSpPr>
              <a:spLocks noChangeShapeType="1"/>
            </p:cNvSpPr>
            <p:nvPr/>
          </p:nvSpPr>
          <p:spPr bwMode="auto">
            <a:xfrm>
              <a:off x="1536" y="624"/>
              <a:ext cx="720" cy="96"/>
            </a:xfrm>
            <a:prstGeom prst="line">
              <a:avLst/>
            </a:prstGeom>
            <a:grpFill/>
            <a:ln w="9525">
              <a:solidFill>
                <a:schemeClr val="tx1"/>
              </a:solidFill>
              <a:miter lim="800000"/>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 name="Group 9"/>
          <p:cNvGrpSpPr/>
          <p:nvPr/>
        </p:nvGrpSpPr>
        <p:grpSpPr bwMode="auto">
          <a:xfrm>
            <a:off x="3825240" y="2887395"/>
            <a:ext cx="6705600" cy="3124200"/>
            <a:chOff x="912" y="1296"/>
            <a:chExt cx="4224" cy="1968"/>
          </a:xfrm>
          <a:solidFill>
            <a:schemeClr val="bg1"/>
          </a:solidFill>
        </p:grpSpPr>
        <p:sp>
          <p:nvSpPr>
            <p:cNvPr id="16" name="Oval 10"/>
            <p:cNvSpPr>
              <a:spLocks noChangeArrowheads="1"/>
            </p:cNvSpPr>
            <p:nvPr/>
          </p:nvSpPr>
          <p:spPr bwMode="auto">
            <a:xfrm>
              <a:off x="3600" y="1584"/>
              <a:ext cx="1536" cy="912"/>
            </a:xfrm>
            <a:prstGeom prst="ellipse">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1800" dirty="0">
                  <a:solidFill>
                    <a:schemeClr val="folHlink"/>
                  </a:solidFill>
                  <a:latin typeface="Tahoma" panose="020B0604030504040204" pitchFamily="34" charset="0"/>
                </a:rPr>
                <a:t>CHRS</a:t>
              </a:r>
              <a:endParaRPr kumimoji="1" lang="en-US" altLang="zh-CN" sz="1800" dirty="0">
                <a:solidFill>
                  <a:schemeClr val="folHlink"/>
                </a:solidFill>
                <a:latin typeface="Tahoma" panose="020B0604030504040204" pitchFamily="34" charset="0"/>
              </a:endParaRPr>
            </a:p>
            <a:p>
              <a:pPr algn="ctr" eaLnBrk="1" hangingPunct="1">
                <a:spcBef>
                  <a:spcPct val="0"/>
                </a:spcBef>
                <a:buFontTx/>
                <a:buNone/>
              </a:pPr>
              <a:r>
                <a:rPr kumimoji="1" lang="en-US" altLang="zh-CN" sz="1800" dirty="0">
                  <a:solidFill>
                    <a:schemeClr val="folHlink"/>
                  </a:solidFill>
                  <a:latin typeface="Tahoma" panose="020B0604030504040204" pitchFamily="34" charset="0"/>
                </a:rPr>
                <a:t>Key</a:t>
              </a:r>
              <a:r>
                <a:rPr kumimoji="1" lang="zh-CN" altLang="en-US" sz="1800" dirty="0">
                  <a:solidFill>
                    <a:schemeClr val="folHlink"/>
                  </a:solidFill>
                  <a:latin typeface="Tahoma" panose="020B0604030504040204" pitchFamily="34" charset="0"/>
                </a:rPr>
                <a:t>＝</a:t>
              </a:r>
              <a:r>
                <a:rPr kumimoji="1" lang="en-US" altLang="zh-CN" sz="1800" dirty="0">
                  <a:solidFill>
                    <a:schemeClr val="folHlink"/>
                  </a:solidFill>
                  <a:latin typeface="Tahoma" panose="020B0604030504040204" pitchFamily="34" charset="0"/>
                </a:rPr>
                <a:t>HS</a:t>
              </a:r>
              <a:endParaRPr kumimoji="1" lang="en-US" altLang="zh-CN" sz="1800" dirty="0">
                <a:solidFill>
                  <a:schemeClr val="folHlink"/>
                </a:solidFill>
                <a:latin typeface="Tahoma" panose="020B0604030504040204" pitchFamily="34" charset="0"/>
              </a:endParaRPr>
            </a:p>
            <a:p>
              <a:pPr algn="ctr" eaLnBrk="1" hangingPunct="1">
                <a:spcBef>
                  <a:spcPct val="0"/>
                </a:spcBef>
                <a:buFontTx/>
                <a:buNone/>
              </a:pPr>
              <a:r>
                <a:rPr kumimoji="1" lang="en-US" altLang="zh-CN" sz="1800" dirty="0">
                  <a:solidFill>
                    <a:schemeClr val="hlink"/>
                  </a:solidFill>
                  <a:latin typeface="Tahoma" panose="020B0604030504040204" pitchFamily="34" charset="0"/>
                </a:rPr>
                <a:t>HC</a:t>
              </a:r>
              <a:r>
                <a:rPr kumimoji="1" lang="en-US" altLang="zh-CN" sz="1800" dirty="0">
                  <a:solidFill>
                    <a:schemeClr val="hlink"/>
                  </a:solidFill>
                  <a:latin typeface="Tahoma" panose="020B0604030504040204" pitchFamily="34" charset="0"/>
                  <a:sym typeface="Symbol" panose="05050102010706020507" pitchFamily="18" charset="2"/>
                </a:rPr>
                <a:t>R</a:t>
              </a:r>
              <a:r>
                <a:rPr kumimoji="1" lang="en-US" altLang="zh-CN" sz="1800" dirty="0">
                  <a:solidFill>
                    <a:schemeClr val="folHlink"/>
                  </a:solidFill>
                  <a:latin typeface="Tahoma" panose="020B0604030504040204" pitchFamily="34" charset="0"/>
                  <a:sym typeface="Symbol" panose="05050102010706020507" pitchFamily="18" charset="2"/>
                </a:rPr>
                <a:t>,</a:t>
              </a:r>
              <a:r>
                <a:rPr kumimoji="1" lang="en-US" altLang="zh-CN" sz="1800" dirty="0">
                  <a:solidFill>
                    <a:schemeClr val="folHlink"/>
                  </a:solidFill>
                  <a:latin typeface="Tahoma" panose="020B0604030504040204" pitchFamily="34" charset="0"/>
                </a:rPr>
                <a:t> </a:t>
              </a:r>
              <a:r>
                <a:rPr kumimoji="1" lang="en-US" altLang="zh-CN" sz="1800" dirty="0">
                  <a:solidFill>
                    <a:srgbClr val="00CC00"/>
                  </a:solidFill>
                  <a:latin typeface="Tahoma" panose="020B0604030504040204" pitchFamily="34" charset="0"/>
                </a:rPr>
                <a:t>HR </a:t>
              </a:r>
              <a:r>
                <a:rPr kumimoji="1" lang="en-US" altLang="zh-CN" sz="1800" dirty="0">
                  <a:solidFill>
                    <a:srgbClr val="00CC00"/>
                  </a:solidFill>
                  <a:latin typeface="Tahoma" panose="020B0604030504040204" pitchFamily="34" charset="0"/>
                  <a:sym typeface="Symbol" panose="05050102010706020507" pitchFamily="18" charset="2"/>
                </a:rPr>
                <a:t>C</a:t>
              </a:r>
              <a:r>
                <a:rPr kumimoji="1" lang="en-US" altLang="zh-CN" sz="1800" dirty="0">
                  <a:solidFill>
                    <a:schemeClr val="folHlink"/>
                  </a:solidFill>
                  <a:latin typeface="Tahoma" panose="020B0604030504040204" pitchFamily="34" charset="0"/>
                  <a:sym typeface="Symbol" panose="05050102010706020507" pitchFamily="18" charset="2"/>
                </a:rPr>
                <a:t>,</a:t>
              </a:r>
              <a:endParaRPr kumimoji="1" lang="en-US" altLang="zh-CN" sz="1800" dirty="0">
                <a:solidFill>
                  <a:schemeClr val="folHlink"/>
                </a:solidFill>
                <a:latin typeface="Tahoma" panose="020B0604030504040204" pitchFamily="34" charset="0"/>
                <a:sym typeface="Symbol" panose="05050102010706020507" pitchFamily="18" charset="2"/>
              </a:endParaRPr>
            </a:p>
            <a:p>
              <a:pPr algn="ctr" eaLnBrk="1" hangingPunct="1">
                <a:spcBef>
                  <a:spcPct val="0"/>
                </a:spcBef>
                <a:buFontTx/>
                <a:buNone/>
              </a:pPr>
              <a:r>
                <a:rPr kumimoji="1" lang="en-US" altLang="zh-CN" sz="1800" dirty="0">
                  <a:solidFill>
                    <a:schemeClr val="folHlink"/>
                  </a:solidFill>
                  <a:latin typeface="Tahoma" panose="020B0604030504040204" pitchFamily="34" charset="0"/>
                </a:rPr>
                <a:t>HS</a:t>
              </a:r>
              <a:r>
                <a:rPr kumimoji="1" lang="en-US" altLang="zh-CN" sz="1800" dirty="0">
                  <a:solidFill>
                    <a:schemeClr val="folHlink"/>
                  </a:solidFill>
                  <a:latin typeface="Tahoma" panose="020B0604030504040204" pitchFamily="34" charset="0"/>
                  <a:sym typeface="Symbol" panose="05050102010706020507" pitchFamily="18" charset="2"/>
                </a:rPr>
                <a:t>R</a:t>
              </a:r>
              <a:endParaRPr kumimoji="1" lang="en-US" altLang="zh-CN" sz="1800" dirty="0">
                <a:solidFill>
                  <a:schemeClr val="folHlink"/>
                </a:solidFill>
                <a:latin typeface="Tahoma" panose="020B0604030504040204" pitchFamily="34" charset="0"/>
                <a:sym typeface="Symbol" panose="05050102010706020507" pitchFamily="18" charset="2"/>
              </a:endParaRPr>
            </a:p>
          </p:txBody>
        </p:sp>
        <p:sp>
          <p:nvSpPr>
            <p:cNvPr id="17" name="Oval 11"/>
            <p:cNvSpPr>
              <a:spLocks noChangeArrowheads="1"/>
            </p:cNvSpPr>
            <p:nvPr/>
          </p:nvSpPr>
          <p:spPr bwMode="auto">
            <a:xfrm>
              <a:off x="912" y="2352"/>
              <a:ext cx="1536" cy="912"/>
            </a:xfrm>
            <a:prstGeom prst="ellipse">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1800" dirty="0">
                  <a:solidFill>
                    <a:schemeClr val="folHlink"/>
                  </a:solidFill>
                  <a:latin typeface="Tahoma" panose="020B0604030504040204" pitchFamily="34" charset="0"/>
                </a:rPr>
                <a:t>CT</a:t>
              </a:r>
              <a:endParaRPr kumimoji="1" lang="en-US" altLang="zh-CN" sz="1800" dirty="0">
                <a:solidFill>
                  <a:schemeClr val="folHlink"/>
                </a:solidFill>
                <a:latin typeface="Tahoma" panose="020B0604030504040204" pitchFamily="34" charset="0"/>
              </a:endParaRPr>
            </a:p>
            <a:p>
              <a:pPr algn="ctr" eaLnBrk="1" hangingPunct="1">
                <a:spcBef>
                  <a:spcPct val="0"/>
                </a:spcBef>
                <a:buFontTx/>
                <a:buNone/>
              </a:pPr>
              <a:r>
                <a:rPr kumimoji="1" lang="en-US" altLang="zh-CN" sz="1800" dirty="0">
                  <a:solidFill>
                    <a:schemeClr val="folHlink"/>
                  </a:solidFill>
                  <a:latin typeface="Tahoma" panose="020B0604030504040204" pitchFamily="34" charset="0"/>
                </a:rPr>
                <a:t>Key</a:t>
              </a:r>
              <a:r>
                <a:rPr kumimoji="1" lang="zh-CN" altLang="en-US" sz="1800" dirty="0">
                  <a:solidFill>
                    <a:schemeClr val="folHlink"/>
                  </a:solidFill>
                  <a:latin typeface="Tahoma" panose="020B0604030504040204" pitchFamily="34" charset="0"/>
                </a:rPr>
                <a:t>＝</a:t>
              </a:r>
              <a:r>
                <a:rPr kumimoji="1" lang="en-US" altLang="zh-CN" sz="1800" dirty="0">
                  <a:solidFill>
                    <a:schemeClr val="folHlink"/>
                  </a:solidFill>
                  <a:latin typeface="Tahoma" panose="020B0604030504040204" pitchFamily="34" charset="0"/>
                </a:rPr>
                <a:t>C</a:t>
              </a:r>
              <a:endParaRPr kumimoji="1" lang="en-US" altLang="zh-CN" sz="1800" dirty="0">
                <a:solidFill>
                  <a:schemeClr val="folHlink"/>
                </a:solidFill>
                <a:latin typeface="Tahoma" panose="020B0604030504040204" pitchFamily="34" charset="0"/>
              </a:endParaRPr>
            </a:p>
            <a:p>
              <a:pPr algn="ctr" eaLnBrk="1" hangingPunct="1">
                <a:spcBef>
                  <a:spcPct val="0"/>
                </a:spcBef>
                <a:buFontTx/>
                <a:buNone/>
              </a:pPr>
              <a:r>
                <a:rPr kumimoji="1" lang="en-US" altLang="zh-CN" sz="1800" dirty="0">
                  <a:solidFill>
                    <a:schemeClr val="folHlink"/>
                  </a:solidFill>
                  <a:latin typeface="Tahoma" panose="020B0604030504040204" pitchFamily="34" charset="0"/>
                </a:rPr>
                <a:t>C</a:t>
              </a:r>
              <a:r>
                <a:rPr kumimoji="1" lang="en-US" altLang="zh-CN" sz="1800" dirty="0">
                  <a:solidFill>
                    <a:schemeClr val="folHlink"/>
                  </a:solidFill>
                  <a:latin typeface="Tahoma" panose="020B0604030504040204" pitchFamily="34" charset="0"/>
                  <a:sym typeface="Symbol" panose="05050102010706020507" pitchFamily="18" charset="2"/>
                </a:rPr>
                <a:t>T,</a:t>
              </a:r>
              <a:endParaRPr kumimoji="1" lang="en-US" altLang="zh-CN" sz="1800" dirty="0">
                <a:solidFill>
                  <a:schemeClr val="folHlink"/>
                </a:solidFill>
                <a:latin typeface="Tahoma" panose="020B0604030504040204" pitchFamily="34" charset="0"/>
                <a:sym typeface="Symbol" panose="05050102010706020507" pitchFamily="18" charset="2"/>
              </a:endParaRPr>
            </a:p>
          </p:txBody>
        </p:sp>
        <p:sp>
          <p:nvSpPr>
            <p:cNvPr id="18" name="Line 12"/>
            <p:cNvSpPr>
              <a:spLocks noChangeShapeType="1"/>
            </p:cNvSpPr>
            <p:nvPr/>
          </p:nvSpPr>
          <p:spPr bwMode="auto">
            <a:xfrm flipH="1">
              <a:off x="2208" y="1440"/>
              <a:ext cx="528" cy="1056"/>
            </a:xfrm>
            <a:prstGeom prst="line">
              <a:avLst/>
            </a:prstGeom>
            <a:grpFill/>
            <a:ln w="9525">
              <a:solidFill>
                <a:schemeClr val="tx1"/>
              </a:solidFill>
              <a:miter lim="800000"/>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9" name="Line 13"/>
            <p:cNvSpPr>
              <a:spLocks noChangeShapeType="1"/>
            </p:cNvSpPr>
            <p:nvPr/>
          </p:nvSpPr>
          <p:spPr bwMode="auto">
            <a:xfrm>
              <a:off x="3408" y="1296"/>
              <a:ext cx="576" cy="384"/>
            </a:xfrm>
            <a:prstGeom prst="line">
              <a:avLst/>
            </a:prstGeom>
            <a:grpFill/>
            <a:ln w="9525">
              <a:solidFill>
                <a:schemeClr val="tx1"/>
              </a:solidFill>
              <a:miter lim="800000"/>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20" name="Group 14"/>
          <p:cNvGrpSpPr/>
          <p:nvPr/>
        </p:nvGrpSpPr>
        <p:grpSpPr bwMode="auto">
          <a:xfrm>
            <a:off x="6339840" y="4792395"/>
            <a:ext cx="5181600" cy="2057400"/>
            <a:chOff x="2496" y="2496"/>
            <a:chExt cx="3264" cy="1296"/>
          </a:xfrm>
        </p:grpSpPr>
        <p:sp>
          <p:nvSpPr>
            <p:cNvPr id="21" name="Oval 15"/>
            <p:cNvSpPr>
              <a:spLocks noChangeArrowheads="1"/>
            </p:cNvSpPr>
            <p:nvPr/>
          </p:nvSpPr>
          <p:spPr bwMode="auto">
            <a:xfrm>
              <a:off x="4416" y="2880"/>
              <a:ext cx="1344" cy="776"/>
            </a:xfrm>
            <a:prstGeom prst="ellipse">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1800" dirty="0">
                  <a:solidFill>
                    <a:schemeClr val="folHlink"/>
                  </a:solidFill>
                  <a:latin typeface="Tahoma" panose="020B0604030504040204" pitchFamily="34" charset="0"/>
                </a:rPr>
                <a:t>CHS</a:t>
              </a:r>
              <a:endParaRPr kumimoji="1" lang="en-US" altLang="zh-CN" sz="1800" dirty="0">
                <a:solidFill>
                  <a:schemeClr val="folHlink"/>
                </a:solidFill>
                <a:latin typeface="Tahoma" panose="020B0604030504040204" pitchFamily="34" charset="0"/>
              </a:endParaRPr>
            </a:p>
            <a:p>
              <a:pPr algn="ctr" eaLnBrk="1" hangingPunct="1">
                <a:spcBef>
                  <a:spcPct val="0"/>
                </a:spcBef>
                <a:buFontTx/>
                <a:buNone/>
              </a:pPr>
              <a:r>
                <a:rPr kumimoji="1" lang="en-US" altLang="zh-CN" sz="1800" dirty="0">
                  <a:solidFill>
                    <a:schemeClr val="folHlink"/>
                  </a:solidFill>
                  <a:latin typeface="Tahoma" panose="020B0604030504040204" pitchFamily="34" charset="0"/>
                </a:rPr>
                <a:t>Key</a:t>
              </a:r>
              <a:r>
                <a:rPr kumimoji="1" lang="zh-CN" altLang="en-US" sz="1800" dirty="0">
                  <a:solidFill>
                    <a:schemeClr val="folHlink"/>
                  </a:solidFill>
                  <a:latin typeface="Tahoma" panose="020B0604030504040204" pitchFamily="34" charset="0"/>
                </a:rPr>
                <a:t>＝</a:t>
              </a:r>
              <a:r>
                <a:rPr kumimoji="1" lang="en-US" altLang="zh-CN" sz="1800" dirty="0">
                  <a:solidFill>
                    <a:schemeClr val="folHlink"/>
                  </a:solidFill>
                  <a:latin typeface="Tahoma" panose="020B0604030504040204" pitchFamily="34" charset="0"/>
                </a:rPr>
                <a:t>HS</a:t>
              </a:r>
              <a:endParaRPr kumimoji="1" lang="en-US" altLang="zh-CN" sz="1800" dirty="0">
                <a:solidFill>
                  <a:schemeClr val="folHlink"/>
                </a:solidFill>
                <a:latin typeface="Tahoma" panose="020B0604030504040204" pitchFamily="34" charset="0"/>
              </a:endParaRPr>
            </a:p>
            <a:p>
              <a:pPr algn="ctr" eaLnBrk="1" hangingPunct="1">
                <a:spcBef>
                  <a:spcPct val="0"/>
                </a:spcBef>
                <a:buFontTx/>
                <a:buNone/>
              </a:pPr>
              <a:r>
                <a:rPr kumimoji="1" lang="en-US" altLang="zh-CN" sz="1800" dirty="0">
                  <a:solidFill>
                    <a:schemeClr val="folHlink"/>
                  </a:solidFill>
                  <a:latin typeface="Tahoma" panose="020B0604030504040204" pitchFamily="34" charset="0"/>
                </a:rPr>
                <a:t>HS</a:t>
              </a:r>
              <a:r>
                <a:rPr kumimoji="1" lang="en-US" altLang="zh-CN" sz="1800" dirty="0">
                  <a:solidFill>
                    <a:schemeClr val="folHlink"/>
                  </a:solidFill>
                  <a:latin typeface="Tahoma" panose="020B0604030504040204" pitchFamily="34" charset="0"/>
                  <a:sym typeface="Symbol" panose="05050102010706020507" pitchFamily="18" charset="2"/>
                </a:rPr>
                <a:t>C</a:t>
              </a:r>
              <a:r>
                <a:rPr kumimoji="1" lang="en-US" altLang="zh-CN" sz="2000" dirty="0">
                  <a:solidFill>
                    <a:schemeClr val="folHlink"/>
                  </a:solidFill>
                  <a:latin typeface="Tahoma" panose="020B0604030504040204" pitchFamily="34" charset="0"/>
                  <a:sym typeface="Symbol" panose="05050102010706020507" pitchFamily="18" charset="2"/>
                </a:rPr>
                <a:t> </a:t>
              </a:r>
              <a:endParaRPr kumimoji="1" lang="en-US" altLang="zh-CN" sz="2000" dirty="0">
                <a:solidFill>
                  <a:schemeClr val="folHlink"/>
                </a:solidFill>
                <a:latin typeface="Tahoma" panose="020B0604030504040204" pitchFamily="34" charset="0"/>
                <a:sym typeface="Symbol" panose="05050102010706020507" pitchFamily="18" charset="2"/>
              </a:endParaRPr>
            </a:p>
          </p:txBody>
        </p:sp>
        <p:sp>
          <p:nvSpPr>
            <p:cNvPr id="22" name="Oval 16"/>
            <p:cNvSpPr>
              <a:spLocks noChangeArrowheads="1"/>
            </p:cNvSpPr>
            <p:nvPr/>
          </p:nvSpPr>
          <p:spPr bwMode="auto">
            <a:xfrm>
              <a:off x="2496" y="3072"/>
              <a:ext cx="1344" cy="720"/>
            </a:xfrm>
            <a:prstGeom prst="ellipse">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1800" dirty="0">
                  <a:solidFill>
                    <a:schemeClr val="folHlink"/>
                  </a:solidFill>
                  <a:latin typeface="Tahoma" panose="020B0604030504040204" pitchFamily="34" charset="0"/>
                </a:rPr>
                <a:t>CHR</a:t>
              </a:r>
              <a:endParaRPr kumimoji="1" lang="en-US" altLang="zh-CN" sz="1800" dirty="0">
                <a:solidFill>
                  <a:schemeClr val="folHlink"/>
                </a:solidFill>
                <a:latin typeface="Tahoma" panose="020B0604030504040204" pitchFamily="34" charset="0"/>
              </a:endParaRPr>
            </a:p>
            <a:p>
              <a:pPr algn="ctr" eaLnBrk="1" hangingPunct="1">
                <a:spcBef>
                  <a:spcPct val="0"/>
                </a:spcBef>
                <a:buFontTx/>
                <a:buNone/>
              </a:pPr>
              <a:r>
                <a:rPr kumimoji="1" lang="en-US" altLang="zh-CN" sz="1800" dirty="0">
                  <a:solidFill>
                    <a:schemeClr val="folHlink"/>
                  </a:solidFill>
                  <a:latin typeface="Tahoma" panose="020B0604030504040204" pitchFamily="34" charset="0"/>
                </a:rPr>
                <a:t>Key</a:t>
              </a:r>
              <a:r>
                <a:rPr kumimoji="1" lang="zh-CN" altLang="en-US" sz="1800" dirty="0">
                  <a:solidFill>
                    <a:schemeClr val="folHlink"/>
                  </a:solidFill>
                  <a:latin typeface="Tahoma" panose="020B0604030504040204" pitchFamily="34" charset="0"/>
                </a:rPr>
                <a:t>＝</a:t>
              </a:r>
              <a:r>
                <a:rPr kumimoji="1" lang="en-US" altLang="zh-CN" sz="1800" dirty="0">
                  <a:solidFill>
                    <a:schemeClr val="folHlink"/>
                  </a:solidFill>
                  <a:latin typeface="Tahoma" panose="020B0604030504040204" pitchFamily="34" charset="0"/>
                </a:rPr>
                <a:t>HC,HR</a:t>
              </a:r>
              <a:endParaRPr kumimoji="1" lang="en-US" altLang="zh-CN" sz="1800" dirty="0">
                <a:solidFill>
                  <a:schemeClr val="folHlink"/>
                </a:solidFill>
                <a:latin typeface="Tahoma" panose="020B0604030504040204" pitchFamily="34" charset="0"/>
              </a:endParaRPr>
            </a:p>
            <a:p>
              <a:pPr algn="ctr" eaLnBrk="1" hangingPunct="1">
                <a:spcBef>
                  <a:spcPct val="0"/>
                </a:spcBef>
                <a:buFontTx/>
                <a:buNone/>
              </a:pPr>
              <a:r>
                <a:rPr kumimoji="1" lang="en-US" altLang="zh-CN" sz="1800" dirty="0">
                  <a:solidFill>
                    <a:schemeClr val="folHlink"/>
                  </a:solidFill>
                  <a:latin typeface="Tahoma" panose="020B0604030504040204" pitchFamily="34" charset="0"/>
                </a:rPr>
                <a:t>HC</a:t>
              </a:r>
              <a:r>
                <a:rPr kumimoji="1" lang="en-US" altLang="zh-CN" sz="1800" dirty="0">
                  <a:solidFill>
                    <a:schemeClr val="folHlink"/>
                  </a:solidFill>
                  <a:latin typeface="Tahoma" panose="020B0604030504040204" pitchFamily="34" charset="0"/>
                  <a:sym typeface="Symbol" panose="05050102010706020507" pitchFamily="18" charset="2"/>
                </a:rPr>
                <a:t>R,</a:t>
              </a:r>
              <a:r>
                <a:rPr kumimoji="1" lang="en-US" altLang="zh-CN" sz="1800" dirty="0">
                  <a:solidFill>
                    <a:schemeClr val="folHlink"/>
                  </a:solidFill>
                  <a:latin typeface="Tahoma" panose="020B0604030504040204" pitchFamily="34" charset="0"/>
                </a:rPr>
                <a:t> HR </a:t>
              </a:r>
              <a:r>
                <a:rPr kumimoji="1" lang="en-US" altLang="zh-CN" sz="1800" dirty="0">
                  <a:solidFill>
                    <a:schemeClr val="folHlink"/>
                  </a:solidFill>
                  <a:latin typeface="Tahoma" panose="020B0604030504040204" pitchFamily="34" charset="0"/>
                  <a:sym typeface="Symbol" panose="05050102010706020507" pitchFamily="18" charset="2"/>
                </a:rPr>
                <a:t>C</a:t>
              </a:r>
              <a:endParaRPr kumimoji="1" lang="en-US" altLang="zh-CN" sz="1800" dirty="0">
                <a:solidFill>
                  <a:schemeClr val="folHlink"/>
                </a:solidFill>
                <a:latin typeface="Tahoma" panose="020B0604030504040204" pitchFamily="34" charset="0"/>
                <a:sym typeface="Symbol" panose="05050102010706020507" pitchFamily="18" charset="2"/>
              </a:endParaRPr>
            </a:p>
          </p:txBody>
        </p:sp>
        <p:sp>
          <p:nvSpPr>
            <p:cNvPr id="23" name="Line 17"/>
            <p:cNvSpPr>
              <a:spLocks noChangeShapeType="1"/>
            </p:cNvSpPr>
            <p:nvPr/>
          </p:nvSpPr>
          <p:spPr bwMode="auto">
            <a:xfrm flipH="1">
              <a:off x="3408" y="2496"/>
              <a:ext cx="768" cy="576"/>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Line 18"/>
            <p:cNvSpPr>
              <a:spLocks noChangeShapeType="1"/>
            </p:cNvSpPr>
            <p:nvPr/>
          </p:nvSpPr>
          <p:spPr bwMode="auto">
            <a:xfrm>
              <a:off x="4656" y="2496"/>
              <a:ext cx="384" cy="336"/>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pic>
        <p:nvPicPr>
          <p:cNvPr id="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47830" y="1084923"/>
            <a:ext cx="3155956" cy="2157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blinds(horizontal)">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规范化过程总结</a:t>
            </a:r>
            <a:endParaRPr lang="en-US" altLang="zh-CN"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
        <p:nvSpPr>
          <p:cNvPr id="6" name="文本框 5"/>
          <p:cNvSpPr txBox="1"/>
          <p:nvPr/>
        </p:nvSpPr>
        <p:spPr>
          <a:xfrm>
            <a:off x="5655212" y="2975317"/>
            <a:ext cx="65" cy="276999"/>
          </a:xfrm>
          <a:prstGeom prst="rect">
            <a:avLst/>
          </a:prstGeom>
          <a:noFill/>
        </p:spPr>
        <p:txBody>
          <a:bodyPr wrap="none" lIns="0" tIns="0" rIns="0" bIns="0" rtlCol="0">
            <a:spAutoFit/>
          </a:bodyPr>
          <a:lstStyle/>
          <a:p>
            <a:endParaRPr kumimoji="1" lang="zh-CN" altLang="en-US" dirty="0"/>
          </a:p>
        </p:txBody>
      </p:sp>
      <p:sp>
        <p:nvSpPr>
          <p:cNvPr id="8" name="Text Box 3"/>
          <p:cNvSpPr txBox="1">
            <a:spLocks noChangeArrowheads="1"/>
          </p:cNvSpPr>
          <p:nvPr/>
        </p:nvSpPr>
        <p:spPr bwMode="auto">
          <a:xfrm>
            <a:off x="4300220" y="1661160"/>
            <a:ext cx="1008063" cy="466725"/>
          </a:xfrm>
          <a:prstGeom prst="rect">
            <a:avLst/>
          </a:prstGeom>
          <a:noFill/>
          <a:ln w="952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2400" b="0" dirty="0">
                <a:latin typeface="微软雅黑" panose="020B0503020204020204" pitchFamily="34" charset="-122"/>
                <a:ea typeface="微软雅黑" panose="020B0503020204020204" pitchFamily="34" charset="-122"/>
              </a:rPr>
              <a:t>1NF</a:t>
            </a:r>
            <a:endParaRPr kumimoji="1" lang="en-US" altLang="zh-CN" sz="2400" b="0" dirty="0">
              <a:latin typeface="微软雅黑" panose="020B0503020204020204" pitchFamily="34" charset="-122"/>
              <a:ea typeface="微软雅黑" panose="020B0503020204020204" pitchFamily="34" charset="-122"/>
            </a:endParaRPr>
          </a:p>
        </p:txBody>
      </p:sp>
      <p:sp>
        <p:nvSpPr>
          <p:cNvPr id="9" name="Text Box 4"/>
          <p:cNvSpPr txBox="1">
            <a:spLocks noChangeArrowheads="1"/>
          </p:cNvSpPr>
          <p:nvPr/>
        </p:nvSpPr>
        <p:spPr bwMode="auto">
          <a:xfrm>
            <a:off x="4300220" y="2669223"/>
            <a:ext cx="1008063" cy="466725"/>
          </a:xfrm>
          <a:prstGeom prst="rect">
            <a:avLst/>
          </a:prstGeom>
          <a:noFill/>
          <a:ln w="952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2400" b="0" dirty="0">
                <a:latin typeface="微软雅黑" panose="020B0503020204020204" pitchFamily="34" charset="-122"/>
                <a:ea typeface="微软雅黑" panose="020B0503020204020204" pitchFamily="34" charset="-122"/>
              </a:rPr>
              <a:t>2NF</a:t>
            </a:r>
            <a:endParaRPr kumimoji="1" lang="en-US" altLang="zh-CN" sz="2400" b="0" dirty="0">
              <a:latin typeface="微软雅黑" panose="020B0503020204020204" pitchFamily="34" charset="-122"/>
              <a:ea typeface="微软雅黑" panose="020B0503020204020204" pitchFamily="34" charset="-122"/>
            </a:endParaRPr>
          </a:p>
        </p:txBody>
      </p:sp>
      <p:sp>
        <p:nvSpPr>
          <p:cNvPr id="10" name="Text Box 5"/>
          <p:cNvSpPr txBox="1">
            <a:spLocks noChangeArrowheads="1"/>
          </p:cNvSpPr>
          <p:nvPr/>
        </p:nvSpPr>
        <p:spPr bwMode="auto">
          <a:xfrm>
            <a:off x="4300220" y="3677285"/>
            <a:ext cx="1009650" cy="466725"/>
          </a:xfrm>
          <a:prstGeom prst="rect">
            <a:avLst/>
          </a:prstGeom>
          <a:noFill/>
          <a:ln w="952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2400" b="0" dirty="0">
                <a:latin typeface="微软雅黑" panose="020B0503020204020204" pitchFamily="34" charset="-122"/>
                <a:ea typeface="微软雅黑" panose="020B0503020204020204" pitchFamily="34" charset="-122"/>
              </a:rPr>
              <a:t>3NF</a:t>
            </a:r>
            <a:endParaRPr kumimoji="1" lang="en-US" altLang="zh-CN" sz="2400" b="0" dirty="0">
              <a:latin typeface="微软雅黑" panose="020B0503020204020204" pitchFamily="34" charset="-122"/>
              <a:ea typeface="微软雅黑" panose="020B0503020204020204" pitchFamily="34" charset="-122"/>
            </a:endParaRPr>
          </a:p>
        </p:txBody>
      </p:sp>
      <p:sp>
        <p:nvSpPr>
          <p:cNvPr id="11" name="Text Box 6"/>
          <p:cNvSpPr txBox="1">
            <a:spLocks noChangeArrowheads="1"/>
          </p:cNvSpPr>
          <p:nvPr/>
        </p:nvSpPr>
        <p:spPr bwMode="auto">
          <a:xfrm>
            <a:off x="4227195" y="4723448"/>
            <a:ext cx="1223963" cy="466725"/>
          </a:xfrm>
          <a:prstGeom prst="rect">
            <a:avLst/>
          </a:prstGeom>
          <a:noFill/>
          <a:ln w="952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2400" b="0" dirty="0">
                <a:latin typeface="微软雅黑" panose="020B0503020204020204" pitchFamily="34" charset="-122"/>
                <a:ea typeface="微软雅黑" panose="020B0503020204020204" pitchFamily="34" charset="-122"/>
              </a:rPr>
              <a:t>BCNF</a:t>
            </a:r>
            <a:endParaRPr kumimoji="1" lang="en-US" altLang="zh-CN" sz="2400" b="0" dirty="0">
              <a:latin typeface="微软雅黑" panose="020B0503020204020204" pitchFamily="34" charset="-122"/>
              <a:ea typeface="微软雅黑" panose="020B0503020204020204" pitchFamily="34" charset="-122"/>
            </a:endParaRPr>
          </a:p>
        </p:txBody>
      </p:sp>
      <p:sp>
        <p:nvSpPr>
          <p:cNvPr id="12" name="Line 7"/>
          <p:cNvSpPr>
            <a:spLocks noChangeShapeType="1"/>
          </p:cNvSpPr>
          <p:nvPr/>
        </p:nvSpPr>
        <p:spPr bwMode="auto">
          <a:xfrm>
            <a:off x="4874895" y="2164398"/>
            <a:ext cx="0" cy="504825"/>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Line 8"/>
          <p:cNvSpPr>
            <a:spLocks noChangeShapeType="1"/>
          </p:cNvSpPr>
          <p:nvPr/>
        </p:nvSpPr>
        <p:spPr bwMode="auto">
          <a:xfrm>
            <a:off x="4874895" y="3172460"/>
            <a:ext cx="0" cy="504825"/>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4" name="Line 9"/>
          <p:cNvSpPr>
            <a:spLocks noChangeShapeType="1"/>
          </p:cNvSpPr>
          <p:nvPr/>
        </p:nvSpPr>
        <p:spPr bwMode="auto">
          <a:xfrm>
            <a:off x="4874895" y="4180523"/>
            <a:ext cx="0" cy="576262"/>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 name="Text Box 10"/>
          <p:cNvSpPr txBox="1">
            <a:spLocks noChangeArrowheads="1"/>
          </p:cNvSpPr>
          <p:nvPr/>
        </p:nvSpPr>
        <p:spPr bwMode="auto">
          <a:xfrm>
            <a:off x="5308283" y="2162135"/>
            <a:ext cx="44999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b="0" dirty="0">
                <a:latin typeface="微软雅黑" panose="020B0503020204020204" pitchFamily="34" charset="-122"/>
                <a:ea typeface="微软雅黑" panose="020B0503020204020204" pitchFamily="34" charset="-122"/>
              </a:rPr>
              <a:t>消去非主属性对键的部分函数依赖 </a:t>
            </a:r>
            <a:endParaRPr kumimoji="1" lang="zh-CN" altLang="en-US" sz="2200" b="0" dirty="0">
              <a:latin typeface="微软雅黑" panose="020B0503020204020204" pitchFamily="34" charset="-122"/>
              <a:ea typeface="微软雅黑" panose="020B0503020204020204" pitchFamily="34" charset="-122"/>
            </a:endParaRPr>
          </a:p>
        </p:txBody>
      </p:sp>
      <p:sp>
        <p:nvSpPr>
          <p:cNvPr id="16" name="Text Box 11"/>
          <p:cNvSpPr txBox="1">
            <a:spLocks noChangeArrowheads="1"/>
          </p:cNvSpPr>
          <p:nvPr/>
        </p:nvSpPr>
        <p:spPr bwMode="auto">
          <a:xfrm>
            <a:off x="5308283" y="3187383"/>
            <a:ext cx="44999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b="0" dirty="0">
                <a:latin typeface="微软雅黑" panose="020B0503020204020204" pitchFamily="34" charset="-122"/>
                <a:ea typeface="微软雅黑" panose="020B0503020204020204" pitchFamily="34" charset="-122"/>
              </a:rPr>
              <a:t>消去非主属性对键的传递函数依赖 </a:t>
            </a:r>
            <a:endParaRPr kumimoji="1" lang="zh-CN" altLang="en-US" sz="2200" b="0" dirty="0">
              <a:latin typeface="微软雅黑" panose="020B0503020204020204" pitchFamily="34" charset="-122"/>
              <a:ea typeface="微软雅黑" panose="020B0503020204020204" pitchFamily="34" charset="-122"/>
            </a:endParaRPr>
          </a:p>
        </p:txBody>
      </p:sp>
      <p:sp>
        <p:nvSpPr>
          <p:cNvPr id="17" name="Text Box 12"/>
          <p:cNvSpPr txBox="1">
            <a:spLocks noChangeArrowheads="1"/>
          </p:cNvSpPr>
          <p:nvPr/>
        </p:nvSpPr>
        <p:spPr bwMode="auto">
          <a:xfrm>
            <a:off x="5308283" y="4236364"/>
            <a:ext cx="421782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b="0" dirty="0">
                <a:latin typeface="微软雅黑" panose="020B0503020204020204" pitchFamily="34" charset="-122"/>
                <a:ea typeface="微软雅黑" panose="020B0503020204020204" pitchFamily="34" charset="-122"/>
              </a:rPr>
              <a:t>消去主属性对键的传递函数依赖 </a:t>
            </a:r>
            <a:endParaRPr kumimoji="1" lang="zh-CN" altLang="en-US" sz="2200" b="0" dirty="0">
              <a:latin typeface="微软雅黑" panose="020B0503020204020204" pitchFamily="34" charset="-122"/>
              <a:ea typeface="微软雅黑" panose="020B0503020204020204" pitchFamily="34" charset="-122"/>
            </a:endParaRPr>
          </a:p>
        </p:txBody>
      </p:sp>
      <p:sp>
        <p:nvSpPr>
          <p:cNvPr id="18" name="Text Box 13"/>
          <p:cNvSpPr txBox="1">
            <a:spLocks noChangeArrowheads="1"/>
          </p:cNvSpPr>
          <p:nvPr/>
        </p:nvSpPr>
        <p:spPr bwMode="auto">
          <a:xfrm>
            <a:off x="4231958" y="5766435"/>
            <a:ext cx="1223962" cy="466725"/>
          </a:xfrm>
          <a:prstGeom prst="rect">
            <a:avLst/>
          </a:prstGeom>
          <a:noFill/>
          <a:ln w="952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algn="ctr" eaLnBrk="1" hangingPunct="1">
              <a:spcBef>
                <a:spcPct val="0"/>
              </a:spcBef>
              <a:buFontTx/>
              <a:buNone/>
            </a:pPr>
            <a:r>
              <a:rPr kumimoji="1" lang="en-US" altLang="zh-CN" sz="2400" b="0" dirty="0">
                <a:latin typeface="微软雅黑" panose="020B0503020204020204" pitchFamily="34" charset="-122"/>
                <a:ea typeface="微软雅黑" panose="020B0503020204020204" pitchFamily="34" charset="-122"/>
              </a:rPr>
              <a:t>4NF</a:t>
            </a:r>
            <a:endParaRPr kumimoji="1" lang="en-US" altLang="zh-CN" sz="2400" b="0" dirty="0">
              <a:latin typeface="微软雅黑" panose="020B0503020204020204" pitchFamily="34" charset="-122"/>
              <a:ea typeface="微软雅黑" panose="020B0503020204020204" pitchFamily="34" charset="-122"/>
            </a:endParaRPr>
          </a:p>
        </p:txBody>
      </p:sp>
      <p:sp>
        <p:nvSpPr>
          <p:cNvPr id="19" name="Line 14"/>
          <p:cNvSpPr>
            <a:spLocks noChangeShapeType="1"/>
          </p:cNvSpPr>
          <p:nvPr/>
        </p:nvSpPr>
        <p:spPr bwMode="auto">
          <a:xfrm>
            <a:off x="4879658" y="5223510"/>
            <a:ext cx="0" cy="576263"/>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 name="Text Box 15"/>
          <p:cNvSpPr txBox="1">
            <a:spLocks noChangeArrowheads="1"/>
          </p:cNvSpPr>
          <p:nvPr/>
        </p:nvSpPr>
        <p:spPr bwMode="auto">
          <a:xfrm>
            <a:off x="5308283" y="5335548"/>
            <a:ext cx="478207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2800">
                <a:solidFill>
                  <a:schemeClr val="tx1"/>
                </a:solidFill>
                <a:latin typeface="宋体" panose="02010600030101010101" pitchFamily="2" charset="-122"/>
                <a:ea typeface="宋体" panose="02010600030101010101" pitchFamily="2" charset="-122"/>
              </a:defRPr>
            </a:lvl1pPr>
            <a:lvl2pPr marL="742950" indent="-285750">
              <a:spcBef>
                <a:spcPct val="20000"/>
              </a:spcBef>
              <a:buChar char="–"/>
              <a:defRPr sz="2400">
                <a:solidFill>
                  <a:schemeClr val="tx1"/>
                </a:solidFill>
                <a:latin typeface="宋体" panose="02010600030101010101" pitchFamily="2" charset="-122"/>
                <a:ea typeface="宋体" panose="02010600030101010101" pitchFamily="2" charset="-122"/>
              </a:defRPr>
            </a:lvl2pPr>
            <a:lvl3pPr marL="1143000" indent="-228600">
              <a:spcBef>
                <a:spcPct val="20000"/>
              </a:spcBef>
              <a:buChar char="•"/>
              <a:defRPr sz="2000">
                <a:solidFill>
                  <a:schemeClr val="tx1"/>
                </a:solidFill>
                <a:latin typeface="宋体" panose="02010600030101010101" pitchFamily="2" charset="-122"/>
                <a:ea typeface="宋体" panose="02010600030101010101" pitchFamily="2" charset="-122"/>
              </a:defRPr>
            </a:lvl3pPr>
            <a:lvl4pPr marL="1600200" indent="-228600">
              <a:spcBef>
                <a:spcPct val="20000"/>
              </a:spcBef>
              <a:buChar char="–"/>
              <a:defRPr>
                <a:solidFill>
                  <a:schemeClr val="tx1"/>
                </a:solidFill>
                <a:latin typeface="宋体" panose="02010600030101010101" pitchFamily="2" charset="-122"/>
                <a:ea typeface="宋体" panose="02010600030101010101" pitchFamily="2" charset="-122"/>
              </a:defRPr>
            </a:lvl4pPr>
            <a:lvl5pPr marL="2057400" indent="-228600">
              <a:spcBef>
                <a:spcPct val="20000"/>
              </a:spcBef>
              <a:buChar char="»"/>
              <a:defRPr sz="16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har char="»"/>
              <a:defRPr sz="1600">
                <a:solidFill>
                  <a:schemeClr val="tx1"/>
                </a:solidFill>
                <a:latin typeface="宋体" panose="02010600030101010101" pitchFamily="2" charset="-122"/>
                <a:ea typeface="宋体" panose="02010600030101010101" pitchFamily="2" charset="-122"/>
              </a:defRPr>
            </a:lvl9pPr>
          </a:lstStyle>
          <a:p>
            <a:pPr eaLnBrk="1" hangingPunct="1">
              <a:spcBef>
                <a:spcPct val="0"/>
              </a:spcBef>
              <a:buFontTx/>
              <a:buNone/>
            </a:pPr>
            <a:r>
              <a:rPr kumimoji="1" lang="zh-CN" altLang="en-US" sz="2200" b="0" dirty="0">
                <a:latin typeface="微软雅黑" panose="020B0503020204020204" pitchFamily="34" charset="-122"/>
                <a:ea typeface="微软雅黑" panose="020B0503020204020204" pitchFamily="34" charset="-122"/>
              </a:rPr>
              <a:t>消去非平凡且非函数依赖的多值依赖 </a:t>
            </a:r>
            <a:endParaRPr kumimoji="1" lang="zh-CN" altLang="en-US" sz="22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fontScale="92500" lnSpcReduction="20000"/>
          </a:bodyPr>
          <a:lstStyle/>
          <a:p>
            <a:r>
              <a:rPr lang="zh-CN" altLang="en-US" sz="3000" dirty="0"/>
              <a:t>规范化过程总结</a:t>
            </a:r>
            <a:endParaRPr lang="en-US" altLang="zh-CN" sz="3000" dirty="0"/>
          </a:p>
          <a:p>
            <a:pPr lvl="1"/>
            <a:r>
              <a:rPr lang="zh-CN" altLang="en-US" b="0" dirty="0"/>
              <a:t>第一正规化（</a:t>
            </a:r>
            <a:r>
              <a:rPr lang="en-US" altLang="zh-CN" b="0" dirty="0"/>
              <a:t>1NF</a:t>
            </a:r>
            <a:r>
              <a:rPr lang="zh-CN" altLang="en-US" b="0" dirty="0"/>
              <a:t>）</a:t>
            </a:r>
            <a:endParaRPr lang="en-US" altLang="zh-CN" b="0" dirty="0"/>
          </a:p>
          <a:p>
            <a:pPr lvl="2"/>
            <a:r>
              <a:rPr lang="zh-CN" altLang="en-US" sz="2200" b="0" dirty="0"/>
              <a:t>定义：在一个数据表内，所属字段的内容都是单元值（</a:t>
            </a:r>
            <a:r>
              <a:rPr lang="en-US" altLang="zh-CN" sz="2200" b="0" dirty="0"/>
              <a:t>Atomic Value</a:t>
            </a:r>
            <a:r>
              <a:rPr lang="zh-CN" altLang="en-US" sz="2200" b="0" dirty="0"/>
              <a:t>），则称该数据表满足</a:t>
            </a:r>
            <a:r>
              <a:rPr lang="en-US" altLang="zh-CN" sz="2200" b="0" dirty="0"/>
              <a:t>1NF</a:t>
            </a:r>
            <a:r>
              <a:rPr lang="zh-CN" altLang="en-US" sz="2200" b="0" dirty="0"/>
              <a:t>。</a:t>
            </a:r>
            <a:endParaRPr lang="en-US" altLang="zh-CN" sz="2200" b="0" dirty="0"/>
          </a:p>
          <a:p>
            <a:pPr lvl="2"/>
            <a:r>
              <a:rPr lang="zh-CN" altLang="en-US" sz="2200" b="0" dirty="0"/>
              <a:t>白话：每个字段都是最小单元，不可再分割</a:t>
            </a:r>
            <a:endParaRPr lang="zh-CN" altLang="en-US" sz="2200" b="0" dirty="0"/>
          </a:p>
          <a:p>
            <a:pPr lvl="1"/>
            <a:r>
              <a:rPr lang="zh-CN" altLang="en-US" b="0" dirty="0"/>
              <a:t>第二正规化（</a:t>
            </a:r>
            <a:r>
              <a:rPr lang="en-US" altLang="zh-CN" b="0" dirty="0"/>
              <a:t>2NF</a:t>
            </a:r>
            <a:r>
              <a:rPr lang="zh-CN" altLang="en-US" b="0" dirty="0"/>
              <a:t>）</a:t>
            </a:r>
            <a:endParaRPr lang="zh-CN" altLang="en-US" b="0" dirty="0"/>
          </a:p>
          <a:p>
            <a:pPr lvl="2"/>
            <a:r>
              <a:rPr lang="zh-CN" altLang="en-US" sz="2200" b="0" dirty="0"/>
              <a:t>定义：一个数据表，除了符合第一正规化特性外，所有主键以外的字段都必须与主键功能相依，则称该数据表满足</a:t>
            </a:r>
            <a:r>
              <a:rPr lang="en-US" altLang="zh-CN" sz="2200" b="0" dirty="0"/>
              <a:t>2NF</a:t>
            </a:r>
            <a:r>
              <a:rPr lang="zh-CN" altLang="en-US" sz="2200" b="0" dirty="0"/>
              <a:t>。</a:t>
            </a:r>
            <a:endParaRPr lang="en-US" altLang="zh-CN" sz="2200" b="0" dirty="0"/>
          </a:p>
          <a:p>
            <a:pPr lvl="2"/>
            <a:r>
              <a:rPr lang="zh-CN" altLang="en-US" sz="2200" b="0" dirty="0"/>
              <a:t>白话：每张表的所有字段须与主键之间存有功能性相依性</a:t>
            </a:r>
            <a:endParaRPr lang="zh-CN" altLang="en-US" sz="2200" b="0" dirty="0"/>
          </a:p>
          <a:p>
            <a:pPr lvl="1"/>
            <a:r>
              <a:rPr lang="zh-CN" altLang="en-US" b="0" dirty="0"/>
              <a:t>第三正规化（</a:t>
            </a:r>
            <a:r>
              <a:rPr lang="en-US" altLang="zh-CN" b="0" dirty="0"/>
              <a:t>3NF</a:t>
            </a:r>
            <a:r>
              <a:rPr lang="zh-CN" altLang="en-US" b="0" dirty="0"/>
              <a:t>）</a:t>
            </a:r>
            <a:endParaRPr lang="en-US" altLang="zh-CN" b="0" dirty="0"/>
          </a:p>
          <a:p>
            <a:pPr lvl="2"/>
            <a:r>
              <a:rPr lang="zh-CN" altLang="en-US" sz="2200" b="0" dirty="0"/>
              <a:t>定义：一个数据表，除了符合第二正规化特性外，所有主键以外的字段都仅能与主键功能相依，且没有与其它字段相依，则称该数据表满足</a:t>
            </a:r>
            <a:r>
              <a:rPr lang="en-US" altLang="zh-CN" sz="2200" b="0" dirty="0"/>
              <a:t>3NF</a:t>
            </a:r>
            <a:r>
              <a:rPr lang="zh-CN" altLang="en-US" sz="2200" b="0" dirty="0"/>
              <a:t>。</a:t>
            </a:r>
            <a:endParaRPr lang="en-US" altLang="zh-CN" sz="2200" dirty="0"/>
          </a:p>
          <a:p>
            <a:pPr lvl="2"/>
            <a:r>
              <a:rPr lang="zh-CN" altLang="en-US" sz="2200" b="0" dirty="0"/>
              <a:t>白话：所有字段除了功能性相依于主键之外，与其它字段不能有相依特性存在</a:t>
            </a:r>
            <a:endParaRPr lang="en-US" altLang="zh-CN" sz="2200" b="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335292" cy="4957760"/>
          </a:xfrm>
        </p:spPr>
        <p:txBody>
          <a:bodyPr>
            <a:normAutofit/>
          </a:bodyPr>
          <a:lstStyle/>
          <a:p>
            <a:r>
              <a:rPr lang="zh-CN" altLang="en-US" dirty="0"/>
              <a:t>关系模式设计的原则</a:t>
            </a:r>
            <a:endParaRPr lang="en-US" altLang="zh-CN" dirty="0"/>
          </a:p>
          <a:p>
            <a:pPr lvl="1"/>
            <a:r>
              <a:rPr lang="zh-CN" altLang="en-US" sz="2600" b="0" dirty="0"/>
              <a:t>我们在进行关系数据库设计时，应作权衡，尽可能使数据库模式保持最好的特性</a:t>
            </a:r>
            <a:endParaRPr lang="zh-CN" altLang="en-US" sz="2600" b="0" dirty="0"/>
          </a:p>
          <a:p>
            <a:pPr lvl="1"/>
            <a:r>
              <a:rPr lang="zh-CN" altLang="en-US" sz="2600" b="0" dirty="0"/>
              <a:t>一般尽可能设计成</a:t>
            </a:r>
            <a:r>
              <a:rPr lang="en-US" altLang="zh-CN" sz="2600" b="0" dirty="0"/>
              <a:t>BCNF</a:t>
            </a:r>
            <a:r>
              <a:rPr lang="zh-CN" altLang="en-US" sz="2600" b="0" dirty="0"/>
              <a:t>模式集，如果设计成</a:t>
            </a:r>
            <a:r>
              <a:rPr lang="en-US" altLang="zh-CN" sz="2600" b="0" dirty="0"/>
              <a:t>BCNF</a:t>
            </a:r>
            <a:r>
              <a:rPr lang="zh-CN" altLang="en-US" sz="2600" b="0" dirty="0"/>
              <a:t>模式集时达不到保持</a:t>
            </a:r>
            <a:r>
              <a:rPr lang="en-US" altLang="zh-CN" sz="2600" b="0" dirty="0"/>
              <a:t>FD</a:t>
            </a:r>
            <a:r>
              <a:rPr lang="zh-CN" altLang="en-US" sz="2600" b="0" dirty="0"/>
              <a:t>的特点，那么只能降低要求，设计成</a:t>
            </a:r>
            <a:r>
              <a:rPr lang="en-US" altLang="zh-CN" sz="2600" b="0" dirty="0"/>
              <a:t>3NF</a:t>
            </a:r>
            <a:r>
              <a:rPr lang="zh-CN" altLang="en-US" sz="2600" b="0" dirty="0"/>
              <a:t>模式集，以求达到保持</a:t>
            </a:r>
            <a:r>
              <a:rPr lang="en-US" altLang="zh-CN" sz="2600" b="0" dirty="0"/>
              <a:t>FD</a:t>
            </a:r>
            <a:r>
              <a:rPr lang="zh-CN" altLang="en-US" sz="2600" b="0" dirty="0"/>
              <a:t>和无损分解的特点</a:t>
            </a:r>
            <a:endParaRPr lang="zh-CN" altLang="en-US" sz="2600" b="0" dirty="0"/>
          </a:p>
          <a:p>
            <a:pPr lvl="1"/>
            <a:r>
              <a:rPr lang="zh-CN" altLang="en-US" sz="2600" b="0" dirty="0"/>
              <a:t>模式分解并不单指把泛关系模式分解成数据库模式，也可以把数据库模式转换成另一个数据库模式，分解和转换的关键是要“等价”地分解</a:t>
            </a:r>
            <a:endParaRPr lang="zh-CN" altLang="en-US" sz="2600" b="0" dirty="0"/>
          </a:p>
          <a:p>
            <a:pPr lvl="1"/>
            <a:r>
              <a:rPr lang="zh-CN" altLang="en-US" sz="2600" b="0" dirty="0"/>
              <a:t>一个好的模式设计应符合三条原则：表达性、分离性和最小冗余性</a:t>
            </a:r>
            <a:r>
              <a:rPr lang="zh-CN" altLang="en-US" sz="2600" dirty="0"/>
              <a:t> </a:t>
            </a:r>
            <a:endParaRPr lang="zh-CN" altLang="en-US" sz="2600" dirty="0"/>
          </a:p>
          <a:p>
            <a:endParaRPr lang="en-US" altLang="zh-CN" sz="3000" dirty="0"/>
          </a:p>
        </p:txBody>
      </p:sp>
      <p:sp>
        <p:nvSpPr>
          <p:cNvPr id="4" name="灯片编号占位符 3"/>
          <p:cNvSpPr>
            <a:spLocks noGrp="1"/>
          </p:cNvSpPr>
          <p:nvPr>
            <p:ph type="sldNum" sz="quarter" idx="12"/>
          </p:nvPr>
        </p:nvSpPr>
        <p:spPr/>
        <p:txBody>
          <a:bodyPr/>
          <a:lstStyle/>
          <a:p>
            <a:fld id="{FB891F7F-8655-44AE-A6FF-53AD9F2B6B87}" type="slidenum">
              <a:rPr lang="zh-CN" altLang="en-US" smtClean="0"/>
            </a:fld>
            <a:endParaRPr lang="zh-CN" altLang="en-US"/>
          </a:p>
        </p:txBody>
      </p:sp>
      <p:sp>
        <p:nvSpPr>
          <p:cNvPr id="5" name="标题 4"/>
          <p:cNvSpPr>
            <a:spLocks noGrp="1"/>
          </p:cNvSpPr>
          <p:nvPr>
            <p:ph type="title"/>
          </p:nvPr>
        </p:nvSpPr>
        <p:spPr>
          <a:xfrm>
            <a:off x="367147" y="169816"/>
            <a:ext cx="10697497" cy="590931"/>
          </a:xfrm>
        </p:spPr>
        <p:txBody>
          <a:bodyPr/>
          <a:lstStyle/>
          <a:p>
            <a:r>
              <a:rPr lang="en-US" altLang="zh-CN" dirty="0"/>
              <a:t>4.4 </a:t>
            </a:r>
            <a:r>
              <a:rPr lang="zh-CN" altLang="en-US" dirty="0"/>
              <a:t>关系模式的规范化</a:t>
            </a:r>
            <a:endParaRPr kumimoji="1"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29821</Words>
  <Application>WPS 演示</Application>
  <PresentationFormat>宽屏</PresentationFormat>
  <Paragraphs>2444</Paragraphs>
  <Slides>136</Slides>
  <Notes>3</Notes>
  <HiddenSlides>19</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3</vt:i4>
      </vt:variant>
      <vt:variant>
        <vt:lpstr>幻灯片标题</vt:lpstr>
      </vt:variant>
      <vt:variant>
        <vt:i4>136</vt:i4>
      </vt:variant>
    </vt:vector>
  </HeadingPairs>
  <TitlesOfParts>
    <vt:vector size="163" baseType="lpstr">
      <vt:lpstr>Arial</vt:lpstr>
      <vt:lpstr>宋体</vt:lpstr>
      <vt:lpstr>Wingdings</vt:lpstr>
      <vt:lpstr>黑体</vt:lpstr>
      <vt:lpstr>微软雅黑</vt:lpstr>
      <vt:lpstr>Times New Roman</vt:lpstr>
      <vt:lpstr>Arial</vt:lpstr>
      <vt:lpstr>Cambria Math</vt:lpstr>
      <vt:lpstr>Arial Unicode MS</vt:lpstr>
      <vt:lpstr>等线 Light</vt:lpstr>
      <vt:lpstr>等线</vt:lpstr>
      <vt:lpstr>Arial Unicode MS</vt:lpstr>
      <vt:lpstr>Symbol</vt:lpstr>
      <vt:lpstr>Lucida Sans Unicode</vt:lpstr>
      <vt:lpstr>楷体_GB2312</vt:lpstr>
      <vt:lpstr>新宋体</vt:lpstr>
      <vt:lpstr>ËÎÌå</vt:lpstr>
      <vt:lpstr>Helvetica</vt:lpstr>
      <vt:lpstr>Courier New</vt:lpstr>
      <vt:lpstr>Calibri</vt:lpstr>
      <vt:lpstr>Tahoma</vt:lpstr>
      <vt:lpstr>BatangChe</vt:lpstr>
      <vt:lpstr>CaskaydiaCove NF</vt:lpstr>
      <vt:lpstr>Office 主题​​</vt:lpstr>
      <vt:lpstr>Equation.3</vt:lpstr>
      <vt:lpstr>Equation.3</vt:lpstr>
      <vt:lpstr>Equation.DSMT4</vt:lpstr>
      <vt:lpstr>第4章 数据依赖与关系模式规范化</vt:lpstr>
      <vt:lpstr>第4章 数据依赖与关系模式规范化</vt:lpstr>
      <vt:lpstr>4.1 问题的提出</vt:lpstr>
      <vt:lpstr>4.1 问题的提出</vt:lpstr>
      <vt:lpstr>4.1 问题的提出</vt:lpstr>
      <vt:lpstr>4.1 问题的提出</vt:lpstr>
      <vt:lpstr>4.1 问题的提出</vt:lpstr>
      <vt:lpstr>4.1 问题的提出</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4.2 数据依赖</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4.3 关系模式分解</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lpstr>4.4 关系模式的规范化</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五更</cp:lastModifiedBy>
  <cp:revision>611</cp:revision>
  <dcterms:created xsi:type="dcterms:W3CDTF">2024-11-02T12:31:00Z</dcterms:created>
  <dcterms:modified xsi:type="dcterms:W3CDTF">2025-07-24T06:38:33Z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35FA6E01567443A58163816B127D7570_12</vt:lpwstr>
  </property>
  <property fmtid="{D5CDD505-2E9C-101B-9397-08002B2CF9AE}" pid="3" name="KSOProductBuildVer">
    <vt:lpwstr>2052-12.1.0.21915</vt:lpwstr>
  </property>
</Properties>
</file>