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3" r:id="rId5"/>
    <p:sldId id="266" r:id="rId6"/>
    <p:sldId id="264" r:id="rId7"/>
    <p:sldId id="267" r:id="rId8"/>
    <p:sldId id="268" r:id="rId9"/>
    <p:sldId id="265" r:id="rId10"/>
    <p:sldId id="269" r:id="rId11"/>
    <p:sldId id="270" r:id="rId12"/>
    <p:sldId id="271" r:id="rId13"/>
    <p:sldId id="272" r:id="rId14"/>
    <p:sldId id="273" r:id="rId15"/>
    <p:sldId id="274" r:id="rId16"/>
    <p:sldId id="275" r:id="rId17"/>
    <p:sldId id="276" r:id="rId18"/>
    <p:sldId id="277" r:id="rId19"/>
    <p:sldId id="278" r:id="rId20"/>
    <p:sldId id="283" r:id="rId21"/>
    <p:sldId id="284" r:id="rId22"/>
    <p:sldId id="285" r:id="rId23"/>
    <p:sldId id="286" r:id="rId24"/>
    <p:sldId id="287" r:id="rId25"/>
    <p:sldId id="288" r:id="rId26"/>
    <p:sldId id="289" r:id="rId27"/>
    <p:sldId id="290" r:id="rId28"/>
    <p:sldId id="291" r:id="rId29"/>
    <p:sldId id="280" r:id="rId30"/>
    <p:sldId id="292" r:id="rId31"/>
    <p:sldId id="281" r:id="rId32"/>
    <p:sldId id="282" r:id="rId33"/>
    <p:sldId id="279" r:id="rId34"/>
    <p:sldId id="293" r:id="rId35"/>
    <p:sldId id="295" r:id="rId36"/>
    <p:sldId id="296" r:id="rId37"/>
    <p:sldId id="297" r:id="rId38"/>
    <p:sldId id="298" r:id="rId39"/>
    <p:sldId id="299" r:id="rId40"/>
    <p:sldId id="302" r:id="rId41"/>
    <p:sldId id="303" r:id="rId42"/>
    <p:sldId id="300" r:id="rId43"/>
    <p:sldId id="301" r:id="rId44"/>
    <p:sldId id="304" r:id="rId45"/>
    <p:sldId id="305" r:id="rId46"/>
    <p:sldId id="306" r:id="rId47"/>
    <p:sldId id="307" r:id="rId48"/>
    <p:sldId id="308" r:id="rId49"/>
    <p:sldId id="309" r:id="rId50"/>
    <p:sldId id="310" r:id="rId51"/>
    <p:sldId id="314" r:id="rId52"/>
    <p:sldId id="322" r:id="rId53"/>
    <p:sldId id="315" r:id="rId54"/>
    <p:sldId id="316" r:id="rId55"/>
    <p:sldId id="317" r:id="rId56"/>
    <p:sldId id="318" r:id="rId57"/>
    <p:sldId id="319" r:id="rId58"/>
    <p:sldId id="320" r:id="rId59"/>
    <p:sldId id="321" r:id="rId60"/>
    <p:sldId id="323" r:id="rId61"/>
    <p:sldId id="324" r:id="rId62"/>
    <p:sldId id="325" r:id="rId63"/>
    <p:sldId id="326" r:id="rId64"/>
    <p:sldId id="327" r:id="rId65"/>
    <p:sldId id="329" r:id="rId66"/>
    <p:sldId id="330" r:id="rId67"/>
    <p:sldId id="331" r:id="rId68"/>
    <p:sldId id="332" r:id="rId69"/>
    <p:sldId id="333" r:id="rId70"/>
    <p:sldId id="334" r:id="rId71"/>
    <p:sldId id="335" r:id="rId72"/>
    <p:sldId id="336" r:id="rId73"/>
    <p:sldId id="337" r:id="rId74"/>
    <p:sldId id="339" r:id="rId75"/>
    <p:sldId id="340" r:id="rId76"/>
    <p:sldId id="341" r:id="rId77"/>
    <p:sldId id="342" r:id="rId78"/>
    <p:sldId id="343" r:id="rId79"/>
    <p:sldId id="344" r:id="rId80"/>
    <p:sldId id="345" r:id="rId81"/>
    <p:sldId id="346" r:id="rId82"/>
    <p:sldId id="338" r:id="rId8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1" autoAdjust="0"/>
    <p:restoredTop sz="94421" autoAdjust="0"/>
  </p:normalViewPr>
  <p:slideViewPr>
    <p:cSldViewPr snapToGrid="0">
      <p:cViewPr varScale="1">
        <p:scale>
          <a:sx n="120" d="100"/>
          <a:sy n="120" d="100"/>
        </p:scale>
        <p:origin x="466" y="82"/>
      </p:cViewPr>
      <p:guideLst/>
    </p:cSldViewPr>
  </p:slideViewPr>
  <p:outlineViewPr>
    <p:cViewPr>
      <p:scale>
        <a:sx n="33" d="100"/>
        <a:sy n="33" d="100"/>
      </p:scale>
      <p:origin x="0" y="-220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16.emf"/><Relationship Id="rId1"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20.wmf"/><Relationship Id="rId1" Type="http://schemas.openxmlformats.org/officeDocument/2006/relationships/oleObject" Target="../embeddings/oleObject3.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21.wmf"/><Relationship Id="rId1" Type="http://schemas.openxmlformats.org/officeDocument/2006/relationships/oleObject" Target="../embeddings/oleObject4.bin"/></Relationships>
</file>

<file path=ppt/slides/_rels/slide48.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3.xml"/><Relationship Id="rId2" Type="http://schemas.openxmlformats.org/officeDocument/2006/relationships/image" Target="../media/image22.wmf"/><Relationship Id="rId1"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000" b="1" dirty="0"/>
              <a:t>第</a:t>
            </a:r>
            <a:r>
              <a:rPr lang="en-US" altLang="zh-CN" b="1" dirty="0"/>
              <a:t>7</a:t>
            </a:r>
            <a:r>
              <a:rPr lang="zh-CN" altLang="en-US" sz="6000" b="1" dirty="0"/>
              <a:t>章 查询处理与查询优化</a:t>
            </a: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目录</a:t>
            </a:r>
            <a:endParaRPr kumimoji="1" lang="zh-CN" altLang="en-US" dirty="0"/>
          </a:p>
        </p:txBody>
      </p:sp>
      <p:sp>
        <p:nvSpPr>
          <p:cNvPr id="3" name="内容占位符 2"/>
          <p:cNvSpPr>
            <a:spLocks noGrp="1"/>
          </p:cNvSpPr>
          <p:nvPr>
            <p:ph idx="1"/>
          </p:nvPr>
        </p:nvSpPr>
        <p:spPr/>
        <p:txBody>
          <a:bodyPr>
            <a:normAutofit/>
          </a:bodyPr>
          <a:lstStyle/>
          <a:p>
            <a:pPr>
              <a:lnSpc>
                <a:spcPct val="150000"/>
              </a:lnSpc>
            </a:pPr>
            <a:r>
              <a:rPr kumimoji="1" lang="en-US" altLang="zh-CN" dirty="0"/>
              <a:t>7.1 </a:t>
            </a:r>
            <a:r>
              <a:rPr kumimoji="1" lang="zh-CN" altLang="en-US" dirty="0"/>
              <a:t>引言</a:t>
            </a:r>
            <a:endParaRPr kumimoji="1" lang="en-US" altLang="zh-CN" dirty="0">
              <a:highlight>
                <a:srgbClr val="FFFF00"/>
              </a:highlight>
            </a:endParaRPr>
          </a:p>
          <a:p>
            <a:pPr>
              <a:lnSpc>
                <a:spcPct val="150000"/>
              </a:lnSpc>
            </a:pPr>
            <a:r>
              <a:rPr kumimoji="1" lang="en-US" altLang="zh-CN" dirty="0"/>
              <a:t>7.2 </a:t>
            </a:r>
            <a:r>
              <a:rPr kumimoji="1" lang="zh-CN" altLang="en-US" dirty="0"/>
              <a:t>执行引擎（</a:t>
            </a:r>
            <a:r>
              <a:rPr kumimoji="1" lang="en-US" altLang="zh-CN" dirty="0" err="1"/>
              <a:t>openGauss</a:t>
            </a:r>
            <a:r>
              <a:rPr kumimoji="1" lang="zh-CN" altLang="en-US" dirty="0"/>
              <a:t>为例）</a:t>
            </a:r>
            <a:endParaRPr kumimoji="1" lang="en-US" altLang="zh-CN" dirty="0"/>
          </a:p>
          <a:p>
            <a:pPr>
              <a:lnSpc>
                <a:spcPct val="150000"/>
              </a:lnSpc>
            </a:pPr>
            <a:r>
              <a:rPr kumimoji="1" lang="en-US" altLang="zh-CN" dirty="0"/>
              <a:t>7.3 </a:t>
            </a:r>
            <a:r>
              <a:rPr kumimoji="1" lang="zh-CN" altLang="en-US" dirty="0"/>
              <a:t>代数优化</a:t>
            </a:r>
            <a:endParaRPr kumimoji="1" lang="en-US" altLang="zh-CN" dirty="0"/>
          </a:p>
          <a:p>
            <a:pPr>
              <a:lnSpc>
                <a:spcPct val="150000"/>
              </a:lnSpc>
            </a:pPr>
            <a:r>
              <a:rPr kumimoji="1" lang="en-US" altLang="zh-CN" dirty="0"/>
              <a:t>7.4 </a:t>
            </a:r>
            <a:r>
              <a:rPr kumimoji="1" lang="zh-CN" altLang="en-US" dirty="0"/>
              <a:t>物理优化</a:t>
            </a:r>
            <a:endParaRPr kumimoji="1" lang="en-US" altLang="zh-CN" dirty="0"/>
          </a:p>
          <a:p>
            <a:pPr>
              <a:lnSpc>
                <a:spcPct val="150000"/>
              </a:lnSpc>
            </a:pPr>
            <a:r>
              <a:rPr kumimoji="1" lang="en-US" altLang="zh-CN" dirty="0"/>
              <a:t>7.5 </a:t>
            </a:r>
            <a:r>
              <a:rPr kumimoji="1" lang="zh-CN" altLang="en-US" dirty="0"/>
              <a:t>代价估算优化*</a:t>
            </a:r>
            <a:endParaRPr kumimoji="1" lang="zh-CN" altLang="en-US" dirty="0"/>
          </a:p>
          <a:p>
            <a:pPr>
              <a:lnSpc>
                <a:spcPct val="150000"/>
              </a:lnSpc>
            </a:pPr>
            <a:endParaRPr kumimoji="1" lang="en-US" altLang="zh-CN"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查询是数据库系统中最基本、最常见和最复杂的操作 </a:t>
            </a:r>
            <a:endParaRPr lang="zh-CN" altLang="en-US" b="0" dirty="0"/>
          </a:p>
          <a:p>
            <a:r>
              <a:rPr lang="zh-CN" altLang="en-US" b="0" dirty="0"/>
              <a:t>从用户给出的查询请求开始，直到得到查询结果，这一过程称为</a:t>
            </a:r>
            <a:r>
              <a:rPr lang="zh-CN" altLang="en-US" b="0" u="sng" dirty="0"/>
              <a:t>查询处理</a:t>
            </a:r>
            <a:endParaRPr lang="zh-CN" altLang="en-US" b="0" u="sng" dirty="0"/>
          </a:p>
          <a:p>
            <a:r>
              <a:rPr lang="zh-CN" altLang="en-US" b="0" dirty="0"/>
              <a:t>对于一个给定的查询，通常会有许多种可能的执行策略，查询优化就是从众多策略中找出高效执行策略的处理过程</a:t>
            </a:r>
            <a:endParaRPr lang="zh-CN" altLang="en-US" b="0" dirty="0"/>
          </a:p>
          <a:p>
            <a:r>
              <a:rPr lang="zh-CN" altLang="en-US" b="0" dirty="0"/>
              <a:t>查询处理和优化是</a:t>
            </a:r>
            <a:r>
              <a:rPr lang="en-US" altLang="zh-CN" b="0" dirty="0"/>
              <a:t>DBMS</a:t>
            </a:r>
            <a:r>
              <a:rPr lang="zh-CN" altLang="en-US" b="0" dirty="0"/>
              <a:t>实现的关键技术，对系统性能有很大影响</a:t>
            </a:r>
            <a:endParaRPr lang="zh-CN" altLang="en-US" b="0" dirty="0"/>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7.1 </a:t>
            </a:r>
            <a:r>
              <a:rPr lang="zh-CN" altLang="en-US" dirty="0"/>
              <a:t>引言</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查询处理</a:t>
            </a:r>
            <a:endParaRPr lang="en-US" altLang="zh-CN" dirty="0"/>
          </a:p>
          <a:p>
            <a:pPr lvl="1"/>
            <a:r>
              <a:rPr lang="zh-CN" altLang="en-US" dirty="0"/>
              <a:t>查询处理是指从数据库中查询数据的一个处理过程 </a:t>
            </a:r>
            <a:endParaRPr lang="zh-CN" altLang="en-US" dirty="0"/>
          </a:p>
          <a:p>
            <a:pPr lvl="1"/>
            <a:r>
              <a:rPr lang="zh-CN" altLang="en-US" dirty="0"/>
              <a:t>这一过程包括将用户的</a:t>
            </a:r>
            <a:r>
              <a:rPr lang="zh-CN" altLang="en-US" dirty="0">
                <a:solidFill>
                  <a:srgbClr val="C00000"/>
                </a:solidFill>
              </a:rPr>
              <a:t>查询语句</a:t>
            </a:r>
            <a:r>
              <a:rPr lang="zh-CN" altLang="en-US" dirty="0"/>
              <a:t>转变为数据库的</a:t>
            </a:r>
            <a:r>
              <a:rPr lang="zh-CN" altLang="en-US" dirty="0">
                <a:solidFill>
                  <a:srgbClr val="C00000"/>
                </a:solidFill>
              </a:rPr>
              <a:t>查询计划</a:t>
            </a:r>
            <a:r>
              <a:rPr lang="zh-CN" altLang="en-US" dirty="0"/>
              <a:t>，并且执行计划获得</a:t>
            </a:r>
            <a:r>
              <a:rPr lang="zh-CN" altLang="en-US" dirty="0">
                <a:solidFill>
                  <a:srgbClr val="C00000"/>
                </a:solidFill>
              </a:rPr>
              <a:t>查询结果</a:t>
            </a:r>
            <a:endParaRPr lang="zh-CN" altLang="en-US" dirty="0">
              <a:solidFill>
                <a:srgbClr val="C00000"/>
              </a:solidFill>
            </a:endParaRPr>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7.1 </a:t>
            </a:r>
            <a:r>
              <a:rPr lang="zh-CN" altLang="en-US" dirty="0"/>
              <a:t>引言</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查询处理的步骤</a:t>
            </a:r>
            <a:endParaRPr lang="en-US" altLang="zh-CN" dirty="0"/>
          </a:p>
          <a:p>
            <a:pPr lvl="1"/>
            <a:r>
              <a:rPr lang="zh-CN" altLang="en-US" dirty="0"/>
              <a:t>实际系统对查询优化的具体实现一般可以归纳为四个步骤：</a:t>
            </a:r>
            <a:endParaRPr lang="zh-CN" altLang="en-US" dirty="0"/>
          </a:p>
          <a:p>
            <a:pPr lvl="2"/>
            <a:r>
              <a:rPr lang="zh-CN" altLang="en-US" dirty="0"/>
              <a:t>将查询转换成某种内部表示，通常是语法树</a:t>
            </a:r>
            <a:endParaRPr lang="zh-CN" altLang="en-US" dirty="0"/>
          </a:p>
          <a:p>
            <a:pPr lvl="2"/>
            <a:r>
              <a:rPr lang="zh-CN" altLang="en-US" dirty="0"/>
              <a:t>根据一定的等价变换规则把语法树转换成标准（优化）形式</a:t>
            </a:r>
            <a:endParaRPr lang="zh-CN" altLang="en-US" dirty="0"/>
          </a:p>
          <a:p>
            <a:pPr lvl="2"/>
            <a:r>
              <a:rPr lang="zh-CN" altLang="en-US" dirty="0"/>
              <a:t>选择底层的操作算法。对于语法树中的每一个操作需要根据存取路径、数据的存储分布、存储数据的聚簇等信息来选择具体的执行算法</a:t>
            </a:r>
            <a:endParaRPr lang="zh-CN" altLang="en-US" dirty="0"/>
          </a:p>
          <a:p>
            <a:pPr lvl="2"/>
            <a:r>
              <a:rPr lang="zh-CN" altLang="en-US" dirty="0"/>
              <a:t>生成查询计划。查询计划也称查询执行方案，由一系列内部操作组成。这些内部操作按一定的次序构成查询的一个执行方案。通常这样的执行方案有多个，需要对每个执行计划计算代价，从中选择代价最小的一个</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7.1 </a:t>
            </a:r>
            <a:r>
              <a:rPr lang="zh-CN" altLang="en-US" dirty="0"/>
              <a:t>引言</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查询处理的步骤</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7.1 </a:t>
            </a:r>
            <a:r>
              <a:rPr lang="zh-CN" altLang="en-US" dirty="0"/>
              <a:t>引言</a:t>
            </a:r>
            <a:endParaRPr lang="zh-CN" altLang="en-US" dirty="0"/>
          </a:p>
        </p:txBody>
      </p:sp>
      <p:graphicFrame>
        <p:nvGraphicFramePr>
          <p:cNvPr id="7" name="Object 39"/>
          <p:cNvGraphicFramePr>
            <a:graphicFrameLocks noChangeAspect="1"/>
          </p:cNvGraphicFramePr>
          <p:nvPr/>
        </p:nvGraphicFramePr>
        <p:xfrm>
          <a:off x="4058730" y="1153613"/>
          <a:ext cx="4074539" cy="5534571"/>
        </p:xfrm>
        <a:graphic>
          <a:graphicData uri="http://schemas.openxmlformats.org/presentationml/2006/ole">
            <mc:AlternateContent xmlns:mc="http://schemas.openxmlformats.org/markup-compatibility/2006">
              <mc:Choice xmlns:v="urn:schemas-microsoft-com:vml" Requires="v">
                <p:oleObj spid="_x0000_s1026" name="Visio" r:id="rId1" imgW="3368675" imgH="5037455" progId="Visio.Drawing.11">
                  <p:embed/>
                </p:oleObj>
              </mc:Choice>
              <mc:Fallback>
                <p:oleObj name="Visio" r:id="rId1" imgW="3368675" imgH="5037455" progId="Visio.Drawing.11">
                  <p:embed/>
                  <p:pic>
                    <p:nvPicPr>
                      <p:cNvPr id="0" name="Object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8730" y="1153613"/>
                        <a:ext cx="4074539" cy="5534571"/>
                      </a:xfrm>
                      <a:prstGeom prst="rect">
                        <a:avLst/>
                      </a:prstGeom>
                      <a:noFill/>
                      <a:ln>
                        <a:noFill/>
                      </a:ln>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5308693" cy="4957760"/>
          </a:xfrm>
        </p:spPr>
        <p:txBody>
          <a:bodyPr/>
          <a:lstStyle/>
          <a:p>
            <a:r>
              <a:rPr lang="zh-CN" altLang="en-US" dirty="0"/>
              <a:t>查询处理的实现方式</a:t>
            </a:r>
            <a:endParaRPr lang="en-US" altLang="zh-CN" dirty="0"/>
          </a:p>
          <a:p>
            <a:pPr lvl="1"/>
            <a:r>
              <a:rPr lang="zh-CN" altLang="en-US" dirty="0"/>
              <a:t>解释：</a:t>
            </a:r>
            <a:r>
              <a:rPr lang="en-US" altLang="zh-CN" dirty="0"/>
              <a:t>DBMS</a:t>
            </a:r>
            <a:r>
              <a:rPr lang="zh-CN" altLang="en-US" dirty="0"/>
              <a:t>接到查询语句，创建相应的事务，解释执行查询语句，且在事务完成后返回查询结果，一般不保留可执行代码</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7.1 </a:t>
            </a:r>
            <a:r>
              <a:rPr lang="zh-CN" altLang="en-US" dirty="0"/>
              <a:t>引言</a:t>
            </a:r>
            <a:endParaRPr lang="zh-CN" altLang="en-US" dirty="0"/>
          </a:p>
        </p:txBody>
      </p:sp>
      <p:pic>
        <p:nvPicPr>
          <p:cNvPr id="6" name="Picture 4" descr="sspictmp0038B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057578" y="1649579"/>
            <a:ext cx="5689600" cy="38179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6113365" cy="4957760"/>
          </a:xfrm>
        </p:spPr>
        <p:txBody>
          <a:bodyPr/>
          <a:lstStyle/>
          <a:p>
            <a:r>
              <a:rPr lang="zh-CN" altLang="en-US" dirty="0"/>
              <a:t>查询处理的实现方式</a:t>
            </a:r>
            <a:endParaRPr lang="en-US" altLang="zh-CN" dirty="0"/>
          </a:p>
          <a:p>
            <a:pPr lvl="1"/>
            <a:r>
              <a:rPr lang="zh-CN" altLang="en-US" dirty="0"/>
              <a:t>编译：应用程序经预编译处理，将嵌入的查询语句分出，进行语法、词法分析和查询优化，生成一个可执行的访问模块（</a:t>
            </a:r>
            <a:r>
              <a:rPr lang="en-US" altLang="zh-CN" dirty="0"/>
              <a:t>AM</a:t>
            </a:r>
            <a:r>
              <a:rPr lang="zh-CN" altLang="en-US" dirty="0"/>
              <a:t>），存于磁盘中。</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7.1 </a:t>
            </a:r>
            <a:r>
              <a:rPr lang="zh-CN" altLang="en-US" dirty="0"/>
              <a:t>引言</a:t>
            </a:r>
            <a:endParaRPr lang="zh-CN" altLang="en-US" dirty="0"/>
          </a:p>
        </p:txBody>
      </p:sp>
      <p:pic>
        <p:nvPicPr>
          <p:cNvPr id="6" name="Picture 4" descr="sspictmp00354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645941" y="1901618"/>
            <a:ext cx="5148896" cy="39993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5690048" cy="4957760"/>
          </a:xfrm>
        </p:spPr>
        <p:txBody>
          <a:bodyPr/>
          <a:lstStyle/>
          <a:p>
            <a:r>
              <a:rPr lang="zh-CN" altLang="en-US" dirty="0"/>
              <a:t>数据库执行引擎介绍</a:t>
            </a:r>
            <a:endParaRPr lang="en-US" altLang="zh-CN" dirty="0"/>
          </a:p>
          <a:p>
            <a:pPr lvl="1"/>
            <a:r>
              <a:rPr lang="zh-CN" altLang="en-US" dirty="0"/>
              <a:t>执行引擎一般负责查询的执行</a:t>
            </a:r>
            <a:endParaRPr lang="zh-CN" altLang="en-US" dirty="0"/>
          </a:p>
          <a:p>
            <a:pPr lvl="1"/>
            <a:r>
              <a:rPr lang="zh-CN" altLang="en-US" dirty="0"/>
              <a:t>执行引擎在</a:t>
            </a:r>
            <a:r>
              <a:rPr lang="en-US" altLang="zh-CN" dirty="0"/>
              <a:t>SQL</a:t>
            </a:r>
            <a:r>
              <a:rPr lang="zh-CN" altLang="en-US" dirty="0"/>
              <a:t>执行栈中起到接受优化器生成的执行计划</a:t>
            </a:r>
            <a:r>
              <a:rPr lang="en-US" altLang="zh-CN" dirty="0"/>
              <a:t>Plan</a:t>
            </a:r>
            <a:r>
              <a:rPr lang="zh-CN" altLang="en-US" dirty="0"/>
              <a:t>、并对通过存储引擎提供的数据读写接口，实现对数据进行计算得到查询的结果集。</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grpSp>
        <p:nvGrpSpPr>
          <p:cNvPr id="6" name="组合 5"/>
          <p:cNvGrpSpPr/>
          <p:nvPr/>
        </p:nvGrpSpPr>
        <p:grpSpPr>
          <a:xfrm>
            <a:off x="6473954" y="1412905"/>
            <a:ext cx="4721736" cy="5116519"/>
            <a:chOff x="365772" y="1219252"/>
            <a:chExt cx="4740259" cy="5111870"/>
          </a:xfrm>
        </p:grpSpPr>
        <p:sp>
          <p:nvSpPr>
            <p:cNvPr id="7" name="圆角矩形 2"/>
            <p:cNvSpPr/>
            <p:nvPr/>
          </p:nvSpPr>
          <p:spPr>
            <a:xfrm>
              <a:off x="1146483" y="1876694"/>
              <a:ext cx="1170432"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查询解析</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5"/>
            <p:cNvSpPr/>
            <p:nvPr/>
          </p:nvSpPr>
          <p:spPr>
            <a:xfrm>
              <a:off x="1146483" y="2599505"/>
              <a:ext cx="1170432"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查询重写</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6"/>
            <p:cNvSpPr/>
            <p:nvPr/>
          </p:nvSpPr>
          <p:spPr>
            <a:xfrm>
              <a:off x="495962" y="3476885"/>
              <a:ext cx="1170432"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代价估算</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7"/>
            <p:cNvSpPr/>
            <p:nvPr/>
          </p:nvSpPr>
          <p:spPr>
            <a:xfrm>
              <a:off x="1752174" y="3476885"/>
              <a:ext cx="1170432"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路径生成</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8"/>
            <p:cNvSpPr/>
            <p:nvPr/>
          </p:nvSpPr>
          <p:spPr>
            <a:xfrm>
              <a:off x="1147360" y="4524094"/>
              <a:ext cx="1170432" cy="352702"/>
            </a:xfrm>
            <a:prstGeom prst="roundRect">
              <a:avLst/>
            </a:prstGeom>
            <a:solidFill>
              <a:srgbClr val="47C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查询执行</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9"/>
            <p:cNvSpPr/>
            <p:nvPr/>
          </p:nvSpPr>
          <p:spPr>
            <a:xfrm>
              <a:off x="1147360" y="5427608"/>
              <a:ext cx="1170432"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数据读取</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a:xfrm>
              <a:off x="365772" y="3254817"/>
              <a:ext cx="2694001" cy="794662"/>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alpha val="28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下箭头 23"/>
            <p:cNvSpPr/>
            <p:nvPr/>
          </p:nvSpPr>
          <p:spPr>
            <a:xfrm>
              <a:off x="1639395" y="2276198"/>
              <a:ext cx="182875" cy="276504"/>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alpha val="28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下箭头 24"/>
            <p:cNvSpPr/>
            <p:nvPr/>
          </p:nvSpPr>
          <p:spPr>
            <a:xfrm>
              <a:off x="1639395" y="3000964"/>
              <a:ext cx="182875" cy="276504"/>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alpha val="28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下箭头 25"/>
            <p:cNvSpPr/>
            <p:nvPr/>
          </p:nvSpPr>
          <p:spPr>
            <a:xfrm>
              <a:off x="1639394" y="4090848"/>
              <a:ext cx="182875" cy="35052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alpha val="28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下箭头 26"/>
            <p:cNvSpPr/>
            <p:nvPr/>
          </p:nvSpPr>
          <p:spPr>
            <a:xfrm>
              <a:off x="1639393" y="4977398"/>
              <a:ext cx="182875" cy="437834"/>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alpha val="28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768212" y="1219252"/>
              <a:ext cx="1537600" cy="373760"/>
            </a:xfrm>
            <a:prstGeom prst="rect">
              <a:avLst/>
            </a:prstGeom>
            <a:noFill/>
          </p:spPr>
          <p:txBody>
            <a:bodyPr wrap="none" rtlCol="0">
              <a:spAutoFit/>
            </a:bodyPr>
            <a:lstStyle/>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SQL</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处理流程</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a:xfrm>
              <a:off x="3430310" y="4466428"/>
              <a:ext cx="1571610" cy="467200"/>
            </a:xfrm>
            <a:prstGeom prst="rect">
              <a:avLst/>
            </a:prstGeom>
            <a:noFill/>
          </p:spPr>
          <p:txBody>
            <a:bodyPr wrap="square" rtlCol="0">
              <a:spAutoFit/>
            </a:bodyPr>
            <a:lstStyle/>
            <a:p>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数据库执行引擎</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执行器</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a:xfrm>
              <a:off x="3430310" y="5610486"/>
              <a:ext cx="1441420" cy="467200"/>
            </a:xfrm>
            <a:prstGeom prst="rect">
              <a:avLst/>
            </a:prstGeom>
            <a:noFill/>
          </p:spPr>
          <p:txBody>
            <a:bodyPr wrap="square" rtlCol="0">
              <a:spAutoFit/>
            </a:bodyPr>
            <a:lstStyle/>
            <a:p>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数据库存储引擎</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存储</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a:xfrm>
              <a:off x="3451122" y="3107848"/>
              <a:ext cx="1420607" cy="467200"/>
            </a:xfrm>
            <a:prstGeom prst="rect">
              <a:avLst/>
            </a:prstGeom>
            <a:noFill/>
          </p:spPr>
          <p:txBody>
            <a:bodyPr wrap="square" rtlCol="0">
              <a:spAutoFit/>
            </a:bodyPr>
            <a:lstStyle/>
            <a:p>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数据库优化引擎</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优化器</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a:xfrm>
              <a:off x="3382482" y="1876694"/>
              <a:ext cx="1723549" cy="467200"/>
            </a:xfrm>
            <a:prstGeom prst="rect">
              <a:avLst/>
            </a:prstGeom>
            <a:noFill/>
          </p:spPr>
          <p:txBody>
            <a:bodyPr wrap="none" rtlCol="0">
              <a:spAutoFit/>
            </a:bodyPr>
            <a:lstStyle/>
            <a:p>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查询解析器</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-Parser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词法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语法</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语义</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22"/>
            <p:cNvCxnSpPr/>
            <p:nvPr/>
          </p:nvCxnSpPr>
          <p:spPr>
            <a:xfrm>
              <a:off x="3189963" y="1518523"/>
              <a:ext cx="0" cy="4790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圆角矩形 34"/>
            <p:cNvSpPr/>
            <p:nvPr/>
          </p:nvSpPr>
          <p:spPr>
            <a:xfrm>
              <a:off x="608759" y="5978420"/>
              <a:ext cx="694480"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高可用</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35"/>
            <p:cNvSpPr/>
            <p:nvPr/>
          </p:nvSpPr>
          <p:spPr>
            <a:xfrm>
              <a:off x="1433429" y="5978420"/>
              <a:ext cx="694480"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日志</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36"/>
            <p:cNvSpPr/>
            <p:nvPr/>
          </p:nvSpPr>
          <p:spPr>
            <a:xfrm>
              <a:off x="2304262" y="5978420"/>
              <a:ext cx="694480" cy="352702"/>
            </a:xfrm>
            <a:prstGeom prst="round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事务</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右大括号 26"/>
            <p:cNvSpPr/>
            <p:nvPr/>
          </p:nvSpPr>
          <p:spPr>
            <a:xfrm>
              <a:off x="3227186" y="1770380"/>
              <a:ext cx="138721" cy="603786"/>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右大括号 27"/>
            <p:cNvSpPr/>
            <p:nvPr/>
          </p:nvSpPr>
          <p:spPr>
            <a:xfrm>
              <a:off x="3226622" y="2542705"/>
              <a:ext cx="139285" cy="1506774"/>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右大括号 28"/>
            <p:cNvSpPr/>
            <p:nvPr/>
          </p:nvSpPr>
          <p:spPr>
            <a:xfrm>
              <a:off x="3230043" y="4172795"/>
              <a:ext cx="139285" cy="980505"/>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右大括号 29"/>
            <p:cNvSpPr/>
            <p:nvPr/>
          </p:nvSpPr>
          <p:spPr>
            <a:xfrm>
              <a:off x="3239960" y="5290057"/>
              <a:ext cx="139285" cy="980505"/>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a:xfrm>
              <a:off x="2001484" y="2305593"/>
              <a:ext cx="800219" cy="280320"/>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逻辑优化</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a:xfrm>
              <a:off x="1984706" y="3000126"/>
              <a:ext cx="800219" cy="280320"/>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物理优化</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8210389" cy="4957760"/>
          </a:xfrm>
        </p:spPr>
        <p:txBody>
          <a:bodyPr>
            <a:normAutofit lnSpcReduction="10000"/>
          </a:bodyPr>
          <a:lstStyle/>
          <a:p>
            <a:r>
              <a:rPr lang="zh-CN" altLang="en-US" dirty="0"/>
              <a:t>传统执行器模型</a:t>
            </a:r>
            <a:endParaRPr lang="zh-CN" altLang="en-US" dirty="0"/>
          </a:p>
          <a:p>
            <a:pPr lvl="1"/>
            <a:r>
              <a:rPr lang="zh-CN" altLang="en-US" dirty="0"/>
              <a:t>经典的执行模型：</a:t>
            </a:r>
            <a:r>
              <a:rPr lang="en-US" altLang="zh-CN" dirty="0"/>
              <a:t>Tuple-At-A-Time</a:t>
            </a:r>
            <a:r>
              <a:rPr lang="zh-CN" altLang="en-US" dirty="0"/>
              <a:t>模型（</a:t>
            </a:r>
            <a:r>
              <a:rPr lang="en-US" altLang="zh-CN" dirty="0"/>
              <a:t>Volcano-Model</a:t>
            </a:r>
            <a:r>
              <a:rPr lang="zh-CN" altLang="en-US" dirty="0"/>
              <a:t>）</a:t>
            </a:r>
            <a:endParaRPr lang="en-US" altLang="zh-CN" dirty="0"/>
          </a:p>
          <a:p>
            <a:pPr lvl="2"/>
            <a:r>
              <a:rPr lang="zh-CN" altLang="en-US" dirty="0"/>
              <a:t>数据库的执行以算子迭代的方式进行驱动执行，每个算子抽象成为</a:t>
            </a:r>
            <a:r>
              <a:rPr lang="en-US" altLang="zh-CN" dirty="0"/>
              <a:t>open()/next()/close()</a:t>
            </a:r>
            <a:r>
              <a:rPr lang="zh-CN" altLang="en-US" dirty="0"/>
              <a:t>三种类型操作，上层算子通过嵌套调用下层的</a:t>
            </a:r>
            <a:r>
              <a:rPr lang="en-US" altLang="zh-CN" dirty="0"/>
              <a:t>next()</a:t>
            </a:r>
            <a:r>
              <a:rPr lang="zh-CN" altLang="en-US" dirty="0"/>
              <a:t>进行处理数据的返回，同样初始化的过程和结束过程也通过</a:t>
            </a:r>
            <a:r>
              <a:rPr lang="en-US" altLang="zh-CN" dirty="0"/>
              <a:t>open()/close()</a:t>
            </a:r>
            <a:r>
              <a:rPr lang="zh-CN" altLang="en-US" dirty="0"/>
              <a:t>嵌套调用，火山模型也是大多数传统数据库实现的执行模型。</a:t>
            </a:r>
            <a:endParaRPr lang="zh-CN" altLang="en-US" dirty="0"/>
          </a:p>
          <a:p>
            <a:pPr lvl="1"/>
            <a:r>
              <a:rPr lang="zh-CN" altLang="en-US" dirty="0"/>
              <a:t>传统执行模型的优缺点：</a:t>
            </a:r>
            <a:endParaRPr lang="en-US" altLang="zh-CN" dirty="0"/>
          </a:p>
          <a:p>
            <a:pPr lvl="2"/>
            <a:r>
              <a:rPr lang="zh-CN" altLang="en-US" dirty="0"/>
              <a:t>优点：逻辑清晰，可读性可维护性较好。</a:t>
            </a:r>
            <a:endParaRPr lang="zh-CN" altLang="en-US" dirty="0"/>
          </a:p>
          <a:p>
            <a:pPr lvl="2"/>
            <a:r>
              <a:rPr lang="zh-CN" altLang="en-US" dirty="0"/>
              <a:t>缺点：由于存在大量的</a:t>
            </a:r>
            <a:r>
              <a:rPr lang="en-US" altLang="zh-CN" dirty="0"/>
              <a:t>function call, instruction cache missing</a:t>
            </a:r>
            <a:r>
              <a:rPr lang="zh-CN" altLang="en-US" dirty="0"/>
              <a:t>因此运行效率低。</a:t>
            </a:r>
            <a:endParaRPr lang="zh-CN" altLang="en-US" dirty="0"/>
          </a:p>
          <a:p>
            <a:pPr lvl="2"/>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pic>
        <p:nvPicPr>
          <p:cNvPr id="6" name="图片 5"/>
          <p:cNvPicPr>
            <a:picLocks noChangeAspect="1"/>
          </p:cNvPicPr>
          <p:nvPr/>
        </p:nvPicPr>
        <p:blipFill>
          <a:blip r:embed="rId1"/>
          <a:stretch>
            <a:fillRect/>
          </a:stretch>
        </p:blipFill>
        <p:spPr>
          <a:xfrm>
            <a:off x="9118595" y="1641146"/>
            <a:ext cx="2054530" cy="453581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67318" y="950598"/>
            <a:ext cx="11453091" cy="4957760"/>
          </a:xfrm>
        </p:spPr>
        <p:txBody>
          <a:bodyPr/>
          <a:lstStyle/>
          <a:p>
            <a:r>
              <a:rPr lang="en-US" altLang="zh-CN" dirty="0" err="1"/>
              <a:t>openGauss</a:t>
            </a:r>
            <a:r>
              <a:rPr lang="zh-CN" altLang="en-US" dirty="0"/>
              <a:t>执行器主要执行过程</a:t>
            </a:r>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pic>
        <p:nvPicPr>
          <p:cNvPr id="6" name="图片 5"/>
          <p:cNvPicPr>
            <a:picLocks noChangeAspect="1"/>
          </p:cNvPicPr>
          <p:nvPr/>
        </p:nvPicPr>
        <p:blipFill>
          <a:blip r:embed="rId1"/>
          <a:stretch>
            <a:fillRect/>
          </a:stretch>
        </p:blipFill>
        <p:spPr>
          <a:xfrm>
            <a:off x="616585" y="1595120"/>
            <a:ext cx="10410190" cy="50869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查询优化</a:t>
            </a:r>
            <a:endParaRPr lang="en-US" altLang="zh-CN" dirty="0"/>
          </a:p>
          <a:p>
            <a:pPr lvl="1"/>
            <a:r>
              <a:rPr lang="zh-CN" altLang="en-US" dirty="0"/>
              <a:t>关系数据库系统的查询语言一般是“非过程语言”，它减轻了用户选择存取路径的负担。</a:t>
            </a:r>
            <a:endParaRPr lang="zh-CN" altLang="en-US" dirty="0"/>
          </a:p>
          <a:p>
            <a:pPr lvl="1"/>
            <a:r>
              <a:rPr lang="zh-CN" altLang="en-US" dirty="0"/>
              <a:t>即用户只要提出“做什么</a:t>
            </a:r>
            <a:r>
              <a:rPr lang="en-US" altLang="zh-CN" dirty="0"/>
              <a:t>?”(What)</a:t>
            </a:r>
            <a:r>
              <a:rPr lang="zh-CN" altLang="en-US" dirty="0"/>
              <a:t>，不必指出“怎么做”</a:t>
            </a:r>
            <a:r>
              <a:rPr lang="en-US" altLang="zh-CN" dirty="0"/>
              <a:t>(How)</a:t>
            </a:r>
            <a:r>
              <a:rPr lang="zh-CN" altLang="en-US" dirty="0"/>
              <a:t>。用户不必关心查询的具体执行过程</a:t>
            </a:r>
            <a:endParaRPr lang="zh-CN" altLang="en-US" dirty="0"/>
          </a:p>
          <a:p>
            <a:pPr lvl="1"/>
            <a:r>
              <a:rPr lang="zh-CN" altLang="en-US" dirty="0"/>
              <a:t>由</a:t>
            </a:r>
            <a:r>
              <a:rPr lang="en-US" altLang="zh-CN" dirty="0"/>
              <a:t>DBMS</a:t>
            </a:r>
            <a:r>
              <a:rPr lang="zh-CN" altLang="en-US" dirty="0"/>
              <a:t>确定合理的、有效的执行策略这方面的功能称为查询优化 </a:t>
            </a:r>
            <a:endParaRPr lang="zh-CN" altLang="en-US" dirty="0"/>
          </a:p>
          <a:p>
            <a:pPr lvl="1"/>
            <a:r>
              <a:rPr lang="zh-CN" altLang="en-US" dirty="0"/>
              <a:t>对于使用非过程查询语言的</a:t>
            </a:r>
            <a:r>
              <a:rPr lang="en-US" altLang="zh-CN" dirty="0"/>
              <a:t>RDBMS</a:t>
            </a:r>
            <a:r>
              <a:rPr lang="zh-CN" altLang="en-US" dirty="0"/>
              <a:t>，查询优化是查询处理中非常重要的一环</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查询优化的必要性</a:t>
            </a:r>
            <a:endParaRPr lang="en-US" altLang="zh-CN" dirty="0"/>
          </a:p>
          <a:p>
            <a:pPr lvl="1"/>
            <a:r>
              <a:rPr lang="zh-CN" altLang="en-US" dirty="0"/>
              <a:t>查询优化的优点不仅在于用户不必考虑如何最好地表达查询以获得较好的效率，而且在于系统可以比用户程序的“优化”做得更好</a:t>
            </a:r>
            <a:endParaRPr lang="zh-CN" altLang="en-US" dirty="0"/>
          </a:p>
          <a:p>
            <a:pPr lvl="1"/>
            <a:r>
              <a:rPr lang="zh-CN" altLang="en-US" dirty="0"/>
              <a:t>这是因为：</a:t>
            </a:r>
            <a:endParaRPr lang="zh-CN" altLang="en-US" dirty="0"/>
          </a:p>
          <a:p>
            <a:pPr lvl="2"/>
            <a:r>
              <a:rPr lang="zh-CN" altLang="en-US" dirty="0"/>
              <a:t>优化器可以从数据目录中获取许多统计信息</a:t>
            </a:r>
            <a:endParaRPr lang="zh-CN" altLang="en-US" dirty="0"/>
          </a:p>
          <a:p>
            <a:pPr lvl="2"/>
            <a:r>
              <a:rPr lang="zh-CN" altLang="en-US" dirty="0"/>
              <a:t>如果数据库的物理统计信息改变了，系统可以自动对查询进行重新优化以选择相适应的执行计划。在非关系系统中必须重写程序，而重写程序在实际应用中往往是不太可能的</a:t>
            </a:r>
            <a:endParaRPr lang="zh-CN" altLang="en-US" dirty="0"/>
          </a:p>
          <a:p>
            <a:pPr lvl="2"/>
            <a:r>
              <a:rPr lang="zh-CN" altLang="en-US" dirty="0"/>
              <a:t>优化器可以考虑数百种不同的执行计划，而程序员一般只能考虑有限的几种可能性。</a:t>
            </a:r>
            <a:endParaRPr lang="zh-CN" altLang="en-US" dirty="0"/>
          </a:p>
          <a:p>
            <a:pPr lvl="2"/>
            <a:r>
              <a:rPr lang="zh-CN" altLang="en-US" dirty="0"/>
              <a:t>优化器中包括了很多复杂的优化技术，这些优化技术往往只有最好的程序员才能掌握。系统的自动优化相当于使得所有人都拥有这些优化技术</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查询优化的途径</a:t>
            </a:r>
            <a:endParaRPr lang="zh-CN" altLang="en-US" dirty="0"/>
          </a:p>
          <a:p>
            <a:pPr lvl="1"/>
            <a:r>
              <a:rPr lang="zh-CN" altLang="en-US" dirty="0"/>
              <a:t>对查询语句进行等价变换（如改变基本操作的顺序）使查询执行起来更加有效。这种优化只涉及查询语句本身，而不涉及存取路径，故称为独立于存取路径的优化，或代数优化</a:t>
            </a:r>
            <a:endParaRPr lang="zh-CN" altLang="en-US" dirty="0"/>
          </a:p>
          <a:p>
            <a:pPr lvl="1"/>
            <a:r>
              <a:rPr lang="zh-CN" altLang="en-US" dirty="0"/>
              <a:t>根据系统提供的查询路径，选择合理的存取策略（例如是选择顺序扫描还是选择索引），这称为依赖于存取路径的优化，或称物理优化</a:t>
            </a:r>
            <a:endParaRPr lang="zh-CN" altLang="en-US" dirty="0"/>
          </a:p>
          <a:p>
            <a:pPr lvl="1"/>
            <a:r>
              <a:rPr lang="zh-CN" altLang="en-US" dirty="0"/>
              <a:t>有些查询可根据启发式规则选择执行策略，这称为规则优化</a:t>
            </a:r>
            <a:endParaRPr lang="zh-CN" altLang="en-US" dirty="0"/>
          </a:p>
          <a:p>
            <a:pPr lvl="1"/>
            <a:r>
              <a:rPr lang="zh-CN" altLang="en-US" dirty="0"/>
              <a:t>根据可供选择的执行策略进行代价估算，并从中选择代价最小的执行策略，这称为代价估算优化</a:t>
            </a:r>
            <a:endParaRPr lang="zh-CN" altLang="en-US" dirty="0"/>
          </a:p>
          <a:p>
            <a:pPr lvl="1"/>
            <a:r>
              <a:rPr lang="zh-CN" altLang="en-US" dirty="0"/>
              <a:t>此外，还可以通过应用数据库的语义信息对查询进行优化，这称为语义优化</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查询处理的代价</a:t>
            </a:r>
            <a:endParaRPr lang="en-US" altLang="zh-CN" dirty="0"/>
          </a:p>
          <a:p>
            <a:pPr lvl="1"/>
            <a:r>
              <a:rPr lang="zh-CN" altLang="en-US" dirty="0"/>
              <a:t>在集中式数据库中，查询的执行代价主要包括</a:t>
            </a:r>
            <a:endParaRPr lang="zh-CN" altLang="en-US" dirty="0"/>
          </a:p>
          <a:p>
            <a:pPr lvl="2"/>
            <a:r>
              <a:rPr lang="zh-CN" altLang="en-US" dirty="0"/>
              <a:t>总代价 </a:t>
            </a:r>
            <a:r>
              <a:rPr lang="en-US" altLang="zh-CN" dirty="0"/>
              <a:t>= I/O</a:t>
            </a:r>
            <a:r>
              <a:rPr lang="zh-CN" altLang="en-US" dirty="0"/>
              <a:t>代价 </a:t>
            </a:r>
            <a:r>
              <a:rPr lang="en-US" altLang="zh-CN" dirty="0"/>
              <a:t>+ CPU</a:t>
            </a:r>
            <a:r>
              <a:rPr lang="zh-CN" altLang="en-US" dirty="0"/>
              <a:t>代价 </a:t>
            </a:r>
            <a:endParaRPr lang="zh-CN" altLang="en-US" dirty="0"/>
          </a:p>
          <a:p>
            <a:pPr lvl="1"/>
            <a:r>
              <a:rPr lang="zh-CN" altLang="en-US" dirty="0"/>
              <a:t>在多用户环境下</a:t>
            </a:r>
            <a:r>
              <a:rPr lang="en-US" altLang="zh-CN" dirty="0"/>
              <a:t>:</a:t>
            </a:r>
            <a:endParaRPr lang="en-US" altLang="zh-CN" dirty="0"/>
          </a:p>
          <a:p>
            <a:pPr lvl="2"/>
            <a:r>
              <a:rPr lang="zh-CN" altLang="en-US" dirty="0"/>
              <a:t>总代价 </a:t>
            </a:r>
            <a:r>
              <a:rPr lang="en-US" altLang="zh-CN" dirty="0"/>
              <a:t>= I/O</a:t>
            </a:r>
            <a:r>
              <a:rPr lang="zh-CN" altLang="en-US" dirty="0"/>
              <a:t>代价 </a:t>
            </a:r>
            <a:r>
              <a:rPr lang="en-US" altLang="zh-CN" dirty="0"/>
              <a:t>+ CPU</a:t>
            </a:r>
            <a:r>
              <a:rPr lang="zh-CN" altLang="en-US" dirty="0"/>
              <a:t>代价 </a:t>
            </a:r>
            <a:r>
              <a:rPr lang="en-US" altLang="zh-CN" dirty="0"/>
              <a:t>+ </a:t>
            </a:r>
            <a:r>
              <a:rPr lang="zh-CN" altLang="en-US" dirty="0"/>
              <a:t>内存代价</a:t>
            </a:r>
            <a:endParaRPr lang="zh-CN" altLang="en-US" dirty="0"/>
          </a:p>
          <a:p>
            <a:pPr lvl="1"/>
            <a:r>
              <a:rPr lang="zh-CN" altLang="en-US" dirty="0"/>
              <a:t>在网络分布环境下</a:t>
            </a:r>
            <a:r>
              <a:rPr lang="en-US" altLang="zh-CN" dirty="0"/>
              <a:t>:</a:t>
            </a:r>
            <a:endParaRPr lang="en-US" altLang="zh-CN" dirty="0"/>
          </a:p>
          <a:p>
            <a:pPr lvl="2"/>
            <a:r>
              <a:rPr lang="zh-CN" altLang="en-US" dirty="0"/>
              <a:t>总代价 </a:t>
            </a:r>
            <a:r>
              <a:rPr lang="en-US" altLang="zh-CN" dirty="0"/>
              <a:t>= I/O</a:t>
            </a:r>
            <a:r>
              <a:rPr lang="zh-CN" altLang="en-US" dirty="0"/>
              <a:t>代价 </a:t>
            </a:r>
            <a:r>
              <a:rPr lang="en-US" altLang="zh-CN" dirty="0"/>
              <a:t>+ CPU</a:t>
            </a:r>
            <a:r>
              <a:rPr lang="zh-CN" altLang="en-US" dirty="0"/>
              <a:t>代价</a:t>
            </a:r>
            <a:r>
              <a:rPr lang="en-US" altLang="zh-CN" dirty="0"/>
              <a:t>+</a:t>
            </a:r>
            <a:r>
              <a:rPr lang="zh-CN" altLang="en-US" dirty="0"/>
              <a:t>网络传输代价</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92500" lnSpcReduction="20000"/>
              </a:bodyPr>
              <a:lstStyle/>
              <a:p>
                <a:r>
                  <a:rPr lang="zh-CN" altLang="en-US" dirty="0"/>
                  <a:t>实例分析</a:t>
                </a:r>
                <a:endParaRPr lang="en-US" altLang="zh-CN" dirty="0"/>
              </a:p>
              <a:p>
                <a:pPr lvl="1"/>
                <a:r>
                  <a:rPr lang="zh-CN" altLang="en-US" i="1" dirty="0"/>
                  <a:t>例</a:t>
                </a:r>
                <a:r>
                  <a:rPr lang="en-US" altLang="zh-CN" i="1" dirty="0"/>
                  <a:t>7-1</a:t>
                </a:r>
                <a:r>
                  <a:rPr lang="zh-CN" altLang="en-US" i="1" dirty="0"/>
                  <a:t>：给出选修课程”</a:t>
                </a:r>
                <a:r>
                  <a:rPr lang="en-US" altLang="zh-CN" i="1" dirty="0"/>
                  <a:t>CS-08” </a:t>
                </a:r>
                <a:r>
                  <a:rPr lang="zh-CN" altLang="en-US" i="1" dirty="0"/>
                  <a:t>的学生姓名</a:t>
                </a:r>
                <a:r>
                  <a:rPr lang="zh-CN" altLang="en-US" dirty="0"/>
                  <a:t>。</a:t>
                </a:r>
                <a:endParaRPr lang="zh-CN" altLang="en-US" dirty="0"/>
              </a:p>
              <a:p>
                <a:pPr lvl="1"/>
                <a:r>
                  <a:rPr lang="zh-CN" altLang="en-US" dirty="0"/>
                  <a:t>用</a:t>
                </a:r>
                <a:r>
                  <a:rPr lang="en-US" altLang="zh-CN" dirty="0"/>
                  <a:t>SQL</a:t>
                </a:r>
                <a:r>
                  <a:rPr lang="zh-CN" altLang="en-US" dirty="0"/>
                  <a:t>语言表达： </a:t>
                </a:r>
                <a:endParaRPr lang="en-US" altLang="zh-CN" dirty="0"/>
              </a:p>
              <a:p>
                <a:pPr marL="914400" lvl="2" indent="0">
                  <a:buNone/>
                </a:pPr>
                <a:r>
                  <a:rPr lang="en-US" altLang="zh-CN" dirty="0">
                    <a:highlight>
                      <a:srgbClr val="C0C0C0"/>
                    </a:highlight>
                  </a:rPr>
                  <a:t>SELECT  </a:t>
                </a:r>
                <a:r>
                  <a:rPr lang="en-US" altLang="zh-CN" dirty="0" err="1">
                    <a:highlight>
                      <a:srgbClr val="C0C0C0"/>
                    </a:highlight>
                  </a:rPr>
                  <a:t>S.Sname</a:t>
                </a:r>
                <a:r>
                  <a:rPr lang="en-US" altLang="zh-CN" dirty="0">
                    <a:highlight>
                      <a:srgbClr val="C0C0C0"/>
                    </a:highlight>
                  </a:rPr>
                  <a:t> </a:t>
                </a:r>
                <a:endParaRPr lang="en-US" altLang="zh-CN" dirty="0">
                  <a:highlight>
                    <a:srgbClr val="C0C0C0"/>
                  </a:highlight>
                </a:endParaRPr>
              </a:p>
              <a:p>
                <a:pPr marL="914400" lvl="2" indent="0">
                  <a:buNone/>
                </a:pPr>
                <a:r>
                  <a:rPr lang="en-US" altLang="zh-CN" dirty="0">
                    <a:highlight>
                      <a:srgbClr val="C0C0C0"/>
                    </a:highlight>
                  </a:rPr>
                  <a:t>FROM      Student S</a:t>
                </a:r>
                <a:r>
                  <a:rPr lang="zh-CN" altLang="en-US" dirty="0">
                    <a:highlight>
                      <a:srgbClr val="C0C0C0"/>
                    </a:highlight>
                  </a:rPr>
                  <a:t>，</a:t>
                </a:r>
                <a:r>
                  <a:rPr lang="en-US" altLang="zh-CN" dirty="0">
                    <a:highlight>
                      <a:srgbClr val="C0C0C0"/>
                    </a:highlight>
                  </a:rPr>
                  <a:t>SC </a:t>
                </a:r>
                <a:endParaRPr lang="en-US" altLang="zh-CN" dirty="0">
                  <a:highlight>
                    <a:srgbClr val="C0C0C0"/>
                  </a:highlight>
                </a:endParaRPr>
              </a:p>
              <a:p>
                <a:pPr marL="914400" lvl="2" indent="0">
                  <a:buNone/>
                </a:pPr>
                <a:r>
                  <a:rPr lang="en-US" altLang="zh-CN" dirty="0">
                    <a:highlight>
                      <a:srgbClr val="C0C0C0"/>
                    </a:highlight>
                  </a:rPr>
                  <a:t>WHERE   S.S#=SC.S# AND C#=‘CS-08'</a:t>
                </a:r>
                <a:r>
                  <a:rPr lang="zh-CN" altLang="en-US" dirty="0">
                    <a:highlight>
                      <a:srgbClr val="C0C0C0"/>
                    </a:highlight>
                  </a:rPr>
                  <a:t>； </a:t>
                </a:r>
                <a:endParaRPr lang="en-US" altLang="zh-CN" dirty="0">
                  <a:highlight>
                    <a:srgbClr val="C0C0C0"/>
                  </a:highlight>
                </a:endParaRPr>
              </a:p>
              <a:p>
                <a:pPr lvl="1"/>
                <a:r>
                  <a:rPr lang="zh-CN" altLang="en-US" dirty="0"/>
                  <a:t>假定</a:t>
                </a:r>
                <a:r>
                  <a:rPr lang="zh-CN" altLang="en-US" dirty="0">
                    <a:solidFill>
                      <a:srgbClr val="C00000"/>
                    </a:solidFill>
                  </a:rPr>
                  <a:t>学生</a:t>
                </a:r>
                <a:r>
                  <a:rPr lang="en-US" altLang="zh-CN" dirty="0">
                    <a:solidFill>
                      <a:srgbClr val="C00000"/>
                    </a:solidFill>
                  </a:rPr>
                  <a:t>-</a:t>
                </a:r>
                <a:r>
                  <a:rPr lang="zh-CN" altLang="en-US" dirty="0">
                    <a:solidFill>
                      <a:srgbClr val="C00000"/>
                    </a:solidFill>
                  </a:rPr>
                  <a:t>课程数据库</a:t>
                </a:r>
                <a:r>
                  <a:rPr lang="zh-CN" altLang="en-US" dirty="0"/>
                  <a:t>中有</a:t>
                </a:r>
                <a:r>
                  <a:rPr lang="en-US" altLang="zh-CN" dirty="0"/>
                  <a:t>500</a:t>
                </a:r>
                <a:r>
                  <a:rPr lang="zh-CN" altLang="en-US" dirty="0"/>
                  <a:t>个学生记录</a:t>
                </a:r>
                <a:r>
                  <a:rPr lang="en-US" altLang="zh-CN" dirty="0"/>
                  <a:t>,</a:t>
                </a:r>
                <a:r>
                  <a:rPr lang="en-US" altLang="zh-CN" dirty="0">
                    <a:solidFill>
                      <a:srgbClr val="C00000"/>
                    </a:solidFill>
                  </a:rPr>
                  <a:t>10000</a:t>
                </a:r>
                <a:r>
                  <a:rPr lang="zh-CN" altLang="en-US" dirty="0"/>
                  <a:t>个选课记录，其中选修课程” </a:t>
                </a:r>
                <a:r>
                  <a:rPr lang="en-US" altLang="zh-CN" dirty="0"/>
                  <a:t>CS-08”</a:t>
                </a:r>
                <a:r>
                  <a:rPr lang="zh-CN" altLang="en-US" dirty="0"/>
                  <a:t>的选课记录为</a:t>
                </a:r>
                <a:r>
                  <a:rPr lang="en-US" altLang="zh-CN" dirty="0">
                    <a:solidFill>
                      <a:srgbClr val="C00000"/>
                    </a:solidFill>
                  </a:rPr>
                  <a:t>50</a:t>
                </a:r>
                <a:r>
                  <a:rPr lang="zh-CN" altLang="en-US" dirty="0"/>
                  <a:t>个。 </a:t>
                </a:r>
                <a:endParaRPr lang="zh-CN" altLang="en-US" dirty="0"/>
              </a:p>
              <a:p>
                <a:pPr lvl="1"/>
                <a:r>
                  <a:rPr lang="zh-CN" altLang="en-US" dirty="0"/>
                  <a:t>系统可以用多种等价的关系代数表达式来完成这一查询 </a:t>
                </a:r>
                <a:endParaRPr lang="en-US" altLang="zh-CN" dirty="0"/>
              </a:p>
              <a:p>
                <a:pPr lvl="2"/>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𝑠𝑐</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𝐶𝑆</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08</m:t>
                            </m:r>
                          </m:e>
                          <m:sup>
                            <m:r>
                              <a:rPr lang="en-US" altLang="zh-CN" b="0" i="1" smtClean="0">
                                <a:latin typeface="Cambria Math" panose="02040503050406030204" pitchFamily="18" charset="0"/>
                                <a:ea typeface="Cambria Math" panose="02040503050406030204" pitchFamily="18" charset="0"/>
                              </a:rPr>
                              <m:t>′</m:t>
                            </m:r>
                          </m:sup>
                        </m:sSup>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e>
                    </m:d>
                    <m:r>
                      <a:rPr lang="en-US" altLang="zh-CN" b="0" i="1" smtClean="0">
                        <a:latin typeface="Cambria Math" panose="02040503050406030204" pitchFamily="18" charset="0"/>
                        <a:ea typeface="Cambria Math" panose="02040503050406030204" pitchFamily="18" charset="0"/>
                      </a:rPr>
                      <m:t>)</m:t>
                    </m:r>
                  </m:oMath>
                </a14:m>
                <a:endParaRPr lang="en-US" altLang="zh-CN" dirty="0"/>
              </a:p>
              <a:p>
                <a:pPr lvl="2"/>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𝑐</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𝐶𝑆</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08</m:t>
                            </m:r>
                          </m:e>
                          <m:sup>
                            <m:r>
                              <a:rPr lang="en-US" altLang="zh-CN" b="0" i="1" smtClean="0">
                                <a:latin typeface="Cambria Math" panose="02040503050406030204" pitchFamily="18" charset="0"/>
                              </a:rPr>
                              <m:t>′</m:t>
                            </m:r>
                          </m:sup>
                        </m:sSup>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𝑆𝐶</m:t>
                        </m:r>
                      </m:e>
                    </m:d>
                    <m:r>
                      <a:rPr lang="en-US" altLang="zh-CN" b="0" i="1" smtClean="0">
                        <a:latin typeface="Cambria Math" panose="02040503050406030204" pitchFamily="18" charset="0"/>
                      </a:rPr>
                      <m:t>)</m:t>
                    </m:r>
                  </m:oMath>
                </a14:m>
                <a:endParaRPr lang="en-US" altLang="zh-CN" dirty="0"/>
              </a:p>
              <a:p>
                <a:pPr lvl="2"/>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𝐶𝑆</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08</m:t>
                            </m:r>
                          </m:e>
                          <m:sup>
                            <m:r>
                              <a:rPr lang="en-US" altLang="zh-CN" b="0" i="1" smtClean="0">
                                <a:latin typeface="Cambria Math" panose="02040503050406030204" pitchFamily="18" charset="0"/>
                                <a:ea typeface="Cambria Math" panose="02040503050406030204" pitchFamily="18" charset="0"/>
                              </a:rPr>
                              <m:t>′</m:t>
                            </m:r>
                          </m:sup>
                        </m:sSup>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𝑆𝐶</m:t>
                        </m:r>
                      </m:e>
                    </m:d>
                    <m:r>
                      <a:rPr lang="en-US" altLang="zh-CN" b="0" i="1" smtClean="0">
                        <a:latin typeface="Cambria Math" panose="02040503050406030204" pitchFamily="18" charset="0"/>
                        <a:ea typeface="Cambria Math" panose="02040503050406030204" pitchFamily="18" charset="0"/>
                      </a:rPr>
                      <m:t>)</m:t>
                    </m:r>
                  </m:oMath>
                </a14:m>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727"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graphicFrame>
        <p:nvGraphicFramePr>
          <p:cNvPr id="28"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29"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30" name="矩形 29"/>
          <p:cNvSpPr/>
          <p:nvPr/>
        </p:nvSpPr>
        <p:spPr>
          <a:xfrm>
            <a:off x="5350528" y="2082637"/>
            <a:ext cx="2520280"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 name="表格 30"/>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32" name="表格 31"/>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sp>
        <p:nvSpPr>
          <p:cNvPr id="34" name="文本框 33"/>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35" name="文本框 34"/>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0.00313 -0.00092 L 0.38872 -0.0368 " pathEditMode="relative" rAng="0" ptsTypes="AA">
                                      <p:cBhvr>
                                        <p:cTn id="6" dur="2000" fill="hold"/>
                                        <p:tgtEl>
                                          <p:spTgt spid="31"/>
                                        </p:tgtEl>
                                        <p:attrNameLst>
                                          <p:attrName>ppt_x</p:attrName>
                                          <p:attrName>ppt_y</p:attrName>
                                        </p:attrNameLst>
                                      </p:cBhvr>
                                      <p:rCtr x="19271" y="-1806"/>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1.94444E-6 3.7037E-7 L -0.26372 -0.00556 " pathEditMode="relative" rAng="0" ptsTypes="AA">
                                      <p:cBhvr>
                                        <p:cTn id="10" dur="2000" fill="hold"/>
                                        <p:tgtEl>
                                          <p:spTgt spid="32"/>
                                        </p:tgtEl>
                                        <p:attrNameLst>
                                          <p:attrName>ppt_x</p:attrName>
                                          <p:attrName>ppt_y</p:attrName>
                                        </p:attrNameLst>
                                      </p:cBhvr>
                                      <p:rCtr x="-13194" y="-2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2" name="表格 11"/>
          <p:cNvGraphicFramePr>
            <a:graphicFrameLocks noGrp="1"/>
          </p:cNvGraphicFramePr>
          <p:nvPr/>
        </p:nvGraphicFramePr>
        <p:xfrm>
          <a:off x="7282404" y="240512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sp>
        <p:nvSpPr>
          <p:cNvPr id="14" name="文本框 13"/>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15" name="文本框 14"/>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13" name="表格 3"/>
          <p:cNvGraphicFramePr>
            <a:graphicFrameLocks noGrp="1"/>
          </p:cNvGraphicFramePr>
          <p:nvPr/>
        </p:nvGraphicFramePr>
        <p:xfrm>
          <a:off x="1822137"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16" name="表格 3"/>
          <p:cNvGraphicFramePr>
            <a:graphicFrameLocks noGrp="1"/>
          </p:cNvGraphicFramePr>
          <p:nvPr/>
        </p:nvGraphicFramePr>
        <p:xfrm>
          <a:off x="9599001"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17" name="矩形 16"/>
          <p:cNvSpPr/>
          <p:nvPr/>
        </p:nvSpPr>
        <p:spPr>
          <a:xfrm>
            <a:off x="5350529"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 name="表格 17"/>
          <p:cNvGraphicFramePr>
            <a:graphicFrameLocks noGrp="1"/>
          </p:cNvGraphicFramePr>
          <p:nvPr/>
        </p:nvGraphicFramePr>
        <p:xfrm>
          <a:off x="1822137"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9" name="表格 18"/>
          <p:cNvGraphicFramePr>
            <a:graphicFrameLocks noGrp="1"/>
          </p:cNvGraphicFramePr>
          <p:nvPr/>
        </p:nvGraphicFramePr>
        <p:xfrm>
          <a:off x="9599001"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20" name="表格 19"/>
          <p:cNvGraphicFramePr>
            <a:graphicFrameLocks noGrp="1"/>
          </p:cNvGraphicFramePr>
          <p:nvPr/>
        </p:nvGraphicFramePr>
        <p:xfrm>
          <a:off x="5374193"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21" name="表格 3"/>
          <p:cNvGraphicFramePr>
            <a:graphicFrameLocks noGrp="1"/>
          </p:cNvGraphicFramePr>
          <p:nvPr/>
        </p:nvGraphicFramePr>
        <p:xfrm>
          <a:off x="5374193" y="3536675"/>
          <a:ext cx="2556284" cy="1097280"/>
        </p:xfrm>
        <a:graphic>
          <a:graphicData uri="http://schemas.openxmlformats.org/drawingml/2006/table">
            <a:tbl>
              <a:tblPr firstRow="1" bandRow="1">
                <a:tableStyleId>{5C22544A-7EE6-4342-B048-85BDC9FD1C3A}</a:tableStyleId>
              </a:tblPr>
              <a:tblGrid>
                <a:gridCol w="2556284"/>
              </a:tblGrid>
              <a:tr h="270030">
                <a:tc>
                  <a:txBody>
                    <a:bodyPr/>
                    <a:lstStyle/>
                    <a:p>
                      <a:r>
                        <a:rPr lang="en-US" altLang="zh-CN" sz="1800" b="1" dirty="0" err="1"/>
                        <a:t>Student×SC</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22" name="表格 21"/>
          <p:cNvGraphicFramePr>
            <a:graphicFrameLocks noGrp="1"/>
          </p:cNvGraphicFramePr>
          <p:nvPr/>
        </p:nvGraphicFramePr>
        <p:xfrm>
          <a:off x="7282405"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23" name="表格 22"/>
          <p:cNvGraphicFramePr>
            <a:graphicFrameLocks noGrp="1"/>
          </p:cNvGraphicFramePr>
          <p:nvPr/>
        </p:nvGraphicFramePr>
        <p:xfrm>
          <a:off x="7282405"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24" name="表格 23"/>
          <p:cNvGraphicFramePr>
            <a:graphicFrameLocks noGrp="1"/>
          </p:cNvGraphicFramePr>
          <p:nvPr/>
        </p:nvGraphicFramePr>
        <p:xfrm>
          <a:off x="7294063"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sp>
        <p:nvSpPr>
          <p:cNvPr id="26" name="文本框 25"/>
          <p:cNvSpPr txBox="1"/>
          <p:nvPr/>
        </p:nvSpPr>
        <p:spPr>
          <a:xfrm>
            <a:off x="1822137"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7" name="文本框 26"/>
          <p:cNvSpPr txBox="1"/>
          <p:nvPr/>
        </p:nvSpPr>
        <p:spPr>
          <a:xfrm>
            <a:off x="9058941"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8" name="文本框 27"/>
          <p:cNvSpPr txBox="1"/>
          <p:nvPr/>
        </p:nvSpPr>
        <p:spPr>
          <a:xfrm>
            <a:off x="5788239"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2" name="表格 3"/>
          <p:cNvGraphicFramePr>
            <a:graphicFrameLocks noGrp="1"/>
          </p:cNvGraphicFramePr>
          <p:nvPr/>
        </p:nvGraphicFramePr>
        <p:xfrm>
          <a:off x="5374192" y="3536675"/>
          <a:ext cx="2556284" cy="1097280"/>
        </p:xfrm>
        <a:graphic>
          <a:graphicData uri="http://schemas.openxmlformats.org/drawingml/2006/table">
            <a:tbl>
              <a:tblPr firstRow="1" bandRow="1">
                <a:tableStyleId>{5C22544A-7EE6-4342-B048-85BDC9FD1C3A}</a:tableStyleId>
              </a:tblPr>
              <a:tblGrid>
                <a:gridCol w="2556284"/>
              </a:tblGrid>
              <a:tr h="270030">
                <a:tc>
                  <a:txBody>
                    <a:bodyPr/>
                    <a:lstStyle/>
                    <a:p>
                      <a:r>
                        <a:rPr lang="en-US" altLang="zh-CN" sz="1800" b="1" dirty="0" err="1"/>
                        <a:t>Student×SC</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3" name="表格 12"/>
          <p:cNvGraphicFramePr>
            <a:graphicFrameLocks noGrp="1"/>
          </p:cNvGraphicFramePr>
          <p:nvPr/>
        </p:nvGraphicFramePr>
        <p:xfrm>
          <a:off x="7282404"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7282404"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2"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7" name="文本框 16"/>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18" name="文本框 17"/>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19" name="文本框 18"/>
          <p:cNvSpPr txBox="1"/>
          <p:nvPr/>
        </p:nvSpPr>
        <p:spPr>
          <a:xfrm>
            <a:off x="5788238"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2" name="表格 3"/>
          <p:cNvGraphicFramePr>
            <a:graphicFrameLocks noGrp="1"/>
          </p:cNvGraphicFramePr>
          <p:nvPr/>
        </p:nvGraphicFramePr>
        <p:xfrm>
          <a:off x="5374192" y="3536675"/>
          <a:ext cx="2556284" cy="1828800"/>
        </p:xfrm>
        <a:graphic>
          <a:graphicData uri="http://schemas.openxmlformats.org/drawingml/2006/table">
            <a:tbl>
              <a:tblPr firstRow="1" bandRow="1">
                <a:tableStyleId>{5C22544A-7EE6-4342-B048-85BDC9FD1C3A}</a:tableStyleId>
              </a:tblPr>
              <a:tblGrid>
                <a:gridCol w="2556284"/>
              </a:tblGrid>
              <a:tr h="201622">
                <a:tc>
                  <a:txBody>
                    <a:bodyPr/>
                    <a:lstStyle/>
                    <a:p>
                      <a:r>
                        <a:rPr lang="en-US" altLang="zh-CN" sz="1800" b="1" dirty="0" err="1"/>
                        <a:t>Student×SC</a:t>
                      </a:r>
                      <a:endParaRPr lang="zh-CN" altLang="en-US" dirty="0"/>
                    </a:p>
                  </a:txBody>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bl>
          </a:graphicData>
        </a:graphic>
      </p:graphicFrame>
      <p:graphicFrame>
        <p:nvGraphicFramePr>
          <p:cNvPr id="13" name="表格 12"/>
          <p:cNvGraphicFramePr>
            <a:graphicFrameLocks noGrp="1"/>
          </p:cNvGraphicFramePr>
          <p:nvPr/>
        </p:nvGraphicFramePr>
        <p:xfrm>
          <a:off x="7282404"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7282404"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2"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6" name="表格 15"/>
          <p:cNvGraphicFramePr>
            <a:graphicFrameLocks noGrp="1"/>
          </p:cNvGraphicFramePr>
          <p:nvPr/>
        </p:nvGraphicFramePr>
        <p:xfrm>
          <a:off x="7282404" y="463395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7" name="表格 16"/>
          <p:cNvGraphicFramePr>
            <a:graphicFrameLocks noGrp="1"/>
          </p:cNvGraphicFramePr>
          <p:nvPr/>
        </p:nvGraphicFramePr>
        <p:xfrm>
          <a:off x="7279278" y="500638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9" name="文本框 18"/>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0" name="文本框 19"/>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1" name="文本框 20"/>
          <p:cNvSpPr txBox="1"/>
          <p:nvPr/>
        </p:nvSpPr>
        <p:spPr>
          <a:xfrm>
            <a:off x="5788238"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7"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1"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9"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7"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1"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3"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2" name="表格 3"/>
          <p:cNvGraphicFramePr>
            <a:graphicFrameLocks noGrp="1"/>
          </p:cNvGraphicFramePr>
          <p:nvPr/>
        </p:nvGraphicFramePr>
        <p:xfrm>
          <a:off x="5374193" y="3536675"/>
          <a:ext cx="2556284" cy="1828800"/>
        </p:xfrm>
        <a:graphic>
          <a:graphicData uri="http://schemas.openxmlformats.org/drawingml/2006/table">
            <a:tbl>
              <a:tblPr firstRow="1" bandRow="1">
                <a:tableStyleId>{5C22544A-7EE6-4342-B048-85BDC9FD1C3A}</a:tableStyleId>
              </a:tblPr>
              <a:tblGrid>
                <a:gridCol w="2556284"/>
              </a:tblGrid>
              <a:tr h="201622">
                <a:tc>
                  <a:txBody>
                    <a:bodyPr/>
                    <a:lstStyle/>
                    <a:p>
                      <a:r>
                        <a:rPr lang="en-US" altLang="zh-CN" sz="1800" b="1" dirty="0" err="1"/>
                        <a:t>Student×SC</a:t>
                      </a:r>
                      <a:endParaRPr lang="zh-CN" altLang="en-US" dirty="0"/>
                    </a:p>
                  </a:txBody>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bl>
          </a:graphicData>
        </a:graphic>
      </p:graphicFrame>
      <p:graphicFrame>
        <p:nvGraphicFramePr>
          <p:cNvPr id="13" name="表格 12"/>
          <p:cNvGraphicFramePr>
            <a:graphicFrameLocks noGrp="1"/>
          </p:cNvGraphicFramePr>
          <p:nvPr/>
        </p:nvGraphicFramePr>
        <p:xfrm>
          <a:off x="7282405"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7282405"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3"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6" name="表格 15"/>
          <p:cNvGraphicFramePr>
            <a:graphicFrameLocks noGrp="1"/>
          </p:cNvGraphicFramePr>
          <p:nvPr/>
        </p:nvGraphicFramePr>
        <p:xfrm>
          <a:off x="7282405" y="463395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7" name="表格 16"/>
          <p:cNvGraphicFramePr>
            <a:graphicFrameLocks noGrp="1"/>
          </p:cNvGraphicFramePr>
          <p:nvPr/>
        </p:nvGraphicFramePr>
        <p:xfrm>
          <a:off x="7279279" y="500638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8" name="文本框 17"/>
          <p:cNvSpPr txBox="1"/>
          <p:nvPr/>
        </p:nvSpPr>
        <p:spPr>
          <a:xfrm>
            <a:off x="5998601" y="5558957"/>
            <a:ext cx="1512168" cy="369332"/>
          </a:xfrm>
          <a:prstGeom prst="rect">
            <a:avLst/>
          </a:prstGeom>
          <a:noFill/>
        </p:spPr>
        <p:txBody>
          <a:bodyPr wrap="square" rtlCol="0">
            <a:spAutoFit/>
          </a:bodyPr>
          <a:lstStyle/>
          <a:p>
            <a:r>
              <a:rPr lang="en-US" altLang="zh-CN" dirty="0"/>
              <a:t>……</a:t>
            </a:r>
            <a:endParaRPr lang="zh-CN" altLang="en-US" dirty="0"/>
          </a:p>
        </p:txBody>
      </p:sp>
      <p:sp>
        <p:nvSpPr>
          <p:cNvPr id="20" name="文本框 19"/>
          <p:cNvSpPr txBox="1"/>
          <p:nvPr/>
        </p:nvSpPr>
        <p:spPr>
          <a:xfrm>
            <a:off x="1822137"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1" name="文本框 20"/>
          <p:cNvSpPr txBox="1"/>
          <p:nvPr/>
        </p:nvSpPr>
        <p:spPr>
          <a:xfrm>
            <a:off x="9058941"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2" name="文本框 21"/>
          <p:cNvSpPr txBox="1"/>
          <p:nvPr/>
        </p:nvSpPr>
        <p:spPr>
          <a:xfrm>
            <a:off x="5788239"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2" name="表格 3"/>
          <p:cNvGraphicFramePr>
            <a:graphicFrameLocks noGrp="1"/>
          </p:cNvGraphicFramePr>
          <p:nvPr/>
        </p:nvGraphicFramePr>
        <p:xfrm>
          <a:off x="5374192" y="3536675"/>
          <a:ext cx="2556284" cy="3291840"/>
        </p:xfrm>
        <a:graphic>
          <a:graphicData uri="http://schemas.openxmlformats.org/drawingml/2006/table">
            <a:tbl>
              <a:tblPr firstRow="1" bandRow="1">
                <a:tableStyleId>{5C22544A-7EE6-4342-B048-85BDC9FD1C3A}</a:tableStyleId>
              </a:tblPr>
              <a:tblGrid>
                <a:gridCol w="2556284"/>
              </a:tblGrid>
              <a:tr h="201622">
                <a:tc>
                  <a:txBody>
                    <a:bodyPr/>
                    <a:lstStyle/>
                    <a:p>
                      <a:r>
                        <a:rPr lang="en-US" altLang="zh-CN" sz="1800" b="1" dirty="0" err="1"/>
                        <a:t>Student×SC</a:t>
                      </a:r>
                      <a:endParaRPr lang="zh-CN" altLang="en-US" dirty="0"/>
                    </a:p>
                  </a:txBody>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bl>
          </a:graphicData>
        </a:graphic>
      </p:graphicFrame>
      <p:graphicFrame>
        <p:nvGraphicFramePr>
          <p:cNvPr id="13" name="表格 12"/>
          <p:cNvGraphicFramePr>
            <a:graphicFrameLocks noGrp="1"/>
          </p:cNvGraphicFramePr>
          <p:nvPr/>
        </p:nvGraphicFramePr>
        <p:xfrm>
          <a:off x="7282404"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7282404"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2"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0D0D0D"/>
                    </a:solidFill>
                  </a:tcPr>
                </a:tc>
              </a:tr>
            </a:tbl>
          </a:graphicData>
        </a:graphic>
      </p:graphicFrame>
      <p:graphicFrame>
        <p:nvGraphicFramePr>
          <p:cNvPr id="16" name="表格 15"/>
          <p:cNvGraphicFramePr>
            <a:graphicFrameLocks noGrp="1"/>
          </p:cNvGraphicFramePr>
          <p:nvPr/>
        </p:nvGraphicFramePr>
        <p:xfrm>
          <a:off x="7282404" y="463395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7" name="表格 16"/>
          <p:cNvGraphicFramePr>
            <a:graphicFrameLocks noGrp="1"/>
          </p:cNvGraphicFramePr>
          <p:nvPr/>
        </p:nvGraphicFramePr>
        <p:xfrm>
          <a:off x="7279278" y="500638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8" name="文本框 17"/>
          <p:cNvSpPr txBox="1"/>
          <p:nvPr/>
        </p:nvSpPr>
        <p:spPr>
          <a:xfrm>
            <a:off x="6286124" y="5329379"/>
            <a:ext cx="1512168" cy="369332"/>
          </a:xfrm>
          <a:prstGeom prst="rect">
            <a:avLst/>
          </a:prstGeom>
          <a:noFill/>
        </p:spPr>
        <p:txBody>
          <a:bodyPr wrap="square" rtlCol="0">
            <a:spAutoFit/>
          </a:bodyPr>
          <a:lstStyle/>
          <a:p>
            <a:r>
              <a:rPr lang="en-US" altLang="zh-CN" dirty="0"/>
              <a:t>……</a:t>
            </a:r>
            <a:endParaRPr lang="zh-CN" altLang="en-US" dirty="0"/>
          </a:p>
        </p:txBody>
      </p:sp>
      <p:sp>
        <p:nvSpPr>
          <p:cNvPr id="19" name="文本框 18"/>
          <p:cNvSpPr txBox="1"/>
          <p:nvPr/>
        </p:nvSpPr>
        <p:spPr>
          <a:xfrm>
            <a:off x="6280518" y="5678535"/>
            <a:ext cx="1512168" cy="369332"/>
          </a:xfrm>
          <a:prstGeom prst="rect">
            <a:avLst/>
          </a:prstGeom>
          <a:noFill/>
        </p:spPr>
        <p:txBody>
          <a:bodyPr wrap="square" rtlCol="0">
            <a:spAutoFit/>
          </a:bodyPr>
          <a:lstStyle/>
          <a:p>
            <a:r>
              <a:rPr lang="en-US" altLang="zh-CN" dirty="0"/>
              <a:t>……</a:t>
            </a:r>
            <a:endParaRPr lang="zh-CN" altLang="en-US" dirty="0"/>
          </a:p>
        </p:txBody>
      </p:sp>
      <p:graphicFrame>
        <p:nvGraphicFramePr>
          <p:cNvPr id="20" name="表格 19"/>
          <p:cNvGraphicFramePr>
            <a:graphicFrameLocks noGrp="1"/>
          </p:cNvGraphicFramePr>
          <p:nvPr/>
        </p:nvGraphicFramePr>
        <p:xfrm>
          <a:off x="7294062" y="6098777"/>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graphicFrame>
        <p:nvGraphicFramePr>
          <p:cNvPr id="21" name="表格 20"/>
          <p:cNvGraphicFramePr>
            <a:graphicFrameLocks noGrp="1"/>
          </p:cNvGraphicFramePr>
          <p:nvPr/>
        </p:nvGraphicFramePr>
        <p:xfrm>
          <a:off x="7294062" y="6476091"/>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sp>
        <p:nvSpPr>
          <p:cNvPr id="23" name="文本框 22"/>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4" name="文本框 23"/>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5" name="文本框 24"/>
          <p:cNvSpPr txBox="1"/>
          <p:nvPr/>
        </p:nvSpPr>
        <p:spPr>
          <a:xfrm>
            <a:off x="5788238"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12" name="表格 3"/>
          <p:cNvGraphicFramePr>
            <a:graphicFrameLocks noGrp="1"/>
          </p:cNvGraphicFramePr>
          <p:nvPr/>
        </p:nvGraphicFramePr>
        <p:xfrm>
          <a:off x="5374192" y="3536675"/>
          <a:ext cx="2556284" cy="3291840"/>
        </p:xfrm>
        <a:graphic>
          <a:graphicData uri="http://schemas.openxmlformats.org/drawingml/2006/table">
            <a:tbl>
              <a:tblPr firstRow="1" bandRow="1">
                <a:tableStyleId>{5C22544A-7EE6-4342-B048-85BDC9FD1C3A}</a:tableStyleId>
              </a:tblPr>
              <a:tblGrid>
                <a:gridCol w="2556284"/>
              </a:tblGrid>
              <a:tr h="201622">
                <a:tc>
                  <a:txBody>
                    <a:bodyPr/>
                    <a:lstStyle/>
                    <a:p>
                      <a:r>
                        <a:rPr lang="en-US" altLang="zh-CN" sz="1800" b="1" dirty="0" err="1"/>
                        <a:t>Student×SC</a:t>
                      </a:r>
                      <a:endParaRPr lang="zh-CN" altLang="en-US" dirty="0"/>
                    </a:p>
                  </a:txBody>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r h="201622">
                <a:tc>
                  <a:txBody>
                    <a:bodyPr/>
                    <a:lstStyle/>
                    <a:p>
                      <a:endParaRPr lang="zh-CN" altLang="en-US" dirty="0"/>
                    </a:p>
                  </a:txBody>
                  <a:tcPr>
                    <a:solidFill>
                      <a:srgbClr val="C00000"/>
                    </a:solidFill>
                  </a:tcPr>
                </a:tc>
              </a:tr>
            </a:tbl>
          </a:graphicData>
        </a:graphic>
      </p:graphicFrame>
      <p:graphicFrame>
        <p:nvGraphicFramePr>
          <p:cNvPr id="13" name="表格 12"/>
          <p:cNvGraphicFramePr>
            <a:graphicFrameLocks noGrp="1"/>
          </p:cNvGraphicFramePr>
          <p:nvPr/>
        </p:nvGraphicFramePr>
        <p:xfrm>
          <a:off x="7282404"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7282404"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2"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6" name="表格 15"/>
          <p:cNvGraphicFramePr>
            <a:graphicFrameLocks noGrp="1"/>
          </p:cNvGraphicFramePr>
          <p:nvPr/>
        </p:nvGraphicFramePr>
        <p:xfrm>
          <a:off x="7282404" y="463395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7" name="表格 16"/>
          <p:cNvGraphicFramePr>
            <a:graphicFrameLocks noGrp="1"/>
          </p:cNvGraphicFramePr>
          <p:nvPr/>
        </p:nvGraphicFramePr>
        <p:xfrm>
          <a:off x="7279278" y="500638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8" name="文本框 17"/>
          <p:cNvSpPr txBox="1"/>
          <p:nvPr/>
        </p:nvSpPr>
        <p:spPr>
          <a:xfrm>
            <a:off x="6286124" y="5329379"/>
            <a:ext cx="1512168" cy="369332"/>
          </a:xfrm>
          <a:prstGeom prst="rect">
            <a:avLst/>
          </a:prstGeom>
          <a:noFill/>
        </p:spPr>
        <p:txBody>
          <a:bodyPr wrap="square" rtlCol="0">
            <a:spAutoFit/>
          </a:bodyPr>
          <a:lstStyle/>
          <a:p>
            <a:r>
              <a:rPr lang="en-US" altLang="zh-CN" dirty="0"/>
              <a:t>……</a:t>
            </a:r>
            <a:endParaRPr lang="zh-CN" altLang="en-US" dirty="0"/>
          </a:p>
        </p:txBody>
      </p:sp>
      <p:sp>
        <p:nvSpPr>
          <p:cNvPr id="19" name="文本框 18"/>
          <p:cNvSpPr txBox="1"/>
          <p:nvPr/>
        </p:nvSpPr>
        <p:spPr>
          <a:xfrm>
            <a:off x="6280518" y="5678535"/>
            <a:ext cx="1512168" cy="369332"/>
          </a:xfrm>
          <a:prstGeom prst="rect">
            <a:avLst/>
          </a:prstGeom>
          <a:noFill/>
        </p:spPr>
        <p:txBody>
          <a:bodyPr wrap="square" rtlCol="0">
            <a:spAutoFit/>
          </a:bodyPr>
          <a:lstStyle/>
          <a:p>
            <a:r>
              <a:rPr lang="en-US" altLang="zh-CN" dirty="0"/>
              <a:t>……</a:t>
            </a:r>
            <a:endParaRPr lang="zh-CN" altLang="en-US" dirty="0"/>
          </a:p>
        </p:txBody>
      </p:sp>
      <p:graphicFrame>
        <p:nvGraphicFramePr>
          <p:cNvPr id="20" name="表格 19"/>
          <p:cNvGraphicFramePr>
            <a:graphicFrameLocks noGrp="1"/>
          </p:cNvGraphicFramePr>
          <p:nvPr/>
        </p:nvGraphicFramePr>
        <p:xfrm>
          <a:off x="7294062" y="6098777"/>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graphicFrame>
        <p:nvGraphicFramePr>
          <p:cNvPr id="21" name="表格 20"/>
          <p:cNvGraphicFramePr>
            <a:graphicFrameLocks noGrp="1"/>
          </p:cNvGraphicFramePr>
          <p:nvPr/>
        </p:nvGraphicFramePr>
        <p:xfrm>
          <a:off x="7294062" y="6476091"/>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sp>
        <p:nvSpPr>
          <p:cNvPr id="23" name="文本框 22"/>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4" name="文本框 23"/>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5" name="文本框 24"/>
          <p:cNvSpPr txBox="1"/>
          <p:nvPr/>
        </p:nvSpPr>
        <p:spPr>
          <a:xfrm>
            <a:off x="5788238"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12" name="表格 3"/>
          <p:cNvGraphicFramePr>
            <a:graphicFrameLocks noGrp="1"/>
          </p:cNvGraphicFramePr>
          <p:nvPr/>
        </p:nvGraphicFramePr>
        <p:xfrm>
          <a:off x="3910368" y="3536675"/>
          <a:ext cx="4104456" cy="3291840"/>
        </p:xfrm>
        <a:graphic>
          <a:graphicData uri="http://schemas.openxmlformats.org/drawingml/2006/table">
            <a:tbl>
              <a:tblPr firstRow="1" bandRow="1">
                <a:tableStyleId>{5C22544A-7EE6-4342-B048-85BDC9FD1C3A}</a:tableStyleId>
              </a:tblPr>
              <a:tblGrid>
                <a:gridCol w="2052228"/>
                <a:gridCol w="2052228"/>
              </a:tblGrid>
              <a:tr h="201622">
                <a:tc>
                  <a:txBody>
                    <a:bodyPr/>
                    <a:lstStyle/>
                    <a:p>
                      <a:r>
                        <a:rPr lang="en-US" altLang="zh-CN" sz="1800" b="1" dirty="0" err="1"/>
                        <a:t>Student×SC</a:t>
                      </a:r>
                      <a:endParaRPr lang="zh-CN" altLang="en-US" dirty="0"/>
                    </a:p>
                  </a:txBody>
                  <a:tcPr/>
                </a:tc>
                <a:tc>
                  <a:txBody>
                    <a:bodyPr/>
                    <a:lstStyle/>
                    <a:p>
                      <a:endParaRPr lang="zh-CN" altLang="en-US" dirty="0"/>
                    </a:p>
                  </a:txBody>
                  <a:tcPr/>
                </a:tc>
              </a:tr>
              <a:tr h="201622">
                <a:tc>
                  <a:txBody>
                    <a:bodyPr/>
                    <a:lstStyle/>
                    <a:p>
                      <a:endParaRPr lang="zh-CN" altLang="en-US" dirty="0"/>
                    </a:p>
                  </a:txBody>
                  <a:tcPr>
                    <a:solidFill>
                      <a:srgbClr val="C00000"/>
                    </a:solidFill>
                  </a:tcPr>
                </a:tc>
                <a:tc>
                  <a:txBody>
                    <a:bodyPr/>
                    <a:lstStyle/>
                    <a:p>
                      <a:endParaRPr lang="zh-CN" altLang="en-US" dirty="0"/>
                    </a:p>
                  </a:txBody>
                  <a:tcPr>
                    <a:solidFill>
                      <a:srgbClr val="00CC00"/>
                    </a:solidFill>
                  </a:tcPr>
                </a:tc>
              </a:tr>
              <a:tr h="201622">
                <a:tc>
                  <a:txBody>
                    <a:bodyPr/>
                    <a:lstStyle/>
                    <a:p>
                      <a:endParaRPr lang="zh-CN" altLang="en-US" dirty="0"/>
                    </a:p>
                  </a:txBody>
                  <a:tcPr>
                    <a:solidFill>
                      <a:srgbClr val="C00000"/>
                    </a:solidFill>
                  </a:tcPr>
                </a:tc>
                <a:tc>
                  <a:txBody>
                    <a:bodyPr/>
                    <a:lstStyle/>
                    <a:p>
                      <a:endParaRPr lang="zh-CN" altLang="en-US" dirty="0"/>
                    </a:p>
                  </a:txBody>
                  <a:tcPr>
                    <a:solidFill>
                      <a:srgbClr val="00CC00"/>
                    </a:solid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bl>
          </a:graphicData>
        </a:graphic>
      </p:graphicFrame>
      <p:graphicFrame>
        <p:nvGraphicFramePr>
          <p:cNvPr id="13" name="表格 12"/>
          <p:cNvGraphicFramePr>
            <a:graphicFrameLocks noGrp="1"/>
          </p:cNvGraphicFramePr>
          <p:nvPr/>
        </p:nvGraphicFramePr>
        <p:xfrm>
          <a:off x="5281646"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5281646"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2"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6" name="表格 15"/>
          <p:cNvGraphicFramePr>
            <a:graphicFrameLocks noGrp="1"/>
          </p:cNvGraphicFramePr>
          <p:nvPr/>
        </p:nvGraphicFramePr>
        <p:xfrm>
          <a:off x="5281646" y="463395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7" name="表格 16"/>
          <p:cNvGraphicFramePr>
            <a:graphicFrameLocks noGrp="1"/>
          </p:cNvGraphicFramePr>
          <p:nvPr/>
        </p:nvGraphicFramePr>
        <p:xfrm>
          <a:off x="5278520" y="500638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8" name="文本框 17"/>
          <p:cNvSpPr txBox="1"/>
          <p:nvPr/>
        </p:nvSpPr>
        <p:spPr>
          <a:xfrm>
            <a:off x="4822300" y="5329379"/>
            <a:ext cx="1512168" cy="369332"/>
          </a:xfrm>
          <a:prstGeom prst="rect">
            <a:avLst/>
          </a:prstGeom>
          <a:noFill/>
        </p:spPr>
        <p:txBody>
          <a:bodyPr wrap="square" rtlCol="0">
            <a:spAutoFit/>
          </a:bodyPr>
          <a:lstStyle/>
          <a:p>
            <a:r>
              <a:rPr lang="en-US" altLang="zh-CN" dirty="0"/>
              <a:t>……</a:t>
            </a:r>
            <a:endParaRPr lang="zh-CN" altLang="en-US" dirty="0"/>
          </a:p>
        </p:txBody>
      </p:sp>
      <p:sp>
        <p:nvSpPr>
          <p:cNvPr id="19" name="文本框 18"/>
          <p:cNvSpPr txBox="1"/>
          <p:nvPr/>
        </p:nvSpPr>
        <p:spPr>
          <a:xfrm>
            <a:off x="4816694" y="5678535"/>
            <a:ext cx="1512168" cy="369332"/>
          </a:xfrm>
          <a:prstGeom prst="rect">
            <a:avLst/>
          </a:prstGeom>
          <a:noFill/>
        </p:spPr>
        <p:txBody>
          <a:bodyPr wrap="square" rtlCol="0">
            <a:spAutoFit/>
          </a:bodyPr>
          <a:lstStyle/>
          <a:p>
            <a:r>
              <a:rPr lang="en-US" altLang="zh-CN" dirty="0"/>
              <a:t>……</a:t>
            </a:r>
            <a:endParaRPr lang="zh-CN" altLang="en-US" dirty="0"/>
          </a:p>
        </p:txBody>
      </p:sp>
      <p:graphicFrame>
        <p:nvGraphicFramePr>
          <p:cNvPr id="20" name="表格 19"/>
          <p:cNvGraphicFramePr>
            <a:graphicFrameLocks noGrp="1"/>
          </p:cNvGraphicFramePr>
          <p:nvPr/>
        </p:nvGraphicFramePr>
        <p:xfrm>
          <a:off x="5278520" y="6098777"/>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graphicFrame>
        <p:nvGraphicFramePr>
          <p:cNvPr id="21" name="表格 20"/>
          <p:cNvGraphicFramePr>
            <a:graphicFrameLocks noGrp="1"/>
          </p:cNvGraphicFramePr>
          <p:nvPr/>
        </p:nvGraphicFramePr>
        <p:xfrm>
          <a:off x="5278520" y="6476091"/>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graphicFrame>
        <p:nvGraphicFramePr>
          <p:cNvPr id="22" name="表格 21"/>
          <p:cNvGraphicFramePr>
            <a:graphicFrameLocks noGrp="1"/>
          </p:cNvGraphicFramePr>
          <p:nvPr/>
        </p:nvGraphicFramePr>
        <p:xfrm>
          <a:off x="7366752"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23" name="表格 22"/>
          <p:cNvGraphicFramePr>
            <a:graphicFrameLocks noGrp="1"/>
          </p:cNvGraphicFramePr>
          <p:nvPr/>
        </p:nvGraphicFramePr>
        <p:xfrm>
          <a:off x="7366752" y="427486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sp>
        <p:nvSpPr>
          <p:cNvPr id="25" name="文本框 24"/>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6" name="文本框 25"/>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7" name="文本框 26"/>
          <p:cNvSpPr txBox="1"/>
          <p:nvPr/>
        </p:nvSpPr>
        <p:spPr>
          <a:xfrm>
            <a:off x="5788238"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r>
              <a:rPr lang="en-US" altLang="zh-CN" dirty="0"/>
              <a:t>-</a:t>
            </a:r>
            <a:r>
              <a:rPr lang="zh-CN" altLang="en-US" dirty="0"/>
              <a:t>表的连接（或笛卡儿积）执行过程</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
        <p:nvSpPr>
          <p:cNvPr id="33" name="文本框 32"/>
          <p:cNvSpPr txBox="1"/>
          <p:nvPr/>
        </p:nvSpPr>
        <p:spPr>
          <a:xfrm>
            <a:off x="5746572" y="169136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内存</a:t>
            </a:r>
            <a:endParaRPr lang="zh-CN" altLang="en-US" sz="2000" b="1" dirty="0">
              <a:latin typeface="黑体" panose="02010609060101010101" pitchFamily="49" charset="-122"/>
              <a:ea typeface="黑体" panose="02010609060101010101" pitchFamily="49" charset="-122"/>
            </a:endParaRPr>
          </a:p>
        </p:txBody>
      </p:sp>
      <p:graphicFrame>
        <p:nvGraphicFramePr>
          <p:cNvPr id="6" name="表格 3"/>
          <p:cNvGraphicFramePr>
            <a:graphicFrameLocks noGrp="1"/>
          </p:cNvGraphicFramePr>
          <p:nvPr/>
        </p:nvGraphicFramePr>
        <p:xfrm>
          <a:off x="1822136" y="2085043"/>
          <a:ext cx="1823864" cy="1828800"/>
        </p:xfrm>
        <a:graphic>
          <a:graphicData uri="http://schemas.openxmlformats.org/drawingml/2006/table">
            <a:tbl>
              <a:tblPr firstRow="1" bandRow="1">
                <a:tableStyleId>{5C22544A-7EE6-4342-B048-85BDC9FD1C3A}</a:tableStyleId>
              </a:tblPr>
              <a:tblGrid>
                <a:gridCol w="1823864"/>
              </a:tblGrid>
              <a:tr h="270030">
                <a:tc>
                  <a:txBody>
                    <a:bodyPr/>
                    <a:lstStyle/>
                    <a:p>
                      <a:r>
                        <a:rPr lang="en-US" altLang="zh-CN" dirty="0"/>
                        <a:t>Student</a:t>
                      </a:r>
                      <a:endParaRPr lang="zh-CN" altLang="en-US" dirty="0"/>
                    </a:p>
                  </a:txBody>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7" name="表格 3"/>
          <p:cNvGraphicFramePr>
            <a:graphicFrameLocks noGrp="1"/>
          </p:cNvGraphicFramePr>
          <p:nvPr/>
        </p:nvGraphicFramePr>
        <p:xfrm>
          <a:off x="9599000" y="2153603"/>
          <a:ext cx="648072" cy="4023360"/>
        </p:xfrm>
        <a:graphic>
          <a:graphicData uri="http://schemas.openxmlformats.org/drawingml/2006/table">
            <a:tbl>
              <a:tblPr firstRow="1" bandRow="1">
                <a:tableStyleId>{5C22544A-7EE6-4342-B048-85BDC9FD1C3A}</a:tableStyleId>
              </a:tblPr>
              <a:tblGrid>
                <a:gridCol w="648072"/>
              </a:tblGrid>
              <a:tr h="0">
                <a:tc>
                  <a:txBody>
                    <a:bodyPr/>
                    <a:lstStyle/>
                    <a:p>
                      <a:r>
                        <a:rPr lang="en-US" altLang="zh-CN" dirty="0"/>
                        <a:t>SC</a:t>
                      </a:r>
                      <a:endParaRPr lang="zh-CN" altLang="en-US" dirty="0"/>
                    </a:p>
                  </a:txBody>
                  <a:tcPr/>
                </a:tc>
              </a:tr>
              <a:tr h="0">
                <a:tc>
                  <a:txBody>
                    <a:bodyPr/>
                    <a:lstStyle/>
                    <a:p>
                      <a:endParaRPr lang="zh-CN" altLang="en-US" dirty="0"/>
                    </a:p>
                  </a:txBody>
                  <a:tcPr>
                    <a:solidFill>
                      <a:srgbClr val="FFC000"/>
                    </a:solidFill>
                  </a:tcPr>
                </a:tc>
              </a:tr>
              <a:tr h="0">
                <a:tc>
                  <a:txBody>
                    <a:bodyPr/>
                    <a:lstStyle/>
                    <a:p>
                      <a:endParaRPr lang="zh-CN" altLang="en-US" dirty="0"/>
                    </a:p>
                  </a:txBody>
                  <a:tcPr>
                    <a:solidFill>
                      <a:srgbClr val="FFFF00"/>
                    </a:solidFill>
                  </a:tcPr>
                </a:tc>
              </a:tr>
              <a:tr h="0">
                <a:tc>
                  <a:txBody>
                    <a:bodyPr/>
                    <a:lstStyle/>
                    <a:p>
                      <a:endParaRPr lang="zh-CN" altLang="en-US" dirty="0"/>
                    </a:p>
                  </a:txBody>
                  <a:tcPr>
                    <a:solidFill>
                      <a:srgbClr val="92D050"/>
                    </a:solidFill>
                  </a:tcPr>
                </a:tc>
              </a:tr>
              <a:tr h="0">
                <a:tc>
                  <a:txBody>
                    <a:bodyPr/>
                    <a:lstStyle/>
                    <a:p>
                      <a:endParaRPr lang="zh-CN" altLang="en-US" dirty="0"/>
                    </a:p>
                  </a:txBody>
                  <a:tcPr>
                    <a:solidFill>
                      <a:schemeClr val="accent5">
                        <a:lumMod val="75000"/>
                      </a:schemeClr>
                    </a:solidFill>
                  </a:tcPr>
                </a:tc>
              </a:tr>
              <a:tr h="0">
                <a:tc>
                  <a:txBody>
                    <a:bodyPr/>
                    <a:lstStyle/>
                    <a:p>
                      <a:endParaRPr lang="zh-CN" altLang="en-US" dirty="0"/>
                    </a:p>
                  </a:txBody>
                  <a:tcPr>
                    <a:solidFill>
                      <a:srgbClr val="00B0F0"/>
                    </a:solidFill>
                  </a:tcPr>
                </a:tc>
              </a:tr>
              <a:tr h="0">
                <a:tc>
                  <a:txBody>
                    <a:bodyPr/>
                    <a:lstStyle/>
                    <a:p>
                      <a:endParaRPr lang="zh-CN" altLang="en-US" dirty="0"/>
                    </a:p>
                  </a:txBody>
                  <a:tcPr>
                    <a:solidFill>
                      <a:srgbClr val="0070C0"/>
                    </a:solidFill>
                  </a:tcPr>
                </a:tc>
              </a:tr>
              <a:tr h="0">
                <a:tc>
                  <a:txBody>
                    <a:bodyPr/>
                    <a:lstStyle/>
                    <a:p>
                      <a:endParaRPr lang="zh-CN" altLang="en-US" dirty="0"/>
                    </a:p>
                  </a:txBody>
                  <a:tcPr>
                    <a:solidFill>
                      <a:srgbClr val="002060"/>
                    </a:solidFill>
                  </a:tcPr>
                </a:tc>
              </a:tr>
              <a:tr h="0">
                <a:tc>
                  <a:txBody>
                    <a:bodyPr/>
                    <a:lstStyle/>
                    <a:p>
                      <a:endParaRPr lang="zh-CN" altLang="en-US" dirty="0"/>
                    </a:p>
                  </a:txBody>
                  <a:tcPr>
                    <a:solidFill>
                      <a:schemeClr val="accent6">
                        <a:lumMod val="60000"/>
                        <a:lumOff val="40000"/>
                      </a:schemeClr>
                    </a:solidFill>
                  </a:tcPr>
                </a:tc>
              </a:tr>
              <a:tr h="0">
                <a:tc>
                  <a:txBody>
                    <a:bodyPr/>
                    <a:lstStyle/>
                    <a:p>
                      <a:endParaRPr lang="zh-CN" altLang="en-US" dirty="0"/>
                    </a:p>
                  </a:txBody>
                  <a:tcPr>
                    <a:solidFill>
                      <a:schemeClr val="bg1">
                        <a:lumMod val="65000"/>
                      </a:schemeClr>
                    </a:solidFill>
                  </a:tcPr>
                </a:tc>
              </a:tr>
              <a:tr h="0">
                <a:tc>
                  <a:txBody>
                    <a:bodyPr/>
                    <a:lstStyle/>
                    <a:p>
                      <a:endParaRPr lang="zh-CN" altLang="en-US" dirty="0"/>
                    </a:p>
                  </a:txBody>
                  <a:tcPr>
                    <a:solidFill>
                      <a:schemeClr val="tx1">
                        <a:lumMod val="95000"/>
                        <a:lumOff val="5000"/>
                      </a:schemeClr>
                    </a:solidFill>
                  </a:tcPr>
                </a:tc>
              </a:tr>
            </a:tbl>
          </a:graphicData>
        </a:graphic>
      </p:graphicFrame>
      <p:sp>
        <p:nvSpPr>
          <p:cNvPr id="8" name="矩形 7"/>
          <p:cNvSpPr/>
          <p:nvPr/>
        </p:nvSpPr>
        <p:spPr>
          <a:xfrm>
            <a:off x="5350528" y="2082637"/>
            <a:ext cx="2664296" cy="8620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表格 8"/>
          <p:cNvGraphicFramePr>
            <a:graphicFrameLocks noGrp="1"/>
          </p:cNvGraphicFramePr>
          <p:nvPr/>
        </p:nvGraphicFramePr>
        <p:xfrm>
          <a:off x="1822136" y="2441635"/>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C00000"/>
                    </a:solidFill>
                  </a:tcPr>
                </a:tc>
              </a:tr>
              <a:tr h="270030">
                <a:tc>
                  <a:txBody>
                    <a:bodyPr/>
                    <a:lstStyle/>
                    <a:p>
                      <a:endParaRPr lang="zh-CN" altLang="en-US" dirty="0"/>
                    </a:p>
                  </a:txBody>
                  <a:tcPr>
                    <a:solidFill>
                      <a:srgbClr val="C00000"/>
                    </a:solidFill>
                  </a:tcPr>
                </a:tc>
              </a:tr>
            </a:tbl>
          </a:graphicData>
        </a:graphic>
      </p:graphicFrame>
      <p:graphicFrame>
        <p:nvGraphicFramePr>
          <p:cNvPr id="10" name="表格 9"/>
          <p:cNvGraphicFramePr>
            <a:graphicFrameLocks noGrp="1"/>
          </p:cNvGraphicFramePr>
          <p:nvPr/>
        </p:nvGraphicFramePr>
        <p:xfrm>
          <a:off x="9599000" y="251364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1" name="表格 10"/>
          <p:cNvGraphicFramePr>
            <a:graphicFrameLocks noGrp="1"/>
          </p:cNvGraphicFramePr>
          <p:nvPr/>
        </p:nvGraphicFramePr>
        <p:xfrm>
          <a:off x="5374192" y="2178383"/>
          <a:ext cx="1823864" cy="731520"/>
        </p:xfrm>
        <a:graphic>
          <a:graphicData uri="http://schemas.openxmlformats.org/drawingml/2006/table">
            <a:tbl>
              <a:tblPr firstRow="1" bandRow="1">
                <a:tableStyleId>{5C22544A-7EE6-4342-B048-85BDC9FD1C3A}</a:tableStyleId>
              </a:tblPr>
              <a:tblGrid>
                <a:gridCol w="1823864"/>
              </a:tblGrid>
              <a:tr h="270030">
                <a:tc>
                  <a:txBody>
                    <a:bodyPr/>
                    <a:lstStyle/>
                    <a:p>
                      <a:endParaRPr lang="zh-CN" altLang="en-US" dirty="0"/>
                    </a:p>
                  </a:txBody>
                  <a:tcPr>
                    <a:solidFill>
                      <a:srgbClr val="00CC00"/>
                    </a:solidFill>
                  </a:tcPr>
                </a:tc>
              </a:tr>
              <a:tr h="270030">
                <a:tc>
                  <a:txBody>
                    <a:bodyPr/>
                    <a:lstStyle/>
                    <a:p>
                      <a:endParaRPr lang="zh-CN" altLang="en-US" dirty="0"/>
                    </a:p>
                  </a:txBody>
                  <a:tcPr>
                    <a:solidFill>
                      <a:srgbClr val="00CC00"/>
                    </a:solidFill>
                  </a:tcPr>
                </a:tc>
              </a:tr>
            </a:tbl>
          </a:graphicData>
        </a:graphic>
      </p:graphicFrame>
      <p:graphicFrame>
        <p:nvGraphicFramePr>
          <p:cNvPr id="12" name="表格 3"/>
          <p:cNvGraphicFramePr>
            <a:graphicFrameLocks noGrp="1"/>
          </p:cNvGraphicFramePr>
          <p:nvPr/>
        </p:nvGraphicFramePr>
        <p:xfrm>
          <a:off x="3910368" y="3536675"/>
          <a:ext cx="4104456" cy="3291840"/>
        </p:xfrm>
        <a:graphic>
          <a:graphicData uri="http://schemas.openxmlformats.org/drawingml/2006/table">
            <a:tbl>
              <a:tblPr firstRow="1" bandRow="1">
                <a:tableStyleId>{5C22544A-7EE6-4342-B048-85BDC9FD1C3A}</a:tableStyleId>
              </a:tblPr>
              <a:tblGrid>
                <a:gridCol w="2052228"/>
                <a:gridCol w="2052228"/>
              </a:tblGrid>
              <a:tr h="201622">
                <a:tc>
                  <a:txBody>
                    <a:bodyPr/>
                    <a:lstStyle/>
                    <a:p>
                      <a:r>
                        <a:rPr lang="en-US" altLang="zh-CN" sz="1800" b="1" dirty="0" err="1"/>
                        <a:t>Student×SC</a:t>
                      </a:r>
                      <a:endParaRPr lang="zh-CN" altLang="en-US" dirty="0"/>
                    </a:p>
                  </a:txBody>
                  <a:tcPr/>
                </a:tc>
                <a:tc>
                  <a:txBody>
                    <a:bodyPr/>
                    <a:lstStyle/>
                    <a:p>
                      <a:endParaRPr lang="zh-CN" altLang="en-US" dirty="0"/>
                    </a:p>
                  </a:txBody>
                  <a:tcPr/>
                </a:tc>
              </a:tr>
              <a:tr h="201622">
                <a:tc>
                  <a:txBody>
                    <a:bodyPr/>
                    <a:lstStyle/>
                    <a:p>
                      <a:endParaRPr lang="zh-CN" altLang="en-US" dirty="0"/>
                    </a:p>
                  </a:txBody>
                  <a:tcPr>
                    <a:solidFill>
                      <a:srgbClr val="C00000"/>
                    </a:solidFill>
                  </a:tcPr>
                </a:tc>
                <a:tc>
                  <a:txBody>
                    <a:bodyPr/>
                    <a:lstStyle/>
                    <a:p>
                      <a:endParaRPr lang="zh-CN" altLang="en-US" dirty="0"/>
                    </a:p>
                  </a:txBody>
                  <a:tcPr>
                    <a:solidFill>
                      <a:srgbClr val="00CC00"/>
                    </a:solidFill>
                  </a:tcPr>
                </a:tc>
              </a:tr>
              <a:tr h="201622">
                <a:tc>
                  <a:txBody>
                    <a:bodyPr/>
                    <a:lstStyle/>
                    <a:p>
                      <a:endParaRPr lang="zh-CN" altLang="en-US" dirty="0"/>
                    </a:p>
                  </a:txBody>
                  <a:tcPr>
                    <a:solidFill>
                      <a:srgbClr val="C00000"/>
                    </a:solidFill>
                  </a:tcPr>
                </a:tc>
                <a:tc>
                  <a:txBody>
                    <a:bodyPr/>
                    <a:lstStyle/>
                    <a:p>
                      <a:endParaRPr lang="zh-CN" altLang="en-US" dirty="0"/>
                    </a:p>
                  </a:txBody>
                  <a:tcPr>
                    <a:solidFill>
                      <a:srgbClr val="00CC00"/>
                    </a:solid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r>
                        <a:rPr lang="en-US" altLang="zh-CN" dirty="0"/>
                        <a:t>     ……</a:t>
                      </a:r>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r h="201622">
                <a:tc>
                  <a:txBody>
                    <a:bodyPr/>
                    <a:lstStyle/>
                    <a:p>
                      <a:endParaRPr lang="zh-CN" altLang="en-US" dirty="0"/>
                    </a:p>
                  </a:txBody>
                  <a:tcPr>
                    <a:solidFill>
                      <a:srgbClr val="C00000"/>
                    </a:solidFill>
                  </a:tcPr>
                </a:tc>
                <a:tc>
                  <a:txBody>
                    <a:bodyPr/>
                    <a:lstStyle/>
                    <a:p>
                      <a:endParaRPr lang="zh-CN" altLang="en-US" dirty="0"/>
                    </a:p>
                  </a:txBody>
                  <a:tcPr>
                    <a:noFill/>
                  </a:tcPr>
                </a:tc>
              </a:tr>
            </a:tbl>
          </a:graphicData>
        </a:graphic>
      </p:graphicFrame>
      <p:graphicFrame>
        <p:nvGraphicFramePr>
          <p:cNvPr id="13" name="表格 12"/>
          <p:cNvGraphicFramePr>
            <a:graphicFrameLocks noGrp="1"/>
          </p:cNvGraphicFramePr>
          <p:nvPr/>
        </p:nvGraphicFramePr>
        <p:xfrm>
          <a:off x="5281646"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4" name="表格 13"/>
          <p:cNvGraphicFramePr>
            <a:graphicFrameLocks noGrp="1"/>
          </p:cNvGraphicFramePr>
          <p:nvPr/>
        </p:nvGraphicFramePr>
        <p:xfrm>
          <a:off x="5281646" y="426819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5" name="表格 14"/>
          <p:cNvGraphicFramePr>
            <a:graphicFrameLocks noGrp="1"/>
          </p:cNvGraphicFramePr>
          <p:nvPr/>
        </p:nvGraphicFramePr>
        <p:xfrm>
          <a:off x="7294062" y="239939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16" name="表格 15"/>
          <p:cNvGraphicFramePr>
            <a:graphicFrameLocks noGrp="1"/>
          </p:cNvGraphicFramePr>
          <p:nvPr/>
        </p:nvGraphicFramePr>
        <p:xfrm>
          <a:off x="5281646" y="463395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graphicFrame>
        <p:nvGraphicFramePr>
          <p:cNvPr id="17" name="表格 16"/>
          <p:cNvGraphicFramePr>
            <a:graphicFrameLocks noGrp="1"/>
          </p:cNvGraphicFramePr>
          <p:nvPr/>
        </p:nvGraphicFramePr>
        <p:xfrm>
          <a:off x="5278520" y="500638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FF00"/>
                    </a:solidFill>
                  </a:tcPr>
                </a:tc>
              </a:tr>
            </a:tbl>
          </a:graphicData>
        </a:graphic>
      </p:graphicFrame>
      <p:sp>
        <p:nvSpPr>
          <p:cNvPr id="18" name="文本框 17"/>
          <p:cNvSpPr txBox="1"/>
          <p:nvPr/>
        </p:nvSpPr>
        <p:spPr>
          <a:xfrm>
            <a:off x="4822300" y="5329379"/>
            <a:ext cx="1512168" cy="369332"/>
          </a:xfrm>
          <a:prstGeom prst="rect">
            <a:avLst/>
          </a:prstGeom>
          <a:noFill/>
        </p:spPr>
        <p:txBody>
          <a:bodyPr wrap="square" rtlCol="0">
            <a:spAutoFit/>
          </a:bodyPr>
          <a:lstStyle/>
          <a:p>
            <a:r>
              <a:rPr lang="en-US" altLang="zh-CN" dirty="0"/>
              <a:t>……</a:t>
            </a:r>
            <a:endParaRPr lang="zh-CN" altLang="en-US" dirty="0"/>
          </a:p>
        </p:txBody>
      </p:sp>
      <p:sp>
        <p:nvSpPr>
          <p:cNvPr id="19" name="文本框 18"/>
          <p:cNvSpPr txBox="1"/>
          <p:nvPr/>
        </p:nvSpPr>
        <p:spPr>
          <a:xfrm>
            <a:off x="4816694" y="5678535"/>
            <a:ext cx="1512168" cy="369332"/>
          </a:xfrm>
          <a:prstGeom prst="rect">
            <a:avLst/>
          </a:prstGeom>
          <a:noFill/>
        </p:spPr>
        <p:txBody>
          <a:bodyPr wrap="square" rtlCol="0">
            <a:spAutoFit/>
          </a:bodyPr>
          <a:lstStyle/>
          <a:p>
            <a:r>
              <a:rPr lang="en-US" altLang="zh-CN" dirty="0"/>
              <a:t>……</a:t>
            </a:r>
            <a:endParaRPr lang="zh-CN" altLang="en-US" dirty="0"/>
          </a:p>
        </p:txBody>
      </p:sp>
      <p:graphicFrame>
        <p:nvGraphicFramePr>
          <p:cNvPr id="20" name="表格 19"/>
          <p:cNvGraphicFramePr>
            <a:graphicFrameLocks noGrp="1"/>
          </p:cNvGraphicFramePr>
          <p:nvPr/>
        </p:nvGraphicFramePr>
        <p:xfrm>
          <a:off x="5278520" y="6098777"/>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graphicFrame>
        <p:nvGraphicFramePr>
          <p:cNvPr id="21" name="表格 20"/>
          <p:cNvGraphicFramePr>
            <a:graphicFrameLocks noGrp="1"/>
          </p:cNvGraphicFramePr>
          <p:nvPr/>
        </p:nvGraphicFramePr>
        <p:xfrm>
          <a:off x="5278520" y="6476091"/>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chemeClr val="tx1">
                        <a:lumMod val="95000"/>
                        <a:lumOff val="5000"/>
                      </a:schemeClr>
                    </a:solidFill>
                  </a:tcPr>
                </a:tc>
              </a:tr>
            </a:tbl>
          </a:graphicData>
        </a:graphic>
      </p:graphicFrame>
      <p:graphicFrame>
        <p:nvGraphicFramePr>
          <p:cNvPr id="22" name="表格 21"/>
          <p:cNvGraphicFramePr>
            <a:graphicFrameLocks noGrp="1"/>
          </p:cNvGraphicFramePr>
          <p:nvPr/>
        </p:nvGraphicFramePr>
        <p:xfrm>
          <a:off x="7366752" y="3896715"/>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graphicFrame>
        <p:nvGraphicFramePr>
          <p:cNvPr id="23" name="表格 22"/>
          <p:cNvGraphicFramePr>
            <a:graphicFrameLocks noGrp="1"/>
          </p:cNvGraphicFramePr>
          <p:nvPr/>
        </p:nvGraphicFramePr>
        <p:xfrm>
          <a:off x="7366752" y="4274863"/>
          <a:ext cx="648072" cy="365760"/>
        </p:xfrm>
        <a:graphic>
          <a:graphicData uri="http://schemas.openxmlformats.org/drawingml/2006/table">
            <a:tbl>
              <a:tblPr firstRow="1" bandRow="1">
                <a:tableStyleId>{5C22544A-7EE6-4342-B048-85BDC9FD1C3A}</a:tableStyleId>
              </a:tblPr>
              <a:tblGrid>
                <a:gridCol w="648072"/>
              </a:tblGrid>
              <a:tr h="0">
                <a:tc>
                  <a:txBody>
                    <a:bodyPr/>
                    <a:lstStyle/>
                    <a:p>
                      <a:endParaRPr lang="zh-CN" altLang="en-US" dirty="0"/>
                    </a:p>
                  </a:txBody>
                  <a:tcPr>
                    <a:solidFill>
                      <a:srgbClr val="FFC000"/>
                    </a:solidFill>
                  </a:tcPr>
                </a:tc>
              </a:tr>
            </a:tbl>
          </a:graphicData>
        </a:graphic>
      </p:graphicFrame>
      <p:sp>
        <p:nvSpPr>
          <p:cNvPr id="25" name="文本框 24"/>
          <p:cNvSpPr txBox="1"/>
          <p:nvPr/>
        </p:nvSpPr>
        <p:spPr>
          <a:xfrm>
            <a:off x="1822136" y="1736954"/>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6" name="文本框 25"/>
          <p:cNvSpPr txBox="1"/>
          <p:nvPr/>
        </p:nvSpPr>
        <p:spPr>
          <a:xfrm>
            <a:off x="9058940" y="1792998"/>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
        <p:nvSpPr>
          <p:cNvPr id="27" name="文本框 26"/>
          <p:cNvSpPr txBox="1"/>
          <p:nvPr/>
        </p:nvSpPr>
        <p:spPr>
          <a:xfrm>
            <a:off x="5788238" y="3156079"/>
            <a:ext cx="1728192" cy="400110"/>
          </a:xfrm>
          <a:prstGeom prst="rect">
            <a:avLst/>
          </a:prstGeom>
          <a:noFill/>
        </p:spPr>
        <p:txBody>
          <a:bodyPr wrap="square" rtlCol="0">
            <a:spAutoFit/>
          </a:bodyPr>
          <a:lstStyle/>
          <a:p>
            <a:pPr algn="ctr"/>
            <a:r>
              <a:rPr lang="zh-CN" altLang="en-US" sz="2000" b="1" dirty="0">
                <a:latin typeface="黑体" panose="02010609060101010101" pitchFamily="49" charset="-122"/>
                <a:ea typeface="黑体" panose="02010609060101010101" pitchFamily="49" charset="-122"/>
              </a:rPr>
              <a:t>磁盘块</a:t>
            </a:r>
            <a:endParaRPr lang="zh-CN" altLang="en-US" sz="2000" b="1" dirty="0">
              <a:latin typeface="黑体" panose="02010609060101010101" pitchFamily="49" charset="-122"/>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lnSpcReduction="10000"/>
              </a:bodyPr>
              <a:lstStyle/>
              <a:p>
                <a:r>
                  <a:rPr lang="zh-CN" altLang="en-US" dirty="0"/>
                  <a:t>实例分析</a:t>
                </a:r>
                <a:r>
                  <a:rPr lang="en-US" altLang="zh-CN" dirty="0"/>
                  <a:t>-</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𝑠𝑐</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𝐶𝑆</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08</m:t>
                            </m:r>
                          </m:e>
                          <m:sup>
                            <m:r>
                              <a:rPr lang="en-US" altLang="zh-CN" b="0" i="1" smtClean="0">
                                <a:latin typeface="Cambria Math" panose="02040503050406030204" pitchFamily="18" charset="0"/>
                                <a:ea typeface="Cambria Math" panose="02040503050406030204" pitchFamily="18" charset="0"/>
                              </a:rPr>
                              <m:t>′</m:t>
                            </m:r>
                          </m:sup>
                        </m:sSup>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e>
                    </m:d>
                    <m:r>
                      <a:rPr lang="en-US" altLang="zh-CN" b="0" i="1" smtClean="0">
                        <a:latin typeface="Cambria Math" panose="02040503050406030204" pitchFamily="18" charset="0"/>
                        <a:ea typeface="Cambria Math" panose="02040503050406030204" pitchFamily="18" charset="0"/>
                      </a:rPr>
                      <m:t>)</m:t>
                    </m:r>
                  </m:oMath>
                </a14:m>
                <a:endParaRPr lang="en-US" altLang="zh-CN" dirty="0"/>
              </a:p>
              <a:p>
                <a:pPr lvl="1"/>
                <a:r>
                  <a:rPr lang="zh-CN" altLang="en-US" dirty="0"/>
                  <a:t>查询执行策略</a:t>
                </a:r>
                <a:r>
                  <a:rPr lang="en-US" altLang="zh-CN" dirty="0"/>
                  <a:t>Q1</a:t>
                </a:r>
                <a:r>
                  <a:rPr lang="zh-CN" altLang="en-US" dirty="0"/>
                  <a:t>代价分析</a:t>
                </a:r>
                <a:endParaRPr lang="en-US" altLang="zh-CN" dirty="0"/>
              </a:p>
              <a:p>
                <a:pPr lvl="2"/>
                <a:r>
                  <a:rPr lang="zh-CN" altLang="en-US" dirty="0"/>
                  <a:t>计算广义笛卡尔积的代价</a:t>
                </a:r>
                <a:endParaRPr lang="zh-CN" altLang="en-US" dirty="0"/>
              </a:p>
              <a:p>
                <a:pPr lvl="3"/>
                <a:r>
                  <a:rPr lang="zh-CN" altLang="en-US" dirty="0"/>
                  <a:t>把</a:t>
                </a:r>
                <a:r>
                  <a:rPr lang="en-US" altLang="zh-CN" dirty="0"/>
                  <a:t>S</a:t>
                </a:r>
                <a:r>
                  <a:rPr lang="zh-CN" altLang="en-US" dirty="0"/>
                  <a:t>和</a:t>
                </a:r>
                <a:r>
                  <a:rPr lang="en-US" altLang="zh-CN" dirty="0"/>
                  <a:t>SC</a:t>
                </a:r>
                <a:r>
                  <a:rPr lang="zh-CN" altLang="en-US" dirty="0"/>
                  <a:t>的每个元组连接起来。一般连接的做法是：在内存中尽可能多地装入某个表</a:t>
                </a:r>
                <a:r>
                  <a:rPr lang="en-US" altLang="zh-CN" dirty="0"/>
                  <a:t>(</a:t>
                </a:r>
                <a:r>
                  <a:rPr lang="zh-CN" altLang="en-US" dirty="0"/>
                  <a:t>如</a:t>
                </a:r>
                <a:r>
                  <a:rPr lang="en-US" altLang="zh-CN" dirty="0"/>
                  <a:t>Student</a:t>
                </a:r>
                <a:r>
                  <a:rPr lang="zh-CN" altLang="en-US" dirty="0"/>
                  <a:t>表</a:t>
                </a:r>
                <a:r>
                  <a:rPr lang="en-US" altLang="zh-CN" dirty="0"/>
                  <a:t>)</a:t>
                </a:r>
                <a:r>
                  <a:rPr lang="zh-CN" altLang="en-US" dirty="0"/>
                  <a:t>的若干块元组，留出一块存放另一个表</a:t>
                </a:r>
                <a:r>
                  <a:rPr lang="en-US" altLang="zh-CN" dirty="0"/>
                  <a:t>(</a:t>
                </a:r>
                <a:r>
                  <a:rPr lang="zh-CN" altLang="en-US" dirty="0"/>
                  <a:t>如</a:t>
                </a:r>
                <a:r>
                  <a:rPr lang="en-US" altLang="zh-CN" dirty="0"/>
                  <a:t>SC</a:t>
                </a:r>
                <a:r>
                  <a:rPr lang="zh-CN" altLang="en-US" dirty="0"/>
                  <a:t>表</a:t>
                </a:r>
                <a:r>
                  <a:rPr lang="en-US" altLang="zh-CN" dirty="0"/>
                  <a:t>)</a:t>
                </a:r>
                <a:r>
                  <a:rPr lang="zh-CN" altLang="en-US" dirty="0"/>
                  <a:t>的元组。然后把</a:t>
                </a:r>
                <a:r>
                  <a:rPr lang="en-US" altLang="zh-CN" dirty="0"/>
                  <a:t>SC</a:t>
                </a:r>
                <a:r>
                  <a:rPr lang="zh-CN" altLang="en-US" dirty="0"/>
                  <a:t>中的每个元组和</a:t>
                </a:r>
                <a:r>
                  <a:rPr lang="en-US" altLang="zh-CN" dirty="0"/>
                  <a:t>Student</a:t>
                </a:r>
                <a:r>
                  <a:rPr lang="zh-CN" altLang="en-US" dirty="0"/>
                  <a:t>中每个元组连接，连接后的元组装满一块后就写到中间文件上，再从</a:t>
                </a:r>
                <a:r>
                  <a:rPr lang="en-US" altLang="zh-CN" dirty="0"/>
                  <a:t>SC</a:t>
                </a:r>
                <a:r>
                  <a:rPr lang="zh-CN" altLang="en-US" dirty="0"/>
                  <a:t>中读入一块和内存中的</a:t>
                </a:r>
                <a:r>
                  <a:rPr lang="en-US" altLang="zh-CN" dirty="0"/>
                  <a:t>S</a:t>
                </a:r>
                <a:r>
                  <a:rPr lang="zh-CN" altLang="en-US" dirty="0"/>
                  <a:t>元组连接，直到</a:t>
                </a:r>
                <a:r>
                  <a:rPr lang="en-US" altLang="zh-CN" dirty="0"/>
                  <a:t>SC</a:t>
                </a:r>
                <a:r>
                  <a:rPr lang="zh-CN" altLang="en-US" dirty="0"/>
                  <a:t>表处理完。这时再一次读入若干块</a:t>
                </a:r>
                <a:r>
                  <a:rPr lang="en-US" altLang="zh-CN" dirty="0"/>
                  <a:t>S</a:t>
                </a:r>
                <a:r>
                  <a:rPr lang="zh-CN" altLang="en-US" dirty="0"/>
                  <a:t>元组，读入一块</a:t>
                </a:r>
                <a:r>
                  <a:rPr lang="en-US" altLang="zh-CN" dirty="0"/>
                  <a:t>SC</a:t>
                </a:r>
                <a:r>
                  <a:rPr lang="zh-CN" altLang="en-US" dirty="0"/>
                  <a:t>元组，重复上述处理过程，直到把</a:t>
                </a:r>
                <a:r>
                  <a:rPr lang="en-US" altLang="zh-CN" dirty="0"/>
                  <a:t>S</a:t>
                </a:r>
                <a:r>
                  <a:rPr lang="zh-CN" altLang="en-US" dirty="0"/>
                  <a:t>表处理完 </a:t>
                </a:r>
                <a:endParaRPr lang="zh-CN" altLang="en-US" dirty="0"/>
              </a:p>
              <a:p>
                <a:pPr lvl="3"/>
                <a:r>
                  <a:rPr lang="zh-CN" altLang="en-US" dirty="0"/>
                  <a:t>设一个块能装</a:t>
                </a:r>
                <a:r>
                  <a:rPr lang="en-US" altLang="zh-CN" dirty="0"/>
                  <a:t>l0</a:t>
                </a:r>
                <a:r>
                  <a:rPr lang="zh-CN" altLang="en-US" dirty="0"/>
                  <a:t>个</a:t>
                </a:r>
                <a:r>
                  <a:rPr lang="en-US" altLang="zh-CN" dirty="0"/>
                  <a:t>Student</a:t>
                </a:r>
                <a:r>
                  <a:rPr lang="zh-CN" altLang="en-US" dirty="0"/>
                  <a:t>元组或</a:t>
                </a:r>
                <a:r>
                  <a:rPr lang="en-US" altLang="zh-CN" dirty="0"/>
                  <a:t>l00</a:t>
                </a:r>
                <a:r>
                  <a:rPr lang="zh-CN" altLang="en-US" dirty="0"/>
                  <a:t>个</a:t>
                </a:r>
                <a:r>
                  <a:rPr lang="en-US" altLang="zh-CN" dirty="0"/>
                  <a:t>SC</a:t>
                </a:r>
                <a:r>
                  <a:rPr lang="zh-CN" altLang="en-US" dirty="0"/>
                  <a:t>元组，在内存中存放</a:t>
                </a:r>
                <a:r>
                  <a:rPr lang="en-US" altLang="zh-CN" dirty="0"/>
                  <a:t>5</a:t>
                </a:r>
                <a:r>
                  <a:rPr lang="zh-CN" altLang="en-US" dirty="0"/>
                  <a:t>块</a:t>
                </a:r>
                <a:r>
                  <a:rPr lang="en-US" altLang="zh-CN" dirty="0"/>
                  <a:t>Student</a:t>
                </a:r>
                <a:r>
                  <a:rPr lang="zh-CN" altLang="en-US" dirty="0"/>
                  <a:t>元组 和</a:t>
                </a:r>
                <a:r>
                  <a:rPr lang="en-US" altLang="zh-CN" dirty="0"/>
                  <a:t>1</a:t>
                </a:r>
                <a:r>
                  <a:rPr lang="zh-CN" altLang="en-US" dirty="0"/>
                  <a:t>块</a:t>
                </a:r>
                <a:r>
                  <a:rPr lang="en-US" altLang="zh-CN" dirty="0"/>
                  <a:t>SC</a:t>
                </a:r>
                <a:r>
                  <a:rPr lang="zh-CN" altLang="en-US" dirty="0"/>
                  <a:t>元组，则读取总块数为：  </a:t>
                </a:r>
                <a:r>
                  <a:rPr lang="en-US" altLang="zh-CN" dirty="0"/>
                  <a:t>500/10+500/(10 X 5) X (10 000/100)=1050</a:t>
                </a:r>
                <a:r>
                  <a:rPr lang="zh-CN" altLang="en-US" dirty="0"/>
                  <a:t>块</a:t>
                </a:r>
                <a:endParaRPr lang="zh-CN" altLang="en-US" dirty="0"/>
              </a:p>
              <a:p>
                <a:pPr lvl="3"/>
                <a:r>
                  <a:rPr lang="zh-CN" altLang="en-US" dirty="0"/>
                  <a:t>其中读</a:t>
                </a:r>
                <a:r>
                  <a:rPr lang="en-US" altLang="zh-CN" dirty="0"/>
                  <a:t>Student</a:t>
                </a:r>
                <a:r>
                  <a:rPr lang="zh-CN" altLang="en-US" dirty="0"/>
                  <a:t>表</a:t>
                </a:r>
                <a:r>
                  <a:rPr lang="en-US" altLang="zh-CN" dirty="0"/>
                  <a:t>50</a:t>
                </a:r>
                <a:r>
                  <a:rPr lang="zh-CN" altLang="en-US" dirty="0"/>
                  <a:t>块。读</a:t>
                </a:r>
                <a:r>
                  <a:rPr lang="en-US" altLang="zh-CN" dirty="0"/>
                  <a:t>SC</a:t>
                </a:r>
                <a:r>
                  <a:rPr lang="zh-CN" altLang="en-US" dirty="0"/>
                  <a:t>表</a:t>
                </a:r>
                <a:r>
                  <a:rPr lang="en-US" altLang="zh-CN" dirty="0"/>
                  <a:t>10</a:t>
                </a:r>
                <a:r>
                  <a:rPr lang="zh-CN" altLang="en-US" dirty="0"/>
                  <a:t>遍，每遍</a:t>
                </a:r>
                <a:r>
                  <a:rPr lang="en-US" altLang="zh-CN" dirty="0"/>
                  <a:t>l00</a:t>
                </a:r>
                <a:r>
                  <a:rPr lang="zh-CN" altLang="en-US" dirty="0"/>
                  <a:t>块。若每秒读写</a:t>
                </a:r>
                <a:r>
                  <a:rPr lang="en-US" altLang="zh-CN" dirty="0"/>
                  <a:t>20</a:t>
                </a:r>
                <a:r>
                  <a:rPr lang="zh-CN" altLang="en-US" dirty="0"/>
                  <a:t>块，则总计要花</a:t>
                </a:r>
                <a:r>
                  <a:rPr lang="en-US" altLang="zh-CN" dirty="0"/>
                  <a:t>52.5(</a:t>
                </a:r>
                <a:r>
                  <a:rPr lang="zh-CN" altLang="en-US" dirty="0"/>
                  <a:t>秒</a:t>
                </a:r>
                <a:r>
                  <a:rPr lang="en-US" altLang="zh-CN" dirty="0"/>
                  <a:t>) </a:t>
                </a:r>
                <a:endParaRPr lang="en-US" altLang="zh-CN" dirty="0"/>
              </a:p>
              <a:p>
                <a:pPr lvl="3"/>
                <a:r>
                  <a:rPr lang="zh-CN" altLang="en-US" dirty="0"/>
                  <a:t>连接后的元组数为</a:t>
                </a:r>
                <a:r>
                  <a:rPr lang="en-US" altLang="zh-CN" dirty="0"/>
                  <a:t>500X10 000</a:t>
                </a:r>
                <a:r>
                  <a:rPr lang="zh-CN" altLang="en-US" dirty="0"/>
                  <a:t>。设每块能装</a:t>
                </a:r>
                <a:r>
                  <a:rPr lang="en-US" altLang="zh-CN" dirty="0"/>
                  <a:t>l0</a:t>
                </a:r>
                <a:r>
                  <a:rPr lang="zh-CN" altLang="en-US" dirty="0"/>
                  <a:t>个元组，则写出这些块要花</a:t>
                </a:r>
                <a:r>
                  <a:rPr lang="en-US" altLang="zh-CN" dirty="0"/>
                  <a:t>500 000/20=25 000( </a:t>
                </a:r>
                <a:r>
                  <a:rPr lang="zh-CN" altLang="en-US" dirty="0"/>
                  <a:t>秒</a:t>
                </a:r>
                <a:r>
                  <a:rPr lang="en-US" altLang="zh-CN" dirty="0"/>
                  <a:t>)</a:t>
                </a:r>
                <a:endParaRPr lang="en-US" altLang="zh-CN" dirty="0"/>
              </a:p>
              <a:p>
                <a:pPr lvl="3"/>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738" b="-1079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实例分析</a:t>
                </a:r>
                <a:r>
                  <a:rPr lang="en-US" altLang="zh-CN" dirty="0"/>
                  <a:t>-</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𝑠𝑐</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sub>
                    </m:sSub>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𝐶𝑆</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08</m:t>
                            </m:r>
                          </m:e>
                          <m:sup>
                            <m:r>
                              <a:rPr lang="en-US" altLang="zh-CN" b="0" i="1" smtClean="0">
                                <a:latin typeface="Cambria Math" panose="02040503050406030204" pitchFamily="18" charset="0"/>
                                <a:ea typeface="Cambria Math" panose="02040503050406030204" pitchFamily="18" charset="0"/>
                              </a:rPr>
                              <m:t>′</m:t>
                            </m:r>
                          </m:sup>
                        </m:sSup>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𝑆𝐶</m:t>
                        </m:r>
                      </m:e>
                    </m:d>
                    <m:r>
                      <a:rPr lang="en-US" altLang="zh-CN" b="0" i="1" smtClean="0">
                        <a:latin typeface="Cambria Math" panose="02040503050406030204" pitchFamily="18" charset="0"/>
                        <a:ea typeface="Cambria Math" panose="02040503050406030204" pitchFamily="18" charset="0"/>
                      </a:rPr>
                      <m:t>)</m:t>
                    </m:r>
                  </m:oMath>
                </a14:m>
                <a:endParaRPr lang="en-US" altLang="zh-CN" dirty="0"/>
              </a:p>
              <a:p>
                <a:pPr lvl="1"/>
                <a:r>
                  <a:rPr lang="zh-CN" altLang="en-US" dirty="0"/>
                  <a:t>查询执行策略</a:t>
                </a:r>
                <a:r>
                  <a:rPr lang="en-US" altLang="zh-CN" dirty="0"/>
                  <a:t>Q1</a:t>
                </a:r>
                <a:r>
                  <a:rPr lang="zh-CN" altLang="en-US" dirty="0"/>
                  <a:t>代价分析</a:t>
                </a:r>
                <a:r>
                  <a:rPr lang="en-US" altLang="zh-CN" dirty="0"/>
                  <a:t>(</a:t>
                </a:r>
                <a:r>
                  <a:rPr lang="zh-CN" altLang="en-US" dirty="0"/>
                  <a:t>续</a:t>
                </a:r>
                <a:r>
                  <a:rPr lang="en-US" altLang="zh-CN" dirty="0"/>
                  <a:t>) </a:t>
                </a:r>
                <a:endParaRPr lang="en-US" altLang="zh-CN" dirty="0"/>
              </a:p>
              <a:p>
                <a:pPr lvl="2"/>
                <a:r>
                  <a:rPr lang="zh-CN" altLang="en-US" dirty="0"/>
                  <a:t>选择操作的代价</a:t>
                </a:r>
                <a:endParaRPr lang="en-US" altLang="zh-CN" dirty="0"/>
              </a:p>
              <a:p>
                <a:pPr lvl="3"/>
                <a:r>
                  <a:rPr lang="zh-CN" altLang="en-US" dirty="0"/>
                  <a:t>依次读入连接后的元组，按照选择条件选取满足要求的的记录。假定内存处理时间忽略。这一步读取中间文件花费的时间</a:t>
                </a:r>
                <a:r>
                  <a:rPr lang="en-US" altLang="zh-CN" dirty="0"/>
                  <a:t>(</a:t>
                </a:r>
                <a:r>
                  <a:rPr lang="zh-CN" altLang="en-US" dirty="0"/>
                  <a:t>同写中间文件一样</a:t>
                </a:r>
                <a:r>
                  <a:rPr lang="en-US" altLang="zh-CN" dirty="0"/>
                  <a:t>)</a:t>
                </a:r>
                <a:r>
                  <a:rPr lang="zh-CN" altLang="en-US" dirty="0"/>
                  <a:t>需</a:t>
                </a:r>
                <a:r>
                  <a:rPr lang="en-US" altLang="zh-CN" dirty="0">
                    <a:solidFill>
                      <a:srgbClr val="C00000"/>
                    </a:solidFill>
                  </a:rPr>
                  <a:t>25000</a:t>
                </a:r>
                <a:r>
                  <a:rPr lang="zh-CN" altLang="en-US" dirty="0"/>
                  <a:t>秒。满足条件的元组假设仅</a:t>
                </a:r>
                <a:r>
                  <a:rPr lang="en-US" altLang="zh-CN" dirty="0"/>
                  <a:t>50</a:t>
                </a:r>
                <a:r>
                  <a:rPr lang="zh-CN" altLang="en-US" dirty="0"/>
                  <a:t>个，均可放在内存。 </a:t>
                </a:r>
                <a:endParaRPr lang="zh-CN" altLang="en-US" dirty="0"/>
              </a:p>
              <a:p>
                <a:pPr lvl="2"/>
                <a:r>
                  <a:rPr lang="zh-CN" altLang="en-US" dirty="0"/>
                  <a:t>投影操作的代价</a:t>
                </a:r>
                <a:endParaRPr lang="en-US" altLang="zh-CN" dirty="0"/>
              </a:p>
              <a:p>
                <a:pPr lvl="3"/>
                <a:r>
                  <a:rPr lang="zh-CN" altLang="en-US" dirty="0"/>
                  <a:t>把第</a:t>
                </a:r>
                <a:r>
                  <a:rPr lang="en-US" altLang="zh-CN" dirty="0"/>
                  <a:t>2</a:t>
                </a:r>
                <a:r>
                  <a:rPr lang="zh-CN" altLang="en-US" dirty="0"/>
                  <a:t>步的结果在</a:t>
                </a:r>
                <a:r>
                  <a:rPr lang="en-US" altLang="zh-CN" dirty="0" err="1"/>
                  <a:t>Sname</a:t>
                </a:r>
                <a:r>
                  <a:rPr lang="zh-CN" altLang="en-US" dirty="0"/>
                  <a:t>上作投影输出</a:t>
                </a:r>
                <a:r>
                  <a:rPr lang="en-US" altLang="zh-CN" dirty="0"/>
                  <a:t>,</a:t>
                </a:r>
                <a:r>
                  <a:rPr lang="zh-CN" altLang="en-US" dirty="0"/>
                  <a:t>得到最终结果</a:t>
                </a:r>
                <a:endParaRPr lang="en-US" altLang="zh-CN" dirty="0"/>
              </a:p>
              <a:p>
                <a:pPr lvl="3"/>
                <a:r>
                  <a:rPr lang="en-US" altLang="zh-CN" dirty="0"/>
                  <a:t>Q1</a:t>
                </a:r>
                <a:r>
                  <a:rPr lang="zh-CN" altLang="en-US" dirty="0"/>
                  <a:t>查询的总时间约为</a:t>
                </a:r>
                <a:r>
                  <a:rPr lang="en-US" altLang="zh-CN" dirty="0">
                    <a:solidFill>
                      <a:srgbClr val="C00000"/>
                    </a:solidFill>
                  </a:rPr>
                  <a:t>52.5+2X25000</a:t>
                </a:r>
                <a:endParaRPr lang="en-US" altLang="zh-CN" dirty="0">
                  <a:solidFill>
                    <a:srgbClr val="C00000"/>
                  </a:solidFill>
                </a:endParaRPr>
              </a:p>
              <a:p>
                <a:pPr lvl="3"/>
                <a:r>
                  <a:rPr lang="zh-CN" altLang="en-US" dirty="0"/>
                  <a:t>这里，所有内存处理时间均忽略不计</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实例分析</a:t>
                </a:r>
                <a:r>
                  <a:rPr lang="en-US" altLang="zh-CN" dirty="0"/>
                  <a:t>-</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𝑐</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𝐶𝑆</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08</m:t>
                            </m:r>
                          </m:e>
                          <m:sup>
                            <m:r>
                              <a:rPr lang="en-US" altLang="zh-CN" b="0" i="1" smtClean="0">
                                <a:latin typeface="Cambria Math" panose="02040503050406030204" pitchFamily="18" charset="0"/>
                              </a:rPr>
                              <m:t>′</m:t>
                            </m:r>
                          </m:sup>
                        </m:sSup>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𝑆𝐶</m:t>
                        </m:r>
                      </m:e>
                    </m:d>
                    <m:r>
                      <a:rPr lang="en-US" altLang="zh-CN" b="0" i="1" smtClean="0">
                        <a:latin typeface="Cambria Math" panose="02040503050406030204" pitchFamily="18" charset="0"/>
                      </a:rPr>
                      <m:t>)</m:t>
                    </m:r>
                  </m:oMath>
                </a14:m>
                <a:endParaRPr lang="en-US" altLang="zh-CN" dirty="0"/>
              </a:p>
              <a:p>
                <a:pPr lvl="1"/>
                <a:r>
                  <a:rPr lang="zh-CN" altLang="en-US" dirty="0"/>
                  <a:t>查询执行策略</a:t>
                </a:r>
                <a:r>
                  <a:rPr lang="en-US" altLang="zh-CN" dirty="0"/>
                  <a:t>Q2</a:t>
                </a:r>
                <a:r>
                  <a:rPr lang="zh-CN" altLang="en-US" dirty="0"/>
                  <a:t>代价分析</a:t>
                </a:r>
                <a:endParaRPr lang="zh-CN" altLang="en-US" dirty="0"/>
              </a:p>
              <a:p>
                <a:pPr lvl="2"/>
                <a:r>
                  <a:rPr lang="zh-CN" altLang="en-US" dirty="0"/>
                  <a:t>计算自然连接的代价</a:t>
                </a:r>
                <a:endParaRPr lang="en-US" altLang="zh-CN" dirty="0"/>
              </a:p>
              <a:p>
                <a:pPr lvl="3"/>
                <a:r>
                  <a:rPr lang="zh-CN" altLang="en-US" dirty="0"/>
                  <a:t>为了执行自然连接，读取</a:t>
                </a:r>
                <a:r>
                  <a:rPr lang="en-US" altLang="zh-CN" dirty="0"/>
                  <a:t>Student</a:t>
                </a:r>
                <a:r>
                  <a:rPr lang="zh-CN" altLang="en-US" dirty="0"/>
                  <a:t>和</a:t>
                </a:r>
                <a:r>
                  <a:rPr lang="en-US" altLang="zh-CN" dirty="0"/>
                  <a:t>SC</a:t>
                </a:r>
                <a:r>
                  <a:rPr lang="zh-CN" altLang="en-US" dirty="0"/>
                  <a:t>表的策略不变</a:t>
                </a:r>
                <a:r>
                  <a:rPr lang="en-US" altLang="zh-CN" dirty="0"/>
                  <a:t>,</a:t>
                </a:r>
                <a:r>
                  <a:rPr lang="zh-CN" altLang="en-US" dirty="0"/>
                  <a:t>总的读取块数仍为</a:t>
                </a:r>
                <a:r>
                  <a:rPr lang="en-US" altLang="zh-CN" dirty="0">
                    <a:solidFill>
                      <a:srgbClr val="C00000"/>
                    </a:solidFill>
                  </a:rPr>
                  <a:t>1050</a:t>
                </a:r>
                <a:r>
                  <a:rPr lang="zh-CN" altLang="en-US" dirty="0"/>
                  <a:t>块，花费</a:t>
                </a:r>
                <a:r>
                  <a:rPr lang="en-US" altLang="zh-CN" dirty="0">
                    <a:solidFill>
                      <a:srgbClr val="C00000"/>
                    </a:solidFill>
                  </a:rPr>
                  <a:t>52.5</a:t>
                </a:r>
                <a:r>
                  <a:rPr lang="zh-CN" altLang="en-US" dirty="0"/>
                  <a:t>秒。但自然连接的结果比第一种情况大大减少，为</a:t>
                </a:r>
                <a:r>
                  <a:rPr lang="en-US" altLang="zh-CN" dirty="0">
                    <a:solidFill>
                      <a:srgbClr val="C00000"/>
                    </a:solidFill>
                  </a:rPr>
                  <a:t>10000</a:t>
                </a:r>
                <a:r>
                  <a:rPr lang="zh-CN" altLang="en-US" dirty="0"/>
                  <a:t>个。因此写出这些元组时间为</a:t>
                </a:r>
                <a:r>
                  <a:rPr lang="en-US" altLang="zh-CN" dirty="0">
                    <a:solidFill>
                      <a:srgbClr val="C00000"/>
                    </a:solidFill>
                  </a:rPr>
                  <a:t>10000</a:t>
                </a:r>
                <a:r>
                  <a:rPr lang="en-US" altLang="zh-CN" dirty="0"/>
                  <a:t> /</a:t>
                </a:r>
                <a:r>
                  <a:rPr lang="en-US" altLang="zh-CN" dirty="0">
                    <a:solidFill>
                      <a:srgbClr val="C00000"/>
                    </a:solidFill>
                  </a:rPr>
                  <a:t>10</a:t>
                </a:r>
                <a:r>
                  <a:rPr lang="en-US" altLang="zh-CN" dirty="0"/>
                  <a:t>/20=</a:t>
                </a:r>
                <a:r>
                  <a:rPr lang="en-US" altLang="zh-CN" dirty="0">
                    <a:solidFill>
                      <a:srgbClr val="C00000"/>
                    </a:solidFill>
                  </a:rPr>
                  <a:t>50</a:t>
                </a:r>
                <a:r>
                  <a:rPr lang="zh-CN" altLang="en-US" dirty="0"/>
                  <a:t>秒。仅为第一种情况的千分之二</a:t>
                </a:r>
                <a:endParaRPr lang="zh-CN" altLang="en-US" dirty="0"/>
              </a:p>
              <a:p>
                <a:pPr lvl="2"/>
                <a:r>
                  <a:rPr lang="zh-CN" altLang="en-US" dirty="0"/>
                  <a:t>读取中间文件块，执行选择运算，花费时间也为</a:t>
                </a:r>
                <a:r>
                  <a:rPr lang="en-US" altLang="zh-CN" dirty="0">
                    <a:solidFill>
                      <a:srgbClr val="C00000"/>
                    </a:solidFill>
                  </a:rPr>
                  <a:t>50</a:t>
                </a:r>
                <a:r>
                  <a:rPr lang="zh-CN" altLang="en-US" dirty="0"/>
                  <a:t>秒 </a:t>
                </a:r>
                <a:endParaRPr lang="zh-CN" altLang="en-US" dirty="0"/>
              </a:p>
              <a:p>
                <a:pPr lvl="2"/>
                <a:r>
                  <a:rPr lang="zh-CN" altLang="en-US" dirty="0"/>
                  <a:t>将第</a:t>
                </a:r>
                <a:r>
                  <a:rPr lang="en-US" altLang="zh-CN" dirty="0"/>
                  <a:t>2</a:t>
                </a:r>
                <a:r>
                  <a:rPr lang="zh-CN" altLang="en-US" dirty="0"/>
                  <a:t>步结果投影输出 </a:t>
                </a:r>
                <a:endParaRPr lang="en-US" altLang="zh-CN" dirty="0"/>
              </a:p>
              <a:p>
                <a:pPr lvl="3"/>
                <a:r>
                  <a:rPr lang="en-US" altLang="zh-CN" dirty="0"/>
                  <a:t>Q2</a:t>
                </a:r>
                <a:r>
                  <a:rPr lang="zh-CN" altLang="en-US" dirty="0"/>
                  <a:t>总的执行时间≈</a:t>
                </a:r>
                <a:r>
                  <a:rPr lang="en-US" altLang="zh-CN" dirty="0"/>
                  <a:t>52.5+50+50</a:t>
                </a:r>
                <a:r>
                  <a:rPr lang="zh-CN" altLang="en-US" dirty="0"/>
                  <a:t>＝</a:t>
                </a:r>
                <a:r>
                  <a:rPr lang="en-US" altLang="zh-CN" dirty="0">
                    <a:solidFill>
                      <a:srgbClr val="C00000"/>
                    </a:solidFill>
                  </a:rPr>
                  <a:t>152.5</a:t>
                </a:r>
                <a:r>
                  <a:rPr lang="zh-CN" altLang="en-US" dirty="0"/>
                  <a:t>秒</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实例分析</a:t>
                </a:r>
                <a:r>
                  <a:rPr lang="en-US" altLang="zh-CN" dirty="0"/>
                  <a:t>-</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3</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𝑆𝑛𝑎𝑚𝑒</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𝑐</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𝐶𝑆</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08</m:t>
                            </m:r>
                          </m:e>
                          <m:sup>
                            <m:r>
                              <a:rPr lang="en-US" altLang="zh-CN" b="0" i="1" smtClean="0">
                                <a:latin typeface="Cambria Math" panose="02040503050406030204" pitchFamily="18" charset="0"/>
                                <a:ea typeface="Cambria Math" panose="02040503050406030204" pitchFamily="18" charset="0"/>
                              </a:rPr>
                              <m:t>′</m:t>
                            </m:r>
                          </m:sup>
                        </m:sSup>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𝑆𝐶</m:t>
                        </m:r>
                      </m:e>
                    </m:d>
                    <m:r>
                      <a:rPr lang="en-US" altLang="zh-CN" b="0" i="1" smtClean="0">
                        <a:latin typeface="Cambria Math" panose="02040503050406030204" pitchFamily="18" charset="0"/>
                        <a:ea typeface="Cambria Math" panose="02040503050406030204" pitchFamily="18" charset="0"/>
                      </a:rPr>
                      <m:t>)</m:t>
                    </m:r>
                  </m:oMath>
                </a14:m>
                <a:endParaRPr lang="zh-CN" altLang="en-US" dirty="0"/>
              </a:p>
              <a:p>
                <a:pPr lvl="1"/>
                <a:r>
                  <a:rPr lang="zh-CN" altLang="en-US" dirty="0"/>
                  <a:t>查询执行策略</a:t>
                </a:r>
                <a:r>
                  <a:rPr lang="en-US" altLang="zh-CN" dirty="0"/>
                  <a:t>Q3</a:t>
                </a:r>
                <a:r>
                  <a:rPr lang="zh-CN" altLang="en-US" dirty="0"/>
                  <a:t>代价分析</a:t>
                </a:r>
                <a:endParaRPr lang="zh-CN" altLang="en-US" dirty="0"/>
              </a:p>
              <a:p>
                <a:pPr lvl="2"/>
                <a:r>
                  <a:rPr lang="zh-CN" altLang="en-US" dirty="0"/>
                  <a:t>花费时间为</a:t>
                </a:r>
                <a:r>
                  <a:rPr lang="en-US" altLang="zh-CN" dirty="0">
                    <a:solidFill>
                      <a:srgbClr val="C00000"/>
                    </a:solidFill>
                  </a:rPr>
                  <a:t>5</a:t>
                </a:r>
                <a:r>
                  <a:rPr lang="zh-CN" altLang="en-US" dirty="0"/>
                  <a:t>秒，因为满足条件的元组仅</a:t>
                </a:r>
                <a:r>
                  <a:rPr lang="en-US" altLang="zh-CN" dirty="0"/>
                  <a:t>50</a:t>
                </a:r>
                <a:r>
                  <a:rPr lang="zh-CN" altLang="en-US" dirty="0"/>
                  <a:t>个，不必使用中间文件 </a:t>
                </a:r>
                <a:endParaRPr lang="zh-CN" altLang="en-US" dirty="0"/>
              </a:p>
              <a:p>
                <a:pPr lvl="2"/>
                <a:r>
                  <a:rPr lang="zh-CN" altLang="en-US" dirty="0"/>
                  <a:t>读取</a:t>
                </a:r>
                <a:r>
                  <a:rPr lang="en-US" altLang="zh-CN" dirty="0"/>
                  <a:t>STUDENT</a:t>
                </a:r>
                <a:r>
                  <a:rPr lang="zh-CN" altLang="en-US" dirty="0"/>
                  <a:t>表，把读入的</a:t>
                </a:r>
                <a:r>
                  <a:rPr lang="en-US" altLang="zh-CN" dirty="0"/>
                  <a:t>STUDENT</a:t>
                </a:r>
                <a:r>
                  <a:rPr lang="zh-CN" altLang="en-US" dirty="0"/>
                  <a:t>元组和内存中的</a:t>
                </a:r>
                <a:r>
                  <a:rPr lang="en-US" altLang="zh-CN" dirty="0"/>
                  <a:t>SC</a:t>
                </a:r>
                <a:r>
                  <a:rPr lang="zh-CN" altLang="en-US" dirty="0"/>
                  <a:t>元组作连接。也只需读一遍</a:t>
                </a:r>
                <a:r>
                  <a:rPr lang="en-US" altLang="zh-CN" dirty="0"/>
                  <a:t>STUDENT</a:t>
                </a:r>
                <a:r>
                  <a:rPr lang="zh-CN" altLang="en-US" dirty="0"/>
                  <a:t>表共</a:t>
                </a:r>
                <a:r>
                  <a:rPr lang="en-US" altLang="zh-CN" dirty="0"/>
                  <a:t>50</a:t>
                </a:r>
                <a:r>
                  <a:rPr lang="zh-CN" altLang="en-US" dirty="0"/>
                  <a:t>块花费时间为</a:t>
                </a:r>
                <a:r>
                  <a:rPr lang="en-US" altLang="zh-CN" dirty="0">
                    <a:solidFill>
                      <a:srgbClr val="C00000"/>
                    </a:solidFill>
                  </a:rPr>
                  <a:t>2.5</a:t>
                </a:r>
                <a:r>
                  <a:rPr lang="zh-CN" altLang="en-US" dirty="0"/>
                  <a:t>秒</a:t>
                </a:r>
                <a:endParaRPr lang="zh-CN" altLang="en-US" dirty="0"/>
              </a:p>
              <a:p>
                <a:pPr lvl="2"/>
                <a:r>
                  <a:rPr lang="zh-CN" altLang="en-US" dirty="0"/>
                  <a:t>把连接结果投影输出</a:t>
                </a:r>
                <a:endParaRPr lang="en-US" altLang="zh-CN" dirty="0"/>
              </a:p>
              <a:p>
                <a:pPr lvl="3"/>
                <a:r>
                  <a:rPr lang="en-US" altLang="zh-CN" dirty="0"/>
                  <a:t>Q3</a:t>
                </a:r>
                <a:r>
                  <a:rPr lang="zh-CN" altLang="en-US" dirty="0"/>
                  <a:t>总的执行时间≈</a:t>
                </a:r>
                <a:r>
                  <a:rPr lang="en-US" altLang="zh-CN" dirty="0"/>
                  <a:t>5+2.5</a:t>
                </a:r>
                <a:r>
                  <a:rPr lang="zh-CN" altLang="en-US" dirty="0"/>
                  <a:t>＝</a:t>
                </a:r>
                <a:r>
                  <a:rPr lang="en-US" altLang="zh-CN" dirty="0">
                    <a:solidFill>
                      <a:srgbClr val="C00000"/>
                    </a:solidFill>
                  </a:rPr>
                  <a:t>7.5</a:t>
                </a:r>
                <a:r>
                  <a:rPr lang="zh-CN" altLang="en-US" dirty="0"/>
                  <a:t>秒</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endParaRPr lang="en-US" altLang="zh-CN" dirty="0"/>
          </a:p>
          <a:p>
            <a:pPr lvl="1"/>
            <a:r>
              <a:rPr lang="zh-CN" altLang="en-US" dirty="0"/>
              <a:t>假如</a:t>
            </a:r>
            <a:r>
              <a:rPr lang="en-US" altLang="zh-CN" dirty="0"/>
              <a:t>SC</a:t>
            </a:r>
            <a:r>
              <a:rPr lang="zh-CN" altLang="en-US" dirty="0"/>
              <a:t>表的</a:t>
            </a:r>
            <a:r>
              <a:rPr lang="en-US" altLang="zh-CN" dirty="0"/>
              <a:t>C#</a:t>
            </a:r>
            <a:r>
              <a:rPr lang="zh-CN" altLang="en-US" dirty="0"/>
              <a:t>字段上有索引，第</a:t>
            </a:r>
            <a:r>
              <a:rPr lang="en-US" altLang="zh-CN" dirty="0"/>
              <a:t>1</a:t>
            </a:r>
            <a:r>
              <a:rPr lang="zh-CN" altLang="en-US" dirty="0"/>
              <a:t>步就不必读取所有的</a:t>
            </a:r>
            <a:r>
              <a:rPr lang="en-US" altLang="zh-CN" dirty="0"/>
              <a:t>SC</a:t>
            </a:r>
            <a:r>
              <a:rPr lang="zh-CN" altLang="en-US" dirty="0"/>
              <a:t>元组而只需读取</a:t>
            </a:r>
            <a:r>
              <a:rPr lang="en-US" altLang="zh-CN" dirty="0"/>
              <a:t>C#=‘CS-08’</a:t>
            </a:r>
            <a:r>
              <a:rPr lang="zh-CN" altLang="en-US" dirty="0"/>
              <a:t>的那些元组</a:t>
            </a:r>
            <a:r>
              <a:rPr lang="en-US" altLang="zh-CN" dirty="0"/>
              <a:t>(50</a:t>
            </a:r>
            <a:r>
              <a:rPr lang="zh-CN" altLang="en-US" dirty="0"/>
              <a:t>个</a:t>
            </a:r>
            <a:r>
              <a:rPr lang="en-US" altLang="zh-CN" dirty="0"/>
              <a:t>)</a:t>
            </a:r>
            <a:r>
              <a:rPr lang="zh-CN" altLang="en-US" dirty="0"/>
              <a:t>。</a:t>
            </a:r>
            <a:endParaRPr lang="zh-CN" altLang="en-US" dirty="0"/>
          </a:p>
          <a:p>
            <a:pPr lvl="1"/>
            <a:r>
              <a:rPr lang="zh-CN" altLang="en-US" dirty="0"/>
              <a:t>存取的索引块和</a:t>
            </a:r>
            <a:r>
              <a:rPr lang="en-US" altLang="zh-CN" dirty="0"/>
              <a:t>SC</a:t>
            </a:r>
            <a:r>
              <a:rPr lang="zh-CN" altLang="en-US" dirty="0"/>
              <a:t>中满足条件的数据块大约总共</a:t>
            </a:r>
            <a:r>
              <a:rPr lang="en-US" altLang="zh-CN" dirty="0"/>
              <a:t>2</a:t>
            </a:r>
            <a:r>
              <a:rPr lang="zh-CN" altLang="en-US" dirty="0"/>
              <a:t>～</a:t>
            </a:r>
            <a:r>
              <a:rPr lang="en-US" altLang="zh-CN" dirty="0"/>
              <a:t>3</a:t>
            </a:r>
            <a:r>
              <a:rPr lang="zh-CN" altLang="en-US" dirty="0"/>
              <a:t>块</a:t>
            </a:r>
            <a:endParaRPr lang="zh-CN" altLang="en-US" dirty="0"/>
          </a:p>
          <a:p>
            <a:pPr lvl="1"/>
            <a:r>
              <a:rPr lang="zh-CN" altLang="en-US" dirty="0"/>
              <a:t>若</a:t>
            </a:r>
            <a:r>
              <a:rPr lang="en-US" altLang="zh-CN" dirty="0"/>
              <a:t>STUDENT</a:t>
            </a:r>
            <a:r>
              <a:rPr lang="zh-CN" altLang="en-US" dirty="0"/>
              <a:t>表在</a:t>
            </a:r>
            <a:r>
              <a:rPr lang="en-US" altLang="zh-CN" dirty="0"/>
              <a:t>S#</a:t>
            </a:r>
            <a:r>
              <a:rPr lang="zh-CN" altLang="en-US" dirty="0"/>
              <a:t>上也有索引，则第</a:t>
            </a:r>
            <a:r>
              <a:rPr lang="en-US" altLang="zh-CN" dirty="0"/>
              <a:t>2</a:t>
            </a:r>
            <a:r>
              <a:rPr lang="zh-CN" altLang="en-US" dirty="0"/>
              <a:t>步也不必读取所有的</a:t>
            </a:r>
            <a:r>
              <a:rPr lang="en-US" altLang="zh-CN" dirty="0"/>
              <a:t>STUDENT</a:t>
            </a:r>
            <a:r>
              <a:rPr lang="zh-CN" altLang="en-US" dirty="0"/>
              <a:t>元组，因为满足条件的</a:t>
            </a:r>
            <a:r>
              <a:rPr lang="en-US" altLang="zh-CN" dirty="0"/>
              <a:t>SC</a:t>
            </a:r>
            <a:r>
              <a:rPr lang="zh-CN" altLang="en-US" dirty="0"/>
              <a:t>记录仅</a:t>
            </a:r>
            <a:r>
              <a:rPr lang="en-US" altLang="zh-CN" dirty="0"/>
              <a:t>50</a:t>
            </a:r>
            <a:r>
              <a:rPr lang="zh-CN" altLang="en-US" dirty="0"/>
              <a:t>个，涉及最多</a:t>
            </a:r>
            <a:r>
              <a:rPr lang="en-US" altLang="zh-CN" dirty="0"/>
              <a:t>50</a:t>
            </a:r>
            <a:r>
              <a:rPr lang="zh-CN" altLang="en-US" dirty="0"/>
              <a:t>个</a:t>
            </a:r>
            <a:r>
              <a:rPr lang="en-US" altLang="zh-CN" dirty="0"/>
              <a:t>STUDENT</a:t>
            </a:r>
            <a:r>
              <a:rPr lang="zh-CN" altLang="en-US" dirty="0"/>
              <a:t>记录，因此读取</a:t>
            </a:r>
            <a:r>
              <a:rPr lang="en-US" altLang="zh-CN" dirty="0"/>
              <a:t>STUDENT</a:t>
            </a:r>
            <a:r>
              <a:rPr lang="zh-CN" altLang="en-US" dirty="0"/>
              <a:t>表的块数也可大大减少。总的存取时间将进一步减少到数秒</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endParaRPr lang="en-US" altLang="zh-CN" dirty="0"/>
          </a:p>
          <a:p>
            <a:pPr lvl="1"/>
            <a:r>
              <a:rPr lang="zh-CN" altLang="en-US" dirty="0"/>
              <a:t>这个简单的例子充分说明了查询优化的必要性，同时也给了我们一些查询优化方法的初步概念。</a:t>
            </a:r>
            <a:endParaRPr lang="zh-CN" altLang="en-US" dirty="0"/>
          </a:p>
          <a:p>
            <a:pPr lvl="1"/>
            <a:r>
              <a:rPr lang="zh-CN" altLang="en-US" dirty="0"/>
              <a:t>如当有选择和连接操作时，应当先做选择操作，这样参加连接的元组就可以大大减少。</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7.2 </a:t>
            </a:r>
            <a:r>
              <a:rPr lang="zh-CN" altLang="en-US" dirty="0"/>
              <a:t>数据库执行引擎</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代数优化的介绍</a:t>
            </a:r>
            <a:endParaRPr lang="en-US" altLang="zh-CN" dirty="0"/>
          </a:p>
          <a:p>
            <a:pPr lvl="1"/>
            <a:r>
              <a:rPr lang="zh-CN" altLang="en-US" dirty="0"/>
              <a:t>代数优化使用等价变换规则来优化关系代数表达式，使优化后的表达式满足基本原则</a:t>
            </a:r>
            <a:endParaRPr lang="zh-CN" altLang="en-US" dirty="0"/>
          </a:p>
          <a:p>
            <a:pPr lvl="1"/>
            <a:r>
              <a:rPr lang="zh-CN" altLang="en-US" dirty="0"/>
              <a:t>执行一系列已经证明能够优化的策略，而不必考虑实际数据的值以及数据库的存取路径，从而减少执行的开销</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代数优化的基本原则</a:t>
            </a:r>
            <a:endParaRPr lang="en-US" altLang="zh-CN" dirty="0"/>
          </a:p>
          <a:p>
            <a:pPr lvl="1"/>
            <a:r>
              <a:rPr lang="zh-CN" altLang="en-US" dirty="0"/>
              <a:t>代数优化的基本原则是尽量减小查询处理的中间结果大小</a:t>
            </a:r>
            <a:endParaRPr lang="zh-CN" altLang="en-US" dirty="0"/>
          </a:p>
          <a:p>
            <a:pPr lvl="1"/>
            <a:r>
              <a:rPr lang="zh-CN" altLang="en-US" dirty="0"/>
              <a:t>投影、选择等一元操作对关系进行水平或垂直分割，减小了关系的大小</a:t>
            </a:r>
            <a:endParaRPr lang="zh-CN" altLang="en-US" dirty="0"/>
          </a:p>
          <a:p>
            <a:pPr lvl="1"/>
            <a:r>
              <a:rPr lang="zh-CN" altLang="en-US" dirty="0"/>
              <a:t>而并、连接等二元操作对两个关系按条件组合，操作费时且结果集比较大</a:t>
            </a:r>
            <a:endParaRPr lang="zh-CN" altLang="en-US" dirty="0"/>
          </a:p>
          <a:p>
            <a:pPr lvl="1"/>
            <a:r>
              <a:rPr lang="zh-CN" altLang="en-US" dirty="0"/>
              <a:t>在变换查询时，尽量先安排执行投影、选择，后进行连接、笛卡儿积</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关系代数等价变换规则</a:t>
            </a:r>
            <a:endParaRPr lang="en-US" altLang="zh-CN" dirty="0"/>
          </a:p>
          <a:p>
            <a:pPr lvl="1"/>
            <a:r>
              <a:rPr lang="zh-CN" altLang="en-US" dirty="0"/>
              <a:t>关系代数表达式的优化是查询优化的基本课题</a:t>
            </a:r>
            <a:endParaRPr lang="zh-CN" altLang="en-US" dirty="0"/>
          </a:p>
          <a:p>
            <a:pPr lvl="1"/>
            <a:r>
              <a:rPr lang="zh-CN" altLang="en-US" dirty="0"/>
              <a:t>前面的代数优化原则大部分都涉及到代数表达式等价的变换</a:t>
            </a:r>
            <a:endParaRPr lang="zh-CN" altLang="en-US" dirty="0"/>
          </a:p>
          <a:p>
            <a:pPr lvl="1"/>
            <a:r>
              <a:rPr lang="zh-CN" altLang="en-US" dirty="0"/>
              <a:t>因此，研究关系代数表达式的优化应当从研究关系表达式的等价变换规则开始</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关系代数等价变换规则</a:t>
                </a:r>
                <a:endParaRPr lang="en-US" altLang="zh-CN" dirty="0"/>
              </a:p>
              <a:p>
                <a:pPr lvl="1"/>
                <a:r>
                  <a:rPr lang="zh-CN" altLang="en-US" dirty="0"/>
                  <a:t>两个关系表达式</a:t>
                </a:r>
                <a:r>
                  <a:rPr lang="en-US" altLang="zh-CN" dirty="0"/>
                  <a:t>El </a:t>
                </a:r>
                <a:r>
                  <a:rPr lang="zh-CN" altLang="en-US" dirty="0"/>
                  <a:t>和</a:t>
                </a:r>
                <a:r>
                  <a:rPr lang="en-US" altLang="zh-CN" dirty="0"/>
                  <a:t>E2 </a:t>
                </a:r>
                <a:r>
                  <a:rPr lang="zh-CN" altLang="en-US" dirty="0"/>
                  <a:t>是等价的，可记为</a:t>
                </a:r>
                <a:r>
                  <a:rPr lang="en-US" altLang="zh-CN" dirty="0"/>
                  <a:t>E1≡E2 </a:t>
                </a:r>
                <a:endParaRPr lang="en-US" altLang="zh-CN" dirty="0"/>
              </a:p>
              <a:p>
                <a:pPr lvl="1"/>
                <a:r>
                  <a:rPr lang="zh-CN" altLang="en-US" dirty="0"/>
                  <a:t>常用的等价变换规则有：</a:t>
                </a:r>
                <a:endParaRPr lang="zh-CN" altLang="en-US" dirty="0"/>
              </a:p>
              <a:p>
                <a:pPr lvl="2"/>
                <a:r>
                  <a:rPr lang="zh-CN" altLang="en-US" dirty="0"/>
                  <a:t>选择的串接</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r>
                            <a:rPr lang="en-US" altLang="zh-CN" b="0" i="1" smtClean="0">
                              <a:latin typeface="Cambria Math" panose="02040503050406030204" pitchFamily="18" charset="0"/>
                            </a:rPr>
                            <m:t>1</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e>
                      </m:d>
                      <m:r>
                        <a:rPr lang="en-US" altLang="zh-CN" i="1">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oMath>
                  </m:oMathPara>
                </a14:m>
                <a:endParaRPr lang="en-US" altLang="zh-CN" dirty="0"/>
              </a:p>
              <a:p>
                <a:pPr lvl="2"/>
                <a:r>
                  <a:rPr lang="zh-CN" altLang="en-US" dirty="0"/>
                  <a:t>选择的交换</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r>
                            <a:rPr lang="en-US" altLang="zh-CN" b="0" i="1" smtClean="0">
                              <a:latin typeface="Cambria Math" panose="02040503050406030204" pitchFamily="18" charset="0"/>
                            </a:rPr>
                            <m:t>1</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𝐹</m:t>
                          </m:r>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𝐹</m:t>
                          </m:r>
                          <m:r>
                            <a:rPr lang="en-US" altLang="zh-CN" b="0" i="1" smtClean="0">
                              <a:latin typeface="Cambria Math" panose="02040503050406030204" pitchFamily="18" charset="0"/>
                              <a:ea typeface="Cambria Math" panose="02040503050406030204" pitchFamily="18" charset="0"/>
                            </a:rPr>
                            <m:t>1</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关系代数等价变换规则</a:t>
                </a:r>
                <a:endParaRPr lang="en-US" altLang="zh-CN" dirty="0"/>
              </a:p>
              <a:p>
                <a:pPr lvl="1"/>
                <a:r>
                  <a:rPr lang="zh-CN" altLang="en-US" dirty="0"/>
                  <a:t>常用的等价变换规则有（续）：</a:t>
                </a:r>
                <a:endParaRPr lang="en-US" altLang="zh-CN" dirty="0"/>
              </a:p>
              <a:p>
                <a:pPr lvl="2"/>
                <a:r>
                  <a:rPr lang="zh-CN" altLang="en-US" dirty="0"/>
                  <a:t>投影的串接</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𝐿𝑛</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𝐿</m:t>
                          </m:r>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marL="914400" lvl="2" indent="0">
                  <a:buNone/>
                </a:pPr>
                <a:r>
                  <a:rPr lang="en-US" altLang="zh-CN" dirty="0"/>
                  <a:t>			</a:t>
                </a:r>
                <a:r>
                  <a:rPr lang="zh-CN" altLang="en-US" dirty="0"/>
                  <a:t>条件：</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𝑛</m:t>
                        </m:r>
                      </m:sub>
                    </m:sSub>
                  </m:oMath>
                </a14:m>
                <a:endParaRPr lang="en-US" altLang="zh-CN" dirty="0"/>
              </a:p>
              <a:p>
                <a:pPr lvl="2"/>
                <a:r>
                  <a:rPr lang="zh-CN" altLang="en-US" dirty="0"/>
                  <a:t>选择与投影的交换</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𝐹</m:t>
                          </m:r>
                        </m:sub>
                      </m:sSub>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Cambria Math" panose="02040503050406030204" pitchFamily="18" charset="0"/>
                                </a:rPr>
                                <m:t>𝐿</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e>
                      </m:d>
                    </m:oMath>
                  </m:oMathPara>
                </a14:m>
                <a:endParaRPr lang="en-US" altLang="zh-CN" b="0" dirty="0">
                  <a:ea typeface="Cambria Math" panose="02040503050406030204" pitchFamily="18" charset="0"/>
                </a:endParaRPr>
              </a:p>
              <a:p>
                <a:pPr marL="914400" lvl="2" indent="0">
                  <a:buNone/>
                </a:pPr>
                <a:r>
                  <a:rPr lang="en-US" altLang="zh-CN" dirty="0"/>
                  <a:t>			</a:t>
                </a:r>
                <a:r>
                  <a:rPr lang="zh-CN" altLang="en-US" dirty="0"/>
                  <a:t>条件：</a:t>
                </a:r>
                <a14:m>
                  <m:oMath xmlns:m="http://schemas.openxmlformats.org/officeDocument/2006/math">
                    <m:r>
                      <a:rPr lang="en-US" altLang="zh-CN" b="0" i="1" smtClean="0">
                        <a:latin typeface="Cambria Math" panose="02040503050406030204" pitchFamily="18" charset="0"/>
                      </a:rPr>
                      <m:t>𝐴𝑡𝑡𝑟</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m:t>
                    </m:r>
                  </m:oMath>
                </a14:m>
                <a:endParaRPr lang="en-US" altLang="zh-CN" dirty="0"/>
              </a:p>
              <a:p>
                <a:pPr lvl="2"/>
                <a:r>
                  <a:rPr lang="zh-CN" altLang="en-US" dirty="0"/>
                  <a:t>连接／笛卡儿积的交换律</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oMath>
                  </m:oMathPara>
                </a14:m>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𝑅</m:t>
                      </m:r>
                    </m:oMath>
                  </m:oMathPara>
                </a14:m>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519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关系代数等价变换规则</a:t>
                </a:r>
                <a:endParaRPr lang="en-US" altLang="zh-CN" dirty="0"/>
              </a:p>
              <a:p>
                <a:pPr lvl="1"/>
                <a:r>
                  <a:rPr lang="zh-CN" altLang="en-US" dirty="0"/>
                  <a:t>常用的等价变换规则有（续）：</a:t>
                </a:r>
                <a:endParaRPr lang="en-US" altLang="zh-CN" dirty="0"/>
              </a:p>
              <a:p>
                <a:pPr lvl="2"/>
                <a:r>
                  <a:rPr lang="zh-CN" altLang="en-US" dirty="0"/>
                  <a:t>选择对连接／笛卡儿积的分配律</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𝐹</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oMath>
                  </m:oMathPara>
                </a14:m>
                <a:endParaRPr lang="en-US" altLang="zh-CN" dirty="0"/>
              </a:p>
              <a:p>
                <a:pPr marL="914400" lvl="2" indent="0">
                  <a:buNone/>
                </a:pPr>
                <a:r>
                  <a:rPr lang="en-US" altLang="zh-CN" dirty="0"/>
                  <a:t>	</a:t>
                </a:r>
                <a:r>
                  <a:rPr lang="zh-CN" altLang="en-US" dirty="0"/>
                  <a:t>条件：</a:t>
                </a:r>
                <a14:m>
                  <m:oMath xmlns:m="http://schemas.openxmlformats.org/officeDocument/2006/math">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𝐹</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𝑁𝑈𝐿𝐿</m:t>
                    </m:r>
                  </m:oMath>
                </a14:m>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𝐹</m:t>
                          </m:r>
                          <m:r>
                            <a:rPr lang="en-US" altLang="zh-CN" b="0" i="1" smtClean="0">
                              <a:latin typeface="Cambria Math" panose="02040503050406030204" pitchFamily="18" charset="0"/>
                              <a:ea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𝐹</m:t>
                          </m:r>
                          <m:r>
                            <a:rPr lang="en-US" altLang="zh-CN" b="0" i="1" smtClean="0">
                              <a:latin typeface="Cambria Math" panose="02040503050406030204" pitchFamily="18" charset="0"/>
                              <a:ea typeface="Cambria Math" panose="02040503050406030204" pitchFamily="18" charset="0"/>
                            </a:rPr>
                            <m:t>1</m:t>
                          </m:r>
                        </m:sub>
                      </m:sSub>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𝑅</m:t>
                          </m:r>
                        </m:e>
                      </m:d>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𝜎</m:t>
                          </m:r>
                        </m:e>
                        <m:sub>
                          <m:r>
                            <a:rPr lang="en-US" altLang="zh-CN" b="0" i="1" smtClean="0">
                              <a:latin typeface="Cambria Math" panose="02040503050406030204" pitchFamily="18" charset="0"/>
                              <a:ea typeface="Cambria Math" panose="02040503050406030204" pitchFamily="18" charset="0"/>
                            </a:rPr>
                            <m:t>𝐹</m:t>
                          </m:r>
                          <m:r>
                            <a:rPr lang="en-US" altLang="zh-CN" b="0" i="1" smtClean="0">
                              <a:latin typeface="Cambria Math" panose="02040503050406030204" pitchFamily="18" charset="0"/>
                              <a:ea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𝑆</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p>
              <a:p>
                <a:pPr marL="914400" lvl="2" indent="0">
                  <a:buNone/>
                </a:pPr>
                <a:r>
                  <a:rPr lang="en-US" altLang="zh-CN" dirty="0"/>
                  <a:t>	</a:t>
                </a:r>
                <a:r>
                  <a:rPr lang="zh-CN" altLang="en-US" dirty="0"/>
                  <a:t>条件：</a:t>
                </a:r>
                <a14:m>
                  <m:oMath xmlns:m="http://schemas.openxmlformats.org/officeDocument/2006/math">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𝑁𝑈𝐿𝐿</m:t>
                    </m:r>
                    <m:r>
                      <a:rPr lang="en-US" altLang="zh-CN" b="0" i="1" smtClean="0">
                        <a:latin typeface="Cambria Math" panose="02040503050406030204" pitchFamily="18" charset="0"/>
                      </a:rPr>
                      <m:t>,</m:t>
                    </m:r>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𝑁𝑈𝐿𝐿</m:t>
                    </m:r>
                  </m:oMath>
                </a14:m>
                <a:endParaRPr lang="en-US" altLang="zh-CN" dirty="0"/>
              </a:p>
              <a:p>
                <a:pPr lvl="2"/>
                <a:r>
                  <a:rPr lang="zh-CN" altLang="en-US" dirty="0"/>
                  <a:t>投影对连接／笛卡儿积的分配律</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r>
                            <a:rPr lang="en-US" altLang="zh-CN" b="0" i="1" smtClean="0">
                              <a:latin typeface="Cambria Math" panose="02040503050406030204" pitchFamily="18" charset="0"/>
                            </a:rPr>
                            <m:t>1</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r>
                            <a:rPr lang="en-US" altLang="zh-CN" b="0" i="1" smtClean="0">
                              <a:latin typeface="Cambria Math" panose="02040503050406030204" pitchFamily="18" charset="0"/>
                            </a:rPr>
                            <m:t>2</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oMath>
                  </m:oMathPara>
                </a14:m>
                <a:endParaRPr lang="en-US" altLang="zh-CN" b="0" dirty="0"/>
              </a:p>
              <a:p>
                <a:pPr marL="914400" lvl="2" indent="0">
                  <a:buNone/>
                </a:pPr>
                <a:r>
                  <a:rPr lang="en-US" altLang="zh-CN" dirty="0"/>
                  <a:t>	</a:t>
                </a:r>
                <a:r>
                  <a:rPr lang="zh-CN" altLang="en-US" dirty="0"/>
                  <a:t>条件：</a:t>
                </a:r>
                <a14:m>
                  <m:oMath xmlns:m="http://schemas.openxmlformats.org/officeDocument/2006/math">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𝑁𝑈𝐿𝐿</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Attr</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L</m:t>
                            </m:r>
                          </m:e>
                          <m:sub>
                            <m:r>
                              <a:rPr lang="en-US" altLang="zh-CN" b="0" i="0" smtClean="0">
                                <a:latin typeface="Cambria Math" panose="02040503050406030204" pitchFamily="18" charset="0"/>
                              </a:rPr>
                              <m:t>2</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𝐴𝑡𝑡𝑟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𝑁𝑈𝐿𝐿</m:t>
                    </m:r>
                  </m:oMath>
                </a14:m>
                <a:endParaRPr lang="en-US" altLang="zh-CN" b="0" i="1" dirty="0">
                  <a:latin typeface="Cambria Math" panose="02040503050406030204" pitchFamily="18" charset="0"/>
                </a:endParaRPr>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𝐴𝑡𝑡𝑟</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𝐴𝑡𝑡𝑟</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𝐿</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m:t>
                      </m:r>
                      <m:r>
                        <a:rPr lang="en-US" altLang="zh-CN" b="0" i="1" smtClean="0">
                          <a:latin typeface="Cambria Math" panose="02040503050406030204" pitchFamily="18" charset="0"/>
                          <a:ea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m:t>
                      </m:r>
                    </m:oMath>
                  </m:oMathPara>
                </a14:m>
                <a:endParaRPr lang="zh-CN" altLang="en-US" dirty="0"/>
              </a:p>
              <a:p>
                <a:pPr lvl="2"/>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283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关系代数等价变换规则</a:t>
                </a:r>
                <a:endParaRPr lang="en-US" altLang="zh-CN" dirty="0"/>
              </a:p>
              <a:p>
                <a:pPr lvl="1"/>
                <a:r>
                  <a:rPr lang="zh-CN" altLang="en-US" dirty="0"/>
                  <a:t>常用的等价变换规则有（续）：</a:t>
                </a:r>
                <a:endParaRPr lang="en-US" altLang="zh-CN" dirty="0"/>
              </a:p>
              <a:p>
                <a:pPr lvl="2"/>
                <a:r>
                  <a:rPr lang="zh-CN" altLang="en-US" dirty="0"/>
                  <a:t>选择对</a:t>
                </a:r>
                <a14:m>
                  <m:oMath xmlns:m="http://schemas.openxmlformats.org/officeDocument/2006/math">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oMath>
                </a14:m>
                <a:r>
                  <a:rPr lang="zh-CN" altLang="en-US" dirty="0"/>
                  <a:t>的分配律</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oMath>
                  </m:oMathPara>
                </a14:m>
                <a:endParaRPr lang="en-US" altLang="zh-CN" b="0"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oMath>
                  </m:oMathPara>
                </a14:m>
                <a:endParaRPr lang="en-US" altLang="zh-CN" b="0"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𝐹</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oMath>
                  </m:oMathPara>
                </a14:m>
                <a:endParaRPr lang="en-US" altLang="zh-CN" dirty="0"/>
              </a:p>
              <a:p>
                <a:pPr lvl="2"/>
                <a:r>
                  <a:rPr lang="zh-CN" altLang="en-US" dirty="0"/>
                  <a:t>投影对</a:t>
                </a:r>
                <a14:m>
                  <m:oMath xmlns:m="http://schemas.openxmlformats.org/officeDocument/2006/math">
                    <m:r>
                      <a:rPr lang="zh-CN" altLang="en-US" i="1" dirty="0" smtClean="0">
                        <a:latin typeface="Cambria Math" panose="02040503050406030204" pitchFamily="18" charset="0"/>
                      </a:rPr>
                      <m:t>∪</m:t>
                    </m:r>
                  </m:oMath>
                </a14:m>
                <a:r>
                  <a:rPr lang="zh-CN" altLang="en-US" dirty="0"/>
                  <a:t>的分配律</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𝐿</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oMath>
                  </m:oMathPara>
                </a14:m>
                <a:endParaRPr lang="en-US" altLang="zh-CN" dirty="0"/>
              </a:p>
              <a:p>
                <a:pPr lvl="2"/>
                <a14:m>
                  <m:oMath xmlns:m="http://schemas.openxmlformats.org/officeDocument/2006/math">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oMath>
                </a14:m>
                <a:r>
                  <a:rPr lang="zh-CN" altLang="en-US" dirty="0"/>
                  <a:t>的结合律</a:t>
                </a:r>
                <a:endParaRPr lang="en-US" altLang="zh-CN" dirty="0"/>
              </a:p>
              <a:p>
                <a:pPr marL="914400" lvl="2" indent="0">
                  <a:buNone/>
                </a:pPr>
                <a14:m>
                  <m:oMathPara xmlns:m="http://schemas.openxmlformats.org/officeDocument/2006/math">
                    <m:oMathParaPr>
                      <m:jc m:val="centerGroup"/>
                    </m:oMathParaPr>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r>
                        <a:rPr lang="en-US" altLang="zh-CN" b="0" i="1" smtClean="0">
                          <a:latin typeface="Cambria Math" panose="02040503050406030204" pitchFamily="18" charset="0"/>
                        </a:rPr>
                        <m:t>𝑆</m:t>
                      </m:r>
                      <m:r>
                        <a:rPr lang="en-US" altLang="zh-CN" b="0" i="1" smtClean="0">
                          <a:latin typeface="Cambria Math" panose="02040503050406030204" pitchFamily="18" charset="0"/>
                        </a:rPr>
                        <m:t>⋈</m:t>
                      </m:r>
                      <m:r>
                        <a:rPr lang="en-US" altLang="zh-CN" b="0" i="1" smtClean="0">
                          <a:latin typeface="Cambria Math" panose="02040503050406030204" pitchFamily="18" charset="0"/>
                        </a:rPr>
                        <m:t>𝑇</m:t>
                      </m:r>
                      <m:r>
                        <a:rPr lang="en-US" altLang="zh-CN" b="0" i="1" smtClean="0">
                          <a:latin typeface="Cambria Math" panose="02040503050406030204" pitchFamily="18" charset="0"/>
                        </a:rPr>
                        <m:t>)</m:t>
                      </m:r>
                    </m:oMath>
                  </m:oMathPara>
                </a14:m>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代数优化的策略</a:t>
            </a:r>
            <a:endParaRPr lang="en-US" altLang="zh-CN" dirty="0"/>
          </a:p>
          <a:p>
            <a:pPr lvl="1"/>
            <a:r>
              <a:rPr lang="zh-CN" altLang="en-US" dirty="0"/>
              <a:t>尽可能早地执行选择操作</a:t>
            </a:r>
            <a:endParaRPr lang="zh-CN" altLang="en-US" dirty="0"/>
          </a:p>
          <a:p>
            <a:pPr lvl="1"/>
            <a:r>
              <a:rPr lang="zh-CN" altLang="en-US" dirty="0"/>
              <a:t>投影和选择操作同时进行</a:t>
            </a:r>
            <a:endParaRPr lang="zh-CN" altLang="en-US" dirty="0"/>
          </a:p>
          <a:p>
            <a:pPr lvl="1"/>
            <a:r>
              <a:rPr lang="zh-CN" altLang="en-US" dirty="0"/>
              <a:t>选择和其前执行的笛卡儿积合并成一个连接操作</a:t>
            </a:r>
            <a:endParaRPr lang="zh-CN" altLang="en-US" dirty="0"/>
          </a:p>
          <a:p>
            <a:pPr lvl="1"/>
            <a:r>
              <a:rPr lang="zh-CN" altLang="en-US" dirty="0"/>
              <a:t>投影和其前后的二元运算结合起来</a:t>
            </a:r>
            <a:endParaRPr lang="zh-CN" altLang="en-US" dirty="0"/>
          </a:p>
          <a:p>
            <a:pPr lvl="1"/>
            <a:r>
              <a:rPr lang="zh-CN" altLang="en-US" dirty="0"/>
              <a:t>找出表达式中公共子表达式</a:t>
            </a:r>
            <a:endParaRPr lang="zh-CN" altLang="en-US" dirty="0"/>
          </a:p>
          <a:p>
            <a:pPr lvl="1"/>
            <a:r>
              <a:rPr lang="zh-CN" altLang="en-US" dirty="0"/>
              <a:t>适当的预处理</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语法树</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graphicFrame>
        <p:nvGraphicFramePr>
          <p:cNvPr id="7" name="Object 4"/>
          <p:cNvGraphicFramePr>
            <a:graphicFrameLocks noChangeAspect="1"/>
          </p:cNvGraphicFramePr>
          <p:nvPr/>
        </p:nvGraphicFramePr>
        <p:xfrm>
          <a:off x="3243263" y="1225550"/>
          <a:ext cx="4943475" cy="5621338"/>
        </p:xfrm>
        <a:graphic>
          <a:graphicData uri="http://schemas.openxmlformats.org/presentationml/2006/ole">
            <mc:AlternateContent xmlns:mc="http://schemas.openxmlformats.org/markup-compatibility/2006">
              <mc:Choice xmlns:v="urn:schemas-microsoft-com:vml" Requires="v">
                <p:oleObj spid="_x0000_s2050" name="Picture" r:id="rId1" imgW="2743200" imgH="3662045" progId="Word.Picture.8">
                  <p:embed/>
                </p:oleObj>
              </mc:Choice>
              <mc:Fallback>
                <p:oleObj name="Picture" r:id="rId1" imgW="2743200" imgH="3662045" progId="Word.Picture.8">
                  <p:embed/>
                  <p:pic>
                    <p:nvPicPr>
                      <p:cNvPr id="0" name="Object 4"/>
                      <p:cNvPicPr>
                        <a:picLocks noChangeAspect="1" noChangeArrowheads="1"/>
                      </p:cNvPicPr>
                      <p:nvPr/>
                    </p:nvPicPr>
                    <p:blipFill>
                      <a:blip r:embed="rId2"/>
                      <a:srcRect l="4051" t="5675" r="7759" b="18874"/>
                      <a:stretch>
                        <a:fillRect/>
                      </a:stretch>
                    </p:blipFill>
                    <p:spPr bwMode="auto">
                      <a:xfrm>
                        <a:off x="3243263" y="1225550"/>
                        <a:ext cx="4943475" cy="562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关系代数表达式优化算法</a:t>
                </a:r>
                <a:endParaRPr lang="en-US" altLang="zh-CN" dirty="0"/>
              </a:p>
              <a:p>
                <a:pPr lvl="1"/>
                <a:r>
                  <a:rPr lang="zh-CN" altLang="en-US" dirty="0"/>
                  <a:t>算法：关系表达式的优化</a:t>
                </a:r>
                <a:endParaRPr lang="en-US" altLang="zh-CN" dirty="0"/>
              </a:p>
              <a:p>
                <a:pPr lvl="1"/>
                <a:r>
                  <a:rPr lang="zh-CN" altLang="en-US" dirty="0"/>
                  <a:t>输入：一个关系表达式的语法树 </a:t>
                </a:r>
                <a:endParaRPr lang="en-US" altLang="zh-CN" dirty="0"/>
              </a:p>
              <a:p>
                <a:pPr lvl="1"/>
                <a:r>
                  <a:rPr lang="zh-CN" altLang="en-US" dirty="0"/>
                  <a:t>输出：计算该表达式的程序</a:t>
                </a:r>
                <a:endParaRPr lang="en-US" altLang="zh-CN" dirty="0"/>
              </a:p>
              <a:p>
                <a:pPr lvl="1"/>
                <a:r>
                  <a:rPr lang="zh-CN" altLang="en-US" dirty="0"/>
                  <a:t>步骤：</a:t>
                </a:r>
                <a:endParaRPr lang="en-US" altLang="zh-CN" dirty="0"/>
              </a:p>
              <a:p>
                <a:pPr lvl="2"/>
                <a:r>
                  <a:rPr lang="zh-CN" altLang="en-US" dirty="0"/>
                  <a:t>利用规则把形如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𝜎</m:t>
                        </m:r>
                      </m:e>
                      <m:sub>
                        <m:r>
                          <a:rPr lang="en-US" altLang="zh-CN" i="1" dirty="0">
                            <a:latin typeface="Cambria Math" panose="02040503050406030204" pitchFamily="18" charset="0"/>
                          </a:rPr>
                          <m:t>𝐹</m:t>
                        </m:r>
                        <m:r>
                          <a:rPr lang="en-US" altLang="zh-CN" i="1"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𝐹</m:t>
                        </m:r>
                        <m:r>
                          <a:rPr lang="en-US" altLang="zh-CN" i="1" dirty="0">
                            <a:latin typeface="Cambria Math" panose="02040503050406030204" pitchFamily="18" charset="0"/>
                          </a:rPr>
                          <m:t>2</m:t>
                        </m:r>
                        <m:r>
                          <a:rPr lang="en-US" altLang="zh-CN" i="1" dirty="0">
                            <a:latin typeface="Cambria Math" panose="02040503050406030204" pitchFamily="18" charset="0"/>
                          </a:rPr>
                          <m:t>…∧</m:t>
                        </m:r>
                        <m:r>
                          <a:rPr lang="en-US" altLang="zh-CN" i="1" dirty="0" err="1">
                            <a:latin typeface="Cambria Math" panose="02040503050406030204" pitchFamily="18" charset="0"/>
                          </a:rPr>
                          <m:t>𝐹𝑛</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m:t>
                    </m:r>
                  </m:oMath>
                </a14:m>
                <a:r>
                  <a:rPr lang="zh-CN" altLang="en-US" dirty="0"/>
                  <a:t>的表达式变换为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𝜎</m:t>
                        </m:r>
                      </m:e>
                      <m:sub>
                        <m:r>
                          <a:rPr lang="en-US" altLang="zh-CN" i="1" dirty="0" smtClean="0">
                            <a:latin typeface="Cambria Math" panose="02040503050406030204" pitchFamily="18" charset="0"/>
                          </a:rPr>
                          <m:t>𝐹</m:t>
                        </m:r>
                        <m:r>
                          <a:rPr lang="en-US" altLang="zh-CN" i="1" dirty="0" smtClean="0">
                            <a:latin typeface="Cambria Math" panose="02040503050406030204" pitchFamily="18" charset="0"/>
                          </a:rPr>
                          <m:t>1</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𝜎</m:t>
                        </m:r>
                      </m:e>
                      <m:sub>
                        <m:r>
                          <a:rPr lang="en-US" altLang="zh-CN" i="1" dirty="0" smtClean="0">
                            <a:latin typeface="Cambria Math" panose="02040503050406030204" pitchFamily="18" charset="0"/>
                          </a:rPr>
                          <m:t>𝐹</m:t>
                        </m:r>
                        <m:r>
                          <a:rPr lang="en-US" altLang="zh-CN" i="1" dirty="0" smtClean="0">
                            <a:latin typeface="Cambria Math" panose="02040503050406030204" pitchFamily="18" charset="0"/>
                          </a:rPr>
                          <m:t>2</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𝜎</m:t>
                        </m:r>
                      </m:e>
                      <m:sub>
                        <m:r>
                          <a:rPr lang="en-US" altLang="zh-CN" i="1" dirty="0" err="1" smtClean="0">
                            <a:latin typeface="Cambria Math" panose="02040503050406030204" pitchFamily="18" charset="0"/>
                          </a:rPr>
                          <m:t>𝐹𝑛</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𝐸</m:t>
                    </m:r>
                    <m:r>
                      <a:rPr lang="en-US" altLang="zh-CN" i="1" dirty="0" smtClean="0">
                        <a:latin typeface="Cambria Math" panose="02040503050406030204" pitchFamily="18" charset="0"/>
                      </a:rPr>
                      <m:t>))…)) </m:t>
                    </m:r>
                  </m:oMath>
                </a14:m>
                <a:endParaRPr lang="en-US" altLang="zh-CN" dirty="0"/>
              </a:p>
              <a:p>
                <a:pPr lvl="2"/>
                <a:r>
                  <a:rPr lang="zh-CN" altLang="en-US" dirty="0"/>
                  <a:t>对每一个选择，利用规则尽可能把它移到树的叶端</a:t>
                </a:r>
                <a:endParaRPr lang="zh-CN" altLang="en-US" dirty="0"/>
              </a:p>
              <a:p>
                <a:pPr lvl="2"/>
                <a:r>
                  <a:rPr lang="zh-CN" altLang="en-US" dirty="0"/>
                  <a:t> 对每一个投影利用规则中的一般形式尽可能把它移向树的叶端。</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关系代数表达式优化算法</a:t>
                </a:r>
                <a:endParaRPr lang="en-US" altLang="zh-CN" dirty="0"/>
              </a:p>
              <a:p>
                <a:pPr lvl="1"/>
                <a:r>
                  <a:rPr lang="zh-CN" altLang="en-US" dirty="0"/>
                  <a:t>步骤（续）：</a:t>
                </a:r>
                <a:endParaRPr lang="en-US" altLang="zh-CN" dirty="0"/>
              </a:p>
              <a:p>
                <a:pPr lvl="2"/>
                <a:r>
                  <a:rPr lang="zh-CN" altLang="en-US" dirty="0"/>
                  <a:t>利用规则把选择和投影的串接合并成单个选择、单个投影或一个选择后跟一个投影。使多个选择或投影能同时执行，或在一次扫描中全部完成，尽管这种变换似乎违背‘投影尽可能早做’的原则，但这样做效率更高</a:t>
                </a:r>
                <a:endParaRPr lang="zh-CN" altLang="en-US" dirty="0"/>
              </a:p>
              <a:p>
                <a:pPr lvl="2"/>
                <a:r>
                  <a:rPr lang="zh-CN" altLang="en-US" dirty="0"/>
                  <a:t>把上述得到的语法树的内节点分组。每一二元运算</a:t>
                </a:r>
                <a14:m>
                  <m:oMath xmlns:m="http://schemas.openxmlformats.org/officeDocument/2006/math">
                    <m:r>
                      <a:rPr lang="en-US" altLang="zh-CN" i="1" dirty="0" smtClean="0">
                        <a:latin typeface="Cambria Math" panose="02040503050406030204" pitchFamily="18" charset="0"/>
                      </a:rPr>
                      <m:t>(×, ∩ ,∪</m:t>
                    </m:r>
                    <m:r>
                      <a:rPr lang="zh-CN" altLang="en-US" i="1" dirty="0" smtClean="0">
                        <a:latin typeface="Cambria Math" panose="02040503050406030204" pitchFamily="18" charset="0"/>
                      </a:rPr>
                      <m:t>，</m:t>
                    </m:r>
                    <m:r>
                      <a:rPr lang="en-US" altLang="zh-CN" i="1" dirty="0" smtClean="0">
                        <a:latin typeface="Cambria Math" panose="02040503050406030204" pitchFamily="18" charset="0"/>
                      </a:rPr>
                      <m:t>−)</m:t>
                    </m:r>
                  </m:oMath>
                </a14:m>
                <a:r>
                  <a:rPr lang="zh-CN" altLang="en-US" dirty="0"/>
                  <a:t>和它所有的直接祖先</a:t>
                </a:r>
                <a:r>
                  <a:rPr lang="en-US" altLang="zh-CN" dirty="0"/>
                  <a:t>(</a:t>
                </a:r>
                <a:r>
                  <a:rPr lang="zh-CN" altLang="en-US" dirty="0"/>
                  <a:t>包括</a:t>
                </a:r>
                <a14:m>
                  <m:oMath xmlns:m="http://schemas.openxmlformats.org/officeDocument/2006/math">
                    <m:r>
                      <a:rPr lang="en-US" altLang="zh-CN" i="1" dirty="0" smtClean="0">
                        <a:latin typeface="Cambria Math" panose="02040503050406030204" pitchFamily="18" charset="0"/>
                      </a:rPr>
                      <m:t>𝜎</m:t>
                    </m:r>
                    <m:r>
                      <a:rPr lang="en-US" altLang="zh-CN" i="1" dirty="0" smtClean="0">
                        <a:latin typeface="Cambria Math" panose="02040503050406030204" pitchFamily="18" charset="0"/>
                      </a:rPr>
                      <m:t> , </m:t>
                    </m:r>
                    <m:r>
                      <a:rPr lang="en-US" altLang="zh-CN" b="0" i="1" dirty="0" smtClean="0">
                        <a:latin typeface="Cambria Math" panose="02040503050406030204" pitchFamily="18" charset="0"/>
                      </a:rPr>
                      <m:t>𝜋</m:t>
                    </m:r>
                  </m:oMath>
                </a14:m>
                <a:r>
                  <a:rPr lang="zh-CN" altLang="en-US" dirty="0"/>
                  <a:t>运算</a:t>
                </a:r>
                <a:r>
                  <a:rPr lang="en-US" altLang="zh-CN" dirty="0"/>
                  <a:t>)</a:t>
                </a:r>
                <a:r>
                  <a:rPr lang="zh-CN" altLang="en-US" dirty="0"/>
                  <a:t>为一组。如果其后代直到叶子全是单目运算则也将它们并入该组，但当双目运算是笛卡尔积</a:t>
                </a:r>
                <a:r>
                  <a:rPr lang="en-US" altLang="zh-CN" dirty="0"/>
                  <a:t>(×)</a:t>
                </a:r>
                <a:r>
                  <a:rPr lang="zh-CN" altLang="en-US" dirty="0"/>
                  <a:t>，而且其后的选择不能与它结合为等值连接时除外。把这些单目运算单独分为一组</a:t>
                </a:r>
                <a:endParaRPr lang="zh-CN" altLang="en-US" dirty="0"/>
              </a:p>
              <a:p>
                <a:pPr lvl="2"/>
                <a:r>
                  <a:rPr lang="zh-CN" altLang="en-US" dirty="0"/>
                  <a:t>生成一个程序，每组结点的计算是程序中的一步。各步的顺序是任意的，只要保证任何一组的计算不会在它的后代组之前计算 </a:t>
                </a:r>
                <a:endParaRPr lang="zh-CN" altLang="en-US" dirty="0"/>
              </a:p>
              <a:p>
                <a:pPr lvl="2"/>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040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endParaRPr lang="en-US" altLang="zh-CN" dirty="0"/>
          </a:p>
          <a:p>
            <a:pPr lvl="1"/>
            <a:r>
              <a:rPr lang="zh-CN" altLang="en-US" i="1" dirty="0"/>
              <a:t>例</a:t>
            </a:r>
            <a:r>
              <a:rPr lang="en-US" altLang="zh-CN" i="1" dirty="0"/>
              <a:t>7-2 </a:t>
            </a:r>
            <a:r>
              <a:rPr lang="zh-CN" altLang="en-US" i="1" dirty="0"/>
              <a:t>设有</a:t>
            </a:r>
            <a:r>
              <a:rPr lang="en-US" altLang="zh-CN" i="1" dirty="0"/>
              <a:t>Student</a:t>
            </a:r>
            <a:r>
              <a:rPr lang="zh-CN" altLang="en-US" i="1" dirty="0"/>
              <a:t>（学生），</a:t>
            </a:r>
            <a:r>
              <a:rPr lang="en-US" altLang="zh-CN" i="1" dirty="0"/>
              <a:t>Course</a:t>
            </a:r>
            <a:r>
              <a:rPr lang="zh-CN" altLang="en-US" i="1" dirty="0"/>
              <a:t>（课程），</a:t>
            </a:r>
            <a:r>
              <a:rPr lang="en-US" altLang="zh-CN" i="1" dirty="0"/>
              <a:t>SC</a:t>
            </a:r>
            <a:r>
              <a:rPr lang="zh-CN" altLang="en-US" i="1" dirty="0"/>
              <a:t>（学生选课）三个关系，查询语句是“找出选修“数据库系统”课程并且成绩为优的男生学号和姓名”，用</a:t>
            </a:r>
            <a:r>
              <a:rPr lang="en-US" altLang="zh-CN" i="1" dirty="0"/>
              <a:t>SQL</a:t>
            </a:r>
            <a:r>
              <a:rPr lang="zh-CN" altLang="en-US" i="1" dirty="0"/>
              <a:t>语句表达如下：</a:t>
            </a:r>
            <a:endParaRPr lang="zh-CN" altLang="en-US" i="1" dirty="0"/>
          </a:p>
          <a:p>
            <a:pPr marL="914400" lvl="2" indent="0">
              <a:buNone/>
            </a:pPr>
            <a:r>
              <a:rPr lang="en-US" altLang="zh-CN" dirty="0">
                <a:highlight>
                  <a:srgbClr val="C0C0C0"/>
                </a:highlight>
                <a:latin typeface="Calibri" panose="020F0502020204030204" pitchFamily="34" charset="0"/>
                <a:cs typeface="Calibri" panose="020F0502020204030204" pitchFamily="34" charset="0"/>
              </a:rPr>
              <a:t>SELECT  Student.S#,</a:t>
            </a:r>
            <a:r>
              <a:rPr lang="en-US" altLang="zh-CN" dirty="0" err="1">
                <a:highlight>
                  <a:srgbClr val="C0C0C0"/>
                </a:highlight>
                <a:latin typeface="Calibri" panose="020F0502020204030204" pitchFamily="34" charset="0"/>
                <a:cs typeface="Calibri" panose="020F0502020204030204" pitchFamily="34" charset="0"/>
              </a:rPr>
              <a:t>Sname</a:t>
            </a:r>
            <a:endParaRPr lang="en-US" altLang="zh-CN" dirty="0">
              <a:highlight>
                <a:srgbClr val="C0C0C0"/>
              </a:highlight>
              <a:latin typeface="Calibri" panose="020F0502020204030204" pitchFamily="34" charset="0"/>
              <a:cs typeface="Calibri" panose="020F0502020204030204" pitchFamily="34" charset="0"/>
            </a:endParaRPr>
          </a:p>
          <a:p>
            <a:pPr marL="914400" lvl="2" indent="0">
              <a:buNone/>
            </a:pPr>
            <a:r>
              <a:rPr lang="en-US" altLang="zh-CN" dirty="0">
                <a:highlight>
                  <a:srgbClr val="C0C0C0"/>
                </a:highlight>
                <a:latin typeface="Calibri" panose="020F0502020204030204" pitchFamily="34" charset="0"/>
                <a:cs typeface="Calibri" panose="020F0502020204030204" pitchFamily="34" charset="0"/>
              </a:rPr>
              <a:t>FROM   Student</a:t>
            </a:r>
            <a:r>
              <a:rPr lang="zh-CN" altLang="en-US" dirty="0">
                <a:highlight>
                  <a:srgbClr val="C0C0C0"/>
                </a:highlight>
                <a:latin typeface="Calibri" panose="020F0502020204030204" pitchFamily="34" charset="0"/>
                <a:cs typeface="Calibri" panose="020F0502020204030204" pitchFamily="34" charset="0"/>
              </a:rPr>
              <a:t>，</a:t>
            </a:r>
            <a:r>
              <a:rPr lang="en-US" altLang="zh-CN" dirty="0">
                <a:highlight>
                  <a:srgbClr val="C0C0C0"/>
                </a:highlight>
                <a:latin typeface="Calibri" panose="020F0502020204030204" pitchFamily="34" charset="0"/>
                <a:cs typeface="Calibri" panose="020F0502020204030204" pitchFamily="34" charset="0"/>
              </a:rPr>
              <a:t>Course</a:t>
            </a:r>
            <a:r>
              <a:rPr lang="zh-CN" altLang="en-US" dirty="0">
                <a:highlight>
                  <a:srgbClr val="C0C0C0"/>
                </a:highlight>
                <a:latin typeface="Calibri" panose="020F0502020204030204" pitchFamily="34" charset="0"/>
                <a:cs typeface="Calibri" panose="020F0502020204030204" pitchFamily="34" charset="0"/>
              </a:rPr>
              <a:t>，</a:t>
            </a:r>
            <a:r>
              <a:rPr lang="en-US" altLang="zh-CN" dirty="0">
                <a:highlight>
                  <a:srgbClr val="C0C0C0"/>
                </a:highlight>
                <a:latin typeface="Calibri" panose="020F0502020204030204" pitchFamily="34" charset="0"/>
                <a:cs typeface="Calibri" panose="020F0502020204030204" pitchFamily="34" charset="0"/>
              </a:rPr>
              <a:t>SC</a:t>
            </a:r>
            <a:endParaRPr lang="en-US" altLang="zh-CN" dirty="0">
              <a:highlight>
                <a:srgbClr val="C0C0C0"/>
              </a:highlight>
              <a:latin typeface="Calibri" panose="020F0502020204030204" pitchFamily="34" charset="0"/>
              <a:cs typeface="Calibri" panose="020F0502020204030204" pitchFamily="34" charset="0"/>
            </a:endParaRPr>
          </a:p>
          <a:p>
            <a:pPr marL="914400" lvl="2" indent="0">
              <a:buNone/>
            </a:pPr>
            <a:r>
              <a:rPr lang="en-US" altLang="zh-CN" dirty="0">
                <a:highlight>
                  <a:srgbClr val="C0C0C0"/>
                </a:highlight>
                <a:latin typeface="Calibri" panose="020F0502020204030204" pitchFamily="34" charset="0"/>
                <a:cs typeface="Calibri" panose="020F0502020204030204" pitchFamily="34" charset="0"/>
              </a:rPr>
              <a:t>WHERE Sex='</a:t>
            </a:r>
            <a:r>
              <a:rPr lang="zh-CN" altLang="en-US" dirty="0">
                <a:highlight>
                  <a:srgbClr val="C0C0C0"/>
                </a:highlight>
                <a:latin typeface="Calibri" panose="020F0502020204030204" pitchFamily="34" charset="0"/>
                <a:cs typeface="Calibri" panose="020F0502020204030204" pitchFamily="34" charset="0"/>
              </a:rPr>
              <a:t>男</a:t>
            </a:r>
            <a:r>
              <a:rPr lang="en-US" altLang="zh-CN" dirty="0">
                <a:highlight>
                  <a:srgbClr val="C0C0C0"/>
                </a:highlight>
                <a:latin typeface="Calibri" panose="020F0502020204030204" pitchFamily="34" charset="0"/>
                <a:cs typeface="Calibri" panose="020F0502020204030204" pitchFamily="34" charset="0"/>
              </a:rPr>
              <a:t>' AND </a:t>
            </a:r>
            <a:r>
              <a:rPr lang="en-US" altLang="zh-CN" dirty="0" err="1">
                <a:highlight>
                  <a:srgbClr val="C0C0C0"/>
                </a:highlight>
                <a:latin typeface="Calibri" panose="020F0502020204030204" pitchFamily="34" charset="0"/>
                <a:cs typeface="Calibri" panose="020F0502020204030204" pitchFamily="34" charset="0"/>
              </a:rPr>
              <a:t>Cname</a:t>
            </a:r>
            <a:r>
              <a:rPr lang="en-US" altLang="zh-CN" dirty="0">
                <a:highlight>
                  <a:srgbClr val="C0C0C0"/>
                </a:highlight>
                <a:latin typeface="Calibri" panose="020F0502020204030204" pitchFamily="34" charset="0"/>
                <a:cs typeface="Calibri" panose="020F0502020204030204" pitchFamily="34" charset="0"/>
              </a:rPr>
              <a:t>='</a:t>
            </a:r>
            <a:r>
              <a:rPr lang="zh-CN" altLang="en-US" dirty="0">
                <a:highlight>
                  <a:srgbClr val="C0C0C0"/>
                </a:highlight>
                <a:latin typeface="Calibri" panose="020F0502020204030204" pitchFamily="34" charset="0"/>
                <a:cs typeface="Calibri" panose="020F0502020204030204" pitchFamily="34" charset="0"/>
              </a:rPr>
              <a:t>数据库系统</a:t>
            </a:r>
            <a:r>
              <a:rPr lang="en-US" altLang="zh-CN" dirty="0">
                <a:highlight>
                  <a:srgbClr val="C0C0C0"/>
                </a:highlight>
                <a:latin typeface="Calibri" panose="020F0502020204030204" pitchFamily="34" charset="0"/>
                <a:cs typeface="Calibri" panose="020F0502020204030204" pitchFamily="34" charset="0"/>
              </a:rPr>
              <a:t>' </a:t>
            </a:r>
            <a:endParaRPr lang="en-US" altLang="zh-CN" dirty="0">
              <a:highlight>
                <a:srgbClr val="C0C0C0"/>
              </a:highlight>
              <a:latin typeface="Calibri" panose="020F0502020204030204" pitchFamily="34" charset="0"/>
              <a:cs typeface="Calibri" panose="020F0502020204030204" pitchFamily="34" charset="0"/>
            </a:endParaRPr>
          </a:p>
          <a:p>
            <a:pPr marL="914400" lvl="2" indent="0">
              <a:buNone/>
            </a:pPr>
            <a:r>
              <a:rPr lang="en-US" altLang="zh-CN" dirty="0">
                <a:highlight>
                  <a:srgbClr val="C0C0C0"/>
                </a:highlight>
                <a:latin typeface="Calibri" panose="020F0502020204030204" pitchFamily="34" charset="0"/>
                <a:cs typeface="Calibri" panose="020F0502020204030204" pitchFamily="34" charset="0"/>
              </a:rPr>
              <a:t>     AND Grade='</a:t>
            </a:r>
            <a:r>
              <a:rPr lang="zh-CN" altLang="en-US" dirty="0">
                <a:highlight>
                  <a:srgbClr val="C0C0C0"/>
                </a:highlight>
                <a:latin typeface="Calibri" panose="020F0502020204030204" pitchFamily="34" charset="0"/>
                <a:cs typeface="Calibri" panose="020F0502020204030204" pitchFamily="34" charset="0"/>
              </a:rPr>
              <a:t>优</a:t>
            </a:r>
            <a:r>
              <a:rPr lang="en-US" altLang="zh-CN" dirty="0">
                <a:highlight>
                  <a:srgbClr val="C0C0C0"/>
                </a:highlight>
                <a:latin typeface="Calibri" panose="020F0502020204030204" pitchFamily="34" charset="0"/>
                <a:cs typeface="Calibri" panose="020F0502020204030204" pitchFamily="34" charset="0"/>
              </a:rPr>
              <a:t>'  AND </a:t>
            </a:r>
            <a:r>
              <a:rPr lang="en-US" altLang="zh-CN" dirty="0" err="1">
                <a:highlight>
                  <a:srgbClr val="C0C0C0"/>
                </a:highlight>
                <a:latin typeface="Calibri" panose="020F0502020204030204" pitchFamily="34" charset="0"/>
                <a:cs typeface="Calibri" panose="020F0502020204030204" pitchFamily="34" charset="0"/>
              </a:rPr>
              <a:t>Student.S</a:t>
            </a:r>
            <a:r>
              <a:rPr lang="en-US" altLang="zh-CN" dirty="0">
                <a:highlight>
                  <a:srgbClr val="C0C0C0"/>
                </a:highlight>
                <a:latin typeface="Calibri" panose="020F0502020204030204" pitchFamily="34" charset="0"/>
                <a:cs typeface="Calibri" panose="020F0502020204030204" pitchFamily="34" charset="0"/>
              </a:rPr>
              <a:t># </a:t>
            </a:r>
            <a:r>
              <a:rPr lang="zh-CN" altLang="en-US" dirty="0">
                <a:highlight>
                  <a:srgbClr val="C0C0C0"/>
                </a:highlight>
                <a:latin typeface="Calibri" panose="020F0502020204030204" pitchFamily="34" charset="0"/>
                <a:cs typeface="Calibri" panose="020F0502020204030204" pitchFamily="34" charset="0"/>
              </a:rPr>
              <a:t>＝ </a:t>
            </a:r>
            <a:r>
              <a:rPr lang="en-US" altLang="zh-CN" dirty="0">
                <a:highlight>
                  <a:srgbClr val="C0C0C0"/>
                </a:highlight>
                <a:latin typeface="Calibri" panose="020F0502020204030204" pitchFamily="34" charset="0"/>
                <a:cs typeface="Calibri" panose="020F0502020204030204" pitchFamily="34" charset="0"/>
              </a:rPr>
              <a:t>SC.S#  </a:t>
            </a:r>
            <a:endParaRPr lang="en-US" altLang="zh-CN" dirty="0">
              <a:highlight>
                <a:srgbClr val="C0C0C0"/>
              </a:highlight>
              <a:latin typeface="Calibri" panose="020F0502020204030204" pitchFamily="34" charset="0"/>
              <a:cs typeface="Calibri" panose="020F0502020204030204" pitchFamily="34" charset="0"/>
            </a:endParaRPr>
          </a:p>
          <a:p>
            <a:pPr marL="914400" lvl="2" indent="0">
              <a:buNone/>
            </a:pPr>
            <a:r>
              <a:rPr lang="en-US" altLang="zh-CN" dirty="0">
                <a:highlight>
                  <a:srgbClr val="C0C0C0"/>
                </a:highlight>
                <a:latin typeface="Calibri" panose="020F0502020204030204" pitchFamily="34" charset="0"/>
                <a:cs typeface="Calibri" panose="020F0502020204030204" pitchFamily="34" charset="0"/>
              </a:rPr>
              <a:t>     AND  </a:t>
            </a:r>
            <a:r>
              <a:rPr lang="en-US" altLang="zh-CN" dirty="0" err="1">
                <a:highlight>
                  <a:srgbClr val="C0C0C0"/>
                </a:highlight>
                <a:latin typeface="Calibri" panose="020F0502020204030204" pitchFamily="34" charset="0"/>
                <a:cs typeface="Calibri" panose="020F0502020204030204" pitchFamily="34" charset="0"/>
              </a:rPr>
              <a:t>Course.C</a:t>
            </a:r>
            <a:r>
              <a:rPr lang="en-US" altLang="zh-CN" dirty="0">
                <a:highlight>
                  <a:srgbClr val="C0C0C0"/>
                </a:highlight>
                <a:latin typeface="Calibri" panose="020F0502020204030204" pitchFamily="34" charset="0"/>
                <a:cs typeface="Calibri" panose="020F0502020204030204" pitchFamily="34" charset="0"/>
              </a:rPr>
              <a:t>#=SC.C#</a:t>
            </a:r>
            <a:endParaRPr lang="en-US" altLang="zh-CN" dirty="0">
              <a:highlight>
                <a:srgbClr val="C0C0C0"/>
              </a:highlight>
              <a:latin typeface="Calibri" panose="020F0502020204030204" pitchFamily="34" charset="0"/>
              <a:cs typeface="Calibri" panose="020F0502020204030204" pitchFamily="34" charset="0"/>
            </a:endParaRPr>
          </a:p>
          <a:p>
            <a:pPr marL="914400" lvl="2" indent="0">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92500"/>
              </a:bodyPr>
              <a:lstStyle/>
              <a:p>
                <a:r>
                  <a:rPr lang="zh-CN" altLang="en-US" dirty="0"/>
                  <a:t>实例分析</a:t>
                </a:r>
                <a:endParaRPr lang="en-US" altLang="zh-CN" dirty="0"/>
              </a:p>
              <a:p>
                <a:pPr lvl="1"/>
                <a:r>
                  <a:rPr lang="zh-CN" altLang="en-US" dirty="0"/>
                  <a:t>假设该查询变换成的关系代数表达式如下：</a:t>
                </a:r>
                <a:endParaRPr lang="en-US" altLang="zh-CN"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r>
                            <a:rPr lang="en-US" altLang="zh-CN" i="1">
                              <a:latin typeface="Cambria Math" panose="02040503050406030204" pitchFamily="18" charset="0"/>
                              <a:ea typeface="Cambria Math" panose="02040503050406030204" pitchFamily="18" charset="0"/>
                            </a:rPr>
                            <m:t>𝑆𝑡𝑢𝑑𝑒𝑛𝑡</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𝑆𝑛𝑎𝑚𝑒</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𝜎</m:t>
                          </m:r>
                        </m:e>
                        <m:sub>
                          <m:r>
                            <a:rPr lang="en-US" altLang="zh-CN" i="1">
                              <a:latin typeface="Cambria Math" panose="02040503050406030204" pitchFamily="18" charset="0"/>
                              <a:ea typeface="Cambria Math" panose="02040503050406030204" pitchFamily="18" charset="0"/>
                            </a:rPr>
                            <m:t>𝑆𝑒𝑥</m:t>
                          </m:r>
                          <m:r>
                            <a:rPr lang="en-US" altLang="zh-CN" i="1">
                              <a:latin typeface="Cambria Math" panose="02040503050406030204" pitchFamily="18" charset="0"/>
                              <a:ea typeface="Cambria Math" panose="02040503050406030204" pitchFamily="18" charset="0"/>
                            </a:rPr>
                            <m:t>=‘男’∧</m:t>
                          </m:r>
                          <m:r>
                            <a:rPr lang="en-US" altLang="zh-CN" i="1">
                              <a:latin typeface="Cambria Math" panose="02040503050406030204" pitchFamily="18" charset="0"/>
                              <a:ea typeface="Cambria Math" panose="02040503050406030204" pitchFamily="18" charset="0"/>
                            </a:rPr>
                            <m:t>𝐶𝑛𝑎𝑚𝑒</m:t>
                          </m:r>
                          <m:r>
                            <a:rPr lang="en-US" altLang="zh-CN" i="1">
                              <a:latin typeface="Cambria Math" panose="02040503050406030204" pitchFamily="18" charset="0"/>
                              <a:ea typeface="Cambria Math" panose="02040503050406030204" pitchFamily="18" charset="0"/>
                            </a:rPr>
                            <m:t>=‘数据库系统’∧</m:t>
                          </m:r>
                          <m:r>
                            <a:rPr lang="en-US" altLang="zh-CN" i="1">
                              <a:latin typeface="Cambria Math" panose="02040503050406030204" pitchFamily="18" charset="0"/>
                              <a:ea typeface="Cambria Math" panose="02040503050406030204" pitchFamily="18" charset="0"/>
                            </a:rPr>
                            <m:t>𝐺𝑟𝑎𝑑𝑒</m:t>
                          </m:r>
                          <m:r>
                            <a:rPr lang="en-US" altLang="zh-CN" i="1">
                              <a:latin typeface="Cambria Math" panose="02040503050406030204" pitchFamily="18" charset="0"/>
                              <a:ea typeface="Cambria Math" panose="02040503050406030204" pitchFamily="18" charset="0"/>
                            </a:rPr>
                            <m:t>=‘优’∧</m:t>
                          </m:r>
                          <m:r>
                            <a:rPr lang="en-US" altLang="zh-CN" i="1">
                              <a:latin typeface="Cambria Math" panose="02040503050406030204" pitchFamily="18" charset="0"/>
                              <a:ea typeface="Cambria Math" panose="02040503050406030204" pitchFamily="18" charset="0"/>
                            </a:rPr>
                            <m:t>𝑆𝑡𝑢𝑑𝑒𝑛𝑡</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𝑆𝐶</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𝐶𝑜𝑢𝑟𝑠𝑒</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𝐶</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𝑆𝐶</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𝐶</m:t>
                          </m:r>
                          <m:r>
                            <a:rPr lang="en-US" altLang="zh-CN" i="1">
                              <a:latin typeface="Cambria Math" panose="02040503050406030204" pitchFamily="18" charset="0"/>
                              <a:ea typeface="Cambria Math" panose="02040503050406030204" pitchFamily="18" charset="0"/>
                            </a:rPr>
                            <m:t>#</m:t>
                          </m:r>
                        </m:sub>
                      </m:sSub>
                    </m:oMath>
                  </m:oMathPara>
                </a14:m>
                <a:endParaRPr lang="en-US" altLang="zh-CN" i="1" dirty="0">
                  <a:latin typeface="Cambria Math" panose="02040503050406030204" pitchFamily="18" charset="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𝑆𝑡𝑢𝑑𝑒𝑛𝑡</m:t>
                      </m:r>
                      <m:r>
                        <a:rPr lang="en-US" altLang="zh-CN" b="0" i="1" smtClean="0">
                          <a:latin typeface="Cambria Math" panose="02040503050406030204" pitchFamily="18" charset="0"/>
                        </a:rPr>
                        <m:t>×</m:t>
                      </m:r>
                      <m:r>
                        <a:rPr lang="en-US" altLang="zh-CN" b="0" i="1" smtClean="0">
                          <a:latin typeface="Cambria Math" panose="02040503050406030204" pitchFamily="18" charset="0"/>
                        </a:rPr>
                        <m:t>𝑆𝐶</m:t>
                      </m:r>
                      <m:r>
                        <a:rPr lang="en-US" altLang="zh-CN" b="0" i="1" smtClean="0">
                          <a:latin typeface="Cambria Math" panose="02040503050406030204" pitchFamily="18" charset="0"/>
                        </a:rPr>
                        <m:t>×</m:t>
                      </m:r>
                      <m:r>
                        <a:rPr lang="en-US" altLang="zh-CN" b="0" i="1" smtClean="0">
                          <a:latin typeface="Cambria Math" panose="02040503050406030204" pitchFamily="18" charset="0"/>
                        </a:rPr>
                        <m:t>𝐶𝑜𝑢𝑟𝑠𝑒</m:t>
                      </m:r>
                      <m:r>
                        <a:rPr lang="en-US" altLang="zh-CN" b="0" i="1" smtClean="0">
                          <a:latin typeface="Cambria Math" panose="02040503050406030204" pitchFamily="18" charset="0"/>
                        </a:rPr>
                        <m:t>))</m:t>
                      </m:r>
                    </m:oMath>
                  </m:oMathPara>
                </a14:m>
                <a:endParaRPr lang="zh-CN" altLang="en-US" dirty="0"/>
              </a:p>
              <a:p>
                <a:pPr lvl="1"/>
                <a:r>
                  <a:rPr lang="zh-CN" altLang="en-US" dirty="0"/>
                  <a:t>该表达式可转换为图</a:t>
                </a:r>
                <a:r>
                  <a:rPr lang="en-US" altLang="zh-CN" dirty="0"/>
                  <a:t>7-2</a:t>
                </a:r>
                <a:r>
                  <a:rPr lang="zh-CN" altLang="en-US" dirty="0"/>
                  <a:t>所示的原始查询树表示。以</a:t>
                </a:r>
                <a:r>
                  <a:rPr lang="en-US" altLang="zh-CN" dirty="0"/>
                  <a:t>SELECT</a:t>
                </a:r>
                <a:r>
                  <a:rPr lang="zh-CN" altLang="en-US" dirty="0"/>
                  <a:t>子句对应投影操作，</a:t>
                </a:r>
                <a:r>
                  <a:rPr lang="en-US" altLang="zh-CN" dirty="0"/>
                  <a:t>FROM</a:t>
                </a:r>
                <a:r>
                  <a:rPr lang="zh-CN" altLang="en-US" dirty="0"/>
                  <a:t>子句对应笛卡儿积操作，</a:t>
                </a:r>
                <a:r>
                  <a:rPr lang="en-US" altLang="zh-CN" dirty="0"/>
                  <a:t>WHERE</a:t>
                </a:r>
                <a:r>
                  <a:rPr lang="zh-CN" altLang="en-US" dirty="0"/>
                  <a:t>子句对应选择操作，生成原始查询树。 </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endParaRPr lang="en-US" altLang="zh-CN" dirty="0"/>
          </a:p>
          <a:p>
            <a:pPr lvl="1"/>
            <a:r>
              <a:rPr lang="zh-CN" altLang="en-US" dirty="0"/>
              <a:t>图</a:t>
            </a:r>
            <a:r>
              <a:rPr lang="en-US" altLang="zh-CN" dirty="0"/>
              <a:t>7-2  </a:t>
            </a:r>
            <a:r>
              <a:rPr lang="zh-CN" altLang="en-US" dirty="0"/>
              <a:t>原始查询树</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graphicFrame>
        <p:nvGraphicFramePr>
          <p:cNvPr id="7" name="Object 6"/>
          <p:cNvGraphicFramePr>
            <a:graphicFrameLocks noChangeAspect="1"/>
          </p:cNvGraphicFramePr>
          <p:nvPr/>
        </p:nvGraphicFramePr>
        <p:xfrm>
          <a:off x="4143375" y="1071563"/>
          <a:ext cx="4960938" cy="5643562"/>
        </p:xfrm>
        <a:graphic>
          <a:graphicData uri="http://schemas.openxmlformats.org/presentationml/2006/ole">
            <mc:AlternateContent xmlns:mc="http://schemas.openxmlformats.org/markup-compatibility/2006">
              <mc:Choice xmlns:v="urn:schemas-microsoft-com:vml" Requires="v">
                <p:oleObj spid="_x0000_s3074" name="Picture" r:id="rId1" imgW="2751455" imgH="3674745" progId="Word.Picture.8">
                  <p:embed/>
                </p:oleObj>
              </mc:Choice>
              <mc:Fallback>
                <p:oleObj name="Picture" r:id="rId1" imgW="2751455" imgH="3674745" progId="Word.Picture.8">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l="4051" t="5675" r="7759" b="18874"/>
                      <a:stretch>
                        <a:fillRect/>
                      </a:stretch>
                    </p:blipFill>
                    <p:spPr bwMode="auto">
                      <a:xfrm>
                        <a:off x="4143375" y="1071563"/>
                        <a:ext cx="4960938" cy="564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实例分析</a:t>
            </a:r>
            <a:endParaRPr lang="en-US" altLang="zh-CN" sz="2800" b="1" dirty="0"/>
          </a:p>
          <a:p>
            <a:pPr lvl="1"/>
            <a:r>
              <a:rPr lang="zh-CN" altLang="en-US" dirty="0"/>
              <a:t>图</a:t>
            </a:r>
            <a:r>
              <a:rPr lang="en-US" altLang="zh-CN" dirty="0"/>
              <a:t>7-3  </a:t>
            </a:r>
            <a:r>
              <a:rPr lang="zh-CN" altLang="en-US" dirty="0"/>
              <a:t>选择操作尽量下移</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graphicFrame>
        <p:nvGraphicFramePr>
          <p:cNvPr id="7" name="Object 7"/>
          <p:cNvGraphicFramePr>
            <a:graphicFrameLocks noChangeAspect="1"/>
          </p:cNvGraphicFramePr>
          <p:nvPr/>
        </p:nvGraphicFramePr>
        <p:xfrm>
          <a:off x="3571875" y="1277984"/>
          <a:ext cx="5808663" cy="5410200"/>
        </p:xfrm>
        <a:graphic>
          <a:graphicData uri="http://schemas.openxmlformats.org/presentationml/2006/ole">
            <mc:AlternateContent xmlns:mc="http://schemas.openxmlformats.org/markup-compatibility/2006">
              <mc:Choice xmlns:v="urn:schemas-microsoft-com:vml" Requires="v">
                <p:oleObj spid="_x0000_s4098" name="Picture" r:id="rId1" imgW="3179445" imgH="3053715" progId="Word.Picture.8">
                  <p:embed/>
                </p:oleObj>
              </mc:Choice>
              <mc:Fallback>
                <p:oleObj name="Picture" r:id="rId1" imgW="3179445" imgH="3053715" progId="Word.Picture.8">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l="9192" t="4227" r="8293" b="15648"/>
                      <a:stretch>
                        <a:fillRect/>
                      </a:stretch>
                    </p:blipFill>
                    <p:spPr bwMode="auto">
                      <a:xfrm>
                        <a:off x="3571875" y="1277984"/>
                        <a:ext cx="5808663"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实例分析</a:t>
            </a:r>
            <a:endParaRPr lang="en-US" altLang="zh-CN" dirty="0"/>
          </a:p>
          <a:p>
            <a:pPr lvl="1"/>
            <a:r>
              <a:rPr lang="zh-CN" altLang="en-US" dirty="0"/>
              <a:t>图</a:t>
            </a:r>
            <a:r>
              <a:rPr lang="en-US" altLang="zh-CN" dirty="0"/>
              <a:t>7-4 </a:t>
            </a:r>
            <a:r>
              <a:rPr lang="zh-CN" altLang="en-US" dirty="0"/>
              <a:t>投影操作下移 </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graphicFrame>
        <p:nvGraphicFramePr>
          <p:cNvPr id="7" name="Object 6"/>
          <p:cNvGraphicFramePr>
            <a:graphicFrameLocks noChangeAspect="1"/>
          </p:cNvGraphicFramePr>
          <p:nvPr/>
        </p:nvGraphicFramePr>
        <p:xfrm>
          <a:off x="1614488" y="998538"/>
          <a:ext cx="8286750" cy="5716587"/>
        </p:xfrm>
        <a:graphic>
          <a:graphicData uri="http://schemas.openxmlformats.org/presentationml/2006/ole">
            <mc:AlternateContent xmlns:mc="http://schemas.openxmlformats.org/markup-compatibility/2006">
              <mc:Choice xmlns:v="urn:schemas-microsoft-com:vml" Requires="v">
                <p:oleObj spid="_x0000_s5122" name="Picture" r:id="rId1" imgW="4123055" imgH="3776345" progId="Word.Picture.8">
                  <p:embed/>
                </p:oleObj>
              </mc:Choice>
              <mc:Fallback>
                <p:oleObj name="Picture" r:id="rId1" imgW="4123055" imgH="3776345" progId="Word.Picture.8">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t="9875" b="14397"/>
                      <a:stretch>
                        <a:fillRect/>
                      </a:stretch>
                    </p:blipFill>
                    <p:spPr bwMode="auto">
                      <a:xfrm>
                        <a:off x="1614488" y="998538"/>
                        <a:ext cx="8286750" cy="571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3946237" cy="4957760"/>
          </a:xfrm>
        </p:spPr>
        <p:txBody>
          <a:bodyPr/>
          <a:lstStyle/>
          <a:p>
            <a:r>
              <a:rPr lang="zh-CN" altLang="en-US" dirty="0"/>
              <a:t>实例分析</a:t>
            </a:r>
            <a:endParaRPr lang="en-US" altLang="zh-CN" dirty="0"/>
          </a:p>
          <a:p>
            <a:pPr lvl="1"/>
            <a:r>
              <a:rPr lang="zh-CN" altLang="en-US" dirty="0"/>
              <a:t>图</a:t>
            </a:r>
            <a:r>
              <a:rPr lang="en-US" altLang="zh-CN" dirty="0"/>
              <a:t>7-5  </a:t>
            </a:r>
            <a:r>
              <a:rPr lang="zh-CN" altLang="en-US" dirty="0"/>
              <a:t>连接条件和笛卡儿积组合成连接操作 </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7.3 </a:t>
            </a:r>
            <a:r>
              <a:rPr lang="zh-CN" altLang="en-US" dirty="0"/>
              <a:t>代数优化</a:t>
            </a:r>
            <a:endParaRPr lang="zh-CN" altLang="en-US" dirty="0"/>
          </a:p>
        </p:txBody>
      </p:sp>
      <p:pic>
        <p:nvPicPr>
          <p:cNvPr id="6"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45953" y="987425"/>
            <a:ext cx="6923087" cy="536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物理优化的介绍</a:t>
            </a:r>
            <a:endParaRPr lang="en-US" altLang="zh-CN" dirty="0"/>
          </a:p>
          <a:p>
            <a:pPr lvl="1"/>
            <a:r>
              <a:rPr lang="zh-CN" altLang="en-US" dirty="0"/>
              <a:t>根据系统所提供的存取路径，选择合理的存取策略</a:t>
            </a:r>
            <a:r>
              <a:rPr lang="en-US" altLang="zh-CN" dirty="0"/>
              <a:t>(</a:t>
            </a:r>
            <a:r>
              <a:rPr lang="zh-CN" altLang="en-US" dirty="0"/>
              <a:t>例如选用顺序搜索或索引进行查询</a:t>
            </a:r>
            <a:r>
              <a:rPr lang="en-US" altLang="zh-CN" dirty="0"/>
              <a:t>)</a:t>
            </a:r>
            <a:r>
              <a:rPr lang="zh-CN" altLang="en-US" dirty="0"/>
              <a:t>称为物理优化</a:t>
            </a:r>
            <a:endParaRPr lang="zh-CN" altLang="en-US" dirty="0"/>
          </a:p>
          <a:p>
            <a:pPr lvl="1"/>
            <a:r>
              <a:rPr lang="zh-CN" altLang="en-US" dirty="0"/>
              <a:t>物理优化又称为依赖于存取路径的优化，而代数优化则属于不依赖于存取路径的优化</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选择操作的实现和优化</a:t>
            </a:r>
            <a:endParaRPr lang="en-US" altLang="zh-CN" dirty="0"/>
          </a:p>
          <a:p>
            <a:pPr lvl="1"/>
            <a:r>
              <a:rPr lang="zh-CN" altLang="en-US" dirty="0"/>
              <a:t>选择操作是从关系中选择满足给定条件的元组，从水平方向减小关系的大小，查询优化中的一条基本原则就是选择尽量先做</a:t>
            </a:r>
            <a:endParaRPr lang="zh-CN" altLang="en-US" dirty="0"/>
          </a:p>
          <a:p>
            <a:pPr lvl="1"/>
            <a:r>
              <a:rPr lang="zh-CN" altLang="en-US" dirty="0"/>
              <a:t>其执行策略，与</a:t>
            </a:r>
            <a:r>
              <a:rPr lang="zh-CN" altLang="en-US" u="sng" dirty="0"/>
              <a:t>选择条件</a:t>
            </a:r>
            <a:r>
              <a:rPr lang="zh-CN" altLang="en-US" dirty="0"/>
              <a:t>、</a:t>
            </a:r>
            <a:r>
              <a:rPr lang="zh-CN" altLang="en-US" u="sng" dirty="0"/>
              <a:t>可用的存取路径</a:t>
            </a:r>
            <a:r>
              <a:rPr lang="zh-CN" altLang="en-US" dirty="0"/>
              <a:t>以及选取的元组数在整个关系中</a:t>
            </a:r>
            <a:r>
              <a:rPr lang="zh-CN" altLang="en-US" u="sng" dirty="0"/>
              <a:t>所占的比例</a:t>
            </a:r>
            <a:r>
              <a:rPr lang="zh-CN" altLang="en-US" dirty="0"/>
              <a:t>有关，分成下列几种情况来实现</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选择操作的实现和优化</a:t>
            </a:r>
            <a:endParaRPr lang="en-US" altLang="zh-CN" dirty="0"/>
          </a:p>
          <a:p>
            <a:pPr lvl="1"/>
            <a:r>
              <a:rPr lang="zh-CN" altLang="en-US" u="sng" dirty="0"/>
              <a:t>选择条件</a:t>
            </a:r>
            <a:r>
              <a:rPr lang="zh-CN" altLang="en-US" dirty="0"/>
              <a:t>可分为：</a:t>
            </a:r>
            <a:endParaRPr lang="en-US" altLang="zh-CN" dirty="0"/>
          </a:p>
          <a:p>
            <a:pPr lvl="2"/>
            <a:r>
              <a:rPr lang="zh-CN" altLang="en-US" dirty="0"/>
              <a:t>等值</a:t>
            </a:r>
            <a:r>
              <a:rPr lang="en-US" altLang="zh-CN" dirty="0"/>
              <a:t>(=)</a:t>
            </a:r>
            <a:endParaRPr lang="en-US" altLang="zh-CN" dirty="0"/>
          </a:p>
          <a:p>
            <a:pPr lvl="2"/>
            <a:r>
              <a:rPr lang="zh-CN" altLang="en-US" dirty="0"/>
              <a:t>范围</a:t>
            </a:r>
            <a:r>
              <a:rPr lang="en-US" altLang="zh-CN" dirty="0"/>
              <a:t>(&lt;,&lt;=,&gt;,&gt;=,Between )</a:t>
            </a:r>
            <a:endParaRPr lang="en-US" altLang="zh-CN" dirty="0"/>
          </a:p>
          <a:p>
            <a:pPr lvl="2"/>
            <a:r>
              <a:rPr lang="zh-CN" altLang="en-US" dirty="0"/>
              <a:t>集合</a:t>
            </a:r>
            <a:r>
              <a:rPr lang="en-US" altLang="zh-CN" dirty="0"/>
              <a:t>(IN)</a:t>
            </a:r>
            <a:r>
              <a:rPr lang="zh-CN" altLang="en-US" dirty="0"/>
              <a:t>等</a:t>
            </a:r>
            <a:endParaRPr lang="zh-CN" altLang="en-US" dirty="0"/>
          </a:p>
          <a:p>
            <a:pPr lvl="1"/>
            <a:r>
              <a:rPr lang="zh-CN" altLang="en-US" u="sng" dirty="0"/>
              <a:t>复合选择条件</a:t>
            </a:r>
            <a:r>
              <a:rPr lang="zh-CN" altLang="en-US" dirty="0"/>
              <a:t>由</a:t>
            </a:r>
            <a:r>
              <a:rPr lang="zh-CN" altLang="en-US" u="sng" dirty="0"/>
              <a:t>简单选择条件</a:t>
            </a:r>
            <a:r>
              <a:rPr lang="zh-CN" altLang="en-US" dirty="0"/>
              <a:t>通过</a:t>
            </a:r>
            <a:r>
              <a:rPr lang="en-US" altLang="zh-CN" dirty="0"/>
              <a:t>NOT, AND</a:t>
            </a:r>
            <a:r>
              <a:rPr lang="zh-CN" altLang="en-US" dirty="0"/>
              <a:t>、</a:t>
            </a:r>
            <a:r>
              <a:rPr lang="en-US" altLang="zh-CN" dirty="0"/>
              <a:t>OR</a:t>
            </a:r>
            <a:r>
              <a:rPr lang="zh-CN" altLang="en-US" dirty="0"/>
              <a:t>连接而成</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选择操作的实现和优化</a:t>
            </a:r>
            <a:endParaRPr lang="en-US" altLang="zh-CN" dirty="0"/>
          </a:p>
          <a:p>
            <a:pPr lvl="1"/>
            <a:r>
              <a:rPr lang="zh-CN" altLang="en-US" dirty="0"/>
              <a:t>选择操作的实现方法包括：</a:t>
            </a:r>
            <a:endParaRPr lang="zh-CN" altLang="en-US" dirty="0"/>
          </a:p>
          <a:p>
            <a:pPr lvl="2"/>
            <a:r>
              <a:rPr lang="zh-CN" altLang="en-US" dirty="0"/>
              <a:t>顺序扫描：适用于“小”的关系，满足条件的元组比例较大或无其他存取路径。</a:t>
            </a:r>
            <a:endParaRPr lang="zh-CN" altLang="en-US" dirty="0"/>
          </a:p>
          <a:p>
            <a:pPr lvl="2"/>
            <a:r>
              <a:rPr lang="zh-CN" altLang="en-US" dirty="0"/>
              <a:t>利用各种存取路径：包括索引（</a:t>
            </a:r>
            <a:r>
              <a:rPr lang="en-US" altLang="zh-CN" dirty="0"/>
              <a:t>B+</a:t>
            </a:r>
            <a:r>
              <a:rPr lang="zh-CN" altLang="en-US" dirty="0"/>
              <a:t>树），动态散列 </a:t>
            </a:r>
            <a:endParaRPr lang="zh-CN" altLang="en-US"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选择操作的启发式规则</a:t>
            </a:r>
            <a:endParaRPr lang="en-US" altLang="zh-CN" dirty="0"/>
          </a:p>
          <a:p>
            <a:pPr lvl="1"/>
            <a:r>
              <a:rPr lang="zh-CN" altLang="en-US" dirty="0"/>
              <a:t>对于小关系，不必考虑其他存取路径，直接用顺序扫描</a:t>
            </a:r>
            <a:endParaRPr lang="zh-CN" altLang="en-US" dirty="0"/>
          </a:p>
          <a:p>
            <a:pPr lvl="1"/>
            <a:r>
              <a:rPr lang="zh-CN" altLang="en-US" dirty="0"/>
              <a:t>如果无索引或散列等存取路径可用，或估计中选的元组数在关系中占有较大的比例 </a:t>
            </a:r>
            <a:r>
              <a:rPr lang="en-US" altLang="zh-CN" dirty="0"/>
              <a:t>(</a:t>
            </a:r>
            <a:r>
              <a:rPr lang="zh-CN" altLang="en-US" dirty="0"/>
              <a:t>例如大于</a:t>
            </a:r>
            <a:r>
              <a:rPr lang="en-US" altLang="zh-CN" dirty="0"/>
              <a:t>15</a:t>
            </a:r>
            <a:r>
              <a:rPr lang="zh-CN" altLang="en-US" dirty="0"/>
              <a:t>％</a:t>
            </a:r>
            <a:r>
              <a:rPr lang="en-US" altLang="zh-CN" dirty="0"/>
              <a:t>)</a:t>
            </a:r>
            <a:r>
              <a:rPr lang="zh-CN" altLang="en-US" dirty="0"/>
              <a:t>，且有关属性上无索引，则用顺序扫描</a:t>
            </a:r>
            <a:endParaRPr lang="zh-CN" altLang="en-US" dirty="0"/>
          </a:p>
          <a:p>
            <a:pPr lvl="1"/>
            <a:r>
              <a:rPr lang="zh-CN" altLang="en-US" dirty="0"/>
              <a:t>对于主键的等值条件查询，最多只有一个元组可以满足此条件，应优先采用主键的索引或散列</a:t>
            </a:r>
            <a:endParaRPr lang="zh-CN" altLang="en-US" dirty="0"/>
          </a:p>
          <a:p>
            <a:pPr lvl="1"/>
            <a:r>
              <a:rPr lang="zh-CN" altLang="en-US" dirty="0"/>
              <a:t>对于非主键的等值条件查询，要估计中选的元组数在关系中所占的比例。如果比例较小</a:t>
            </a:r>
            <a:r>
              <a:rPr lang="en-US" altLang="zh-CN" dirty="0"/>
              <a:t>(</a:t>
            </a:r>
            <a:r>
              <a:rPr lang="zh-CN" altLang="en-US" dirty="0"/>
              <a:t>例如小于</a:t>
            </a:r>
            <a:r>
              <a:rPr lang="en-US" altLang="zh-CN" dirty="0"/>
              <a:t>15</a:t>
            </a:r>
            <a:r>
              <a:rPr lang="zh-CN" altLang="en-US" dirty="0"/>
              <a:t>％</a:t>
            </a:r>
            <a:r>
              <a:rPr lang="en-US" altLang="zh-CN" dirty="0"/>
              <a:t>)</a:t>
            </a:r>
            <a:r>
              <a:rPr lang="zh-CN" altLang="en-US" dirty="0"/>
              <a:t>，可用无序索引，否则只能用聚簇索引或顺序扫描</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选择操作的启发式规则（续）</a:t>
            </a:r>
            <a:endParaRPr lang="en-US" altLang="zh-CN" dirty="0"/>
          </a:p>
          <a:p>
            <a:pPr lvl="1"/>
            <a:r>
              <a:rPr lang="zh-CN" altLang="en-US" dirty="0"/>
              <a:t>对于范围条件．一般先通过索引找到范围的边界，再通过索引的顺序集沿相应方向 搜索</a:t>
            </a:r>
            <a:endParaRPr lang="zh-CN" altLang="en-US" dirty="0"/>
          </a:p>
          <a:p>
            <a:pPr lvl="1"/>
            <a:r>
              <a:rPr lang="zh-CN" altLang="en-US" dirty="0"/>
              <a:t>对于用</a:t>
            </a:r>
            <a:r>
              <a:rPr lang="en-US" altLang="zh-CN" dirty="0"/>
              <a:t>AND</a:t>
            </a:r>
            <a:r>
              <a:rPr lang="zh-CN" altLang="en-US" dirty="0"/>
              <a:t>连接的合取选择条件，若有相应的多属性索引，则优先采用多属性索引</a:t>
            </a:r>
            <a:endParaRPr lang="zh-CN" altLang="en-US" dirty="0"/>
          </a:p>
          <a:p>
            <a:pPr lvl="1"/>
            <a:r>
              <a:rPr lang="zh-CN" altLang="en-US" dirty="0"/>
              <a:t>对于用</a:t>
            </a:r>
            <a:r>
              <a:rPr lang="en-US" altLang="zh-CN" dirty="0"/>
              <a:t>OR</a:t>
            </a:r>
            <a:r>
              <a:rPr lang="zh-CN" altLang="en-US" dirty="0"/>
              <a:t>连接的析取选择条件，只能按其中各个条件分别选出 一个元组集，再求这些元组集的并。众所周知，并是开销大的操作，而且在</a:t>
            </a:r>
            <a:r>
              <a:rPr lang="en-US" altLang="zh-CN" dirty="0"/>
              <a:t>OR</a:t>
            </a:r>
            <a:r>
              <a:rPr lang="zh-CN" altLang="en-US" dirty="0"/>
              <a:t>连接的诸条件 中，只要有一个条件无合适的存取路径，就不得不采用顺序扫描来处理这种查询。因此，在查询 语句中，应尽量避免采用析取选择条件</a:t>
            </a:r>
            <a:endParaRPr lang="zh-CN" altLang="en-US" dirty="0"/>
          </a:p>
          <a:p>
            <a:pPr lvl="1"/>
            <a:r>
              <a:rPr lang="zh-CN" altLang="en-US" dirty="0"/>
              <a:t>有些选择操作只要访问索引就可得到结果，例如查询索引属性的最大值、最小值、平 均值等。在此情况下，应优先利用索引，避免访问数据 </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连接操作的实现和优化</a:t>
            </a:r>
            <a:endParaRPr lang="en-US" altLang="zh-CN" dirty="0"/>
          </a:p>
          <a:p>
            <a:pPr lvl="1"/>
            <a:r>
              <a:rPr lang="zh-CN" altLang="en-US" dirty="0"/>
              <a:t>连接是从两个关系的笛卡儿积中选择满足连接条件的元组，操作本身开销大，并且可能产生大的中间结果</a:t>
            </a:r>
            <a:endParaRPr lang="zh-CN" altLang="en-US" dirty="0"/>
          </a:p>
          <a:p>
            <a:pPr lvl="1"/>
            <a:r>
              <a:rPr lang="zh-CN" altLang="en-US" dirty="0"/>
              <a:t>为了更深入的了解连接操作的优化技术，下面对主要的几个算法分别进行简单描述，并分析各种算法的代价</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连接操作的实现和优化</a:t>
            </a:r>
            <a:endParaRPr lang="en-US" altLang="zh-CN" dirty="0"/>
          </a:p>
          <a:p>
            <a:pPr lvl="1"/>
            <a:r>
              <a:rPr lang="zh-CN" altLang="en-US" dirty="0"/>
              <a:t>实现连接操作一般有</a:t>
            </a:r>
            <a:r>
              <a:rPr lang="en-US" altLang="zh-CN" dirty="0"/>
              <a:t>4</a:t>
            </a:r>
            <a:r>
              <a:rPr lang="zh-CN" altLang="en-US" dirty="0"/>
              <a:t>种方法：</a:t>
            </a:r>
            <a:endParaRPr lang="zh-CN" altLang="en-US" dirty="0"/>
          </a:p>
          <a:p>
            <a:pPr lvl="2"/>
            <a:r>
              <a:rPr lang="zh-CN" altLang="en-US" dirty="0"/>
              <a:t>嵌套循环法</a:t>
            </a:r>
            <a:r>
              <a:rPr lang="en-US" altLang="zh-CN" dirty="0"/>
              <a:t>(nested loop)</a:t>
            </a:r>
            <a:endParaRPr lang="en-US" altLang="zh-CN" dirty="0"/>
          </a:p>
          <a:p>
            <a:pPr lvl="2"/>
            <a:r>
              <a:rPr lang="zh-CN" altLang="en-US" dirty="0"/>
              <a:t>利用索引或散列寻找匹配元组法</a:t>
            </a:r>
            <a:endParaRPr lang="zh-CN" altLang="en-US" dirty="0"/>
          </a:p>
          <a:p>
            <a:pPr lvl="2"/>
            <a:r>
              <a:rPr lang="zh-CN" altLang="en-US" dirty="0"/>
              <a:t>排序归并</a:t>
            </a:r>
            <a:r>
              <a:rPr lang="en-US" altLang="zh-CN" dirty="0"/>
              <a:t>(sort-merge)</a:t>
            </a:r>
            <a:r>
              <a:rPr lang="zh-CN" altLang="en-US" dirty="0"/>
              <a:t>法</a:t>
            </a:r>
            <a:endParaRPr lang="zh-CN" altLang="en-US" dirty="0"/>
          </a:p>
          <a:p>
            <a:pPr lvl="2"/>
            <a:r>
              <a:rPr lang="zh-CN" altLang="en-US" dirty="0"/>
              <a:t>散列连接法</a:t>
            </a:r>
            <a:r>
              <a:rPr lang="en-US" altLang="zh-CN" dirty="0"/>
              <a:t>(hash join)</a:t>
            </a:r>
            <a:endParaRPr lang="en-US" altLang="zh-CN" dirty="0"/>
          </a:p>
          <a:p>
            <a:pPr lvl="2"/>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连接操作的实现和优化</a:t>
                </a:r>
                <a:endParaRPr lang="en-US" altLang="zh-CN" dirty="0"/>
              </a:p>
              <a:p>
                <a:pPr lvl="1"/>
                <a:r>
                  <a:rPr lang="zh-CN" altLang="en-US" dirty="0"/>
                  <a:t>嵌套循环法</a:t>
                </a:r>
                <a:r>
                  <a:rPr lang="en-US" altLang="zh-CN" dirty="0"/>
                  <a:t>(nested loop)</a:t>
                </a:r>
                <a:endParaRPr lang="en-US" altLang="zh-CN" dirty="0"/>
              </a:p>
              <a:p>
                <a:pPr lvl="2"/>
                <a:r>
                  <a:rPr lang="zh-CN" altLang="en-US" dirty="0"/>
                  <a:t>顺序扫描外关系的每一个元组，然后与内关系的每一个元组进行匹配。</a:t>
                </a:r>
                <a:endParaRPr lang="zh-CN" altLang="en-US" dirty="0"/>
              </a:p>
              <a:p>
                <a:pPr lvl="2"/>
                <a:r>
                  <a:rPr lang="zh-CN" altLang="en-US" dirty="0"/>
                  <a:t>设</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oMath>
                </a14:m>
                <a:r>
                  <a:rPr lang="zh-CN" altLang="en-US" dirty="0"/>
                  <a:t>，</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𝑏</m:t>
                        </m:r>
                      </m:e>
                      <m:sub>
                        <m:r>
                          <a:rPr lang="en-US" altLang="zh-CN" b="0" i="1" dirty="0" smtClean="0">
                            <a:latin typeface="Cambria Math" panose="02040503050406030204" pitchFamily="18" charset="0"/>
                          </a:rPr>
                          <m:t>𝑆</m:t>
                        </m:r>
                      </m:sub>
                    </m:sSub>
                  </m:oMath>
                </a14:m>
                <a:r>
                  <a:rPr lang="zh-CN" altLang="en-US" dirty="0"/>
                  <a:t>分别表示</a:t>
                </a:r>
                <a:r>
                  <a:rPr lang="en-US" altLang="zh-CN" dirty="0"/>
                  <a:t>R</a:t>
                </a:r>
                <a:r>
                  <a:rPr lang="zh-CN" altLang="en-US" dirty="0"/>
                  <a:t>和</a:t>
                </a:r>
                <a:r>
                  <a:rPr lang="en-US" altLang="zh-CN" dirty="0"/>
                  <a:t>S</a:t>
                </a:r>
                <a:r>
                  <a:rPr lang="zh-CN" altLang="en-US" dirty="0"/>
                  <a:t>的物理块数，</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𝐵</m:t>
                        </m:r>
                      </m:sub>
                    </m:sSub>
                  </m:oMath>
                </a14:m>
                <a:r>
                  <a:rPr lang="zh-CN" altLang="en-US" dirty="0"/>
                  <a:t>为可用的内存缓冲块数，并以其中</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b="0" i="1" dirty="0" smtClean="0">
                            <a:latin typeface="Cambria Math" panose="02040503050406030204" pitchFamily="18" charset="0"/>
                          </a:rPr>
                          <m:t>𝐵</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1</m:t>
                    </m:r>
                  </m:oMath>
                </a14:m>
                <a:r>
                  <a:rPr lang="en-US" altLang="zh-CN" dirty="0"/>
                  <a:t> </a:t>
                </a:r>
                <a:r>
                  <a:rPr lang="zh-CN" altLang="en-US" dirty="0"/>
                  <a:t>块存放外关系，剩余的</a:t>
                </a:r>
                <a:r>
                  <a:rPr lang="en-US" altLang="zh-CN" dirty="0"/>
                  <a:t>1</a:t>
                </a:r>
                <a:r>
                  <a:rPr lang="zh-CN" altLang="en-US" dirty="0"/>
                  <a:t>块存放内关系。</a:t>
                </a:r>
                <a:endParaRPr lang="en-US" altLang="zh-CN" dirty="0"/>
              </a:p>
              <a:p>
                <a:pPr lvl="3"/>
                <a:r>
                  <a:rPr lang="zh-CN" altLang="en-US" dirty="0"/>
                  <a:t>若以</a:t>
                </a:r>
                <a:r>
                  <a:rPr lang="en-US" altLang="zh-CN" dirty="0"/>
                  <a:t>R</a:t>
                </a:r>
                <a:r>
                  <a:rPr lang="zh-CN" altLang="en-US" dirty="0"/>
                  <a:t>为外关系，</a:t>
                </a:r>
                <a:r>
                  <a:rPr lang="en-US" altLang="zh-CN" dirty="0"/>
                  <a:t>S</a:t>
                </a:r>
                <a:r>
                  <a:rPr lang="zh-CN" altLang="en-US" dirty="0"/>
                  <a:t>为内关系，用嵌套循环法进行连接需要访问的物理块数为：</a:t>
                </a:r>
                <a:endParaRPr lang="en-US" altLang="zh-CN" dirty="0"/>
              </a:p>
              <a:p>
                <a:pPr marL="1371600" lvl="3"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oMath>
                  </m:oMathPara>
                </a14:m>
                <a:endParaRPr lang="zh-CN" altLang="en-US" dirty="0"/>
              </a:p>
              <a:p>
                <a:pPr lvl="3"/>
                <a:r>
                  <a:rPr lang="zh-CN" altLang="en-US" dirty="0"/>
                  <a:t>若以</a:t>
                </a:r>
                <a:r>
                  <a:rPr lang="en-US" altLang="zh-CN" dirty="0"/>
                  <a:t>S</a:t>
                </a:r>
                <a:r>
                  <a:rPr lang="zh-CN" altLang="en-US" dirty="0"/>
                  <a:t>为外关系，</a:t>
                </a:r>
                <a:r>
                  <a:rPr lang="en-US" altLang="zh-CN" dirty="0"/>
                  <a:t>R</a:t>
                </a:r>
                <a:r>
                  <a:rPr lang="zh-CN" altLang="en-US" dirty="0"/>
                  <a:t>为内关系，用嵌套循环法进行连接需要访问的物理块数为： </a:t>
                </a:r>
                <a:endParaRPr lang="zh-CN" altLang="en-US" dirty="0"/>
              </a:p>
              <a:p>
                <a:pPr marL="1371600" lvl="3"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 / </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m:t>
                              </m:r>
                            </m:e>
                          </m:d>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oMath>
                  </m:oMathPara>
                </a14:m>
                <a:endParaRPr lang="zh-CN" altLang="en-US" dirty="0"/>
              </a:p>
              <a:p>
                <a:pPr lvl="2"/>
                <a:r>
                  <a:rPr lang="zh-CN" altLang="en-US" dirty="0"/>
                  <a:t>比较上面</a:t>
                </a:r>
                <a:r>
                  <a:rPr lang="en-US" altLang="zh-CN" dirty="0"/>
                  <a:t>2</a:t>
                </a:r>
                <a:r>
                  <a:rPr lang="zh-CN" altLang="en-US" dirty="0"/>
                  <a:t>个式子，可以看出选择占用物理块少的关系作为外关系 。</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连接操作的实现和优化</a:t>
            </a:r>
            <a:endParaRPr lang="en-US" altLang="zh-CN" dirty="0"/>
          </a:p>
          <a:p>
            <a:pPr lvl="1"/>
            <a:r>
              <a:rPr lang="zh-CN" altLang="en-US" dirty="0"/>
              <a:t>利用索引或散列寻找匹配元组法</a:t>
            </a:r>
            <a:endParaRPr lang="zh-CN" altLang="en-US" dirty="0"/>
          </a:p>
          <a:p>
            <a:pPr lvl="2"/>
            <a:r>
              <a:rPr lang="zh-CN" altLang="en-US" dirty="0"/>
              <a:t>如果内关系有合适的存取路径（例如索引或散列），可以考虑使用这些存取路径代替顺序扫描。</a:t>
            </a:r>
            <a:endParaRPr lang="zh-CN" altLang="en-US" dirty="0"/>
          </a:p>
          <a:p>
            <a:pPr lvl="2"/>
            <a:r>
              <a:rPr lang="zh-CN" altLang="en-US" dirty="0"/>
              <a:t>可有效减少</a:t>
            </a:r>
            <a:r>
              <a:rPr lang="en-US" altLang="zh-CN" dirty="0"/>
              <a:t>I/O</a:t>
            </a:r>
            <a:r>
              <a:rPr lang="zh-CN" altLang="en-US" dirty="0"/>
              <a:t>次数</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连接操作的实现和优化</a:t>
            </a:r>
            <a:endParaRPr lang="en-US" altLang="zh-CN" dirty="0"/>
          </a:p>
          <a:p>
            <a:pPr lvl="1"/>
            <a:r>
              <a:rPr lang="zh-CN" altLang="en-US" dirty="0"/>
              <a:t>排序归并</a:t>
            </a:r>
            <a:r>
              <a:rPr lang="en-US" altLang="zh-CN" dirty="0"/>
              <a:t>(sort-merge)</a:t>
            </a:r>
            <a:r>
              <a:rPr lang="zh-CN" altLang="en-US" dirty="0"/>
              <a:t>法</a:t>
            </a:r>
            <a:endParaRPr lang="zh-CN" altLang="en-US" dirty="0"/>
          </a:p>
          <a:p>
            <a:pPr lvl="2"/>
            <a:r>
              <a:rPr lang="zh-CN" altLang="en-US" dirty="0"/>
              <a:t>首先按连接属性对关系排序，然后进行归并连接</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pic>
        <p:nvPicPr>
          <p:cNvPr id="6" name="Picture 4" descr="sspictmp000D1B"/>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279701" y="2782557"/>
            <a:ext cx="5688013" cy="385286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连接操作的实现和优化</a:t>
            </a:r>
            <a:endParaRPr lang="en-US" altLang="zh-CN" dirty="0"/>
          </a:p>
          <a:p>
            <a:pPr lvl="1"/>
            <a:r>
              <a:rPr lang="zh-CN" altLang="en-US" dirty="0"/>
              <a:t>散列连接法</a:t>
            </a:r>
            <a:r>
              <a:rPr lang="en-US" altLang="zh-CN" dirty="0"/>
              <a:t>(hash join)</a:t>
            </a:r>
            <a:endParaRPr lang="en-US" altLang="zh-CN" dirty="0"/>
          </a:p>
          <a:p>
            <a:pPr lvl="2"/>
            <a:r>
              <a:rPr lang="zh-CN" altLang="en-US" dirty="0"/>
              <a:t>首先用散列函数将连接属性散列至文件中，然后对散列到同一个桶中的元组进行匹配。</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连接的启发式规则</a:t>
            </a:r>
            <a:endParaRPr lang="en-US" altLang="zh-CN" dirty="0"/>
          </a:p>
          <a:p>
            <a:pPr lvl="1"/>
            <a:r>
              <a:rPr lang="zh-CN" altLang="en-US" dirty="0"/>
              <a:t>如果两个关系都已按连接属性排序，则优先用排序归并法。如果两个关系中已有一个关系按连接属性排序，另一个关系很小，可考虑对此关系按连接属性排序，再用排序归并法连接。</a:t>
            </a:r>
            <a:endParaRPr lang="zh-CN" altLang="en-US" dirty="0"/>
          </a:p>
          <a:p>
            <a:pPr lvl="1"/>
            <a:r>
              <a:rPr lang="zh-CN" altLang="en-US" dirty="0"/>
              <a:t>如果两个关系中有一个关系在连接属性上有索引</a:t>
            </a:r>
            <a:r>
              <a:rPr lang="en-US" altLang="zh-CN" dirty="0"/>
              <a:t>(</a:t>
            </a:r>
            <a:r>
              <a:rPr lang="zh-CN" altLang="en-US" dirty="0"/>
              <a:t>特别是顺序索引</a:t>
            </a:r>
            <a:r>
              <a:rPr lang="en-US" altLang="zh-CN" dirty="0"/>
              <a:t>)</a:t>
            </a:r>
            <a:r>
              <a:rPr lang="zh-CN" altLang="en-US" dirty="0"/>
              <a:t>或散列，则可令另一关系为外关系，顺序扫描，并利用内关系上的索引或散列寻找其匹配元组，以代替多遍扫描。</a:t>
            </a:r>
            <a:endParaRPr lang="zh-CN" altLang="en-US" dirty="0"/>
          </a:p>
          <a:p>
            <a:pPr lvl="1"/>
            <a:r>
              <a:rPr lang="zh-CN" altLang="en-US" dirty="0"/>
              <a:t>如果应用上述两规则的条件都不具备，且两个关系都比较小，可以应用嵌套循环法 。</a:t>
            </a:r>
            <a:endParaRPr lang="zh-CN" altLang="en-US" dirty="0"/>
          </a:p>
          <a:p>
            <a:pPr lvl="1"/>
            <a:r>
              <a:rPr lang="zh-CN" altLang="en-US" dirty="0"/>
              <a:t>如果以上规则都不适用，可用散列连接法。</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投影操作的实现</a:t>
            </a:r>
            <a:endParaRPr lang="en-US" altLang="zh-CN" dirty="0"/>
          </a:p>
          <a:p>
            <a:pPr lvl="1"/>
            <a:r>
              <a:rPr lang="zh-CN" altLang="en-US" dirty="0"/>
              <a:t>投影操作选取关系的某些列，从垂直的方向减小关系的大小</a:t>
            </a:r>
            <a:endParaRPr lang="zh-CN" altLang="en-US" dirty="0"/>
          </a:p>
          <a:p>
            <a:pPr lvl="1"/>
            <a:r>
              <a:rPr lang="zh-CN" altLang="en-US" dirty="0"/>
              <a:t>投影操作一般可与选择、连接等操作同时进行，不再需要附加的</a:t>
            </a:r>
            <a:r>
              <a:rPr lang="en-US" altLang="zh-CN" dirty="0"/>
              <a:t>I/O</a:t>
            </a:r>
            <a:r>
              <a:rPr lang="zh-CN" altLang="en-US" dirty="0"/>
              <a:t>开销。</a:t>
            </a:r>
            <a:endParaRPr lang="zh-CN" altLang="en-US" dirty="0"/>
          </a:p>
          <a:p>
            <a:pPr lvl="1"/>
            <a:r>
              <a:rPr lang="zh-CN" altLang="en-US" dirty="0"/>
              <a:t>但是，投影结果可能会出现重复元组，应消除这些完全相同的元组（排序、散列）</a:t>
            </a:r>
            <a:endParaRPr lang="zh-CN" altLang="en-US" dirty="0"/>
          </a:p>
          <a:p>
            <a:pPr lvl="1"/>
            <a:r>
              <a:rPr lang="zh-CN" altLang="en-US" dirty="0"/>
              <a:t>如果关系已经经过排序，等值的元组相邻存储，很容易只留一个元组副本去掉多余的副本</a:t>
            </a:r>
            <a:endParaRPr lang="zh-CN" altLang="en-US" dirty="0"/>
          </a:p>
          <a:p>
            <a:pPr lvl="1"/>
            <a:r>
              <a:rPr lang="zh-CN" altLang="en-US" dirty="0"/>
              <a:t>也可使用散列方法来实现消除重复元组，整个关系按建立在某一属性或多个属性上的散列函数进行划分</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集合操作的实现</a:t>
                </a:r>
                <a:endParaRPr lang="en-US" altLang="zh-CN" dirty="0"/>
              </a:p>
              <a:p>
                <a:pPr lvl="1"/>
                <a:r>
                  <a:rPr lang="zh-CN" altLang="en-US" dirty="0"/>
                  <a:t>对于笛卡儿积</a:t>
                </a:r>
                <a:r>
                  <a:rPr lang="en-US" altLang="zh-CN" dirty="0"/>
                  <a:t>(×)</a:t>
                </a:r>
                <a:r>
                  <a:rPr lang="zh-CN" altLang="en-US" dirty="0"/>
                  <a:t>一般可采用嵌套循环法；</a:t>
                </a:r>
                <a:endParaRPr lang="zh-CN" altLang="en-US" dirty="0"/>
              </a:p>
              <a:p>
                <a:pPr lvl="1"/>
                <a:r>
                  <a:rPr lang="zh-CN" altLang="en-US" dirty="0"/>
                  <a:t>对于</a:t>
                </a:r>
                <a14:m>
                  <m:oMath xmlns:m="http://schemas.openxmlformats.org/officeDocument/2006/math">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m:t>
                    </m:r>
                  </m:oMath>
                </a14:m>
                <a:r>
                  <a:rPr lang="zh-CN" altLang="en-US" dirty="0"/>
                  <a:t>等操作需要发现共同元组 ；</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7.4 </a:t>
            </a:r>
            <a:r>
              <a:rPr lang="zh-CN" altLang="en-US" dirty="0"/>
              <a:t>物理优化</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代价预算优化的介绍</a:t>
            </a:r>
            <a:endParaRPr lang="en-US" altLang="zh-CN" dirty="0"/>
          </a:p>
          <a:p>
            <a:pPr lvl="1"/>
            <a:r>
              <a:rPr lang="zh-CN" altLang="en-US" dirty="0"/>
              <a:t>代价估算优化：对可供选择的执行策略进行代价估算，从中选用代价最小的执行策略。</a:t>
            </a:r>
            <a:endParaRPr lang="zh-CN" altLang="en-US" dirty="0"/>
          </a:p>
          <a:p>
            <a:pPr lvl="1"/>
            <a:r>
              <a:rPr lang="zh-CN" altLang="en-US" dirty="0"/>
              <a:t>在小型和解释执行的</a:t>
            </a:r>
            <a:r>
              <a:rPr lang="en-US" altLang="zh-CN" dirty="0"/>
              <a:t>DBMS</a:t>
            </a:r>
            <a:r>
              <a:rPr lang="zh-CN" altLang="en-US" dirty="0"/>
              <a:t>中，规则优化用得比较多。因为在解释执行的数据库系统中，优化时间包含在事务的执行时间中，不宜采用开销太大的优化方法。</a:t>
            </a:r>
            <a:endParaRPr lang="zh-CN" altLang="en-US" dirty="0"/>
          </a:p>
          <a:p>
            <a:pPr lvl="1"/>
            <a:r>
              <a:rPr lang="zh-CN" altLang="en-US" dirty="0"/>
              <a:t>在编译实现的数据库系统中，一次编译，可供多次执行，编译时间不包括在事务的执行时间中，值得采用较复杂的优化方法。</a:t>
            </a:r>
            <a:endParaRPr lang="zh-CN" altLang="en-US" dirty="0"/>
          </a:p>
          <a:p>
            <a:pPr lvl="1"/>
            <a:r>
              <a:rPr lang="zh-CN" altLang="en-US" dirty="0"/>
              <a:t>一般先用规则优化，选择几个可取的执行策略，然后对它们进行代价比较，从中择优。</a:t>
            </a:r>
            <a:endParaRPr lang="zh-CN" altLang="en-US"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lnSpcReduction="10000"/>
              </a:bodyPr>
              <a:lstStyle/>
              <a:p>
                <a:r>
                  <a:rPr lang="zh-CN" altLang="en-US" dirty="0"/>
                  <a:t>查询执行代价的组成与代价统计参数</a:t>
                </a:r>
                <a:endParaRPr lang="en-US" altLang="zh-CN" dirty="0"/>
              </a:p>
              <a:p>
                <a:pPr lvl="1"/>
                <a:r>
                  <a:rPr lang="zh-CN" altLang="en-US" dirty="0"/>
                  <a:t>查询执行代价主要包括</a:t>
                </a:r>
                <a:r>
                  <a:rPr lang="en-US" altLang="zh-CN" dirty="0"/>
                  <a:t>3</a:t>
                </a:r>
                <a:r>
                  <a:rPr lang="zh-CN" altLang="en-US" dirty="0"/>
                  <a:t>个方面：</a:t>
                </a:r>
                <a:endParaRPr lang="en-US" altLang="zh-CN" dirty="0"/>
              </a:p>
              <a:p>
                <a:pPr lvl="2"/>
                <a:r>
                  <a:rPr lang="en-US" altLang="zh-CN" dirty="0"/>
                  <a:t>I/O</a:t>
                </a:r>
                <a:r>
                  <a:rPr lang="zh-CN" altLang="en-US" dirty="0"/>
                  <a:t>代价</a:t>
                </a:r>
                <a:r>
                  <a:rPr lang="en-US" altLang="zh-CN" dirty="0"/>
                  <a:t>( * )</a:t>
                </a:r>
                <a:endParaRPr lang="en-US" altLang="zh-CN" dirty="0"/>
              </a:p>
              <a:p>
                <a:pPr lvl="2"/>
                <a:r>
                  <a:rPr lang="en-US" altLang="zh-CN" dirty="0"/>
                  <a:t>CPU</a:t>
                </a:r>
                <a:r>
                  <a:rPr lang="zh-CN" altLang="en-US" dirty="0"/>
                  <a:t>代价</a:t>
                </a:r>
                <a:endParaRPr lang="zh-CN" altLang="en-US" dirty="0"/>
              </a:p>
              <a:p>
                <a:pPr lvl="2"/>
                <a:r>
                  <a:rPr lang="zh-CN" altLang="en-US" dirty="0"/>
                  <a:t>通信代价</a:t>
                </a:r>
                <a:endParaRPr lang="zh-CN" altLang="en-US" dirty="0"/>
              </a:p>
              <a:p>
                <a:pPr lvl="1"/>
                <a:r>
                  <a:rPr lang="zh-CN" altLang="en-US" dirty="0"/>
                  <a:t>访问磁盘</a:t>
                </a:r>
                <a:r>
                  <a:rPr lang="en-US" altLang="zh-CN" dirty="0"/>
                  <a:t>1</a:t>
                </a:r>
                <a:r>
                  <a:rPr lang="zh-CN" altLang="en-US" dirty="0"/>
                  <a:t>次所需的代价可表示为：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𝑂</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1</m:t>
                      </m:r>
                    </m:oMath>
                  </m:oMathPara>
                </a14:m>
                <a:endParaRPr lang="zh-CN" altLang="en-US" dirty="0"/>
              </a:p>
              <a:p>
                <a:pPr lvl="2"/>
                <a:r>
                  <a:rPr lang="zh-CN" altLang="en-US" dirty="0"/>
                  <a:t>其中：</a:t>
                </a:r>
                <a:r>
                  <a:rPr lang="en-US" altLang="zh-CN" dirty="0"/>
                  <a:t>x :</a:t>
                </a:r>
                <a:r>
                  <a:rPr lang="zh-CN" altLang="en-US" dirty="0"/>
                  <a:t>存取数据的大小，以字节表示</a:t>
                </a:r>
                <a:endParaRPr lang="zh-CN" altLang="en-US" dirty="0"/>
              </a:p>
              <a:p>
                <a:pPr marL="914400" lvl="2" indent="0">
                  <a:buNone/>
                </a:pPr>
                <a:r>
                  <a:rPr lang="en-US" altLang="zh-CN" dirty="0"/>
                  <a:t>	D0:</a:t>
                </a:r>
                <a:r>
                  <a:rPr lang="zh-CN" altLang="en-US" dirty="0"/>
                  <a:t>与</a:t>
                </a:r>
                <a:r>
                  <a:rPr lang="en-US" altLang="zh-CN" dirty="0"/>
                  <a:t>x</a:t>
                </a:r>
                <a:r>
                  <a:rPr lang="zh-CN" altLang="en-US" dirty="0"/>
                  <a:t>无关的</a:t>
                </a:r>
                <a:r>
                  <a:rPr lang="en-US" altLang="zh-CN" dirty="0"/>
                  <a:t>I/O</a:t>
                </a:r>
                <a:r>
                  <a:rPr lang="zh-CN" altLang="en-US" dirty="0"/>
                  <a:t>代价，包括寻道时间和等待时间</a:t>
                </a:r>
                <a:endParaRPr lang="zh-CN" altLang="en-US" dirty="0"/>
              </a:p>
              <a:p>
                <a:pPr marL="914400" lvl="2" indent="0">
                  <a:buNone/>
                </a:pPr>
                <a:r>
                  <a:rPr lang="en-US" altLang="zh-CN" dirty="0"/>
                  <a:t>	D1:</a:t>
                </a:r>
                <a:r>
                  <a:rPr lang="zh-CN" altLang="en-US" dirty="0"/>
                  <a:t>每个字节所需的传输时间</a:t>
                </a:r>
                <a:endParaRPr lang="zh-CN" altLang="en-US" dirty="0"/>
              </a:p>
              <a:p>
                <a:pPr marL="914400" lvl="2" indent="0">
                  <a:buNone/>
                </a:pPr>
                <a:r>
                  <a:rPr lang="en-US" altLang="zh-CN" dirty="0"/>
                  <a:t>	</a:t>
                </a:r>
                <a:r>
                  <a:rPr lang="zh-CN" altLang="en-US" dirty="0"/>
                  <a:t>一般</a:t>
                </a:r>
                <a:r>
                  <a:rPr lang="en-US" altLang="zh-CN" dirty="0"/>
                  <a:t>D0&gt;&gt; X D1 </a:t>
                </a:r>
                <a:r>
                  <a:rPr lang="zh-CN" altLang="en-US" dirty="0"/>
                  <a:t>故</a:t>
                </a:r>
                <a:r>
                  <a:rPr lang="en-US" altLang="zh-CN" dirty="0"/>
                  <a:t>: I/O</a:t>
                </a:r>
                <a:r>
                  <a:rPr lang="zh-CN" altLang="en-US" dirty="0"/>
                  <a:t>代价</a:t>
                </a:r>
                <a:r>
                  <a:rPr lang="en-US" altLang="zh-CN" dirty="0"/>
                  <a:t>=I/O</a:t>
                </a:r>
                <a:r>
                  <a:rPr lang="zh-CN" altLang="en-US" dirty="0"/>
                  <a:t>次数 </a:t>
                </a:r>
                <a:r>
                  <a:rPr lang="en-US" altLang="zh-CN" dirty="0"/>
                  <a:t>X D0</a:t>
                </a:r>
                <a:endParaRPr lang="en-US" altLang="zh-CN"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查询执行代价的组成与代价统计参数</a:t>
                </a:r>
                <a:endParaRPr lang="en-US" altLang="zh-CN" dirty="0"/>
              </a:p>
              <a:p>
                <a:pPr lvl="1"/>
                <a:r>
                  <a:rPr lang="zh-CN" altLang="en-US" dirty="0"/>
                  <a:t>下面给出进行代价估算时将要用到的统计参数</a:t>
                </a:r>
                <a:r>
                  <a:rPr lang="en-US" altLang="zh-CN" dirty="0"/>
                  <a:t>:</a:t>
                </a:r>
                <a:endParaRPr lang="en-US" altLang="zh-CN"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𝑅</m:t>
                        </m:r>
                      </m:sub>
                    </m:sSub>
                  </m:oMath>
                </a14:m>
                <a:r>
                  <a:rPr lang="zh-CN" altLang="en-US" dirty="0"/>
                  <a:t>：</a:t>
                </a:r>
                <a:r>
                  <a:rPr lang="en-US" altLang="zh-CN" dirty="0"/>
                  <a:t>R</a:t>
                </a:r>
                <a:r>
                  <a:rPr lang="zh-CN" altLang="en-US" dirty="0"/>
                  <a:t>中的元组数；</a:t>
                </a:r>
                <a:endParaRPr lang="zh-CN" altLang="en-US"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𝑃</m:t>
                        </m:r>
                      </m:e>
                      <m:sub>
                        <m:r>
                          <a:rPr lang="en-US" altLang="zh-CN" i="1" dirty="0" smtClean="0">
                            <a:latin typeface="Cambria Math" panose="02040503050406030204" pitchFamily="18" charset="0"/>
                          </a:rPr>
                          <m:t>𝑅</m:t>
                        </m:r>
                      </m:sub>
                    </m:sSub>
                  </m:oMath>
                </a14:m>
                <a:r>
                  <a:rPr lang="en-US" altLang="zh-CN" dirty="0"/>
                  <a:t> </a:t>
                </a:r>
                <a:r>
                  <a:rPr lang="zh-CN" altLang="en-US" dirty="0"/>
                  <a:t>：</a:t>
                </a:r>
                <a:r>
                  <a:rPr lang="en-US" altLang="zh-CN" dirty="0"/>
                  <a:t>R</a:t>
                </a:r>
                <a:r>
                  <a:rPr lang="zh-CN" altLang="en-US" dirty="0"/>
                  <a:t>块因子，即每个物理块中包含的元组数，</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𝑅</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𝑃</m:t>
                        </m:r>
                      </m:e>
                      <m:sub>
                        <m:r>
                          <a:rPr lang="en-US" altLang="zh-CN" i="1" dirty="0" smtClean="0">
                            <a:latin typeface="Cambria Math" panose="02040503050406030204" pitchFamily="18" charset="0"/>
                          </a:rPr>
                          <m:t>𝑅</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𝑏</m:t>
                        </m:r>
                      </m:e>
                      <m:sub>
                        <m:r>
                          <a:rPr lang="en-US" altLang="zh-CN" i="1" dirty="0" err="1" smtClean="0">
                            <a:latin typeface="Cambria Math" panose="02040503050406030204" pitchFamily="18" charset="0"/>
                          </a:rPr>
                          <m:t>𝑅</m:t>
                        </m:r>
                      </m:sub>
                    </m:sSub>
                  </m:oMath>
                </a14:m>
                <a:r>
                  <a:rPr lang="zh-CN" altLang="en-US" dirty="0"/>
                  <a:t>；</a:t>
                </a:r>
                <a:endParaRPr lang="zh-CN" altLang="en-US"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𝐴</m:t>
                        </m:r>
                      </m:sub>
                    </m:sSub>
                  </m:oMath>
                </a14:m>
                <a:r>
                  <a:rPr lang="zh-CN" altLang="en-US" dirty="0"/>
                  <a:t>： 属性</a:t>
                </a:r>
                <a:r>
                  <a:rPr lang="en-US" altLang="zh-CN" dirty="0"/>
                  <a:t>A</a:t>
                </a:r>
                <a:r>
                  <a:rPr lang="zh-CN" altLang="en-US" dirty="0"/>
                  <a:t>在一个关系中出现的不同值的个数；</a:t>
                </a:r>
                <a:endParaRPr lang="zh-CN" altLang="en-US"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𝐹</m:t>
                        </m:r>
                      </m:e>
                      <m:sub>
                        <m:r>
                          <a:rPr lang="en-US" altLang="zh-CN" i="1" dirty="0" smtClean="0">
                            <a:latin typeface="Cambria Math" panose="02040503050406030204" pitchFamily="18" charset="0"/>
                          </a:rPr>
                          <m:t>𝐴</m:t>
                        </m:r>
                      </m:sub>
                    </m:sSub>
                  </m:oMath>
                </a14:m>
                <a:r>
                  <a:rPr lang="zh-CN" altLang="en-US" dirty="0"/>
                  <a:t>： 属性</a:t>
                </a:r>
                <a:r>
                  <a:rPr lang="en-US" altLang="zh-CN" dirty="0"/>
                  <a:t>A</a:t>
                </a:r>
                <a:r>
                  <a:rPr lang="zh-CN" altLang="en-US" dirty="0"/>
                  <a:t>的选择因子，即属性</a:t>
                </a:r>
                <a:r>
                  <a:rPr lang="en-US" altLang="zh-CN" dirty="0"/>
                  <a:t>A</a:t>
                </a:r>
                <a:r>
                  <a:rPr lang="zh-CN" altLang="en-US" dirty="0"/>
                  <a:t>为某一个值的概率，一般假定属性值均匀分布，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𝐹</m:t>
                        </m:r>
                      </m:e>
                      <m:sub>
                        <m:r>
                          <a:rPr lang="en-US" altLang="zh-CN" i="1" dirty="0" smtClean="0">
                            <a:latin typeface="Cambria Math" panose="02040503050406030204" pitchFamily="18" charset="0"/>
                          </a:rPr>
                          <m:t>𝐴</m:t>
                        </m:r>
                      </m:sub>
                    </m:sSub>
                    <m:r>
                      <a:rPr lang="en-US" altLang="zh-CN" i="1" dirty="0" smtClean="0">
                        <a:latin typeface="Cambria Math" panose="02040503050406030204" pitchFamily="18" charset="0"/>
                      </a:rPr>
                      <m:t>=</m:t>
                    </m:r>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𝐴</m:t>
                        </m:r>
                      </m:sub>
                    </m:sSub>
                  </m:oMath>
                </a14:m>
                <a:r>
                  <a:rPr lang="en-US" altLang="zh-CN" dirty="0"/>
                  <a:t>  </a:t>
                </a:r>
                <a:r>
                  <a:rPr lang="zh-CN" altLang="en-US" dirty="0"/>
                  <a:t>；</a:t>
                </a:r>
                <a:endParaRPr lang="zh-CN" altLang="en-US"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𝑀</m:t>
                        </m:r>
                      </m:e>
                      <m:sub>
                        <m:r>
                          <a:rPr lang="en-US" altLang="zh-CN" i="1" dirty="0" smtClean="0">
                            <a:latin typeface="Cambria Math" panose="02040503050406030204" pitchFamily="18" charset="0"/>
                          </a:rPr>
                          <m:t>𝐴</m:t>
                        </m:r>
                      </m:sub>
                    </m:sSub>
                  </m:oMath>
                </a14:m>
                <a:r>
                  <a:rPr lang="zh-CN" altLang="en-US" dirty="0"/>
                  <a:t>：属性</a:t>
                </a:r>
                <a:r>
                  <a:rPr lang="en-US" altLang="zh-CN" dirty="0"/>
                  <a:t>A</a:t>
                </a:r>
                <a:r>
                  <a:rPr lang="zh-CN" altLang="en-US" dirty="0"/>
                  <a:t>的值域大小</a:t>
                </a:r>
                <a:r>
                  <a:rPr lang="en-US" altLang="zh-CN" dirty="0"/>
                  <a:t>|</a:t>
                </a:r>
                <a14:m>
                  <m:oMath xmlns:m="http://schemas.openxmlformats.org/officeDocument/2006/math">
                    <m:r>
                      <a:rPr lang="en-US" altLang="zh-CN" i="1" dirty="0" smtClean="0">
                        <a:latin typeface="Cambria Math" panose="02040503050406030204" pitchFamily="18" charset="0"/>
                      </a:rPr>
                      <m:t>𝐷𝑂𝑀</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oMath>
                </a14:m>
                <a:r>
                  <a:rPr lang="en-US" altLang="zh-CN" dirty="0"/>
                  <a:t>|</a:t>
                </a:r>
                <a:r>
                  <a:rPr lang="zh-CN" altLang="en-US" dirty="0"/>
                  <a:t>；</a:t>
                </a:r>
                <a:endParaRPr lang="zh-CN" altLang="en-US"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𝐿</m:t>
                        </m:r>
                      </m:e>
                      <m:sub>
                        <m:r>
                          <a:rPr lang="en-US" altLang="zh-CN" i="1" dirty="0" smtClean="0">
                            <a:latin typeface="Cambria Math" panose="02040503050406030204" pitchFamily="18" charset="0"/>
                          </a:rPr>
                          <m:t>𝑖</m:t>
                        </m:r>
                      </m:sub>
                    </m:sSub>
                  </m:oMath>
                </a14:m>
                <a:r>
                  <a:rPr lang="zh-CN" altLang="en-US" dirty="0"/>
                  <a:t>：索引</a:t>
                </a:r>
                <a:r>
                  <a:rPr lang="en-US" altLang="zh-CN" dirty="0" err="1"/>
                  <a:t>i</a:t>
                </a:r>
                <a:r>
                  <a:rPr lang="zh-CN" altLang="en-US" dirty="0"/>
                  <a:t>的级数；</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选择操作的代价估算</a:t>
                </a:r>
                <a:endParaRPr lang="en-US" altLang="zh-CN" dirty="0"/>
              </a:p>
              <a:p>
                <a:pPr lvl="1"/>
                <a:r>
                  <a:rPr lang="zh-CN" altLang="en-US" dirty="0"/>
                  <a:t>顺序扫描</a:t>
                </a:r>
                <a:endParaRPr lang="en-US" altLang="zh-CN" dirty="0"/>
              </a:p>
              <a:p>
                <a:pPr lvl="2"/>
                <a:r>
                  <a:rPr lang="zh-CN" altLang="en-US" dirty="0"/>
                  <a:t>最多选取一个元组的平均</a:t>
                </a:r>
                <a:r>
                  <a:rPr lang="en-US" altLang="zh-CN" dirty="0"/>
                  <a:t>I/O</a:t>
                </a:r>
                <a:r>
                  <a:rPr lang="zh-CN" altLang="en-US" dirty="0"/>
                  <a:t>代价：</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𝑠𝑎</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𝑅</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oMath>
                  </m:oMathPara>
                </a14:m>
                <a:endParaRPr lang="zh-CN" altLang="en-US" dirty="0"/>
              </a:p>
              <a:p>
                <a:pPr lvl="2"/>
                <a:r>
                  <a:rPr lang="zh-CN" altLang="en-US" dirty="0"/>
                  <a:t>选取多个元组的</a:t>
                </a:r>
                <a:r>
                  <a:rPr lang="en-US" altLang="zh-CN" dirty="0"/>
                  <a:t>I/O</a:t>
                </a:r>
                <a:r>
                  <a:rPr lang="zh-CN" altLang="en-US" dirty="0"/>
                  <a:t>代价：</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𝑠𝑎</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oMath>
                  </m:oMathPara>
                </a14:m>
                <a:endParaRPr lang="en-US" altLang="zh-CN" dirty="0"/>
              </a:p>
              <a:p>
                <a:pPr lvl="1"/>
                <a:r>
                  <a:rPr lang="zh-CN" altLang="en-US" dirty="0"/>
                  <a:t>利用主键上的索引或散列进行等值查询</a:t>
                </a:r>
                <a:endParaRPr lang="en-US" altLang="zh-CN" dirty="0"/>
              </a:p>
              <a:p>
                <a:pPr lvl="2"/>
                <a:r>
                  <a:rPr lang="zh-CN" altLang="en-US" dirty="0"/>
                  <a:t>通过索引访问的</a:t>
                </a:r>
                <a:r>
                  <a:rPr lang="en-US" altLang="zh-CN" dirty="0"/>
                  <a:t>I/O</a:t>
                </a:r>
                <a:r>
                  <a:rPr lang="zh-CN" altLang="en-US" dirty="0"/>
                  <a:t>代价：</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𝐼𝑘</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m:t>
                    </m:r>
                  </m:oMath>
                </a14:m>
                <a:endParaRPr lang="en-US" altLang="zh-CN" dirty="0"/>
              </a:p>
              <a:p>
                <a:pPr lvl="2"/>
                <a:r>
                  <a:rPr lang="zh-CN" altLang="en-US" dirty="0"/>
                  <a:t>通过散列访问的</a:t>
                </a:r>
                <a:r>
                  <a:rPr lang="en-US" altLang="zh-CN" dirty="0"/>
                  <a:t>I/O</a:t>
                </a:r>
                <a:r>
                  <a:rPr lang="zh-CN" altLang="en-US" dirty="0"/>
                  <a:t>代价：</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ℎ𝑘</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  </m:t>
                    </m:r>
                  </m:oMath>
                </a14:m>
                <a:r>
                  <a:rPr lang="en-US" altLang="zh-CN" dirty="0"/>
                  <a:t>(</a:t>
                </a:r>
                <a:r>
                  <a:rPr lang="zh-CN" altLang="en-US" dirty="0"/>
                  <a:t>假定散列没有溢出</a:t>
                </a:r>
                <a:r>
                  <a:rPr lang="en-US" altLang="zh-CN" dirty="0"/>
                  <a:t>)</a:t>
                </a:r>
                <a:endParaRPr lang="en-US" altLang="zh-CN" dirty="0"/>
              </a:p>
              <a:p>
                <a:pPr lvl="2"/>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选择操作的代价估算</a:t>
                </a:r>
                <a:endParaRPr lang="en-US" altLang="zh-CN" dirty="0"/>
              </a:p>
              <a:p>
                <a:pPr lvl="1"/>
                <a:r>
                  <a:rPr lang="zh-CN" altLang="en-US" dirty="0"/>
                  <a:t>利用非主键上的无序索引进行等值查询</a:t>
                </a:r>
                <a:endParaRPr lang="en-US" altLang="zh-CN" dirty="0"/>
              </a:p>
              <a:p>
                <a:pPr lvl="2"/>
                <a:r>
                  <a:rPr lang="zh-CN" altLang="en-US" dirty="0"/>
                  <a:t>分析表明几乎每取一个元组都需要访问一个物理块，故</a:t>
                </a:r>
                <a:r>
                  <a:rPr lang="en-US" altLang="zh-CN" dirty="0"/>
                  <a:t>:</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𝐼𝑁𝐾</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oMath>
                </a14:m>
                <a:endParaRPr lang="en-US" altLang="zh-CN" dirty="0"/>
              </a:p>
              <a:p>
                <a:pPr lvl="2"/>
                <a:r>
                  <a:rPr lang="zh-CN" altLang="en-US" dirty="0"/>
                  <a:t>其中</a:t>
                </a:r>
                <a:r>
                  <a:rPr lang="en-US" altLang="zh-CN" dirty="0"/>
                  <a:t>s</a:t>
                </a:r>
                <a:r>
                  <a:rPr lang="zh-CN" altLang="en-US" dirty="0"/>
                  <a:t>为满足选择条件的元组数</a:t>
                </a:r>
                <a:endParaRPr lang="en-US" altLang="zh-CN" dirty="0"/>
              </a:p>
              <a:p>
                <a:pPr lvl="1"/>
                <a:r>
                  <a:rPr lang="zh-CN" altLang="en-US" dirty="0"/>
                  <a:t>利用聚簇索引进行等值查询</a:t>
                </a:r>
                <a:endParaRPr lang="en-US" altLang="zh-CN" dirty="0"/>
              </a:p>
              <a:p>
                <a:pPr lvl="2"/>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𝐶𝐼</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r>
                      <a:rPr lang="en-US" altLang="zh-CN" b="0" i="1" smtClean="0">
                        <a:latin typeface="Cambria Math" panose="02040503050406030204" pitchFamily="18" charset="0"/>
                      </a:rPr>
                      <m:t>]</m:t>
                    </m:r>
                  </m:oMath>
                </a14:m>
                <a:endParaRPr lang="en-US" altLang="zh-CN" dirty="0"/>
              </a:p>
              <a:p>
                <a:pPr lvl="2"/>
                <a:r>
                  <a:rPr lang="zh-CN" altLang="en-US" dirty="0"/>
                  <a:t>其中</a:t>
                </a:r>
                <a:r>
                  <a:rPr lang="en-US" altLang="zh-CN" dirty="0"/>
                  <a:t>[ ]</a:t>
                </a:r>
                <a:r>
                  <a:rPr lang="zh-CN" altLang="en-US" dirty="0"/>
                  <a:t>表示上取整</a:t>
                </a:r>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85000" lnSpcReduction="20000"/>
              </a:bodyPr>
              <a:lstStyle/>
              <a:p>
                <a:r>
                  <a:rPr lang="zh-CN" altLang="en-US" dirty="0"/>
                  <a:t>选择操作的代价估算</a:t>
                </a:r>
                <a:endParaRPr lang="en-US" altLang="zh-CN" dirty="0"/>
              </a:p>
              <a:p>
                <a:pPr lvl="1"/>
                <a:r>
                  <a:rPr lang="zh-CN" altLang="en-US" i="1" dirty="0"/>
                  <a:t>例：设有关系</a:t>
                </a:r>
                <a:r>
                  <a:rPr lang="en-US" altLang="zh-CN" i="1" dirty="0"/>
                  <a:t>STUDENT,</a:t>
                </a:r>
                <a:r>
                  <a:rPr lang="zh-CN" altLang="en-US" i="1" dirty="0"/>
                  <a:t>记为</a:t>
                </a:r>
                <a:r>
                  <a:rPr lang="en-US" altLang="zh-CN" i="1" dirty="0"/>
                  <a:t>S</a:t>
                </a:r>
                <a:r>
                  <a:rPr lang="zh-CN" altLang="en-US" i="1" dirty="0"/>
                  <a:t>，其统计数据及存取路径如下：</a:t>
                </a:r>
                <a:endParaRPr lang="en-US" altLang="zh-CN" i="1" dirty="0"/>
              </a:p>
              <a:p>
                <a:pPr marL="457200" lvl="1" indent="0">
                  <a:buNone/>
                </a:pPr>
                <a:r>
                  <a:rPr lang="en-US" altLang="zh-CN" i="1" dirty="0"/>
                  <a:t>				</a:t>
                </a:r>
                <a:r>
                  <a:rPr lang="zh-CN" altLang="en-US"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𝑆</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10000</m:t>
                    </m:r>
                    <m:r>
                      <a:rPr lang="en-US" altLang="zh-CN"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𝑏</m:t>
                        </m:r>
                      </m:e>
                      <m:sub>
                        <m:r>
                          <a:rPr lang="en-US" altLang="zh-CN" i="1" dirty="0" err="1" smtClean="0">
                            <a:latin typeface="Cambria Math" panose="02040503050406030204" pitchFamily="18" charset="0"/>
                          </a:rPr>
                          <m:t>𝑆</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2000</m:t>
                    </m:r>
                    <m:r>
                      <a:rPr lang="en-US" altLang="zh-CN" i="1" dirty="0" smtClean="0">
                        <a:latin typeface="Cambria Math" panose="02040503050406030204" pitchFamily="18" charset="0"/>
                      </a:rPr>
                      <m:t>  </m:t>
                    </m:r>
                  </m:oMath>
                </a14:m>
                <a:r>
                  <a:rPr lang="zh-CN" altLang="en-US" dirty="0"/>
                  <a:t>即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𝑆</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5</m:t>
                    </m:r>
                  </m:oMath>
                </a14:m>
                <a:endParaRPr lang="en-US" altLang="zh-CN" dirty="0"/>
              </a:p>
              <a:p>
                <a:pPr lvl="1"/>
                <a:r>
                  <a:rPr lang="zh-CN" altLang="en-US" dirty="0"/>
                  <a:t>在属性</a:t>
                </a:r>
                <a:r>
                  <a:rPr lang="en-US" altLang="zh-CN" dirty="0"/>
                  <a:t>DEPT</a:t>
                </a:r>
                <a:r>
                  <a:rPr lang="zh-CN" altLang="en-US" dirty="0"/>
                  <a:t>上建有聚簇索引：</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𝐷𝐸𝑃𝑇</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25</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oMath>
                </a14:m>
                <a:endParaRPr lang="en-US" altLang="zh-CN" dirty="0"/>
              </a:p>
              <a:p>
                <a:pPr lvl="1"/>
                <a:r>
                  <a:rPr lang="zh-CN" altLang="en-US" dirty="0"/>
                  <a:t>在属性</a:t>
                </a:r>
                <a:r>
                  <a:rPr lang="en-US" altLang="zh-CN" dirty="0"/>
                  <a:t>SNO</a:t>
                </a:r>
                <a:r>
                  <a:rPr lang="zh-CN" altLang="en-US" dirty="0"/>
                  <a:t>上建有主键索引：</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𝑆𝑁𝑂</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10000</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4</m:t>
                    </m:r>
                  </m:oMath>
                </a14:m>
                <a:endParaRPr lang="en-US" altLang="zh-CN" dirty="0"/>
              </a:p>
              <a:p>
                <a:pPr lvl="1"/>
                <a:r>
                  <a:rPr lang="zh-CN" altLang="en-US" dirty="0"/>
                  <a:t>在属性</a:t>
                </a:r>
                <a:r>
                  <a:rPr lang="en-US" altLang="zh-CN" dirty="0"/>
                  <a:t>DNO</a:t>
                </a:r>
                <a:r>
                  <a:rPr lang="zh-CN" altLang="en-US" dirty="0"/>
                  <a:t>上建有辅助索引：</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𝐷𝑁𝑂</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20</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3</m:t>
                    </m:r>
                  </m:oMath>
                </a14:m>
                <a:endParaRPr lang="en-US" altLang="zh-CN" dirty="0"/>
              </a:p>
              <a:p>
                <a:pPr lvl="1"/>
                <a:r>
                  <a:rPr lang="zh-CN" altLang="en-US" dirty="0"/>
                  <a:t>在属性</a:t>
                </a:r>
                <a:r>
                  <a:rPr lang="en-US" altLang="zh-CN" dirty="0"/>
                  <a:t>AGE</a:t>
                </a:r>
                <a:r>
                  <a:rPr lang="zh-CN" altLang="en-US" dirty="0"/>
                  <a:t>上建有辅助索引：</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𝐴𝐺𝐸</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15</m:t>
                    </m:r>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oMath>
                </a14:m>
                <a:endParaRPr lang="en-US" altLang="zh-CN" dirty="0"/>
              </a:p>
              <a:p>
                <a:pPr lvl="1"/>
                <a:r>
                  <a:rPr lang="zh-CN" altLang="en-US" dirty="0"/>
                  <a:t>设有下列查询：</a:t>
                </a:r>
                <a:endParaRPr lang="zh-CN" altLang="en-US" dirty="0"/>
              </a:p>
              <a:p>
                <a:pPr lvl="2"/>
                <a:r>
                  <a:rPr lang="en-US" altLang="zh-CN" dirty="0"/>
                  <a:t>Q1</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𝑆𝑁𝑂</m:t>
                        </m:r>
                        <m:r>
                          <a:rPr lang="en-US" altLang="zh-CN" i="1" dirty="0">
                            <a:latin typeface="Cambria Math" panose="02040503050406030204" pitchFamily="18" charset="0"/>
                          </a:rPr>
                          <m:t>=‘</m:t>
                        </m:r>
                        <m:r>
                          <a:rPr lang="en-US" altLang="zh-CN" i="1" dirty="0">
                            <a:latin typeface="Cambria Math" panose="02040503050406030204" pitchFamily="18" charset="0"/>
                          </a:rPr>
                          <m:t>992311</m:t>
                        </m:r>
                        <m:r>
                          <a:rPr lang="en-US" altLang="zh-CN" i="1" dirty="0">
                            <a:latin typeface="Cambria Math" panose="02040503050406030204" pitchFamily="18" charset="0"/>
                          </a:rPr>
                          <m:t>’</m:t>
                        </m:r>
                      </m:sub>
                    </m:sSub>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𝑆𝑇𝑈𝐷𝐸𝑁𝑇</m:t>
                        </m:r>
                      </m:e>
                    </m:d>
                  </m:oMath>
                </a14:m>
                <a:endParaRPr lang="en-US" altLang="zh-CN" dirty="0"/>
              </a:p>
              <a:p>
                <a:pPr lvl="2"/>
                <a:r>
                  <a:rPr lang="en-US" altLang="zh-CN" dirty="0"/>
                  <a:t>Q2</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𝐷𝐸𝑃𝑇</m:t>
                        </m:r>
                        <m:r>
                          <a:rPr lang="en-US" altLang="zh-CN" i="1" dirty="0">
                            <a:latin typeface="Cambria Math" panose="02040503050406030204" pitchFamily="18" charset="0"/>
                          </a:rPr>
                          <m:t>=‘</m:t>
                        </m:r>
                        <m:r>
                          <a:rPr lang="en-US" altLang="zh-CN" i="1" dirty="0">
                            <a:latin typeface="Cambria Math" panose="02040503050406030204" pitchFamily="18" charset="0"/>
                          </a:rPr>
                          <m:t>𝐶𝑆</m:t>
                        </m:r>
                        <m:r>
                          <a:rPr lang="en-US" altLang="zh-CN" i="1" dirty="0">
                            <a:latin typeface="Cambria Math" panose="02040503050406030204" pitchFamily="18" charset="0"/>
                          </a:rPr>
                          <m:t>’</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oMath>
                </a14:m>
                <a:endParaRPr lang="en-US" altLang="zh-CN" dirty="0"/>
              </a:p>
              <a:p>
                <a:pPr lvl="2"/>
                <a:r>
                  <a:rPr lang="en-US" altLang="zh-CN" dirty="0"/>
                  <a:t>Q3</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𝐴𝐺𝐸</m:t>
                        </m:r>
                        <m:r>
                          <a:rPr lang="en-US" altLang="zh-CN" i="1" dirty="0">
                            <a:latin typeface="Cambria Math" panose="02040503050406030204" pitchFamily="18" charset="0"/>
                          </a:rPr>
                          <m:t>&gt;=</m:t>
                        </m:r>
                        <m:r>
                          <a:rPr lang="en-US" altLang="zh-CN" i="1" dirty="0">
                            <a:latin typeface="Cambria Math" panose="02040503050406030204" pitchFamily="18" charset="0"/>
                          </a:rPr>
                          <m:t>20</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oMath>
                </a14:m>
                <a:endParaRPr lang="en-US" altLang="zh-CN" dirty="0"/>
              </a:p>
              <a:p>
                <a:pPr lvl="2"/>
                <a:r>
                  <a:rPr lang="en-US" altLang="zh-CN" dirty="0"/>
                  <a:t>Q4</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𝐷𝐸𝑃𝑇</m:t>
                        </m:r>
                        <m:r>
                          <a:rPr lang="en-US" altLang="zh-CN" i="1" dirty="0">
                            <a:latin typeface="Cambria Math" panose="02040503050406030204" pitchFamily="18" charset="0"/>
                          </a:rPr>
                          <m:t>=‘</m:t>
                        </m:r>
                        <m:r>
                          <a:rPr lang="en-US" altLang="zh-CN" i="1" dirty="0">
                            <a:latin typeface="Cambria Math" panose="02040503050406030204" pitchFamily="18" charset="0"/>
                          </a:rPr>
                          <m:t>𝐶𝑆</m:t>
                        </m:r>
                        <m:r>
                          <a:rPr lang="en-US" altLang="zh-CN" i="1" dirty="0">
                            <a:latin typeface="Cambria Math" panose="02040503050406030204" pitchFamily="18" charset="0"/>
                          </a:rPr>
                          <m:t>’</m:t>
                        </m:r>
                        <m:r>
                          <a:rPr lang="en-US" altLang="zh-CN" i="1" dirty="0">
                            <a:latin typeface="Cambria Math" panose="02040503050406030204" pitchFamily="18" charset="0"/>
                          </a:rPr>
                          <m:t>𝐴𝑁𝐷</m:t>
                        </m:r>
                        <m:r>
                          <a:rPr lang="en-US" altLang="zh-CN" i="1" dirty="0">
                            <a:latin typeface="Cambria Math" panose="02040503050406030204" pitchFamily="18" charset="0"/>
                          </a:rPr>
                          <m:t> </m:t>
                        </m:r>
                        <m:r>
                          <a:rPr lang="en-US" altLang="zh-CN" i="1" dirty="0">
                            <a:latin typeface="Cambria Math" panose="02040503050406030204" pitchFamily="18" charset="0"/>
                          </a:rPr>
                          <m:t>𝐷𝑁𝑂</m:t>
                        </m:r>
                        <m:r>
                          <a:rPr lang="en-US" altLang="zh-CN" i="1" dirty="0">
                            <a:latin typeface="Cambria Math" panose="02040503050406030204" pitchFamily="18" charset="0"/>
                          </a:rPr>
                          <m:t>=‘</m:t>
                        </m:r>
                        <m:r>
                          <a:rPr lang="en-US" altLang="zh-CN" i="1" dirty="0">
                            <a:latin typeface="Cambria Math" panose="02040503050406030204" pitchFamily="18" charset="0"/>
                          </a:rPr>
                          <m:t>108</m:t>
                        </m:r>
                        <m:r>
                          <a:rPr lang="en-US" altLang="zh-CN" i="1" dirty="0">
                            <a:latin typeface="Cambria Math" panose="02040503050406030204" pitchFamily="18" charset="0"/>
                          </a:rPr>
                          <m:t>’ </m:t>
                        </m:r>
                        <m:r>
                          <a:rPr lang="en-US" altLang="zh-CN" i="1" dirty="0">
                            <a:latin typeface="Cambria Math" panose="02040503050406030204" pitchFamily="18" charset="0"/>
                          </a:rPr>
                          <m:t>𝐴𝑁𝐷</m:t>
                        </m:r>
                        <m:r>
                          <a:rPr lang="en-US" altLang="zh-CN" i="1" dirty="0">
                            <a:latin typeface="Cambria Math" panose="02040503050406030204" pitchFamily="18" charset="0"/>
                          </a:rPr>
                          <m:t> </m:t>
                        </m:r>
                        <m:r>
                          <a:rPr lang="en-US" altLang="zh-CN" i="1" dirty="0">
                            <a:latin typeface="Cambria Math" panose="02040503050406030204" pitchFamily="18" charset="0"/>
                          </a:rPr>
                          <m:t>𝐴𝐺𝐸</m:t>
                        </m:r>
                        <m:r>
                          <a:rPr lang="en-US" altLang="zh-CN" i="1" dirty="0">
                            <a:latin typeface="Cambria Math" panose="02040503050406030204" pitchFamily="18" charset="0"/>
                          </a:rPr>
                          <m:t>&gt;=</m:t>
                        </m:r>
                        <m:r>
                          <a:rPr lang="en-US" altLang="zh-CN" i="1" dirty="0">
                            <a:latin typeface="Cambria Math" panose="02040503050406030204" pitchFamily="18" charset="0"/>
                          </a:rPr>
                          <m:t>20</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oMath>
                </a14:m>
                <a:endParaRPr lang="en-US" altLang="zh-CN" dirty="0"/>
              </a:p>
              <a:p>
                <a:pPr lvl="1"/>
                <a:r>
                  <a:rPr lang="zh-CN" altLang="en-US" dirty="0"/>
                  <a:t>试用代价估算优化选取存取策略，并估算其执行代价</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18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选择操作的代价估算</a:t>
                </a:r>
                <a:endParaRPr lang="en-US" altLang="zh-CN" dirty="0"/>
              </a:p>
              <a:p>
                <a:pPr lvl="1"/>
                <a:r>
                  <a:rPr lang="zh-CN" altLang="en-US" dirty="0"/>
                  <a:t>解：</a:t>
                </a:r>
                <a:r>
                  <a:rPr lang="en-US" altLang="zh-CN" dirty="0"/>
                  <a:t>Q1</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𝑆𝑁𝑂</m:t>
                        </m:r>
                        <m:r>
                          <a:rPr lang="en-US" altLang="zh-CN" i="1" dirty="0">
                            <a:latin typeface="Cambria Math" panose="02040503050406030204" pitchFamily="18" charset="0"/>
                          </a:rPr>
                          <m:t>=‘</m:t>
                        </m:r>
                        <m:r>
                          <a:rPr lang="en-US" altLang="zh-CN" i="1" dirty="0">
                            <a:latin typeface="Cambria Math" panose="02040503050406030204" pitchFamily="18" charset="0"/>
                          </a:rPr>
                          <m:t>992311</m:t>
                        </m:r>
                        <m:r>
                          <a:rPr lang="en-US" altLang="zh-CN" i="1" dirty="0">
                            <a:latin typeface="Cambria Math" panose="02040503050406030204" pitchFamily="18" charset="0"/>
                          </a:rPr>
                          <m:t>’</m:t>
                        </m:r>
                      </m:sub>
                    </m:sSub>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𝑆𝑇𝑈𝐷𝐸𝑁𝑇</m:t>
                        </m:r>
                      </m:e>
                    </m:d>
                  </m:oMath>
                </a14:m>
                <a:endParaRPr lang="en-US" altLang="zh-CN" dirty="0"/>
              </a:p>
              <a:p>
                <a:pPr lvl="2"/>
                <a:r>
                  <a:rPr lang="zh-CN" altLang="en-US" dirty="0"/>
                  <a:t>由于</a:t>
                </a:r>
                <a:r>
                  <a:rPr lang="en-US" altLang="zh-CN" dirty="0"/>
                  <a:t>SNO</a:t>
                </a:r>
                <a:r>
                  <a:rPr lang="zh-CN" altLang="en-US" dirty="0"/>
                  <a:t>上建有主索引，应优先采用主索引，其执   行代价可估算为：</a:t>
                </a:r>
                <a:endParaRPr lang="en-US" altLang="zh-CN" dirty="0"/>
              </a:p>
              <a:p>
                <a:pPr marL="914400" lvl="2" indent="0">
                  <a:buNone/>
                </a:pPr>
                <a:r>
                  <a:rPr lang="en-US" altLang="zh-CN" b="0"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𝑄</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4</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oMath>
                </a14:m>
                <a:r>
                  <a:rPr lang="zh-CN" altLang="en-US" dirty="0"/>
                  <a:t> </a:t>
                </a:r>
                <a:endParaRPr lang="en-US" altLang="zh-CN" dirty="0"/>
              </a:p>
              <a:p>
                <a:pPr lvl="1"/>
                <a:r>
                  <a:rPr lang="zh-CN" altLang="en-US" dirty="0"/>
                  <a:t>解：</a:t>
                </a:r>
                <a:r>
                  <a:rPr lang="en-US" altLang="zh-CN" dirty="0"/>
                  <a:t>Q2</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𝐷𝐸𝑃𝑇</m:t>
                        </m:r>
                        <m:r>
                          <a:rPr lang="en-US" altLang="zh-CN" i="1" dirty="0">
                            <a:latin typeface="Cambria Math" panose="02040503050406030204" pitchFamily="18" charset="0"/>
                          </a:rPr>
                          <m:t>=‘</m:t>
                        </m:r>
                        <m:r>
                          <a:rPr lang="en-US" altLang="zh-CN" i="1" dirty="0">
                            <a:latin typeface="Cambria Math" panose="02040503050406030204" pitchFamily="18" charset="0"/>
                          </a:rPr>
                          <m:t>𝐶𝑆</m:t>
                        </m:r>
                        <m:r>
                          <a:rPr lang="en-US" altLang="zh-CN" i="1" dirty="0">
                            <a:latin typeface="Cambria Math" panose="02040503050406030204" pitchFamily="18" charset="0"/>
                          </a:rPr>
                          <m:t>’</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oMath>
                </a14:m>
                <a:endParaRPr lang="en-US" altLang="zh-CN" dirty="0"/>
              </a:p>
              <a:p>
                <a:pPr lvl="2"/>
                <a:r>
                  <a:rPr lang="zh-CN" altLang="en-US" dirty="0"/>
                  <a:t>由于</a:t>
                </a:r>
                <a:r>
                  <a:rPr lang="en-US" altLang="zh-CN" dirty="0"/>
                  <a:t>DEPT</a:t>
                </a:r>
                <a:r>
                  <a:rPr lang="zh-CN" altLang="en-US" dirty="0"/>
                  <a:t>上建有聚簇索引，故可不考虑顺序扫描，满足</a:t>
                </a:r>
                <a:r>
                  <a:rPr lang="en-US" altLang="zh-CN" dirty="0"/>
                  <a:t>Q2</a:t>
                </a:r>
                <a:r>
                  <a:rPr lang="zh-CN" altLang="en-US" dirty="0"/>
                  <a:t>的元组数</a:t>
                </a:r>
                <a:r>
                  <a:rPr lang="en-US" altLang="zh-CN" dirty="0"/>
                  <a:t>s</a:t>
                </a:r>
                <a:r>
                  <a:rPr lang="zh-CN" altLang="en-US" dirty="0"/>
                  <a:t>估计为：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10000</m:t>
                      </m:r>
                      <m:r>
                        <a:rPr lang="en-US" altLang="zh-CN" b="0" i="1" smtClean="0">
                          <a:latin typeface="Cambria Math" panose="02040503050406030204" pitchFamily="18" charset="0"/>
                        </a:rPr>
                        <m:t>/</m:t>
                      </m:r>
                      <m:r>
                        <a:rPr lang="en-US" altLang="zh-CN" b="0" i="1" smtClean="0">
                          <a:latin typeface="Cambria Math" panose="02040503050406030204" pitchFamily="18" charset="0"/>
                        </a:rPr>
                        <m:t>25</m:t>
                      </m:r>
                      <m:r>
                        <a:rPr lang="en-US" altLang="zh-CN" b="0" i="1" smtClean="0">
                          <a:latin typeface="Cambria Math" panose="02040503050406030204" pitchFamily="18" charset="0"/>
                        </a:rPr>
                        <m:t>=</m:t>
                      </m:r>
                      <m:r>
                        <a:rPr lang="en-US" altLang="zh-CN" b="0" i="1" smtClean="0">
                          <a:latin typeface="Cambria Math" panose="02040503050406030204" pitchFamily="18" charset="0"/>
                        </a:rPr>
                        <m:t>40</m:t>
                      </m:r>
                    </m:oMath>
                  </m:oMathPara>
                </a14:m>
                <a:endParaRPr lang="zh-CN" altLang="en-US" dirty="0"/>
              </a:p>
              <a:p>
                <a:pPr lvl="2"/>
                <a:r>
                  <a:rPr lang="zh-CN" altLang="en-US" dirty="0"/>
                  <a:t>由于</a:t>
                </a:r>
                <a:r>
                  <a:rPr lang="en-US" altLang="zh-CN" dirty="0"/>
                  <a:t>STUDENT</a:t>
                </a:r>
                <a:r>
                  <a:rPr lang="zh-CN" altLang="en-US" dirty="0"/>
                  <a:t>关系对</a:t>
                </a:r>
                <a:r>
                  <a:rPr lang="en-US" altLang="zh-CN" dirty="0"/>
                  <a:t>DEPT</a:t>
                </a:r>
                <a:r>
                  <a:rPr lang="zh-CN" altLang="en-US" dirty="0"/>
                  <a:t>是聚簇的，故</a:t>
                </a:r>
                <a:r>
                  <a:rPr lang="en-US" altLang="zh-CN" dirty="0"/>
                  <a:t>I/O</a:t>
                </a:r>
                <a:r>
                  <a:rPr lang="zh-CN" altLang="en-US" dirty="0"/>
                  <a:t>代价可估算为：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𝑄</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𝐿</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𝑝</m:t>
                          </m:r>
                        </m:e>
                      </m:d>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400</m:t>
                          </m:r>
                          <m:r>
                            <a:rPr lang="en-US" altLang="zh-CN" b="0" i="1" smtClean="0">
                              <a:latin typeface="Cambria Math" panose="02040503050406030204" pitchFamily="18" charset="0"/>
                            </a:rPr>
                            <m:t>/</m:t>
                          </m:r>
                          <m:r>
                            <a:rPr lang="en-US" altLang="zh-CN" b="0" i="1" smtClean="0">
                              <a:latin typeface="Cambria Math" panose="02040503050406030204" pitchFamily="18" charset="0"/>
                            </a:rPr>
                            <m:t>5</m:t>
                          </m:r>
                        </m:e>
                      </m:d>
                      <m:r>
                        <a:rPr lang="en-US" altLang="zh-CN" b="0" i="1" smtClean="0">
                          <a:latin typeface="Cambria Math" panose="02040503050406030204" pitchFamily="18" charset="0"/>
                        </a:rPr>
                        <m:t>=</m:t>
                      </m:r>
                      <m:r>
                        <a:rPr lang="en-US" altLang="zh-CN" b="0" i="1" smtClean="0">
                          <a:latin typeface="Cambria Math" panose="02040503050406030204" pitchFamily="18" charset="0"/>
                        </a:rPr>
                        <m:t>82</m:t>
                      </m:r>
                    </m:oMath>
                  </m:oMathPara>
                </a14:m>
                <a:endParaRPr lang="en-US" altLang="zh-CN"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选择操作的代价估算</a:t>
                </a:r>
                <a:endParaRPr lang="zh-CN" altLang="en-US" dirty="0"/>
              </a:p>
              <a:p>
                <a:pPr lvl="1"/>
                <a:r>
                  <a:rPr lang="zh-CN" altLang="en-US" dirty="0"/>
                  <a:t>解：</a:t>
                </a:r>
                <a:r>
                  <a:rPr lang="en-US" altLang="zh-CN" dirty="0"/>
                  <a:t>Q3</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𝐴𝐺𝐸</m:t>
                        </m:r>
                        <m:r>
                          <a:rPr lang="en-US" altLang="zh-CN" i="1" dirty="0">
                            <a:latin typeface="Cambria Math" panose="02040503050406030204" pitchFamily="18" charset="0"/>
                          </a:rPr>
                          <m:t>&gt;=</m:t>
                        </m:r>
                        <m:r>
                          <a:rPr lang="en-US" altLang="zh-CN" i="1" dirty="0">
                            <a:latin typeface="Cambria Math" panose="02040503050406030204" pitchFamily="18" charset="0"/>
                          </a:rPr>
                          <m:t>20</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oMath>
                </a14:m>
                <a:endParaRPr lang="en-US" altLang="zh-CN" dirty="0"/>
              </a:p>
              <a:p>
                <a:pPr lvl="2"/>
                <a:r>
                  <a:rPr lang="zh-CN" altLang="en-US" dirty="0"/>
                  <a:t>是范围查询，虽然在</a:t>
                </a:r>
                <a:r>
                  <a:rPr lang="en-US" altLang="zh-CN" dirty="0"/>
                  <a:t>AGE</a:t>
                </a:r>
                <a:r>
                  <a:rPr lang="zh-CN" altLang="en-US" dirty="0"/>
                  <a:t>上建有辅助索引，但不是聚簇索引，如果取一半元组，则使用索引还不如使用顺序扫描，故：</a:t>
                </a:r>
                <a:endParaRPr lang="zh-CN" altLang="en-US"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𝑄</m:t>
                          </m:r>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r>
                        <a:rPr lang="en-US" altLang="zh-CN" b="0" i="1" smtClean="0">
                          <a:latin typeface="Cambria Math" panose="02040503050406030204" pitchFamily="18" charset="0"/>
                        </a:rPr>
                        <m:t>2000</m:t>
                      </m:r>
                    </m:oMath>
                  </m:oMathPara>
                </a14:m>
                <a:endParaRPr lang="en-US" altLang="zh-CN" dirty="0"/>
              </a:p>
              <a:p>
                <a:pPr lvl="1"/>
                <a:r>
                  <a:rPr lang="zh-CN" altLang="en-US" dirty="0"/>
                  <a:t>解：</a:t>
                </a:r>
                <a:r>
                  <a:rPr lang="en-US" altLang="zh-CN" dirty="0"/>
                  <a:t>Q4</a:t>
                </a:r>
                <a:r>
                  <a:rPr lang="zh-CN" altLang="en-US" dirty="0"/>
                  <a:t>：</a:t>
                </a:r>
                <a14:m>
                  <m:oMath xmlns:m="http://schemas.openxmlformats.org/officeDocument/2006/math">
                    <m:sSub>
                      <m:sSubPr>
                        <m:ctrlPr>
                          <a:rPr lang="en-US" altLang="zh-CN" b="0" i="1" dirty="0" smtClean="0">
                            <a:latin typeface="Cambria Math" panose="02040503050406030204" pitchFamily="18" charset="0"/>
                          </a:rPr>
                        </m:ctrlPr>
                      </m:sSubPr>
                      <m:e>
                        <m:r>
                          <a:rPr lang="el-GR" altLang="zh-CN" i="1" dirty="0" smtClean="0">
                            <a:latin typeface="Cambria Math" panose="02040503050406030204" pitchFamily="18" charset="0"/>
                          </a:rPr>
                          <m:t>𝜎</m:t>
                        </m:r>
                      </m:e>
                      <m:sub>
                        <m:r>
                          <a:rPr lang="en-US" altLang="zh-CN" i="1" dirty="0">
                            <a:latin typeface="Cambria Math" panose="02040503050406030204" pitchFamily="18" charset="0"/>
                          </a:rPr>
                          <m:t>𝐷𝐸𝑃𝑇</m:t>
                        </m:r>
                        <m:r>
                          <a:rPr lang="en-US" altLang="zh-CN" i="1" dirty="0">
                            <a:latin typeface="Cambria Math" panose="02040503050406030204" pitchFamily="18" charset="0"/>
                          </a:rPr>
                          <m:t>=‘</m:t>
                        </m:r>
                        <m:r>
                          <a:rPr lang="en-US" altLang="zh-CN" i="1" dirty="0">
                            <a:latin typeface="Cambria Math" panose="02040503050406030204" pitchFamily="18" charset="0"/>
                          </a:rPr>
                          <m:t>𝐶𝑆</m:t>
                        </m:r>
                        <m:r>
                          <a:rPr lang="en-US" altLang="zh-CN" i="1" dirty="0">
                            <a:latin typeface="Cambria Math" panose="02040503050406030204" pitchFamily="18" charset="0"/>
                          </a:rPr>
                          <m:t>’</m:t>
                        </m:r>
                        <m:r>
                          <a:rPr lang="en-US" altLang="zh-CN" i="1" dirty="0">
                            <a:latin typeface="Cambria Math" panose="02040503050406030204" pitchFamily="18" charset="0"/>
                          </a:rPr>
                          <m:t>𝐴𝑁𝐷</m:t>
                        </m:r>
                        <m:r>
                          <a:rPr lang="en-US" altLang="zh-CN" i="1" dirty="0">
                            <a:latin typeface="Cambria Math" panose="02040503050406030204" pitchFamily="18" charset="0"/>
                          </a:rPr>
                          <m:t> </m:t>
                        </m:r>
                        <m:r>
                          <a:rPr lang="en-US" altLang="zh-CN" i="1" dirty="0">
                            <a:latin typeface="Cambria Math" panose="02040503050406030204" pitchFamily="18" charset="0"/>
                          </a:rPr>
                          <m:t>𝐷𝑁𝑂</m:t>
                        </m:r>
                        <m:r>
                          <a:rPr lang="en-US" altLang="zh-CN" i="1" dirty="0">
                            <a:latin typeface="Cambria Math" panose="02040503050406030204" pitchFamily="18" charset="0"/>
                          </a:rPr>
                          <m:t>=‘</m:t>
                        </m:r>
                        <m:r>
                          <a:rPr lang="en-US" altLang="zh-CN" i="1" dirty="0">
                            <a:latin typeface="Cambria Math" panose="02040503050406030204" pitchFamily="18" charset="0"/>
                          </a:rPr>
                          <m:t>108</m:t>
                        </m:r>
                        <m:r>
                          <a:rPr lang="en-US" altLang="zh-CN" i="1" dirty="0">
                            <a:latin typeface="Cambria Math" panose="02040503050406030204" pitchFamily="18" charset="0"/>
                          </a:rPr>
                          <m:t>’ </m:t>
                        </m:r>
                        <m:r>
                          <a:rPr lang="en-US" altLang="zh-CN" i="1" dirty="0">
                            <a:latin typeface="Cambria Math" panose="02040503050406030204" pitchFamily="18" charset="0"/>
                          </a:rPr>
                          <m:t>𝐴𝑁𝐷</m:t>
                        </m:r>
                        <m:r>
                          <a:rPr lang="en-US" altLang="zh-CN" i="1" dirty="0">
                            <a:latin typeface="Cambria Math" panose="02040503050406030204" pitchFamily="18" charset="0"/>
                          </a:rPr>
                          <m:t> </m:t>
                        </m:r>
                        <m:r>
                          <a:rPr lang="en-US" altLang="zh-CN" i="1" dirty="0">
                            <a:latin typeface="Cambria Math" panose="02040503050406030204" pitchFamily="18" charset="0"/>
                          </a:rPr>
                          <m:t>𝐴𝐺𝐸</m:t>
                        </m:r>
                        <m:r>
                          <a:rPr lang="en-US" altLang="zh-CN" i="1" dirty="0">
                            <a:latin typeface="Cambria Math" panose="02040503050406030204" pitchFamily="18" charset="0"/>
                          </a:rPr>
                          <m:t>&gt;=</m:t>
                        </m:r>
                        <m:r>
                          <a:rPr lang="en-US" altLang="zh-CN" i="1" dirty="0">
                            <a:latin typeface="Cambria Math" panose="02040503050406030204" pitchFamily="18" charset="0"/>
                          </a:rPr>
                          <m:t>20</m:t>
                        </m:r>
                      </m:sub>
                    </m:sSub>
                    <m:r>
                      <a:rPr lang="en-US" altLang="zh-CN" i="1" dirty="0" smtClean="0">
                        <a:latin typeface="Cambria Math" panose="02040503050406030204" pitchFamily="18" charset="0"/>
                      </a:rPr>
                      <m:t> (</m:t>
                    </m:r>
                    <m:r>
                      <a:rPr lang="en-US" altLang="zh-CN" i="1" dirty="0" smtClean="0">
                        <a:latin typeface="Cambria Math" panose="02040503050406030204" pitchFamily="18" charset="0"/>
                      </a:rPr>
                      <m:t>𝑆𝑇𝑈𝐷𝐸𝑁𝑇</m:t>
                    </m:r>
                    <m:r>
                      <a:rPr lang="en-US" altLang="zh-CN" i="1" dirty="0" smtClean="0">
                        <a:latin typeface="Cambria Math" panose="02040503050406030204" pitchFamily="18" charset="0"/>
                      </a:rPr>
                      <m:t>)</m:t>
                    </m:r>
                  </m:oMath>
                </a14:m>
                <a:endParaRPr lang="en-US" altLang="zh-CN" dirty="0"/>
              </a:p>
              <a:p>
                <a:pPr lvl="2"/>
                <a:r>
                  <a:rPr lang="zh-CN" altLang="en-US" dirty="0"/>
                  <a:t>查询条件是合取式，由于没有适当的多属性索引可用，只有</a:t>
                </a:r>
                <a:r>
                  <a:rPr lang="en-US" altLang="zh-CN" dirty="0"/>
                  <a:t>2</a:t>
                </a:r>
                <a:r>
                  <a:rPr lang="zh-CN" altLang="en-US" dirty="0"/>
                  <a:t>种可能的策略：</a:t>
                </a:r>
                <a:endParaRPr lang="en-US" altLang="zh-CN"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选择操作的代价估算</a:t>
                </a:r>
                <a:endParaRPr lang="zh-CN" altLang="en-US" dirty="0"/>
              </a:p>
              <a:p>
                <a:pPr lvl="1"/>
                <a:r>
                  <a:rPr lang="zh-CN" altLang="en-US" dirty="0"/>
                  <a:t>策略</a:t>
                </a:r>
                <a:r>
                  <a:rPr lang="en-US" altLang="zh-CN" dirty="0"/>
                  <a:t>1</a:t>
                </a:r>
                <a:r>
                  <a:rPr lang="zh-CN" altLang="en-US" dirty="0"/>
                  <a:t>：预查询法</a:t>
                </a:r>
                <a:endParaRPr lang="zh-CN" altLang="en-US" dirty="0"/>
              </a:p>
              <a:p>
                <a:pPr lvl="2"/>
                <a:r>
                  <a:rPr lang="zh-CN" altLang="en-US" dirty="0"/>
                  <a:t>满足条件 </a:t>
                </a:r>
                <a14:m>
                  <m:oMath xmlns:m="http://schemas.openxmlformats.org/officeDocument/2006/math">
                    <m:r>
                      <a:rPr lang="en-US" altLang="zh-CN" i="1" dirty="0" smtClean="0">
                        <a:latin typeface="Cambria Math" panose="02040503050406030204" pitchFamily="18" charset="0"/>
                      </a:rPr>
                      <m:t>𝐷𝑁𝑂</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108</m:t>
                    </m:r>
                    <m:r>
                      <a:rPr lang="en-US" altLang="zh-CN" i="1" dirty="0" smtClean="0">
                        <a:latin typeface="Cambria Math" panose="02040503050406030204" pitchFamily="18" charset="0"/>
                      </a:rPr>
                      <m:t>’ </m:t>
                    </m:r>
                  </m:oMath>
                </a14:m>
                <a:r>
                  <a:rPr lang="zh-CN" altLang="en-US" dirty="0"/>
                  <a:t>的元组数估算为： </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𝐷𝑁𝑂</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10000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20</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500</m:t>
                    </m:r>
                  </m:oMath>
                </a14:m>
                <a:r>
                  <a:rPr lang="zh-CN" altLang="en-US" dirty="0"/>
                  <a:t>。设顺序集每块可容纳</a:t>
                </a:r>
                <a:r>
                  <a:rPr lang="en-US" altLang="zh-CN" dirty="0"/>
                  <a:t>200</a:t>
                </a:r>
                <a:r>
                  <a:rPr lang="zh-CN" altLang="en-US" dirty="0"/>
                  <a:t>个</a:t>
                </a:r>
                <a:r>
                  <a:rPr lang="en-US" altLang="zh-CN" dirty="0" err="1"/>
                  <a:t>tid</a:t>
                </a:r>
                <a:r>
                  <a:rPr lang="zh-CN" altLang="en-US" dirty="0"/>
                  <a:t>，则从</a:t>
                </a:r>
                <a14:m>
                  <m:oMath xmlns:m="http://schemas.openxmlformats.org/officeDocument/2006/math">
                    <m:r>
                      <a:rPr lang="en-US" altLang="zh-CN" i="1" dirty="0" smtClean="0">
                        <a:latin typeface="Cambria Math" panose="02040503050406030204" pitchFamily="18" charset="0"/>
                      </a:rPr>
                      <m:t>𝐷𝑁𝑂</m:t>
                    </m:r>
                  </m:oMath>
                </a14:m>
                <a:r>
                  <a:rPr lang="zh-CN" altLang="en-US" dirty="0"/>
                  <a:t>辅助索引的顺序集中取</a:t>
                </a:r>
                <a:r>
                  <a:rPr lang="en-US" altLang="zh-CN" dirty="0"/>
                  <a:t>500</a:t>
                </a:r>
                <a:r>
                  <a:rPr lang="zh-CN" altLang="en-US" dirty="0"/>
                  <a:t>个</a:t>
                </a:r>
                <a:r>
                  <a:rPr lang="en-US" altLang="zh-CN" dirty="0" err="1"/>
                  <a:t>tid</a:t>
                </a:r>
                <a:r>
                  <a:rPr lang="zh-CN" altLang="en-US" dirty="0"/>
                  <a:t>所需的</a:t>
                </a:r>
                <a:r>
                  <a:rPr lang="en-US" altLang="zh-CN" dirty="0"/>
                  <a:t>I/O</a:t>
                </a:r>
                <a:r>
                  <a:rPr lang="zh-CN" altLang="en-US" dirty="0"/>
                  <a:t>代价为：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𝐷𝑁𝑂</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500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200</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3</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3</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6</m:t>
                    </m:r>
                  </m:oMath>
                </a14:m>
                <a:endParaRPr lang="en-US" altLang="zh-CN" dirty="0"/>
              </a:p>
              <a:p>
                <a:pPr lvl="2"/>
                <a:r>
                  <a:rPr lang="zh-CN" altLang="en-US" dirty="0"/>
                  <a:t>满足条件 </a:t>
                </a:r>
                <a:r>
                  <a:rPr lang="en-US" altLang="zh-CN" dirty="0"/>
                  <a:t>AGE&gt;= 20 </a:t>
                </a:r>
                <a:r>
                  <a:rPr lang="zh-CN" altLang="en-US" dirty="0"/>
                  <a:t>的元组数估算为：</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10000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5000</m:t>
                    </m:r>
                  </m:oMath>
                </a14:m>
                <a:r>
                  <a:rPr lang="zh-CN" altLang="en-US" dirty="0"/>
                  <a:t>则从</a:t>
                </a:r>
                <a:r>
                  <a:rPr lang="en-US" altLang="zh-CN" dirty="0"/>
                  <a:t>AGE</a:t>
                </a:r>
                <a:r>
                  <a:rPr lang="zh-CN" altLang="en-US" dirty="0"/>
                  <a:t>辅助索引的顺序集中取</a:t>
                </a:r>
                <a:r>
                  <a:rPr lang="en-US" altLang="zh-CN" dirty="0"/>
                  <a:t>5000</a:t>
                </a:r>
                <a:r>
                  <a:rPr lang="zh-CN" altLang="en-US" dirty="0"/>
                  <a:t>个</a:t>
                </a:r>
                <a:r>
                  <a:rPr lang="en-US" altLang="zh-CN" dirty="0" err="1"/>
                  <a:t>tid</a:t>
                </a:r>
                <a:r>
                  <a:rPr lang="zh-CN" altLang="en-US" dirty="0"/>
                  <a:t>所需的</a:t>
                </a:r>
                <a:r>
                  <a:rPr lang="en-US" altLang="zh-CN" dirty="0"/>
                  <a:t>I/O</a:t>
                </a:r>
                <a:r>
                  <a:rPr lang="zh-CN" altLang="en-US" dirty="0"/>
                  <a:t>代价为：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𝐴𝐺𝐸</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𝐿</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5000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200</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2</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25</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27</m:t>
                    </m:r>
                  </m:oMath>
                </a14:m>
                <a:endParaRPr lang="en-US" altLang="zh-CN" dirty="0"/>
              </a:p>
              <a:p>
                <a:pPr lvl="2"/>
                <a:r>
                  <a:rPr lang="en-US" altLang="zh-CN" dirty="0"/>
                  <a:t>2</a:t>
                </a:r>
                <a:r>
                  <a:rPr lang="zh-CN" altLang="en-US" dirty="0"/>
                  <a:t>个</a:t>
                </a:r>
                <a:r>
                  <a:rPr lang="en-US" altLang="zh-CN" dirty="0" err="1"/>
                  <a:t>tid</a:t>
                </a:r>
                <a:r>
                  <a:rPr lang="zh-CN" altLang="en-US" dirty="0"/>
                  <a:t>集的交集的大小应小于或等于</a:t>
                </a:r>
                <a:r>
                  <a:rPr lang="en-US" altLang="zh-CN" dirty="0"/>
                  <a:t>500</a:t>
                </a:r>
                <a:r>
                  <a:rPr lang="zh-CN" altLang="en-US" dirty="0"/>
                  <a:t>。由于取</a:t>
                </a:r>
                <a:r>
                  <a:rPr lang="en-US" altLang="zh-CN" dirty="0"/>
                  <a:t>500</a:t>
                </a:r>
                <a:r>
                  <a:rPr lang="zh-CN" altLang="en-US" dirty="0"/>
                  <a:t>个随机存放的元组一般需要</a:t>
                </a:r>
                <a:r>
                  <a:rPr lang="en-US" altLang="zh-CN" dirty="0"/>
                  <a:t>500</a:t>
                </a:r>
                <a:r>
                  <a:rPr lang="zh-CN" altLang="en-US" dirty="0"/>
                  <a:t>次</a:t>
                </a:r>
                <a:r>
                  <a:rPr lang="en-US" altLang="zh-CN" dirty="0"/>
                  <a:t>I/O</a:t>
                </a:r>
                <a:r>
                  <a:rPr lang="zh-CN" altLang="en-US" dirty="0"/>
                  <a:t>，故预查询法的</a:t>
                </a:r>
                <a:r>
                  <a:rPr lang="en-US" altLang="zh-CN" dirty="0"/>
                  <a:t>I/O</a:t>
                </a:r>
                <a:r>
                  <a:rPr lang="zh-CN" altLang="en-US" dirty="0"/>
                  <a:t>代价估算为：</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𝑎</m:t>
                        </m:r>
                      </m:sub>
                    </m:sSub>
                    <m:r>
                      <a:rPr lang="en-US" altLang="zh-CN"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𝐷𝑁𝑂</m:t>
                        </m:r>
                      </m:sub>
                    </m:sSub>
                    <m:r>
                      <a:rPr lang="en-US" altLang="zh-CN"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𝐴𝐺𝐸</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500</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533</m:t>
                    </m:r>
                  </m:oMath>
                </a14:m>
                <a:endParaRPr lang="en-US" altLang="zh-CN"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1016"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lang="zh-CN" altLang="en-US" dirty="0"/>
                  <a:t>选择操作的代价估算</a:t>
                </a:r>
                <a:endParaRPr lang="en-US" altLang="zh-CN" dirty="0"/>
              </a:p>
              <a:p>
                <a:pPr lvl="1"/>
                <a:r>
                  <a:rPr lang="zh-CN" altLang="en-US" dirty="0"/>
                  <a:t>策略</a:t>
                </a:r>
                <a:r>
                  <a:rPr lang="en-US" altLang="zh-CN" dirty="0"/>
                  <a:t>2</a:t>
                </a:r>
                <a:r>
                  <a:rPr lang="zh-CN" altLang="en-US" dirty="0"/>
                  <a:t>：用代价最小的一个条件选出元组，再用其他条件对这些元组进行筛选</a:t>
                </a:r>
                <a:endParaRPr lang="en-US" altLang="zh-CN" dirty="0"/>
              </a:p>
              <a:p>
                <a:pPr lvl="2"/>
                <a:r>
                  <a:rPr lang="zh-CN" altLang="en-US" dirty="0"/>
                  <a:t>应从</a:t>
                </a:r>
                <a:r>
                  <a:rPr lang="en-US" altLang="zh-CN" dirty="0"/>
                  <a:t>3</a:t>
                </a:r>
                <a:r>
                  <a:rPr lang="zh-CN" altLang="en-US" dirty="0"/>
                  <a:t>个条件中选出</a:t>
                </a:r>
                <a:r>
                  <a:rPr lang="en-US" altLang="zh-CN" dirty="0"/>
                  <a:t>I/O</a:t>
                </a:r>
                <a:r>
                  <a:rPr lang="zh-CN" altLang="en-US" dirty="0"/>
                  <a:t>代价最小的条件：</a:t>
                </a:r>
                <a:endParaRPr lang="en-US" altLang="zh-CN" dirty="0"/>
              </a:p>
              <a:p>
                <a:pPr lvl="3"/>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𝐷𝐸𝑃𝑇</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𝐶</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𝑆</m:t>
                            </m:r>
                          </m:e>
                          <m:sup>
                            <m:r>
                              <a:rPr lang="en-US" altLang="zh-CN" b="0" i="1" smtClean="0">
                                <a:latin typeface="Cambria Math" panose="02040503050406030204" pitchFamily="18" charset="0"/>
                              </a:rPr>
                              <m:t>′</m:t>
                            </m:r>
                          </m:sup>
                        </m:sSup>
                      </m:sub>
                    </m:sSub>
                  </m:oMath>
                </a14:m>
                <a:r>
                  <a:rPr lang="en-US" altLang="zh-CN" dirty="0"/>
                  <a:t>: </a:t>
                </a:r>
                <a:r>
                  <a:rPr lang="zh-CN" altLang="en-US" dirty="0"/>
                  <a:t>同</a:t>
                </a:r>
                <a14:m>
                  <m:oMath xmlns:m="http://schemas.openxmlformats.org/officeDocument/2006/math">
                    <m:r>
                      <m:rPr>
                        <m:sty m:val="p"/>
                      </m:rPr>
                      <a:rPr lang="en-US" altLang="zh-CN" b="0" i="0" dirty="0" smtClean="0">
                        <a:latin typeface="Cambria Math" panose="02040503050406030204" pitchFamily="18" charset="0"/>
                      </a:rPr>
                      <m:t>Q</m:t>
                    </m:r>
                    <m:r>
                      <a:rPr lang="en-US" altLang="zh-CN" b="0" i="0" dirty="0" smtClean="0">
                        <a:latin typeface="Cambria Math" panose="02040503050406030204" pitchFamily="18" charset="0"/>
                      </a:rPr>
                      <m:t>2</m:t>
                    </m:r>
                    <m:r>
                      <a:rPr lang="zh-CN" altLang="en-US"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𝐶</m:t>
                        </m:r>
                      </m:e>
                      <m:sub>
                        <m:r>
                          <a:rPr lang="en-US" altLang="zh-CN" i="1" dirty="0">
                            <a:latin typeface="Cambria Math" panose="02040503050406030204" pitchFamily="18" charset="0"/>
                          </a:rPr>
                          <m:t>𝑄</m:t>
                        </m:r>
                        <m:r>
                          <a:rPr lang="en-US" altLang="zh-CN" i="1" dirty="0">
                            <a:latin typeface="Cambria Math" panose="02040503050406030204" pitchFamily="18" charset="0"/>
                          </a:rPr>
                          <m:t>2</m:t>
                        </m:r>
                      </m:sub>
                    </m:sSub>
                    <m:r>
                      <a:rPr lang="en-US" altLang="zh-CN" i="1" dirty="0">
                        <a:latin typeface="Cambria Math" panose="02040503050406030204" pitchFamily="18" charset="0"/>
                      </a:rPr>
                      <m:t> = </m:t>
                    </m:r>
                    <m:r>
                      <a:rPr lang="en-US" altLang="zh-CN" i="1" dirty="0" smtClean="0">
                        <a:latin typeface="Cambria Math" panose="02040503050406030204" pitchFamily="18" charset="0"/>
                      </a:rPr>
                      <m:t>82</m:t>
                    </m:r>
                  </m:oMath>
                </a14:m>
                <a:endParaRPr lang="en-US" altLang="zh-CN" dirty="0"/>
              </a:p>
              <a:p>
                <a:pPr lvl="3"/>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𝐷𝑁𝑂</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108</m:t>
                            </m:r>
                          </m:e>
                          <m:sup>
                            <m:r>
                              <a:rPr lang="en-US" altLang="zh-CN" b="0" i="1" smtClean="0">
                                <a:latin typeface="Cambria Math" panose="02040503050406030204" pitchFamily="18" charset="0"/>
                              </a:rPr>
                              <m:t>′</m:t>
                            </m:r>
                          </m:sup>
                        </m:sSup>
                      </m:sub>
                    </m:sSub>
                  </m:oMath>
                </a14:m>
                <a:r>
                  <a:rPr lang="en-US" altLang="zh-CN" dirty="0"/>
                  <a:t>: </a:t>
                </a:r>
                <a14:m>
                  <m:oMath xmlns:m="http://schemas.openxmlformats.org/officeDocument/2006/math">
                    <m:r>
                      <a:rPr lang="en-US" altLang="zh-CN" i="1" dirty="0" smtClean="0">
                        <a:latin typeface="Cambria Math" panose="02040503050406030204" pitchFamily="18" charset="0"/>
                      </a:rPr>
                      <m:t>𝑠</m:t>
                    </m:r>
                    <m:r>
                      <a:rPr lang="en-US" altLang="zh-CN" i="1" dirty="0" smtClean="0">
                        <a:latin typeface="Cambria Math" panose="02040503050406030204" pitchFamily="18" charset="0"/>
                      </a:rPr>
                      <m:t> = </m:t>
                    </m:r>
                    <m:r>
                      <a:rPr lang="en-US" altLang="zh-CN" i="1" dirty="0" smtClean="0">
                        <a:latin typeface="Cambria Math" panose="02040503050406030204" pitchFamily="18" charset="0"/>
                      </a:rPr>
                      <m:t>10000</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20</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500</m:t>
                    </m:r>
                  </m:oMath>
                </a14:m>
                <a:endParaRPr lang="en-US" altLang="zh-CN" b="0" dirty="0"/>
              </a:p>
              <a:p>
                <a:pPr lvl="3"/>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𝐷𝑁𝑂</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108</m:t>
                            </m:r>
                          </m:e>
                          <m:sup>
                            <m:r>
                              <a:rPr lang="en-US" altLang="zh-CN" b="0" i="1" smtClean="0">
                                <a:latin typeface="Cambria Math" panose="02040503050406030204" pitchFamily="18" charset="0"/>
                              </a:rPr>
                              <m:t>′</m:t>
                            </m:r>
                          </m:sup>
                        </m:sSup>
                      </m:sub>
                    </m:sSub>
                  </m:oMath>
                </a14:m>
                <a:r>
                  <a:rPr lang="en-US" altLang="zh-CN" dirty="0"/>
                  <a:t>: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𝐷𝑁𝑂</m:t>
                        </m:r>
                      </m:sub>
                    </m:sSub>
                    <m:r>
                      <a:rPr lang="en-US" altLang="zh-CN" i="1" dirty="0">
                        <a:latin typeface="Cambria Math" panose="02040503050406030204" pitchFamily="18" charset="0"/>
                      </a:rPr>
                      <m:t>+</m:t>
                    </m:r>
                    <m:r>
                      <a:rPr lang="en-US" altLang="zh-CN" i="1" dirty="0">
                        <a:latin typeface="Cambria Math" panose="02040503050406030204" pitchFamily="18" charset="0"/>
                      </a:rPr>
                      <m:t>500</m:t>
                    </m:r>
                    <m:r>
                      <a:rPr lang="en-US" altLang="zh-CN" i="1" dirty="0">
                        <a:latin typeface="Cambria Math" panose="02040503050406030204" pitchFamily="18" charset="0"/>
                      </a:rPr>
                      <m:t> = </m:t>
                    </m:r>
                    <m:r>
                      <a:rPr lang="en-US" altLang="zh-CN" i="1" dirty="0">
                        <a:latin typeface="Cambria Math" panose="02040503050406030204" pitchFamily="18" charset="0"/>
                      </a:rPr>
                      <m:t>6</m:t>
                    </m:r>
                    <m:r>
                      <a:rPr lang="en-US" altLang="zh-CN" i="1" dirty="0">
                        <a:latin typeface="Cambria Math" panose="02040503050406030204" pitchFamily="18" charset="0"/>
                      </a:rPr>
                      <m:t> + </m:t>
                    </m:r>
                    <m:r>
                      <a:rPr lang="en-US" altLang="zh-CN" i="1" dirty="0">
                        <a:latin typeface="Cambria Math" panose="02040503050406030204" pitchFamily="18" charset="0"/>
                      </a:rPr>
                      <m:t>500</m:t>
                    </m:r>
                    <m:r>
                      <a:rPr lang="en-US" altLang="zh-CN" i="1" dirty="0">
                        <a:latin typeface="Cambria Math" panose="02040503050406030204" pitchFamily="18" charset="0"/>
                      </a:rPr>
                      <m:t>=</m:t>
                    </m:r>
                    <m:r>
                      <a:rPr lang="en-US" altLang="zh-CN" i="1" dirty="0">
                        <a:latin typeface="Cambria Math" panose="02040503050406030204" pitchFamily="18" charset="0"/>
                      </a:rPr>
                      <m:t>506</m:t>
                    </m:r>
                  </m:oMath>
                </a14:m>
                <a:endParaRPr lang="en-US" altLang="zh-CN" dirty="0"/>
              </a:p>
              <a:p>
                <a:pPr lvl="3"/>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𝜎</m:t>
                        </m:r>
                      </m:e>
                      <m:sub>
                        <m:r>
                          <a:rPr lang="en-US" altLang="zh-CN" b="0" i="1" smtClean="0">
                            <a:latin typeface="Cambria Math" panose="02040503050406030204" pitchFamily="18" charset="0"/>
                          </a:rPr>
                          <m:t>𝐴𝐺𝐸</m:t>
                        </m:r>
                        <m:r>
                          <a:rPr lang="en-US" altLang="zh-CN" b="0" i="1" smtClean="0">
                            <a:latin typeface="Cambria Math" panose="02040503050406030204" pitchFamily="18" charset="0"/>
                          </a:rPr>
                          <m:t>≻=</m:t>
                        </m:r>
                        <m:r>
                          <a:rPr lang="en-US" altLang="zh-CN" b="0" i="1" smtClean="0">
                            <a:latin typeface="Cambria Math" panose="02040503050406030204" pitchFamily="18" charset="0"/>
                          </a:rPr>
                          <m:t>20</m:t>
                        </m:r>
                      </m:sub>
                    </m:sSub>
                  </m:oMath>
                </a14:m>
                <a:r>
                  <a:rPr lang="en-US" altLang="zh-CN" dirty="0"/>
                  <a:t>: </a:t>
                </a:r>
                <a:r>
                  <a:rPr lang="zh-CN" altLang="en-US" dirty="0"/>
                  <a:t>同</a:t>
                </a:r>
                <a14:m>
                  <m:oMath xmlns:m="http://schemas.openxmlformats.org/officeDocument/2006/math">
                    <m:r>
                      <a:rPr lang="en-US" altLang="zh-CN" i="1" dirty="0" smtClean="0">
                        <a:latin typeface="Cambria Math" panose="02040503050406030204" pitchFamily="18" charset="0"/>
                      </a:rPr>
                      <m:t>𝑄</m:t>
                    </m:r>
                    <m:r>
                      <a:rPr lang="en-US" altLang="zh-CN" i="1" dirty="0" smtClean="0">
                        <a:latin typeface="Cambria Math" panose="02040503050406030204" pitchFamily="18" charset="0"/>
                      </a:rPr>
                      <m:t>3</m:t>
                    </m:r>
                    <m:r>
                      <a:rPr lang="zh-CN" altLang="en-US"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a:latin typeface="Cambria Math" panose="02040503050406030204" pitchFamily="18" charset="0"/>
                          </a:rPr>
                          <m:t>𝐶</m:t>
                        </m:r>
                      </m:e>
                      <m:sub>
                        <m:r>
                          <a:rPr lang="en-US" altLang="zh-CN" i="1" dirty="0">
                            <a:latin typeface="Cambria Math" panose="02040503050406030204" pitchFamily="18" charset="0"/>
                          </a:rPr>
                          <m:t>𝑄</m:t>
                        </m:r>
                        <m:r>
                          <a:rPr lang="en-US" altLang="zh-CN" i="1" dirty="0">
                            <a:latin typeface="Cambria Math" panose="02040503050406030204" pitchFamily="18" charset="0"/>
                          </a:rPr>
                          <m:t>3</m:t>
                        </m:r>
                      </m:sub>
                    </m:sSub>
                    <m:r>
                      <a:rPr lang="en-US" altLang="zh-CN" i="1" dirty="0">
                        <a:latin typeface="Cambria Math" panose="02040503050406030204" pitchFamily="18" charset="0"/>
                      </a:rPr>
                      <m:t> = </m:t>
                    </m:r>
                    <m:r>
                      <a:rPr lang="en-US" altLang="zh-CN" i="1" dirty="0">
                        <a:latin typeface="Cambria Math" panose="02040503050406030204" pitchFamily="18" charset="0"/>
                      </a:rPr>
                      <m:t>2000</m:t>
                    </m:r>
                  </m:oMath>
                </a14:m>
                <a:endParaRPr lang="zh-CN" altLang="en-US" dirty="0"/>
              </a:p>
              <a:p>
                <a:pPr lvl="2"/>
                <a:r>
                  <a:rPr lang="zh-CN" altLang="en-US" dirty="0"/>
                  <a:t>在</a:t>
                </a:r>
                <a:r>
                  <a:rPr lang="en-US" altLang="zh-CN" dirty="0"/>
                  <a:t>3</a:t>
                </a:r>
                <a:r>
                  <a:rPr lang="zh-CN" altLang="en-US" dirty="0"/>
                  <a:t>个条件中，以</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𝜎</m:t>
                        </m:r>
                      </m:e>
                      <m:sub>
                        <m:r>
                          <a:rPr lang="en-US" altLang="zh-CN" i="1" dirty="0" smtClean="0">
                            <a:latin typeface="Cambria Math" panose="02040503050406030204" pitchFamily="18" charset="0"/>
                          </a:rPr>
                          <m:t>𝐷𝐸𝑃𝑇</m:t>
                        </m:r>
                        <m:r>
                          <a:rPr lang="en-US" altLang="zh-CN" i="1" dirty="0">
                            <a:latin typeface="Cambria Math" panose="02040503050406030204" pitchFamily="18" charset="0"/>
                          </a:rPr>
                          <m:t>=‘</m:t>
                        </m:r>
                        <m:r>
                          <a:rPr lang="en-US" altLang="zh-CN" i="1" dirty="0">
                            <a:latin typeface="Cambria Math" panose="02040503050406030204" pitchFamily="18" charset="0"/>
                          </a:rPr>
                          <m:t>𝐶𝑆</m:t>
                        </m:r>
                        <m:r>
                          <a:rPr lang="en-US" altLang="zh-CN" i="1" dirty="0">
                            <a:latin typeface="Cambria Math" panose="02040503050406030204" pitchFamily="18" charset="0"/>
                          </a:rPr>
                          <m:t>’</m:t>
                        </m:r>
                      </m:sub>
                    </m:sSub>
                  </m:oMath>
                </a14:m>
                <a:r>
                  <a:rPr lang="zh-CN" altLang="en-US" dirty="0"/>
                  <a:t>的代价最小，故可先按此条件选取出满足条件</a:t>
                </a:r>
                <a14:m>
                  <m:oMath xmlns:m="http://schemas.openxmlformats.org/officeDocument/2006/math">
                    <m:r>
                      <a:rPr lang="en-US" altLang="zh-CN" i="1" dirty="0" smtClean="0">
                        <a:latin typeface="Cambria Math" panose="02040503050406030204" pitchFamily="18" charset="0"/>
                      </a:rPr>
                      <m:t>𝐷𝐸𝑃𝑇</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𝐶𝑆</m:t>
                    </m:r>
                    <m:r>
                      <a:rPr lang="en-US" altLang="zh-CN" i="1" dirty="0" smtClean="0">
                        <a:latin typeface="Cambria Math" panose="02040503050406030204" pitchFamily="18" charset="0"/>
                      </a:rPr>
                      <m:t>’</m:t>
                    </m:r>
                  </m:oMath>
                </a14:m>
                <a:r>
                  <a:rPr lang="zh-CN" altLang="en-US" dirty="0"/>
                  <a:t>的学生的元组并同时检查每个元组是否满足其他</a:t>
                </a:r>
                <a:r>
                  <a:rPr lang="en-US" altLang="zh-CN" dirty="0"/>
                  <a:t>2</a:t>
                </a:r>
                <a:r>
                  <a:rPr lang="zh-CN" altLang="en-US" dirty="0"/>
                  <a:t>个条件，其</a:t>
                </a:r>
                <a:r>
                  <a:rPr lang="en-US" altLang="zh-CN" dirty="0"/>
                  <a:t>I/O</a:t>
                </a:r>
                <a:r>
                  <a:rPr lang="zh-CN" altLang="en-US" dirty="0"/>
                  <a:t>代价为 </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𝑏</m:t>
                        </m:r>
                      </m:sub>
                    </m:sSub>
                    <m:r>
                      <a:rPr lang="en-US" altLang="zh-CN" i="1" dirty="0" smtClean="0">
                        <a:latin typeface="Cambria Math" panose="02040503050406030204" pitchFamily="18" charset="0"/>
                      </a:rPr>
                      <m:t> = </m:t>
                    </m:r>
                    <m:r>
                      <a:rPr lang="en-US" altLang="zh-CN" i="1" dirty="0" smtClean="0">
                        <a:latin typeface="Cambria Math" panose="02040503050406030204" pitchFamily="18" charset="0"/>
                      </a:rPr>
                      <m:t>82</m:t>
                    </m:r>
                  </m:oMath>
                </a14:m>
                <a:endParaRPr lang="en-US" altLang="zh-CN" dirty="0"/>
              </a:p>
              <a:p>
                <a:pPr lvl="2"/>
                <a:r>
                  <a:rPr lang="zh-CN" altLang="en-US" dirty="0"/>
                  <a:t>由于</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𝑎</m:t>
                        </m:r>
                      </m:sub>
                    </m:sSub>
                    <m:r>
                      <a:rPr lang="en-US" altLang="zh-CN" i="1" dirty="0" smtClean="0">
                        <a:latin typeface="Cambria Math" panose="02040503050406030204" pitchFamily="18" charset="0"/>
                      </a:rPr>
                      <m:t>&gt;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𝐶</m:t>
                        </m:r>
                      </m:e>
                      <m:sub>
                        <m:r>
                          <a:rPr lang="en-US" altLang="zh-CN" i="1" dirty="0" err="1" smtClean="0">
                            <a:latin typeface="Cambria Math" panose="02040503050406030204" pitchFamily="18" charset="0"/>
                          </a:rPr>
                          <m:t>𝑏</m:t>
                        </m:r>
                      </m:sub>
                    </m:sSub>
                  </m:oMath>
                </a14:m>
                <a:r>
                  <a:rPr lang="zh-CN" altLang="en-US" dirty="0"/>
                  <a:t>，故</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𝐶</m:t>
                        </m:r>
                      </m:e>
                      <m:sub>
                        <m:r>
                          <a:rPr lang="en-US" altLang="zh-CN" i="1" dirty="0" smtClean="0">
                            <a:latin typeface="Cambria Math" panose="02040503050406030204" pitchFamily="18" charset="0"/>
                          </a:rPr>
                          <m:t>𝑄</m:t>
                        </m:r>
                        <m:r>
                          <a:rPr lang="en-US" altLang="zh-CN" i="1" dirty="0" smtClean="0">
                            <a:latin typeface="Cambria Math" panose="02040503050406030204" pitchFamily="18" charset="0"/>
                          </a:rPr>
                          <m:t>4</m:t>
                        </m:r>
                      </m:sub>
                    </m:sSub>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𝐶</m:t>
                        </m:r>
                      </m:e>
                      <m:sub>
                        <m:r>
                          <a:rPr lang="en-US" altLang="zh-CN" i="1" dirty="0" err="1" smtClean="0">
                            <a:latin typeface="Cambria Math" panose="02040503050406030204" pitchFamily="18" charset="0"/>
                          </a:rPr>
                          <m:t>𝑏</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82</m:t>
                    </m:r>
                  </m:oMath>
                </a14:m>
                <a:endParaRPr lang="en-US" altLang="zh-CN" dirty="0"/>
              </a:p>
              <a:p>
                <a:pPr lvl="2"/>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573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92500" lnSpcReduction="20000"/>
              </a:bodyPr>
              <a:lstStyle/>
              <a:p>
                <a:r>
                  <a:rPr lang="zh-CN" altLang="en-US" dirty="0"/>
                  <a:t>连接操作的代价估算</a:t>
                </a:r>
                <a:endParaRPr lang="en-US" altLang="zh-CN" dirty="0"/>
              </a:p>
              <a:p>
                <a:pPr lvl="1"/>
                <a:r>
                  <a:rPr lang="zh-CN" altLang="en-US" dirty="0"/>
                  <a:t>连接结果大小的估算</a:t>
                </a:r>
                <a:endParaRPr lang="zh-CN" altLang="en-US" dirty="0"/>
              </a:p>
              <a:p>
                <a:pPr lvl="2"/>
                <a:r>
                  <a:rPr lang="zh-CN" altLang="en-US" dirty="0"/>
                  <a:t>为估算连接操作的代价，首先需要估算连接结果的大小。为此，引入连接选择因子</a:t>
                </a:r>
                <a:r>
                  <a:rPr lang="en-US" altLang="zh-CN" dirty="0"/>
                  <a:t>(join selectivity)</a:t>
                </a:r>
                <a:endParaRPr lang="en-US" altLang="zh-CN" dirty="0"/>
              </a:p>
              <a:p>
                <a:pPr marL="914400" lvl="2"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𝑗𝑠</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𝑅</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m:t>
                          </m:r>
                        </m:e>
                        <m:sub>
                          <m:r>
                            <a:rPr lang="en-US" altLang="zh-CN" i="1" dirty="0" smtClean="0">
                              <a:latin typeface="Cambria Math" panose="02040503050406030204" pitchFamily="18" charset="0"/>
                            </a:rPr>
                            <m:t>𝐶</m:t>
                          </m:r>
                        </m:sub>
                      </m:sSub>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𝑅</m:t>
                      </m:r>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𝑅</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m:t>
                          </m:r>
                        </m:e>
                        <m:sub>
                          <m:r>
                            <a:rPr lang="en-US" altLang="zh-CN" i="1" dirty="0" smtClean="0">
                              <a:latin typeface="Cambria Math" panose="02040503050406030204" pitchFamily="18" charset="0"/>
                            </a:rPr>
                            <m:t>𝐶</m:t>
                          </m:r>
                        </m:sub>
                      </m:sSub>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 / |</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oMath>
                  </m:oMathPara>
                </a14:m>
                <a:endParaRPr lang="en-US" altLang="zh-CN" dirty="0"/>
              </a:p>
              <a:p>
                <a:pPr lvl="2"/>
                <a:r>
                  <a:rPr lang="zh-CN" altLang="en-US" dirty="0"/>
                  <a:t>如果无连接条件</a:t>
                </a:r>
                <a:r>
                  <a:rPr lang="en-US" altLang="zh-CN" dirty="0"/>
                  <a:t>C</a:t>
                </a:r>
                <a:r>
                  <a:rPr lang="zh-CN" altLang="en-US" dirty="0"/>
                  <a:t>，则</a:t>
                </a:r>
                <a:r>
                  <a:rPr lang="en-US" altLang="zh-CN" dirty="0" err="1"/>
                  <a:t>js</a:t>
                </a:r>
                <a:r>
                  <a:rPr lang="en-US" altLang="zh-CN" dirty="0"/>
                  <a:t>=1</a:t>
                </a:r>
                <a:endParaRPr lang="en-US" altLang="zh-CN" dirty="0"/>
              </a:p>
              <a:p>
                <a:pPr lvl="2"/>
                <a:r>
                  <a:rPr lang="zh-CN" altLang="en-US" dirty="0"/>
                  <a:t>如果没有元组满足连接条件，则</a:t>
                </a:r>
                <a:r>
                  <a:rPr lang="en-US" altLang="zh-CN" dirty="0" err="1"/>
                  <a:t>js</a:t>
                </a:r>
                <a:r>
                  <a:rPr lang="en-US" altLang="zh-CN" dirty="0"/>
                  <a:t>=0</a:t>
                </a:r>
                <a:endParaRPr lang="en-US" altLang="zh-CN" dirty="0"/>
              </a:p>
              <a:p>
                <a:pPr lvl="2"/>
                <a:r>
                  <a:rPr lang="zh-CN" altLang="en-US" dirty="0"/>
                  <a:t>一般 </a:t>
                </a:r>
                <a:r>
                  <a:rPr lang="en-US" altLang="zh-CN" dirty="0"/>
                  <a:t>0&lt;=</a:t>
                </a:r>
                <a:r>
                  <a:rPr lang="en-US" altLang="zh-CN" dirty="0" err="1"/>
                  <a:t>js</a:t>
                </a:r>
                <a:r>
                  <a:rPr lang="en-US" altLang="zh-CN" dirty="0"/>
                  <a:t>&lt;=1</a:t>
                </a:r>
                <a:endParaRPr lang="en-US" altLang="zh-CN" dirty="0"/>
              </a:p>
              <a:p>
                <a:pPr lvl="2"/>
                <a:r>
                  <a:rPr lang="zh-CN" altLang="en-US" dirty="0"/>
                  <a:t>如果连接属性</a:t>
                </a:r>
                <a:r>
                  <a:rPr lang="en-US" altLang="zh-CN" dirty="0"/>
                  <a:t>A</a:t>
                </a:r>
                <a:r>
                  <a:rPr lang="zh-CN" altLang="en-US" dirty="0"/>
                  <a:t>为</a:t>
                </a:r>
                <a:r>
                  <a:rPr lang="en-US" altLang="zh-CN" dirty="0"/>
                  <a:t>R</a:t>
                </a:r>
                <a:r>
                  <a:rPr lang="zh-CN" altLang="en-US" dirty="0"/>
                  <a:t>的键，则</a:t>
                </a:r>
                <a:r>
                  <a:rPr lang="en-US" altLang="zh-CN" dirty="0" err="1"/>
                  <a:t>js</a:t>
                </a:r>
                <a:r>
                  <a:rPr lang="en-US" altLang="zh-CN" dirty="0"/>
                  <a:t>&lt;= 1/ |R|</a:t>
                </a:r>
                <a:endParaRPr lang="en-US" altLang="zh-CN" dirty="0"/>
              </a:p>
              <a:p>
                <a:pPr lvl="2"/>
                <a:r>
                  <a:rPr lang="zh-CN" altLang="en-US" dirty="0"/>
                  <a:t>如果连接属性</a:t>
                </a:r>
                <a:r>
                  <a:rPr lang="en-US" altLang="zh-CN" dirty="0"/>
                  <a:t>A</a:t>
                </a:r>
                <a:r>
                  <a:rPr lang="zh-CN" altLang="en-US" dirty="0"/>
                  <a:t>为</a:t>
                </a:r>
                <a:r>
                  <a:rPr lang="en-US" altLang="zh-CN" dirty="0"/>
                  <a:t>S</a:t>
                </a:r>
                <a:r>
                  <a:rPr lang="zh-CN" altLang="en-US" dirty="0"/>
                  <a:t>的键，则</a:t>
                </a:r>
                <a:r>
                  <a:rPr lang="en-US" altLang="zh-CN" dirty="0" err="1"/>
                  <a:t>js</a:t>
                </a:r>
                <a:r>
                  <a:rPr lang="en-US" altLang="zh-CN" dirty="0"/>
                  <a:t>&lt;= 1/ |S|</a:t>
                </a:r>
                <a:endParaRPr lang="en-US" altLang="zh-CN" dirty="0"/>
              </a:p>
              <a:p>
                <a:pPr lvl="2"/>
                <a:r>
                  <a:rPr lang="zh-CN" altLang="en-US" dirty="0"/>
                  <a:t>经过分析可知，一般情况下，连接结果的元组数为：</a:t>
                </a:r>
                <a:endParaRPr lang="zh-CN" altLang="en-US" dirty="0"/>
              </a:p>
              <a:p>
                <a:pPr marL="914400" lvl="2"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 </m:t>
                      </m:r>
                      <m:r>
                        <a:rPr lang="en-US" altLang="zh-CN" i="1" dirty="0" smtClean="0">
                          <a:latin typeface="Cambria Math" panose="02040503050406030204" pitchFamily="18" charset="0"/>
                        </a:rPr>
                        <m:t>𝑅</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m:t>
                          </m:r>
                        </m:e>
                        <m:sub>
                          <m:r>
                            <a:rPr lang="en-US" altLang="zh-CN" i="1" dirty="0" smtClean="0">
                              <a:latin typeface="Cambria Math" panose="02040503050406030204" pitchFamily="18" charset="0"/>
                            </a:rPr>
                            <m:t>𝐶</m:t>
                          </m:r>
                        </m:sub>
                      </m:sSub>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 = (</m:t>
                      </m:r>
                      <m:d>
                        <m:dPr>
                          <m:begChr m:val="|"/>
                          <m:endChr m:val="|"/>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𝑅</m:t>
                          </m:r>
                        </m:e>
                      </m:d>
                      <m:r>
                        <a:rPr lang="en-US" altLang="zh-CN" b="0" i="1" dirty="0" smtClean="0">
                          <a:latin typeface="Cambria Math" panose="02040503050406030204" pitchFamily="18" charset="0"/>
                        </a:rPr>
                        <m:t>×</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𝑀</m:t>
                      </m:r>
                      <m:r>
                        <a:rPr lang="en-US" altLang="zh-CN" i="1" dirty="0" smtClean="0">
                          <a:latin typeface="Cambria Math" panose="02040503050406030204" pitchFamily="18" charset="0"/>
                        </a:rPr>
                        <m:t> </m:t>
                      </m:r>
                    </m:oMath>
                  </m:oMathPara>
                </a14:m>
                <a:endParaRPr lang="en-US" altLang="zh-CN" dirty="0"/>
              </a:p>
              <a:p>
                <a:pPr lvl="2"/>
                <a:r>
                  <a:rPr lang="en-US" altLang="zh-CN" dirty="0"/>
                  <a:t>M</a:t>
                </a:r>
                <a:r>
                  <a:rPr lang="zh-CN" altLang="en-US" dirty="0"/>
                  <a:t>为连接属性</a:t>
                </a:r>
                <a:r>
                  <a:rPr lang="en-US" altLang="zh-CN" dirty="0"/>
                  <a:t>A</a:t>
                </a:r>
                <a:r>
                  <a:rPr lang="zh-CN" altLang="en-US" dirty="0"/>
                  <a:t>的值域大小</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连接操作的代价估算</a:t>
                </a:r>
                <a:endParaRPr lang="en-US" altLang="zh-CN" dirty="0"/>
              </a:p>
              <a:p>
                <a:pPr lvl="1"/>
                <a:r>
                  <a:rPr lang="zh-CN" altLang="en-US" dirty="0"/>
                  <a:t>嵌套循环法代价估算</a:t>
                </a:r>
                <a:endParaRPr lang="zh-CN" altLang="en-US" dirty="0"/>
              </a:p>
              <a:p>
                <a:pPr lvl="2"/>
                <a:r>
                  <a:rPr lang="zh-CN" altLang="en-US" dirty="0"/>
                  <a:t>假设</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𝑏</m:t>
                        </m:r>
                      </m:e>
                      <m:sub>
                        <m:r>
                          <a:rPr lang="en-US" altLang="zh-CN" i="1" dirty="0" smtClean="0">
                            <a:latin typeface="Cambria Math" panose="02040503050406030204" pitchFamily="18" charset="0"/>
                          </a:rPr>
                          <m:t>𝑅</m:t>
                        </m:r>
                      </m:sub>
                    </m:sSub>
                    <m:r>
                      <a:rPr lang="en-US" altLang="zh-CN" i="1" dirty="0" smtClean="0">
                        <a:latin typeface="Cambria Math" panose="02040503050406030204" pitchFamily="18" charset="0"/>
                      </a:rPr>
                      <m:t>&lt; </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𝑏</m:t>
                        </m:r>
                      </m:e>
                      <m:sub>
                        <m:r>
                          <a:rPr lang="en-US" altLang="zh-CN" i="1" dirty="0" smtClean="0">
                            <a:latin typeface="Cambria Math" panose="02040503050406030204" pitchFamily="18" charset="0"/>
                          </a:rPr>
                          <m:t>𝑠</m:t>
                        </m:r>
                      </m:sub>
                    </m:sSub>
                  </m:oMath>
                </a14:m>
                <a:r>
                  <a:rPr lang="en-US" altLang="zh-CN" dirty="0"/>
                  <a:t> </a:t>
                </a:r>
                <a:r>
                  <a:rPr lang="zh-CN" altLang="en-US" dirty="0"/>
                  <a:t>，故选</a:t>
                </a:r>
                <a:r>
                  <a:rPr lang="en-US" altLang="zh-CN" dirty="0"/>
                  <a:t>R</a:t>
                </a:r>
                <a:r>
                  <a:rPr lang="zh-CN" altLang="en-US" dirty="0"/>
                  <a:t>为外关系，</a:t>
                </a:r>
                <a:r>
                  <a:rPr lang="en-US" altLang="zh-CN" dirty="0"/>
                  <a:t>S</a:t>
                </a:r>
                <a:r>
                  <a:rPr lang="zh-CN" altLang="en-US" dirty="0"/>
                  <a:t>为内关系。设共有</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𝑛</m:t>
                        </m:r>
                      </m:e>
                      <m:sub>
                        <m:r>
                          <a:rPr lang="en-US" altLang="zh-CN" i="1" dirty="0" smtClean="0">
                            <a:latin typeface="Cambria Math" panose="02040503050406030204" pitchFamily="18" charset="0"/>
                          </a:rPr>
                          <m:t>𝐵</m:t>
                        </m:r>
                      </m:sub>
                    </m:sSub>
                  </m:oMath>
                </a14:m>
                <a:r>
                  <a:rPr lang="zh-CN" altLang="en-US" dirty="0"/>
                  <a:t>块缓冲，则用嵌套循环法做连接所需的代价为：</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𝑁𝐿𝐽</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nor/>
                            </m:rPr>
                            <a:rPr lang="en-US" altLang="zh-CN" b="1" dirty="0">
                              <a:latin typeface="Cambria Math" panose="02040503050406030204" pitchFamily="18" charset="0"/>
                            </a:rPr>
                            <m:t>┌</m:t>
                          </m:r>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1</m:t>
                          </m:r>
                        </m:e>
                      </m:d>
                      <m:r>
                        <m:rPr>
                          <m:nor/>
                        </m:rPr>
                        <a:rPr lang="en-US" altLang="zh-CN" b="1" dirty="0">
                          <a:latin typeface="Cambria Math" panose="02040503050406030204" pitchFamily="18" charset="0"/>
                        </a:rPr>
                        <m:t>┐</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𝑗𝑠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𝑅𝑆</m:t>
                          </m:r>
                        </m:sub>
                      </m:sSub>
                    </m:oMath>
                  </m:oMathPara>
                </a14:m>
                <a:endParaRPr lang="zh-CN" altLang="en-US" dirty="0"/>
              </a:p>
              <a:p>
                <a:pPr lvl="2"/>
                <a14:m>
                  <m:oMath xmlns:m="http://schemas.openxmlformats.org/officeDocument/2006/math">
                    <m:r>
                      <a:rPr lang="en-US" altLang="zh-CN" i="1" dirty="0" smtClean="0">
                        <a:latin typeface="Cambria Math" panose="02040503050406030204" pitchFamily="18" charset="0"/>
                      </a:rPr>
                      <m:t>(</m:t>
                    </m:r>
                    <m:r>
                      <a:rPr lang="en-US" altLang="zh-CN" i="1" dirty="0" err="1" smtClean="0">
                        <a:latin typeface="Cambria Math" panose="02040503050406030204" pitchFamily="18" charset="0"/>
                      </a:rPr>
                      <m:t>𝑗𝑠</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err="1" smtClean="0">
                            <a:latin typeface="Cambria Math" panose="02040503050406030204" pitchFamily="18" charset="0"/>
                          </a:rPr>
                          <m:t>𝑝</m:t>
                        </m:r>
                      </m:e>
                      <m:sub>
                        <m:r>
                          <a:rPr lang="en-US" altLang="zh-CN" i="1" dirty="0" err="1" smtClean="0">
                            <a:latin typeface="Cambria Math" panose="02040503050406030204" pitchFamily="18" charset="0"/>
                          </a:rPr>
                          <m:t>𝑅𝑆</m:t>
                        </m:r>
                      </m:sub>
                    </m:sSub>
                  </m:oMath>
                </a14:m>
                <a:r>
                  <a:rPr lang="zh-CN" altLang="en-US" dirty="0"/>
                  <a:t>存储连接结果所需的代价</a:t>
                </a:r>
                <a:endParaRPr lang="zh-CN" altLang="en-US" dirty="0"/>
              </a:p>
              <a:p>
                <a:pPr lvl="2"/>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𝑝</m:t>
                        </m:r>
                      </m:e>
                      <m:sub>
                        <m:r>
                          <a:rPr lang="en-US" altLang="zh-CN" i="1" dirty="0" smtClean="0">
                            <a:latin typeface="Cambria Math" panose="02040503050406030204" pitchFamily="18" charset="0"/>
                          </a:rPr>
                          <m:t>𝑅𝑆</m:t>
                        </m:r>
                      </m:sub>
                    </m:sSub>
                  </m:oMath>
                </a14:m>
                <a:r>
                  <a:rPr lang="zh-CN" altLang="en-US" dirty="0"/>
                  <a:t>为连接结果的块因子</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连接操作的代价估算</a:t>
                </a:r>
                <a:endParaRPr lang="en-US" altLang="zh-CN" dirty="0"/>
              </a:p>
              <a:p>
                <a:pPr lvl="1"/>
                <a:r>
                  <a:rPr lang="zh-CN" altLang="en-US" dirty="0"/>
                  <a:t>利用索引或散列寻找匹配元组法代价估算</a:t>
                </a:r>
                <a:endParaRPr lang="zh-CN" altLang="en-US" dirty="0"/>
              </a:p>
              <a:p>
                <a:pPr lvl="2"/>
                <a:r>
                  <a:rPr lang="zh-CN" altLang="en-US" dirty="0"/>
                  <a:t>若用无序索引 </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𝑁𝑆𝐽</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oMath>
                  </m:oMathPara>
                </a14:m>
                <a:endParaRPr lang="zh-CN" altLang="en-US" dirty="0"/>
              </a:p>
              <a:p>
                <a:pPr lvl="2"/>
                <a:r>
                  <a:rPr lang="zh-CN" altLang="en-US" dirty="0"/>
                  <a:t>若用簇集索引 </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𝑆𝐽</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𝑅</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𝑅</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𝐵</m:t>
                          </m:r>
                        </m:sub>
                      </m:sSub>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𝑆</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𝑆</m:t>
                              </m:r>
                            </m:sub>
                          </m:sSub>
                        </m:e>
                      </m:d>
                      <m:r>
                        <a:rPr lang="en-US" altLang="zh-CN" b="0" i="1" smtClean="0">
                          <a:latin typeface="Cambria Math" panose="02040503050406030204" pitchFamily="18" charset="0"/>
                        </a:rPr>
                        <m:t>)</m:t>
                      </m:r>
                    </m:oMath>
                  </m:oMathPara>
                </a14:m>
                <a:endParaRPr lang="zh-CN" altLang="en-US" dirty="0"/>
              </a:p>
              <a:p>
                <a:pPr lvl="2"/>
                <a:r>
                  <a:rPr lang="zh-CN" altLang="en-US" dirty="0"/>
                  <a:t>若用散列</a:t>
                </a:r>
                <a:r>
                  <a:rPr lang="en-US" altLang="zh-CN" dirty="0"/>
                  <a:t>(</a:t>
                </a:r>
                <a:r>
                  <a:rPr lang="zh-CN" altLang="en-US" dirty="0"/>
                  <a:t>设在Ｓ关系的</a:t>
                </a:r>
                <a:r>
                  <a:rPr lang="en-US" altLang="zh-CN" dirty="0"/>
                  <a:t>B</a:t>
                </a:r>
                <a:r>
                  <a:rPr lang="zh-CN" altLang="en-US" dirty="0"/>
                  <a:t>属性</a:t>
                </a:r>
                <a:r>
                  <a:rPr lang="en-US" altLang="zh-CN" dirty="0"/>
                  <a:t>L</a:t>
                </a:r>
                <a:r>
                  <a:rPr lang="zh-CN" altLang="en-US" dirty="0"/>
                  <a:t>建立散列文件</a:t>
                </a:r>
                <a:r>
                  <a:rPr lang="en-US" altLang="zh-CN" dirty="0"/>
                  <a:t>)</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𝑆𝐻𝐽</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r>
                        <a:rPr lang="en-US" altLang="zh-CN" b="0" i="1" smtClean="0">
                          <a:latin typeface="Cambria Math" panose="02040503050406030204" pitchFamily="18" charset="0"/>
                        </a:rPr>
                        <m:t>ℎ</m:t>
                      </m:r>
                    </m:oMath>
                  </m:oMathPara>
                </a14:m>
                <a:endParaRPr lang="en-US" altLang="zh-CN" dirty="0"/>
              </a:p>
              <a:p>
                <a:pPr lvl="2"/>
                <a:r>
                  <a:rPr lang="en-US" altLang="zh-CN" dirty="0"/>
                  <a:t>h&gt;=1</a:t>
                </a:r>
                <a:r>
                  <a:rPr lang="zh-CN" altLang="en-US" dirty="0"/>
                  <a:t>表示每次散列平均访问的块数，如果溢出很少，</a:t>
                </a:r>
                <a:r>
                  <a:rPr lang="en-US" altLang="zh-CN" dirty="0"/>
                  <a:t>h</a:t>
                </a:r>
                <a:r>
                  <a:rPr lang="zh-CN" altLang="en-US" dirty="0"/>
                  <a:t>接近于</a:t>
                </a:r>
                <a:r>
                  <a:rPr lang="en-US" altLang="zh-CN" dirty="0"/>
                  <a:t>1</a:t>
                </a:r>
                <a:endParaRPr lang="en-US" altLang="zh-CN" dirty="0"/>
              </a:p>
              <a:p>
                <a:pPr lvl="2"/>
                <a:endParaRPr lang="en-US" altLang="zh-CN"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a:t>连接操作的代价估算</a:t>
                </a:r>
                <a:endParaRPr lang="en-US" altLang="zh-CN" dirty="0"/>
              </a:p>
              <a:p>
                <a:pPr lvl="1"/>
                <a:r>
                  <a:rPr lang="zh-CN" altLang="en-US" dirty="0"/>
                  <a:t>排序归并法代价估算</a:t>
                </a:r>
                <a:endParaRPr lang="zh-CN" altLang="en-US" dirty="0"/>
              </a:p>
              <a:p>
                <a:pPr lvl="2"/>
                <a:r>
                  <a:rPr lang="zh-CN" altLang="en-US" dirty="0"/>
                  <a:t>如果</a:t>
                </a:r>
                <a:r>
                  <a:rPr lang="en-US" altLang="zh-CN" dirty="0"/>
                  <a:t>R</a:t>
                </a:r>
                <a:r>
                  <a:rPr lang="zh-CN" altLang="en-US" dirty="0"/>
                  <a:t>、</a:t>
                </a:r>
                <a:r>
                  <a:rPr lang="en-US" altLang="zh-CN" dirty="0"/>
                  <a:t>S</a:t>
                </a:r>
                <a:r>
                  <a:rPr lang="zh-CN" altLang="en-US" dirty="0"/>
                  <a:t>已对</a:t>
                </a:r>
                <a:r>
                  <a:rPr lang="en-US" altLang="zh-CN" dirty="0"/>
                  <a:t>A</a:t>
                </a:r>
                <a:r>
                  <a:rPr lang="zh-CN" altLang="en-US" dirty="0"/>
                  <a:t>、</a:t>
                </a:r>
                <a:r>
                  <a:rPr lang="en-US" altLang="zh-CN" dirty="0"/>
                  <a:t>B</a:t>
                </a:r>
                <a:r>
                  <a:rPr lang="zh-CN" altLang="en-US" dirty="0"/>
                  <a:t>属性分别排序，则用排序归并法连接的代价为 </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𝑆𝑀𝐽</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oMath>
                  </m:oMathPara>
                </a14:m>
                <a:endParaRPr lang="zh-CN" altLang="en-US" dirty="0"/>
              </a:p>
              <a:p>
                <a:pPr lvl="2"/>
                <a:r>
                  <a:rPr lang="zh-CN" altLang="en-US" dirty="0"/>
                  <a:t>如果</a:t>
                </a:r>
                <a:r>
                  <a:rPr lang="en-US" altLang="zh-CN" dirty="0"/>
                  <a:t>R</a:t>
                </a:r>
                <a:r>
                  <a:rPr lang="zh-CN" altLang="en-US" dirty="0"/>
                  <a:t>、</a:t>
                </a:r>
                <a:r>
                  <a:rPr lang="en-US" altLang="zh-CN" dirty="0"/>
                  <a:t>S</a:t>
                </a:r>
                <a:r>
                  <a:rPr lang="zh-CN" altLang="en-US" dirty="0"/>
                  <a:t>中有未对</a:t>
                </a:r>
                <a:r>
                  <a:rPr lang="en-US" altLang="zh-CN" dirty="0"/>
                  <a:t>A</a:t>
                </a:r>
                <a:r>
                  <a:rPr lang="zh-CN" altLang="en-US" dirty="0"/>
                  <a:t>或</a:t>
                </a:r>
                <a:r>
                  <a:rPr lang="en-US" altLang="zh-CN" dirty="0"/>
                  <a:t>B</a:t>
                </a:r>
                <a:r>
                  <a:rPr lang="zh-CN" altLang="en-US" dirty="0"/>
                  <a:t>排序的，须加上排序的代价。排序的代价与排序的算法有关。</a:t>
                </a:r>
                <a:endParaRPr lang="zh-CN" altLang="en-US" dirty="0"/>
              </a:p>
              <a:p>
                <a:pPr lvl="2"/>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92500" lnSpcReduction="10000"/>
              </a:bodyPr>
              <a:lstStyle/>
              <a:p>
                <a:r>
                  <a:rPr lang="zh-CN" altLang="en-US" dirty="0"/>
                  <a:t>连接操作的代价估算</a:t>
                </a:r>
                <a:endParaRPr lang="en-US" altLang="zh-CN" dirty="0"/>
              </a:p>
              <a:p>
                <a:pPr lvl="1"/>
                <a:r>
                  <a:rPr lang="zh-CN" altLang="en-US" dirty="0"/>
                  <a:t>散列连接法代价估算</a:t>
                </a:r>
                <a:endParaRPr lang="en-US" altLang="zh-CN" dirty="0"/>
              </a:p>
              <a:p>
                <a:pPr lvl="2"/>
                <a:r>
                  <a:rPr lang="zh-CN" altLang="en-US" dirty="0"/>
                  <a:t>设散列文件存于内存中，其中不放整个元组，只放</a:t>
                </a:r>
                <a:r>
                  <a:rPr lang="en-US" altLang="zh-CN" dirty="0" err="1"/>
                  <a:t>tid</a:t>
                </a:r>
                <a:r>
                  <a:rPr lang="zh-CN" altLang="en-US" dirty="0"/>
                  <a:t>及其连接属性值，则建立散列文件 的代价为 </a:t>
                </a:r>
                <a:endParaRPr lang="en-US" altLang="zh-CN" dirty="0"/>
              </a:p>
              <a:p>
                <a:pPr marL="914400" lvl="2"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𝐻</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oMath>
                  </m:oMathPara>
                </a14:m>
                <a:endParaRPr lang="zh-CN" altLang="en-US" dirty="0"/>
              </a:p>
              <a:p>
                <a:pPr lvl="2"/>
                <a:r>
                  <a:rPr lang="zh-CN" altLang="en-US" dirty="0"/>
                  <a:t>在连接时，以内存中的桶为单位，按连接条件</a:t>
                </a:r>
                <a:r>
                  <a:rPr lang="en-US" altLang="zh-CN" dirty="0"/>
                  <a:t>R.A</a:t>
                </a:r>
                <a:r>
                  <a:rPr lang="zh-CN" altLang="en-US" dirty="0"/>
                  <a:t>＝</a:t>
                </a:r>
                <a:r>
                  <a:rPr lang="en-US" altLang="zh-CN" dirty="0"/>
                  <a:t>S.B</a:t>
                </a:r>
                <a:r>
                  <a:rPr lang="zh-CN" altLang="en-US" dirty="0"/>
                  <a:t>进行</a:t>
                </a:r>
                <a:r>
                  <a:rPr lang="en-US" altLang="zh-CN" dirty="0" err="1"/>
                  <a:t>tid</a:t>
                </a:r>
                <a:r>
                  <a:rPr lang="zh-CN" altLang="en-US" dirty="0"/>
                  <a:t>配对</a:t>
                </a:r>
                <a:endParaRPr lang="en-US" altLang="zh-CN" dirty="0"/>
              </a:p>
              <a:p>
                <a:pPr lvl="3"/>
                <a:r>
                  <a:rPr lang="en-US" altLang="zh-CN" dirty="0"/>
                  <a:t>R</a:t>
                </a:r>
                <a:r>
                  <a:rPr lang="zh-CN" altLang="en-US" dirty="0"/>
                  <a:t>中的匹配元组数＝</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𝐵</m:t>
                        </m:r>
                      </m:sub>
                    </m:sSub>
                    <m:r>
                      <a:rPr lang="zh-CN" altLang="en-US" i="1" dirty="0" smtClean="0">
                        <a:latin typeface="Cambria Math" panose="02040503050406030204" pitchFamily="18" charset="0"/>
                      </a:rPr>
                      <m:t>／</m:t>
                    </m:r>
                    <m:r>
                      <a:rPr lang="en-US" altLang="zh-CN" i="1" dirty="0" smtClean="0">
                        <a:latin typeface="Cambria Math" panose="02040503050406030204" pitchFamily="18" charset="0"/>
                      </a:rPr>
                      <m:t>𝑀</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𝑗𝑠</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𝐵</m:t>
                        </m:r>
                      </m:sub>
                    </m:sSub>
                    <m:r>
                      <a:rPr lang="en-US" altLang="zh-CN" i="1" dirty="0" smtClean="0">
                        <a:latin typeface="Cambria Math" panose="02040503050406030204" pitchFamily="18" charset="0"/>
                      </a:rPr>
                      <m:t> </m:t>
                    </m:r>
                  </m:oMath>
                </a14:m>
                <a:endParaRPr lang="en-US" altLang="zh-CN" dirty="0"/>
              </a:p>
              <a:p>
                <a:pPr lvl="3"/>
                <a:r>
                  <a:rPr lang="en-US" altLang="zh-CN" dirty="0"/>
                  <a:t>S</a:t>
                </a:r>
                <a:r>
                  <a:rPr lang="zh-CN" altLang="en-US" dirty="0"/>
                  <a:t>中的匹配元组数＝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𝐴</m:t>
                        </m:r>
                      </m:sub>
                    </m:sSub>
                    <m:r>
                      <a:rPr lang="zh-CN" altLang="en-US" i="1" dirty="0" smtClean="0">
                        <a:latin typeface="Cambria Math" panose="02040503050406030204" pitchFamily="18" charset="0"/>
                      </a:rPr>
                      <m:t>／</m:t>
                    </m:r>
                    <m:r>
                      <a:rPr lang="en-US" altLang="zh-CN" i="1" dirty="0" smtClean="0">
                        <a:latin typeface="Cambria Math" panose="02040503050406030204" pitchFamily="18" charset="0"/>
                      </a:rPr>
                      <m:t>𝑀</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m:t>
                    </m:r>
                    <m:r>
                      <a:rPr lang="en-US" altLang="zh-CN" i="1" dirty="0" err="1" smtClean="0">
                        <a:latin typeface="Cambria Math" panose="02040503050406030204" pitchFamily="18" charset="0"/>
                      </a:rPr>
                      <m:t>𝑗𝑠</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𝑁</m:t>
                        </m:r>
                      </m:e>
                      <m:sub>
                        <m:r>
                          <a:rPr lang="en-US" altLang="zh-CN" i="1" dirty="0" smtClean="0">
                            <a:latin typeface="Cambria Math" panose="02040503050406030204" pitchFamily="18" charset="0"/>
                          </a:rPr>
                          <m:t>𝐴</m:t>
                        </m:r>
                      </m:sub>
                    </m:sSub>
                  </m:oMath>
                </a14:m>
                <a:endParaRPr lang="zh-CN" altLang="en-US" dirty="0"/>
              </a:p>
              <a:p>
                <a:pPr lvl="2"/>
                <a:r>
                  <a:rPr lang="zh-CN" altLang="en-US" dirty="0"/>
                  <a:t>取</a:t>
                </a:r>
                <a:r>
                  <a:rPr lang="en-US" altLang="zh-CN" dirty="0"/>
                  <a:t>R</a:t>
                </a:r>
                <a:r>
                  <a:rPr lang="zh-CN" altLang="en-US" dirty="0"/>
                  <a:t>、</a:t>
                </a:r>
                <a:r>
                  <a:rPr lang="en-US" altLang="zh-CN" dirty="0"/>
                  <a:t>S</a:t>
                </a:r>
                <a:r>
                  <a:rPr lang="zh-CN" altLang="en-US" dirty="0"/>
                  <a:t>中的匹配元组的</a:t>
                </a:r>
                <a:r>
                  <a:rPr lang="en-US" altLang="zh-CN" dirty="0"/>
                  <a:t>I</a:t>
                </a:r>
                <a:r>
                  <a:rPr lang="zh-CN" altLang="en-US" dirty="0"/>
                  <a:t>／</a:t>
                </a:r>
                <a:r>
                  <a:rPr lang="en-US" altLang="zh-CN" dirty="0"/>
                  <a:t>O</a:t>
                </a:r>
                <a:r>
                  <a:rPr lang="zh-CN" altLang="en-US" dirty="0"/>
                  <a:t>代价可估算为：</a:t>
                </a:r>
                <a:endParaRPr lang="en-US" altLang="zh-CN" dirty="0"/>
              </a:p>
              <a:p>
                <a:pPr marL="1371600" lvl="3"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𝐶𝐽</m:t>
                      </m:r>
                      <m:r>
                        <a:rPr lang="en-US" altLang="zh-CN" b="0" i="1" smtClean="0">
                          <a:latin typeface="Cambria Math" panose="02040503050406030204" pitchFamily="18" charset="0"/>
                        </a:rPr>
                        <m:t>=</m:t>
                      </m:r>
                      <m:r>
                        <a:rPr lang="en-US" altLang="zh-CN" b="0" i="1" smtClean="0">
                          <a:latin typeface="Cambria Math" panose="02040503050406030204" pitchFamily="18" charset="0"/>
                        </a:rPr>
                        <m:t>𝑗𝑠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oMath>
                  </m:oMathPara>
                </a14:m>
                <a:endParaRPr lang="zh-CN" altLang="en-US" dirty="0"/>
              </a:p>
              <a:p>
                <a:pPr lvl="2"/>
                <a:r>
                  <a:rPr lang="zh-CN" altLang="en-US" dirty="0"/>
                  <a:t>在估算中，假设每个不同的匹配元组处于不同的块中，这是偏高的估算，故散列连接的代 价可估算为：</a:t>
                </a:r>
                <a:endParaRPr lang="en-US" altLang="zh-CN" dirty="0"/>
              </a:p>
              <a:p>
                <a:pPr marL="1371600" lvl="3" indent="0">
                  <a:buNone/>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𝐻𝐽</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𝐶𝐻</m:t>
                      </m:r>
                      <m:r>
                        <a:rPr lang="en-US" altLang="zh-CN" b="0" i="1" smtClean="0">
                          <a:latin typeface="Cambria Math" panose="02040503050406030204" pitchFamily="18" charset="0"/>
                        </a:rPr>
                        <m:t>+</m:t>
                      </m:r>
                      <m:r>
                        <a:rPr lang="en-US" altLang="zh-CN" b="0" i="1" smtClean="0">
                          <a:latin typeface="Cambria Math" panose="02040503050406030204" pitchFamily="18" charset="0"/>
                        </a:rPr>
                        <m:t>𝐶𝐽</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𝑅</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𝑆</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𝑗𝑠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𝑅</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𝐵</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𝑆</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𝐴</m:t>
                          </m:r>
                        </m:sub>
                      </m:sSub>
                      <m:r>
                        <a:rPr lang="en-US" altLang="zh-CN" b="0" i="1" smtClean="0">
                          <a:latin typeface="Cambria Math" panose="02040503050406030204" pitchFamily="18" charset="0"/>
                        </a:rPr>
                        <m:t>)</m:t>
                      </m:r>
                    </m:oMath>
                  </m:oMathPara>
                </a14:m>
                <a:endParaRPr lang="zh-CN" altLang="en-US" dirty="0"/>
              </a:p>
              <a:p>
                <a:pPr lvl="2"/>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035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作业</a:t>
            </a:r>
            <a:endParaRPr lang="en-US" altLang="zh-CN" dirty="0"/>
          </a:p>
          <a:p>
            <a:pPr lvl="1"/>
            <a:r>
              <a:rPr lang="en-US" altLang="zh-CN" dirty="0"/>
              <a:t>7.3</a:t>
            </a:r>
            <a:endParaRPr lang="en-US" altLang="zh-CN" dirty="0"/>
          </a:p>
          <a:p>
            <a:pPr lvl="1"/>
            <a:r>
              <a:rPr lang="en-US" altLang="zh-CN" dirty="0"/>
              <a:t>7.4</a:t>
            </a:r>
            <a:endParaRPr lang="en-US" altLang="zh-CN" dirty="0"/>
          </a:p>
          <a:p>
            <a:pPr lvl="1"/>
            <a:r>
              <a:rPr lang="en-US" altLang="zh-CN" dirty="0"/>
              <a:t>7.5</a:t>
            </a: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7.5 </a:t>
            </a:r>
            <a:r>
              <a:rPr lang="zh-CN" altLang="en-US" dirty="0"/>
              <a:t>代价估算优化</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13624</Words>
  <Application>WPS 演示</Application>
  <PresentationFormat>宽屏</PresentationFormat>
  <Paragraphs>1060</Paragraphs>
  <Slides>80</Slides>
  <Notes>2</Notes>
  <HiddenSlides>1</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80</vt:i4>
      </vt:variant>
    </vt:vector>
  </HeadingPairs>
  <TitlesOfParts>
    <vt:vector size="99" baseType="lpstr">
      <vt:lpstr>Arial</vt:lpstr>
      <vt:lpstr>宋体</vt:lpstr>
      <vt:lpstr>Wingdings</vt:lpstr>
      <vt:lpstr>黑体</vt:lpstr>
      <vt:lpstr>微软雅黑</vt:lpstr>
      <vt:lpstr>Huawei Sans</vt:lpstr>
      <vt:lpstr>DejaVu Math TeX Gyre</vt:lpstr>
      <vt:lpstr>方正兰亭黑简体</vt:lpstr>
      <vt:lpstr>Arial Unicode MS</vt:lpstr>
      <vt:lpstr>等线 Light</vt:lpstr>
      <vt:lpstr>等线</vt:lpstr>
      <vt:lpstr>Cambria Math</vt:lpstr>
      <vt:lpstr>Calibri</vt:lpstr>
      <vt:lpstr>Office 主题​​</vt:lpstr>
      <vt:lpstr>Visio.Drawing.11</vt:lpstr>
      <vt:lpstr>Word.Picture.8</vt:lpstr>
      <vt:lpstr>Word.Picture.8</vt:lpstr>
      <vt:lpstr>Word.Picture.8</vt:lpstr>
      <vt:lpstr>Word.Picture.8</vt:lpstr>
      <vt:lpstr>第7章 查询处理与查询优化</vt:lpstr>
      <vt:lpstr>目录</vt:lpstr>
      <vt:lpstr>7.1 引言</vt:lpstr>
      <vt:lpstr>7.1 引言</vt:lpstr>
      <vt:lpstr>7.1 引言</vt:lpstr>
      <vt:lpstr>7.1 引言</vt:lpstr>
      <vt:lpstr>7.1 引言</vt:lpstr>
      <vt:lpstr>7.1 引言</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7.2 数据库执行引擎</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7.3 代数优化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7.4 物理优化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lpstr>7.5 代价估算优化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27</cp:revision>
  <dcterms:created xsi:type="dcterms:W3CDTF">2024-11-02T12:31:00Z</dcterms:created>
  <dcterms:modified xsi:type="dcterms:W3CDTF">2025-07-25T10:19:25Z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C6B4B79564604994A4695AFB5EFCA454_12</vt:lpwstr>
  </property>
  <property fmtid="{D5CDD505-2E9C-101B-9397-08002B2CF9AE}" pid="3" name="KSOProductBuildVer">
    <vt:lpwstr>2052-12.1.0.21915</vt:lpwstr>
  </property>
</Properties>
</file>